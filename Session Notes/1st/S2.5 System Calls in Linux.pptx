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366" r:id="rId3"/>
    <p:sldId id="256" r:id="rId4"/>
    <p:sldId id="257" r:id="rId5"/>
    <p:sldId id="258" r:id="rId6"/>
    <p:sldId id="262" r:id="rId7"/>
    <p:sldId id="261" r:id="rId8"/>
    <p:sldId id="259"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E26B6C1-EF79-4178-9323-BA328F5E1715}"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1606532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26B6C1-EF79-4178-9323-BA328F5E1715}"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2563995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26B6C1-EF79-4178-9323-BA328F5E1715}"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3493473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E26B6C1-EF79-4178-9323-BA328F5E1715}"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3743061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E26B6C1-EF79-4178-9323-BA328F5E1715}" type="datetimeFigureOut">
              <a:rPr lang="en-IN" smtClean="0"/>
              <a:t>16-05-2024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213816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E26B6C1-EF79-4178-9323-BA328F5E1715}" type="datetimeFigureOut">
              <a:rPr lang="en-IN" smtClean="0"/>
              <a:t>16-05-2024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201657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B6C1-EF79-4178-9323-BA328F5E1715}" type="datetimeFigureOut">
              <a:rPr lang="en-IN" smtClean="0"/>
              <a:t>16-05-2024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2609349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26B6C1-EF79-4178-9323-BA328F5E1715}"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2897215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26B6C1-EF79-4178-9323-BA328F5E1715}" type="datetimeFigureOut">
              <a:rPr lang="en-IN" smtClean="0"/>
              <a:t>16-05-2024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1686484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26B6C1-EF79-4178-9323-BA328F5E1715}"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1919603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26B6C1-EF79-4178-9323-BA328F5E1715}" type="datetimeFigureOut">
              <a:rPr lang="en-IN" smtClean="0"/>
              <a:t>16-05-2024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391CCF-103C-46D9-A1C2-198C439FD408}" type="slidenum">
              <a:rPr lang="en-IN" smtClean="0"/>
              <a:t>‹#›</a:t>
            </a:fld>
            <a:endParaRPr lang="en-IN"/>
          </a:p>
        </p:txBody>
      </p:sp>
    </p:spTree>
    <p:extLst>
      <p:ext uri="{BB962C8B-B14F-4D97-AF65-F5344CB8AC3E}">
        <p14:creationId xmlns:p14="http://schemas.microsoft.com/office/powerpoint/2010/main" val="3911594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9"/>
            <a:ext cx="12192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523999" y="2657918"/>
            <a:ext cx="9144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524000" y="4989530"/>
            <a:ext cx="9144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523999" y="1892448"/>
            <a:ext cx="9144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523999" y="2320791"/>
            <a:ext cx="9144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77467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6B6C1-EF79-4178-9323-BA328F5E1715}" type="datetimeFigureOut">
              <a:rPr lang="en-IN" smtClean="0"/>
              <a:t>16-05-2024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91CCF-103C-46D9-A1C2-198C439FD408}" type="slidenum">
              <a:rPr lang="en-IN" smtClean="0"/>
              <a:t>‹#›</a:t>
            </a:fld>
            <a:endParaRPr lang="en-IN"/>
          </a:p>
        </p:txBody>
      </p:sp>
    </p:spTree>
    <p:extLst>
      <p:ext uri="{BB962C8B-B14F-4D97-AF65-F5344CB8AC3E}">
        <p14:creationId xmlns:p14="http://schemas.microsoft.com/office/powerpoint/2010/main" val="32540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System Calls in Linux</a:t>
            </a: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194170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2743200" y="389987"/>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2590800" y="1757552"/>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2.4 System Calls in Linux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8672" y="292524"/>
            <a:ext cx="9144000" cy="458974"/>
          </a:xfrm>
        </p:spPr>
        <p:txBody>
          <a:bodyPr>
            <a:noAutofit/>
          </a:bodyPr>
          <a:lstStyle/>
          <a:p>
            <a:pPr algn="l"/>
            <a:r>
              <a:rPr lang="en-IN" sz="3600" dirty="0"/>
              <a:t>What is a System Call ?</a:t>
            </a:r>
          </a:p>
        </p:txBody>
      </p:sp>
      <p:sp>
        <p:nvSpPr>
          <p:cNvPr id="4" name="Rectangle 1"/>
          <p:cNvSpPr>
            <a:spLocks noChangeArrowheads="1"/>
          </p:cNvSpPr>
          <p:nvPr/>
        </p:nvSpPr>
        <p:spPr bwMode="auto">
          <a:xfrm>
            <a:off x="361918" y="1349420"/>
            <a:ext cx="10950517" cy="47063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273239"/>
                </a:solidFill>
                <a:effectLst/>
                <a:latin typeface="urw-din"/>
              </a:rPr>
              <a:t>It provides the interface between a process and the operating system.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400" dirty="0">
                <a:solidFill>
                  <a:srgbClr val="273239"/>
                </a:solidFill>
                <a:latin typeface="urw-din"/>
              </a:rPr>
              <a:t>A </a:t>
            </a:r>
            <a:r>
              <a:rPr kumimoji="0" lang="en-US" altLang="en-US" sz="2400" b="0" i="0" u="none" strike="noStrike" cap="none" normalizeH="0" baseline="0" dirty="0">
                <a:ln>
                  <a:noFill/>
                </a:ln>
                <a:solidFill>
                  <a:srgbClr val="273239"/>
                </a:solidFill>
                <a:effectLst/>
                <a:latin typeface="urw-din"/>
              </a:rPr>
              <a:t>way by which a computer program requests a service from the kernel of the operating system.</a:t>
            </a:r>
            <a:endParaRPr lang="en-US" altLang="en-US" sz="2400" dirty="0"/>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273239"/>
                </a:solidFill>
                <a:effectLst/>
                <a:latin typeface="urw-din"/>
              </a:rPr>
              <a:t>involves transferring control from unprivileged user mode to privileged kernel mode; the details of this transfer vary from architecture to architecture.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273239"/>
                </a:solidFill>
                <a:effectLst/>
                <a:latin typeface="urw-din"/>
              </a:rPr>
              <a:t>The libraries take care of collecting the system-call arguments and, if necessary, arranging those arguments in the special form necessary to make the system call.</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273239"/>
              </a:solidFill>
              <a:effectLst/>
              <a:latin typeface="urw-din"/>
            </a:endParaRPr>
          </a:p>
        </p:txBody>
      </p:sp>
    </p:spTree>
    <p:extLst>
      <p:ext uri="{BB962C8B-B14F-4D97-AF65-F5344CB8AC3E}">
        <p14:creationId xmlns:p14="http://schemas.microsoft.com/office/powerpoint/2010/main" val="3142095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23405" y="698863"/>
            <a:ext cx="9144000" cy="630328"/>
          </a:xfrm>
        </p:spPr>
        <p:txBody>
          <a:bodyPr>
            <a:normAutofit/>
          </a:bodyPr>
          <a:lstStyle/>
          <a:p>
            <a:pPr algn="l"/>
            <a:r>
              <a:rPr lang="en-IN" sz="3600" dirty="0"/>
              <a:t>Categories of System Calls</a:t>
            </a:r>
          </a:p>
        </p:txBody>
      </p:sp>
      <p:sp>
        <p:nvSpPr>
          <p:cNvPr id="4" name="Rectangle 1"/>
          <p:cNvSpPr>
            <a:spLocks noChangeArrowheads="1"/>
          </p:cNvSpPr>
          <p:nvPr/>
        </p:nvSpPr>
        <p:spPr bwMode="auto">
          <a:xfrm>
            <a:off x="1123405" y="1524267"/>
            <a:ext cx="5237011" cy="37830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200000"/>
              </a:lnSpc>
              <a:spcBef>
                <a:spcPct val="0"/>
              </a:spcBef>
              <a:spcAft>
                <a:spcPct val="0"/>
              </a:spcAft>
              <a:buClrTx/>
              <a:buSzTx/>
              <a:tabLst/>
            </a:pPr>
            <a:r>
              <a:rPr kumimoji="0" lang="en-US" altLang="en-US" sz="2000" b="1" i="0" u="none" strike="noStrike" cap="none" normalizeH="0" baseline="0" dirty="0">
                <a:ln>
                  <a:noFill/>
                </a:ln>
                <a:solidFill>
                  <a:srgbClr val="273239"/>
                </a:solidFill>
                <a:effectLst/>
                <a:latin typeface="urw-din"/>
              </a:rPr>
              <a:t>System calls are divided into 5 categories :</a:t>
            </a:r>
            <a:endParaRPr kumimoji="0" lang="en-US" altLang="en-US"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urw-din"/>
              </a:rPr>
              <a:t>Process Control</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urw-din"/>
              </a:rPr>
              <a:t>File Management</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urw-din"/>
              </a:rPr>
              <a:t>Device Management</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urw-din"/>
              </a:rPr>
              <a:t>Information Maintenance</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273239"/>
                </a:solidFill>
                <a:effectLst/>
                <a:latin typeface="urw-din"/>
              </a:rPr>
              <a:t>Communication</a:t>
            </a:r>
          </a:p>
        </p:txBody>
      </p:sp>
    </p:spTree>
    <p:extLst>
      <p:ext uri="{BB962C8B-B14F-4D97-AF65-F5344CB8AC3E}">
        <p14:creationId xmlns:p14="http://schemas.microsoft.com/office/powerpoint/2010/main" val="465352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01425" y="357720"/>
            <a:ext cx="9144000" cy="485868"/>
          </a:xfrm>
        </p:spPr>
        <p:txBody>
          <a:bodyPr>
            <a:noAutofit/>
          </a:bodyPr>
          <a:lstStyle/>
          <a:p>
            <a:pPr algn="l"/>
            <a:r>
              <a:rPr lang="en-IN" sz="3200" dirty="0"/>
              <a:t>Process Control related system calls</a:t>
            </a:r>
          </a:p>
        </p:txBody>
      </p:sp>
      <p:sp>
        <p:nvSpPr>
          <p:cNvPr id="4" name="Rectangle 1"/>
          <p:cNvSpPr>
            <a:spLocks noChangeArrowheads="1"/>
          </p:cNvSpPr>
          <p:nvPr/>
        </p:nvSpPr>
        <p:spPr bwMode="auto">
          <a:xfrm>
            <a:off x="701425" y="1063132"/>
            <a:ext cx="11042084" cy="53219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urw-din"/>
              </a:rPr>
              <a:t>These system calls perform the task of process creation, process termination, etc.</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urw-din"/>
              </a:rPr>
              <a:t>The Linux System calls under this are </a:t>
            </a:r>
            <a:r>
              <a:rPr kumimoji="0" lang="en-US" altLang="en-US" sz="2000" b="1" i="0" u="none" strike="noStrike" cap="none" normalizeH="0" baseline="0" dirty="0">
                <a:ln>
                  <a:noFill/>
                </a:ln>
                <a:solidFill>
                  <a:srgbClr val="273239"/>
                </a:solidFill>
                <a:effectLst/>
                <a:latin typeface="urw-din"/>
              </a:rPr>
              <a:t>fork()</a:t>
            </a:r>
            <a:r>
              <a:rPr kumimoji="0" lang="en-US" altLang="en-US" sz="2000" b="0" i="0" u="none" strike="noStrike" cap="none" normalizeH="0" baseline="0" dirty="0">
                <a:ln>
                  <a:noFill/>
                </a:ln>
                <a:solidFill>
                  <a:srgbClr val="273239"/>
                </a:solidFill>
                <a:effectLst/>
                <a:latin typeface="urw-din"/>
              </a:rPr>
              <a:t> , </a:t>
            </a:r>
            <a:r>
              <a:rPr kumimoji="0" lang="en-US" altLang="en-US" sz="2000" b="1" i="0" u="none" strike="noStrike" cap="none" normalizeH="0" baseline="0" dirty="0">
                <a:ln>
                  <a:noFill/>
                </a:ln>
                <a:solidFill>
                  <a:srgbClr val="273239"/>
                </a:solidFill>
                <a:effectLst/>
                <a:latin typeface="urw-din"/>
              </a:rPr>
              <a:t>exit() </a:t>
            </a:r>
            <a:r>
              <a:rPr kumimoji="0" lang="en-US" altLang="en-US" sz="2000" b="0" i="0" u="none" strike="noStrike" cap="none" normalizeH="0" baseline="0" dirty="0">
                <a:ln>
                  <a:noFill/>
                </a:ln>
                <a:solidFill>
                  <a:srgbClr val="273239"/>
                </a:solidFill>
                <a:effectLst/>
                <a:latin typeface="urw-din"/>
              </a:rPr>
              <a:t>, </a:t>
            </a:r>
            <a:r>
              <a:rPr kumimoji="0" lang="en-US" altLang="en-US" sz="2000" b="1" i="0" u="none" strike="noStrike" cap="none" normalizeH="0" baseline="0" dirty="0">
                <a:ln>
                  <a:noFill/>
                </a:ln>
                <a:solidFill>
                  <a:srgbClr val="273239"/>
                </a:solidFill>
                <a:effectLst/>
                <a:latin typeface="urw-din"/>
              </a:rPr>
              <a:t>exec().</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fork()</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A new process is created by the fork() system call.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A new process may be created with fork() without a new program being run-the new sub-process simply continues to execute exactly the same program that the first (parent) process was running.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It is one of the most widely used system calls under process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exit()</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The exit() system call is used by a program to terminate its execution.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The operating system reclaims resources that were used by the process after the exit() system 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exec()</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A new program will start executing after a call to exec()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Running a new program does not require that a new process be created first: any process may call exec() at any time. The currently running program is immediately terminated, and the new program starts executing in the context of the existing process.</a:t>
            </a:r>
          </a:p>
        </p:txBody>
      </p:sp>
    </p:spTree>
    <p:extLst>
      <p:ext uri="{BB962C8B-B14F-4D97-AF65-F5344CB8AC3E}">
        <p14:creationId xmlns:p14="http://schemas.microsoft.com/office/powerpoint/2010/main" val="3278262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1" y="244884"/>
            <a:ext cx="9144000" cy="499699"/>
          </a:xfrm>
        </p:spPr>
        <p:txBody>
          <a:bodyPr>
            <a:noAutofit/>
          </a:bodyPr>
          <a:lstStyle/>
          <a:p>
            <a:pPr lvl="0" algn="l"/>
            <a:r>
              <a:rPr lang="en-US" altLang="en-US" sz="3200" dirty="0">
                <a:solidFill>
                  <a:srgbClr val="273239"/>
                </a:solidFill>
              </a:rPr>
              <a:t>File Management System Calls</a:t>
            </a:r>
          </a:p>
          <a:p>
            <a:pPr algn="l"/>
            <a:endParaRPr lang="en-IN" sz="3200" dirty="0"/>
          </a:p>
        </p:txBody>
      </p:sp>
      <p:sp>
        <p:nvSpPr>
          <p:cNvPr id="4" name="Rectangle 1"/>
          <p:cNvSpPr>
            <a:spLocks noChangeArrowheads="1"/>
          </p:cNvSpPr>
          <p:nvPr/>
        </p:nvSpPr>
        <p:spPr bwMode="auto">
          <a:xfrm>
            <a:off x="478974" y="905836"/>
            <a:ext cx="10650582" cy="53219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urw-din"/>
              </a:rPr>
              <a:t>File management system calls handle file manipulation jobs like creating a file, reading, and writing, etc. The Linux System calls under this are </a:t>
            </a:r>
            <a:r>
              <a:rPr kumimoji="0" lang="en-US" altLang="en-US" sz="2000" b="1" i="0" u="none" strike="noStrike" cap="none" normalizeH="0" baseline="0" dirty="0">
                <a:ln>
                  <a:noFill/>
                </a:ln>
                <a:solidFill>
                  <a:srgbClr val="273239"/>
                </a:solidFill>
                <a:effectLst/>
                <a:latin typeface="urw-din"/>
              </a:rPr>
              <a:t>open(), read(), write(), close().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open():</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It is the system call to open a file.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This system call just opens the file, to perform operations such as read and write, we need to execute different system call to perform the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read():</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This system call opens the file in reading mode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We can not edit the files with this system call.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Multiple processes can execute the read() system call on the same file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write():</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This system call opens the file in writing mode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We can edit the files with this system call.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Multiple processes can not execute the write() system call on the same file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273239"/>
                </a:solidFill>
                <a:effectLst/>
                <a:latin typeface="urw-din"/>
              </a:rPr>
              <a:t>close():</a:t>
            </a:r>
            <a:endParaRPr kumimoji="0" lang="en-US" altLang="en-US" sz="2000" b="0" i="0" u="none" strike="noStrike" cap="none" normalizeH="0" baseline="0" dirty="0">
              <a:ln>
                <a:noFill/>
              </a:ln>
              <a:solidFill>
                <a:srgbClr val="273239"/>
              </a:solidFill>
              <a:effectLst/>
              <a:latin typeface="urw-din"/>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73239"/>
                </a:solidFill>
                <a:effectLst/>
                <a:latin typeface="urw-din"/>
              </a:rPr>
              <a:t>This system call closes the opened file.</a:t>
            </a:r>
          </a:p>
        </p:txBody>
      </p:sp>
    </p:spTree>
    <p:extLst>
      <p:ext uri="{BB962C8B-B14F-4D97-AF65-F5344CB8AC3E}">
        <p14:creationId xmlns:p14="http://schemas.microsoft.com/office/powerpoint/2010/main" val="2186528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8974" y="336324"/>
            <a:ext cx="9144000" cy="499699"/>
          </a:xfrm>
        </p:spPr>
        <p:txBody>
          <a:bodyPr>
            <a:noAutofit/>
          </a:bodyPr>
          <a:lstStyle/>
          <a:p>
            <a:pPr lvl="0" algn="l"/>
            <a:r>
              <a:rPr lang="en-US" altLang="en-US" sz="3200" dirty="0">
                <a:solidFill>
                  <a:srgbClr val="273239"/>
                </a:solidFill>
                <a:latin typeface="urw-din"/>
              </a:rPr>
              <a:t>Device </a:t>
            </a:r>
            <a:r>
              <a:rPr lang="en-US" altLang="en-US" sz="3200" dirty="0">
                <a:solidFill>
                  <a:srgbClr val="273239"/>
                </a:solidFill>
              </a:rPr>
              <a:t>Management</a:t>
            </a:r>
            <a:r>
              <a:rPr lang="en-US" altLang="en-US" sz="3200" dirty="0">
                <a:solidFill>
                  <a:srgbClr val="273239"/>
                </a:solidFill>
                <a:latin typeface="urw-din"/>
              </a:rPr>
              <a:t> </a:t>
            </a:r>
            <a:r>
              <a:rPr lang="en-US" altLang="en-US" sz="3200" dirty="0">
                <a:solidFill>
                  <a:srgbClr val="273239"/>
                </a:solidFill>
              </a:rPr>
              <a:t>System</a:t>
            </a:r>
            <a:r>
              <a:rPr lang="en-US" altLang="en-US" sz="3200" dirty="0">
                <a:solidFill>
                  <a:srgbClr val="273239"/>
                </a:solidFill>
                <a:latin typeface="urw-din"/>
              </a:rPr>
              <a:t> Calls</a:t>
            </a:r>
          </a:p>
          <a:p>
            <a:pPr algn="l"/>
            <a:endParaRPr lang="en-IN" sz="3200" dirty="0"/>
          </a:p>
        </p:txBody>
      </p:sp>
      <p:sp>
        <p:nvSpPr>
          <p:cNvPr id="4" name="Rectangle 1"/>
          <p:cNvSpPr>
            <a:spLocks noChangeArrowheads="1"/>
          </p:cNvSpPr>
          <p:nvPr/>
        </p:nvSpPr>
        <p:spPr bwMode="auto">
          <a:xfrm>
            <a:off x="478974" y="1363038"/>
            <a:ext cx="10650582" cy="53219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3200" b="1" dirty="0"/>
              <a:t>Device Management :</a:t>
            </a:r>
          </a:p>
          <a:p>
            <a:r>
              <a:rPr lang="en-US" sz="3200" dirty="0"/>
              <a:t>Device management does the job of device manipulation like reading from device buffers, writing into device buffers, etc. The Linux System calls under this is</a:t>
            </a:r>
            <a:r>
              <a:rPr lang="en-US" sz="3200" b="1" dirty="0"/>
              <a:t> </a:t>
            </a:r>
            <a:r>
              <a:rPr lang="en-US" sz="3200" b="1" dirty="0" err="1"/>
              <a:t>ioctl</a:t>
            </a:r>
            <a:r>
              <a:rPr lang="en-US" sz="3200" b="1" dirty="0"/>
              <a:t>().</a:t>
            </a:r>
          </a:p>
          <a:p>
            <a:endParaRPr lang="en-US" sz="3200" dirty="0"/>
          </a:p>
          <a:p>
            <a:r>
              <a:rPr lang="en-US" sz="3200" b="1" dirty="0" err="1"/>
              <a:t>ioctl</a:t>
            </a:r>
            <a:r>
              <a:rPr lang="en-US" sz="3200" b="1" dirty="0"/>
              <a:t>():</a:t>
            </a:r>
            <a:endParaRPr lang="en-US" sz="3200" dirty="0"/>
          </a:p>
          <a:p>
            <a:pPr lvl="1"/>
            <a:r>
              <a:rPr lang="en-US" sz="3200" dirty="0" err="1"/>
              <a:t>ioctl</a:t>
            </a:r>
            <a:r>
              <a:rPr lang="en-US" sz="3200" dirty="0"/>
              <a:t>() is referred to as Input and Output Control.</a:t>
            </a:r>
          </a:p>
          <a:p>
            <a:pPr lvl="1"/>
            <a:r>
              <a:rPr lang="en-US" sz="3200" dirty="0" err="1"/>
              <a:t>ioctl</a:t>
            </a:r>
            <a:r>
              <a:rPr lang="en-US" sz="3200" dirty="0"/>
              <a:t> is a system call for device-specific input/output operations and other operations which cannot be expressed by regular system calls.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73239"/>
              </a:solidFill>
              <a:effectLst/>
              <a:latin typeface="urw-din"/>
            </a:endParaRPr>
          </a:p>
        </p:txBody>
      </p:sp>
    </p:spTree>
    <p:extLst>
      <p:ext uri="{BB962C8B-B14F-4D97-AF65-F5344CB8AC3E}">
        <p14:creationId xmlns:p14="http://schemas.microsoft.com/office/powerpoint/2010/main" val="203224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1" y="244884"/>
            <a:ext cx="9144000" cy="499699"/>
          </a:xfrm>
        </p:spPr>
        <p:txBody>
          <a:bodyPr>
            <a:noAutofit/>
          </a:bodyPr>
          <a:lstStyle/>
          <a:p>
            <a:pPr lvl="0" algn="l"/>
            <a:r>
              <a:rPr lang="en-US" altLang="en-US" sz="3200" dirty="0">
                <a:solidFill>
                  <a:srgbClr val="273239"/>
                </a:solidFill>
                <a:latin typeface="urw-din"/>
              </a:rPr>
              <a:t>Information </a:t>
            </a:r>
            <a:r>
              <a:rPr lang="en-US" altLang="en-US" sz="3200" dirty="0">
                <a:solidFill>
                  <a:srgbClr val="273239"/>
                </a:solidFill>
              </a:rPr>
              <a:t>Maintenance</a:t>
            </a:r>
            <a:r>
              <a:rPr lang="en-US" altLang="en-US" sz="3200" dirty="0">
                <a:solidFill>
                  <a:srgbClr val="273239"/>
                </a:solidFill>
                <a:latin typeface="urw-din"/>
              </a:rPr>
              <a:t> System Calls</a:t>
            </a:r>
          </a:p>
          <a:p>
            <a:pPr algn="l"/>
            <a:endParaRPr lang="en-IN" sz="3200" dirty="0"/>
          </a:p>
        </p:txBody>
      </p:sp>
      <p:sp>
        <p:nvSpPr>
          <p:cNvPr id="4" name="Rectangle 1"/>
          <p:cNvSpPr>
            <a:spLocks noChangeArrowheads="1"/>
          </p:cNvSpPr>
          <p:nvPr/>
        </p:nvSpPr>
        <p:spPr bwMode="auto">
          <a:xfrm>
            <a:off x="478974" y="1025728"/>
            <a:ext cx="10650582" cy="52911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000" b="1" dirty="0"/>
              <a:t>Information Maintenance:</a:t>
            </a:r>
          </a:p>
          <a:p>
            <a:r>
              <a:rPr lang="en-US" sz="2000" dirty="0"/>
              <a:t>It handles information and its transfer between the OS and the user program. In addition, OS keeps the information about all its processes and system calls are used to access this information. The System calls under this are </a:t>
            </a:r>
            <a:r>
              <a:rPr lang="en-US" sz="2000" b="1" dirty="0" err="1"/>
              <a:t>getpid</a:t>
            </a:r>
            <a:r>
              <a:rPr lang="en-US" sz="2000" b="1" dirty="0"/>
              <a:t>(), alarm(), sleep().</a:t>
            </a:r>
            <a:endParaRPr lang="en-US" sz="2000" dirty="0"/>
          </a:p>
          <a:p>
            <a:r>
              <a:rPr lang="en-US" sz="2000" b="1" dirty="0" err="1"/>
              <a:t>getpid</a:t>
            </a:r>
            <a:r>
              <a:rPr lang="en-US" sz="2000" b="1" dirty="0"/>
              <a:t>():</a:t>
            </a:r>
            <a:endParaRPr lang="en-US" sz="2000" dirty="0"/>
          </a:p>
          <a:p>
            <a:pPr lvl="1"/>
            <a:r>
              <a:rPr lang="en-US" sz="2000" dirty="0" err="1"/>
              <a:t>getpid</a:t>
            </a:r>
            <a:r>
              <a:rPr lang="en-US" sz="2000" dirty="0"/>
              <a:t> stands for Get the Process ID.</a:t>
            </a:r>
          </a:p>
          <a:p>
            <a:pPr lvl="1"/>
            <a:r>
              <a:rPr lang="en-US" sz="2000" dirty="0"/>
              <a:t>The </a:t>
            </a:r>
            <a:r>
              <a:rPr lang="en-US" sz="2000" dirty="0" err="1"/>
              <a:t>getpid</a:t>
            </a:r>
            <a:r>
              <a:rPr lang="en-US" sz="2000" dirty="0"/>
              <a:t>() function shall return the process ID of the calling process.</a:t>
            </a:r>
          </a:p>
          <a:p>
            <a:pPr lvl="1"/>
            <a:r>
              <a:rPr lang="en-US" sz="2000" dirty="0"/>
              <a:t>The </a:t>
            </a:r>
            <a:r>
              <a:rPr lang="en-US" sz="2000" dirty="0" err="1"/>
              <a:t>getpid</a:t>
            </a:r>
            <a:r>
              <a:rPr lang="en-US" sz="2000" dirty="0"/>
              <a:t>() function shall always be successful and no return value is reserved to indicate an error.</a:t>
            </a:r>
          </a:p>
          <a:p>
            <a:r>
              <a:rPr lang="en-US" sz="2000" b="1" dirty="0"/>
              <a:t>alarm():</a:t>
            </a:r>
            <a:endParaRPr lang="en-US" sz="2000" dirty="0"/>
          </a:p>
          <a:p>
            <a:pPr lvl="1"/>
            <a:r>
              <a:rPr lang="en-US" sz="2000" dirty="0"/>
              <a:t>This system call sets an alarm clock for the delivery of a signal that when it has to be reached.</a:t>
            </a:r>
          </a:p>
          <a:p>
            <a:pPr lvl="1"/>
            <a:r>
              <a:rPr lang="en-US" sz="2000" dirty="0"/>
              <a:t>It arranges for a signal to be delivered to the calling process.</a:t>
            </a:r>
          </a:p>
          <a:p>
            <a:r>
              <a:rPr lang="en-US" sz="2000" b="1" dirty="0"/>
              <a:t>sleep():</a:t>
            </a:r>
            <a:endParaRPr lang="en-US" sz="2000" dirty="0"/>
          </a:p>
          <a:p>
            <a:pPr lvl="1"/>
            <a:r>
              <a:rPr lang="en-US" sz="2000" dirty="0"/>
              <a:t>This System call suspends the execution of the currently running process for some interval of time</a:t>
            </a:r>
          </a:p>
          <a:p>
            <a:pPr lvl="1"/>
            <a:r>
              <a:rPr lang="en-US" sz="2000" dirty="0"/>
              <a:t>Meanwhile, during this interval, another process is given chance to execute</a:t>
            </a:r>
          </a:p>
        </p:txBody>
      </p:sp>
    </p:spTree>
    <p:extLst>
      <p:ext uri="{BB962C8B-B14F-4D97-AF65-F5344CB8AC3E}">
        <p14:creationId xmlns:p14="http://schemas.microsoft.com/office/powerpoint/2010/main" val="2741895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1" y="244884"/>
            <a:ext cx="9144000" cy="499699"/>
          </a:xfrm>
        </p:spPr>
        <p:txBody>
          <a:bodyPr>
            <a:noAutofit/>
          </a:bodyPr>
          <a:lstStyle/>
          <a:p>
            <a:pPr lvl="0" algn="l"/>
            <a:r>
              <a:rPr lang="en-US" altLang="en-US" sz="3200" dirty="0">
                <a:solidFill>
                  <a:srgbClr val="273239"/>
                </a:solidFill>
              </a:rPr>
              <a:t>Communication related System Calls</a:t>
            </a:r>
          </a:p>
          <a:p>
            <a:pPr algn="l"/>
            <a:endParaRPr lang="en-IN" sz="3200" dirty="0"/>
          </a:p>
        </p:txBody>
      </p:sp>
      <p:sp>
        <p:nvSpPr>
          <p:cNvPr id="4" name="Rectangle 1"/>
          <p:cNvSpPr>
            <a:spLocks noChangeArrowheads="1"/>
          </p:cNvSpPr>
          <p:nvPr/>
        </p:nvSpPr>
        <p:spPr bwMode="auto">
          <a:xfrm>
            <a:off x="478974" y="856451"/>
            <a:ext cx="10650582" cy="56297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4436" rIns="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b="1" dirty="0"/>
              <a:t>Communication :</a:t>
            </a:r>
          </a:p>
          <a:p>
            <a:r>
              <a:rPr lang="en-US" dirty="0"/>
              <a:t>These types of system calls are specially used for inter-process communications.</a:t>
            </a:r>
          </a:p>
          <a:p>
            <a:r>
              <a:rPr lang="en-US" dirty="0"/>
              <a:t>Two models are used for inter-process communication - Message Passing (processes exchange messages with one another) and Shared memory (processes share memory region to communicate)</a:t>
            </a:r>
          </a:p>
          <a:p>
            <a:endParaRPr lang="en-US" dirty="0"/>
          </a:p>
          <a:p>
            <a:r>
              <a:rPr lang="en-US" dirty="0"/>
              <a:t>The system calls under this are </a:t>
            </a:r>
            <a:r>
              <a:rPr lang="en-US" b="1" dirty="0"/>
              <a:t>pipe() , </a:t>
            </a:r>
            <a:r>
              <a:rPr lang="en-US" b="1" dirty="0" err="1"/>
              <a:t>shmget</a:t>
            </a:r>
            <a:r>
              <a:rPr lang="en-US" b="1" dirty="0"/>
              <a:t>() ,</a:t>
            </a:r>
            <a:r>
              <a:rPr lang="en-US" b="1" dirty="0" err="1"/>
              <a:t>mmap</a:t>
            </a:r>
            <a:r>
              <a:rPr lang="en-US" b="1" dirty="0"/>
              <a:t>().</a:t>
            </a:r>
            <a:endParaRPr lang="en-US" dirty="0"/>
          </a:p>
          <a:p>
            <a:r>
              <a:rPr lang="en-US" b="1" dirty="0"/>
              <a:t>pipe():</a:t>
            </a:r>
            <a:endParaRPr lang="en-US" dirty="0"/>
          </a:p>
          <a:p>
            <a:pPr lvl="1"/>
            <a:r>
              <a:rPr lang="en-US" dirty="0"/>
              <a:t>The pipe() system call is used to communicate between different Linux processes.</a:t>
            </a:r>
          </a:p>
          <a:p>
            <a:pPr lvl="1"/>
            <a:r>
              <a:rPr lang="en-US" dirty="0"/>
              <a:t>It is mainly used for inter-process communication.</a:t>
            </a:r>
          </a:p>
          <a:p>
            <a:pPr lvl="1"/>
            <a:r>
              <a:rPr lang="en-US" dirty="0"/>
              <a:t>The pipe() system function is used to open file descriptors.</a:t>
            </a:r>
          </a:p>
          <a:p>
            <a:r>
              <a:rPr lang="en-US" b="1" dirty="0" err="1"/>
              <a:t>shmget</a:t>
            </a:r>
            <a:r>
              <a:rPr lang="en-US" b="1" dirty="0"/>
              <a:t>():</a:t>
            </a:r>
            <a:endParaRPr lang="en-US" dirty="0"/>
          </a:p>
          <a:p>
            <a:pPr lvl="1"/>
            <a:r>
              <a:rPr lang="en-US" dirty="0" err="1"/>
              <a:t>shmget</a:t>
            </a:r>
            <a:r>
              <a:rPr lang="en-US" dirty="0"/>
              <a:t> stands for shared memory segment.</a:t>
            </a:r>
          </a:p>
          <a:p>
            <a:pPr lvl="1"/>
            <a:r>
              <a:rPr lang="en-US" dirty="0"/>
              <a:t>It is mainly used for Shared memory communication.</a:t>
            </a:r>
          </a:p>
          <a:p>
            <a:pPr lvl="1"/>
            <a:r>
              <a:rPr lang="en-US" dirty="0"/>
              <a:t>This system call is used to access the shared memory and access the messages in order to communicate with the process.</a:t>
            </a:r>
          </a:p>
          <a:p>
            <a:r>
              <a:rPr lang="en-US" b="1" dirty="0" err="1"/>
              <a:t>mmap</a:t>
            </a:r>
            <a:r>
              <a:rPr lang="en-US" b="1" dirty="0"/>
              <a:t>():</a:t>
            </a:r>
            <a:endParaRPr lang="en-US" dirty="0"/>
          </a:p>
          <a:p>
            <a:pPr lvl="1"/>
            <a:r>
              <a:rPr lang="en-US" dirty="0"/>
              <a:t>This function call is used to map or </a:t>
            </a:r>
            <a:r>
              <a:rPr lang="en-US" dirty="0" err="1"/>
              <a:t>unmap</a:t>
            </a:r>
            <a:r>
              <a:rPr lang="en-US" dirty="0"/>
              <a:t> files or devices into memory.</a:t>
            </a:r>
          </a:p>
          <a:p>
            <a:pPr lvl="1"/>
            <a:r>
              <a:rPr lang="en-US" dirty="0"/>
              <a:t>The </a:t>
            </a:r>
            <a:r>
              <a:rPr lang="en-US" dirty="0" err="1"/>
              <a:t>mmap</a:t>
            </a:r>
            <a:r>
              <a:rPr lang="en-US" dirty="0"/>
              <a:t>() system call is responsible for mapping the content of the file to the virtual memory space of the process.</a:t>
            </a:r>
            <a:br>
              <a:rPr lang="en-US" dirty="0"/>
            </a:br>
            <a:endParaRPr lang="en-US" dirty="0"/>
          </a:p>
        </p:txBody>
      </p:sp>
    </p:spTree>
    <p:extLst>
      <p:ext uri="{BB962C8B-B14F-4D97-AF65-F5344CB8AC3E}">
        <p14:creationId xmlns:p14="http://schemas.microsoft.com/office/powerpoint/2010/main" val="2122379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896</Words>
  <Application>Microsoft Office PowerPoint</Application>
  <PresentationFormat>Widescreen</PresentationFormat>
  <Paragraphs>81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Heltevica</vt:lpstr>
      <vt:lpstr>Times New Roman</vt:lpstr>
      <vt:lpstr>urw-din</vt:lpstr>
      <vt:lpstr>Office Theme</vt:lpstr>
      <vt:lpstr>System Calls in Linux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Shripad Deshpande</dc:creator>
  <cp:lastModifiedBy>deshpande.shripad2@gmail.com</cp:lastModifiedBy>
  <cp:revision>6</cp:revision>
  <dcterms:created xsi:type="dcterms:W3CDTF">2023-02-27T03:20:09Z</dcterms:created>
  <dcterms:modified xsi:type="dcterms:W3CDTF">2024-05-16T04:50:08Z</dcterms:modified>
</cp:coreProperties>
</file>