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66" r:id="rId2"/>
    <p:sldId id="285" r:id="rId3"/>
    <p:sldId id="355" r:id="rId4"/>
    <p:sldId id="365" r:id="rId5"/>
    <p:sldId id="364" r:id="rId6"/>
    <p:sldId id="287" r:id="rId7"/>
    <p:sldId id="289" r:id="rId8"/>
    <p:sldId id="290" r:id="rId9"/>
    <p:sldId id="291" r:id="rId10"/>
    <p:sldId id="292" r:id="rId11"/>
    <p:sldId id="299" r:id="rId12"/>
    <p:sldId id="29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3728" autoAdjust="0"/>
  </p:normalViewPr>
  <p:slideViewPr>
    <p:cSldViewPr>
      <p:cViewPr varScale="1">
        <p:scale>
          <a:sx n="77" d="100"/>
          <a:sy n="77" d="100"/>
        </p:scale>
        <p:origin x="161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70A66E-CF90-4D93-A881-2709D5B51061}" type="datetimeFigureOut">
              <a:rPr lang="en-US" smtClean="0"/>
              <a:pPr/>
              <a:t>5/19/2024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B65CB4-A102-4CFC-AF73-CA3B1F55BA1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275FE4-F0F2-452F-9EF7-F3CC1ABB2ACC}" type="slidenum">
              <a:rPr lang="en-US"/>
              <a:pPr/>
              <a:t>2</a:t>
            </a:fld>
            <a:endParaRPr lang="en-US"/>
          </a:p>
        </p:txBody>
      </p:sp>
      <p:sp>
        <p:nvSpPr>
          <p:cNvPr id="7170"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7171"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0A451B-BE13-443A-B682-1BCEFD530A20}" type="slidenum">
              <a:rPr lang="en-US"/>
              <a:pPr/>
              <a:t>6</a:t>
            </a:fld>
            <a:endParaRPr lang="en-US"/>
          </a:p>
        </p:txBody>
      </p:sp>
      <p:sp>
        <p:nvSpPr>
          <p:cNvPr id="11266"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11267"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34CE10-1A1C-424C-AEB3-9A44466287E5}" type="slidenum">
              <a:rPr lang="en-US"/>
              <a:pPr/>
              <a:t>7</a:t>
            </a:fld>
            <a:endParaRPr lang="en-US"/>
          </a:p>
        </p:txBody>
      </p:sp>
      <p:sp>
        <p:nvSpPr>
          <p:cNvPr id="15362"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15363"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A6B655-B750-4F43-BA6C-9B678D03F623}" type="slidenum">
              <a:rPr lang="en-US"/>
              <a:pPr/>
              <a:t>8</a:t>
            </a:fld>
            <a:endParaRPr lang="en-US"/>
          </a:p>
        </p:txBody>
      </p:sp>
      <p:sp>
        <p:nvSpPr>
          <p:cNvPr id="17410"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17411"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00E378-6BF8-4847-BBFD-EE18B05404D5}" type="slidenum">
              <a:rPr lang="en-US"/>
              <a:pPr/>
              <a:t>9</a:t>
            </a:fld>
            <a:endParaRPr lang="en-US"/>
          </a:p>
        </p:txBody>
      </p:sp>
      <p:sp>
        <p:nvSpPr>
          <p:cNvPr id="19458"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19459"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1678EA-539E-432E-8C96-A1C19D710B30}" type="slidenum">
              <a:rPr lang="en-US"/>
              <a:pPr/>
              <a:t>10</a:t>
            </a:fld>
            <a:endParaRPr lang="en-US"/>
          </a:p>
        </p:txBody>
      </p:sp>
      <p:sp>
        <p:nvSpPr>
          <p:cNvPr id="21506"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21507"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C5EB5E-D056-4701-BF03-232190BCD26D}" type="slidenum">
              <a:rPr lang="en-US"/>
              <a:pPr/>
              <a:t>11</a:t>
            </a:fld>
            <a:endParaRPr lang="en-US"/>
          </a:p>
        </p:txBody>
      </p:sp>
      <p:sp>
        <p:nvSpPr>
          <p:cNvPr id="23554" name="Rectangle 2"/>
          <p:cNvSpPr>
            <a:spLocks noGrp="1" noRot="1" noChangeAspect="1" noChangeArrowheads="1"/>
          </p:cNvSpPr>
          <p:nvPr>
            <p:ph type="sldImg"/>
          </p:nvPr>
        </p:nvSpPr>
        <p:spPr bwMode="auto">
          <a:xfrm>
            <a:off x="1152525" y="692150"/>
            <a:ext cx="4552950" cy="3416300"/>
          </a:xfrm>
          <a:prstGeom prst="rect">
            <a:avLst/>
          </a:prstGeom>
          <a:noFill/>
          <a:ln w="12700" cap="flat">
            <a:solidFill>
              <a:schemeClr val="tx1"/>
            </a:solidFill>
            <a:miter lim="800000"/>
            <a:headEnd/>
            <a:tailEnd/>
          </a:ln>
        </p:spPr>
      </p:sp>
      <p:sp>
        <p:nvSpPr>
          <p:cNvPr id="23555" name="Rectangle 3"/>
          <p:cNvSpPr>
            <a:spLocks noGrp="1" noChangeArrowheads="1"/>
          </p:cNvSpPr>
          <p:nvPr>
            <p:ph type="body" idx="1"/>
          </p:nvPr>
        </p:nvSpPr>
        <p:spPr bwMode="auto">
          <a:xfrm>
            <a:off x="914089" y="4342892"/>
            <a:ext cx="5029823" cy="4114565"/>
          </a:xfrm>
          <a:prstGeom prst="rect">
            <a:avLst/>
          </a:prstGeom>
          <a:noFill/>
          <a:ln>
            <a:miter lim="800000"/>
            <a:headEnd/>
            <a:tailEnd/>
          </a:ln>
        </p:spPr>
        <p:txBody>
          <a:bodyPr lIns="92067" tIns="46034" rIns="92067" bIns="46034"/>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3D742D1-7BF0-48ED-ADAF-9E3A1836E61B}"/>
              </a:ext>
            </a:extLst>
          </p:cNvPr>
          <p:cNvSpPr/>
          <p:nvPr/>
        </p:nvSpPr>
        <p:spPr>
          <a:xfrm>
            <a:off x="0" y="4735808"/>
            <a:ext cx="9144000" cy="2122193"/>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F9472-A0F2-4550-9734-62C795442E30}"/>
              </a:ext>
            </a:extLst>
          </p:cNvPr>
          <p:cNvSpPr>
            <a:spLocks noGrp="1"/>
          </p:cNvSpPr>
          <p:nvPr>
            <p:ph type="ctrTitle"/>
          </p:nvPr>
        </p:nvSpPr>
        <p:spPr>
          <a:xfrm>
            <a:off x="1142999" y="2657918"/>
            <a:ext cx="6858000" cy="1655478"/>
          </a:xfrm>
        </p:spPr>
        <p:txBody>
          <a:bodyPr anchor="ctr"/>
          <a:lstStyle>
            <a:lvl1pPr algn="ctr">
              <a:defRPr sz="6000" b="1">
                <a:solidFill>
                  <a:srgbClr val="002060"/>
                </a:solidFill>
                <a:latin typeface="Heltevica"/>
              </a:defRPr>
            </a:lvl1pPr>
          </a:lstStyle>
          <a:p>
            <a:r>
              <a:rPr lang="en-US"/>
              <a:t>Click to edit Master title style</a:t>
            </a:r>
            <a:endParaRPr lang="en-IN" dirty="0"/>
          </a:p>
        </p:txBody>
      </p:sp>
      <p:sp>
        <p:nvSpPr>
          <p:cNvPr id="3" name="Subtitle 2">
            <a:extLst>
              <a:ext uri="{FF2B5EF4-FFF2-40B4-BE49-F238E27FC236}">
                <a16:creationId xmlns:a16="http://schemas.microsoft.com/office/drawing/2014/main" id="{106664E1-9485-4079-B9A8-E082A5C72AAE}"/>
              </a:ext>
            </a:extLst>
          </p:cNvPr>
          <p:cNvSpPr>
            <a:spLocks noGrp="1"/>
          </p:cNvSpPr>
          <p:nvPr>
            <p:ph type="subTitle" idx="1" hasCustomPrompt="1"/>
          </p:nvPr>
        </p:nvSpPr>
        <p:spPr>
          <a:xfrm>
            <a:off x="1143000" y="4989529"/>
            <a:ext cx="6858000" cy="508721"/>
          </a:xfrm>
        </p:spPr>
        <p:txBody>
          <a:bodyPr anchor="ctr">
            <a:normAutofit/>
          </a:bodyPr>
          <a:lstStyle>
            <a:lvl1pPr marL="0" indent="0" algn="ctr">
              <a:buNone/>
              <a:defRPr sz="2800">
                <a:solidFill>
                  <a:schemeClr val="bg1"/>
                </a:solidFill>
                <a:latin typeface="Heltevic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 of Faculty</a:t>
            </a:r>
          </a:p>
        </p:txBody>
      </p:sp>
      <p:sp>
        <p:nvSpPr>
          <p:cNvPr id="6" name="Slide Number Placeholder 5">
            <a:extLst>
              <a:ext uri="{FF2B5EF4-FFF2-40B4-BE49-F238E27FC236}">
                <a16:creationId xmlns:a16="http://schemas.microsoft.com/office/drawing/2014/main" id="{D25D7214-C4CD-498C-9834-C885BB9C4D0B}"/>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15" name="Text Placeholder 14">
            <a:extLst>
              <a:ext uri="{FF2B5EF4-FFF2-40B4-BE49-F238E27FC236}">
                <a16:creationId xmlns:a16="http://schemas.microsoft.com/office/drawing/2014/main" id="{11C1536E-590E-4BA0-BAD4-4BEA88F0BF3E}"/>
              </a:ext>
            </a:extLst>
          </p:cNvPr>
          <p:cNvSpPr>
            <a:spLocks noGrp="1"/>
          </p:cNvSpPr>
          <p:nvPr>
            <p:ph type="body" sz="quarter" idx="13" hasCustomPrompt="1"/>
          </p:nvPr>
        </p:nvSpPr>
        <p:spPr>
          <a:xfrm>
            <a:off x="1142999" y="1892448"/>
            <a:ext cx="6858000" cy="310144"/>
          </a:xfrm>
        </p:spPr>
        <p:txBody>
          <a:bodyPr>
            <a:noAutofit/>
          </a:bodyPr>
          <a:lstStyle>
            <a:lvl1pPr marL="0" indent="0" algn="ctr">
              <a:buNone/>
              <a:defRPr sz="2000"/>
            </a:lvl1pPr>
          </a:lstStyle>
          <a:p>
            <a:pPr lvl="0"/>
            <a:r>
              <a:rPr lang="en-US" dirty="0"/>
              <a:t>Name of the Course</a:t>
            </a:r>
          </a:p>
        </p:txBody>
      </p:sp>
      <p:sp>
        <p:nvSpPr>
          <p:cNvPr id="17" name="Text Placeholder 16">
            <a:extLst>
              <a:ext uri="{FF2B5EF4-FFF2-40B4-BE49-F238E27FC236}">
                <a16:creationId xmlns:a16="http://schemas.microsoft.com/office/drawing/2014/main" id="{4BAB6A75-82A7-4C99-B78D-F243936C3370}"/>
              </a:ext>
            </a:extLst>
          </p:cNvPr>
          <p:cNvSpPr>
            <a:spLocks noGrp="1"/>
          </p:cNvSpPr>
          <p:nvPr>
            <p:ph type="body" sz="quarter" idx="14" hasCustomPrompt="1"/>
          </p:nvPr>
        </p:nvSpPr>
        <p:spPr>
          <a:xfrm>
            <a:off x="1142999" y="2320790"/>
            <a:ext cx="6858000" cy="310145"/>
          </a:xfrm>
        </p:spPr>
        <p:txBody>
          <a:bodyPr>
            <a:normAutofit/>
          </a:bodyPr>
          <a:lstStyle>
            <a:lvl1pPr marL="0" indent="0" algn="ctr">
              <a:buNone/>
              <a:defRPr lang="en-US" sz="1600" kern="1200" dirty="0" smtClean="0">
                <a:solidFill>
                  <a:schemeClr val="tx1"/>
                </a:solidFill>
                <a:latin typeface="Heltevica"/>
                <a:ea typeface="+mn-ea"/>
                <a:cs typeface="+mn-cs"/>
              </a:defRPr>
            </a:lvl1pPr>
          </a:lstStyle>
          <a:p>
            <a:pPr lvl="0"/>
            <a:r>
              <a:rPr lang="en-US" dirty="0"/>
              <a:t>Topic No</a:t>
            </a:r>
          </a:p>
        </p:txBody>
      </p:sp>
    </p:spTree>
    <p:extLst>
      <p:ext uri="{BB962C8B-B14F-4D97-AF65-F5344CB8AC3E}">
        <p14:creationId xmlns:p14="http://schemas.microsoft.com/office/powerpoint/2010/main" val="2385799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594B-7319-4482-9AE6-EC74EAE59749}"/>
              </a:ext>
            </a:extLst>
          </p:cNvPr>
          <p:cNvSpPr>
            <a:spLocks noGrp="1"/>
          </p:cNvSpPr>
          <p:nvPr>
            <p:ph type="title"/>
          </p:nvPr>
        </p:nvSpPr>
        <p:spPr/>
        <p:txBody>
          <a:bodyPr>
            <a:normAutofit/>
          </a:bodyPr>
          <a:lstStyle>
            <a:lvl1pPr>
              <a:defRPr sz="4400" b="0">
                <a:solidFill>
                  <a:srgbClr val="332F67"/>
                </a:solidFill>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479A3243-F8F1-4735-84CB-DA267F6B00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77AE67-A40B-4B1F-A27D-C82248E89D6E}"/>
              </a:ext>
            </a:extLst>
          </p:cNvPr>
          <p:cNvSpPr>
            <a:spLocks noGrp="1"/>
          </p:cNvSpPr>
          <p:nvPr>
            <p:ph type="dt" sz="half" idx="10"/>
          </p:nvPr>
        </p:nvSpPr>
        <p:spPr/>
        <p:txBody>
          <a:bodyPr/>
          <a:lstStyle/>
          <a:p>
            <a:fld id="{B42D328C-B938-4E8D-BA18-D6B4AEAD4513}" type="datetimeFigureOut">
              <a:rPr lang="en-US" smtClean="0"/>
              <a:pPr/>
              <a:t>5/19/2024</a:t>
            </a:fld>
            <a:endParaRPr lang="en-US"/>
          </a:p>
        </p:txBody>
      </p:sp>
      <p:sp>
        <p:nvSpPr>
          <p:cNvPr id="5" name="Footer Placeholder 4">
            <a:extLst>
              <a:ext uri="{FF2B5EF4-FFF2-40B4-BE49-F238E27FC236}">
                <a16:creationId xmlns:a16="http://schemas.microsoft.com/office/drawing/2014/main" id="{3D77F67E-3AA0-4A75-BE19-C1FBBDF8929B}"/>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88852C82-4A16-49D7-B656-0C87A0035C91}"/>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8" name="Rectangle 7">
            <a:extLst>
              <a:ext uri="{FF2B5EF4-FFF2-40B4-BE49-F238E27FC236}">
                <a16:creationId xmlns:a16="http://schemas.microsoft.com/office/drawing/2014/main" id="{B26B0F06-65D7-4190-8F22-D7DE75D4ECA7}"/>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74162228-2F01-4EEE-AD7A-2F409DF7C57C}"/>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21410FE-2DC4-4765-BF39-99EFA09F0274}"/>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lide Number Placeholder 5">
            <a:extLst>
              <a:ext uri="{FF2B5EF4-FFF2-40B4-BE49-F238E27FC236}">
                <a16:creationId xmlns:a16="http://schemas.microsoft.com/office/drawing/2014/main" id="{81ADC20A-2C04-4929-9AFF-53516860E0A9}"/>
              </a:ext>
            </a:extLst>
          </p:cNvPr>
          <p:cNvSpPr>
            <a:spLocks noGrp="1"/>
          </p:cNvSpPr>
          <p:nvPr>
            <p:ph type="sldNum" sz="quarter" idx="4"/>
          </p:nvPr>
        </p:nvSpPr>
        <p:spPr>
          <a:xfrm>
            <a:off x="8686801" y="6309881"/>
            <a:ext cx="426026"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9F3004CF-1B37-45E7-B160-2B0ACE45549B}" type="slidenum">
              <a:rPr lang="en-US" smtClean="0"/>
              <a:pPr/>
              <a:t>‹#›</a:t>
            </a:fld>
            <a:endParaRPr lang="en-US"/>
          </a:p>
        </p:txBody>
      </p:sp>
    </p:spTree>
    <p:extLst>
      <p:ext uri="{BB962C8B-B14F-4D97-AF65-F5344CB8AC3E}">
        <p14:creationId xmlns:p14="http://schemas.microsoft.com/office/powerpoint/2010/main" val="95451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B0FE-B0C9-46D8-967A-59F65C29CA62}"/>
              </a:ext>
            </a:extLst>
          </p:cNvPr>
          <p:cNvSpPr>
            <a:spLocks noGrp="1"/>
          </p:cNvSpPr>
          <p:nvPr>
            <p:ph type="title"/>
          </p:nvPr>
        </p:nvSpPr>
        <p:spPr/>
        <p:txBody>
          <a:bodyPr>
            <a:normAutofit/>
          </a:bodyPr>
          <a:lstStyle>
            <a:lvl1pPr>
              <a:defRPr lang="en-IN" sz="4400" b="0" kern="1200" dirty="0">
                <a:solidFill>
                  <a:srgbClr val="332F67"/>
                </a:solidFill>
                <a:latin typeface="Heltevica"/>
                <a:ea typeface="+mj-ea"/>
                <a:cs typeface="+mj-cs"/>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A3B0EF4-6523-4FDF-9387-11EDF933572F}"/>
              </a:ext>
            </a:extLst>
          </p:cNvPr>
          <p:cNvSpPr>
            <a:spLocks noGrp="1"/>
          </p:cNvSpPr>
          <p:nvPr>
            <p:ph sz="half" idx="1"/>
          </p:nvPr>
        </p:nvSpPr>
        <p:spPr>
          <a:xfrm>
            <a:off x="264968" y="1231164"/>
            <a:ext cx="3990110"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Content Placeholder 3">
            <a:extLst>
              <a:ext uri="{FF2B5EF4-FFF2-40B4-BE49-F238E27FC236}">
                <a16:creationId xmlns:a16="http://schemas.microsoft.com/office/drawing/2014/main" id="{4735B17C-E2ED-4325-9395-D7777E4E00B0}"/>
              </a:ext>
            </a:extLst>
          </p:cNvPr>
          <p:cNvSpPr>
            <a:spLocks noGrp="1"/>
          </p:cNvSpPr>
          <p:nvPr>
            <p:ph sz="half" idx="2"/>
          </p:nvPr>
        </p:nvSpPr>
        <p:spPr>
          <a:xfrm>
            <a:off x="4333009" y="1243731"/>
            <a:ext cx="4436918" cy="537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Date Placeholder 4">
            <a:extLst>
              <a:ext uri="{FF2B5EF4-FFF2-40B4-BE49-F238E27FC236}">
                <a16:creationId xmlns:a16="http://schemas.microsoft.com/office/drawing/2014/main" id="{855CC4BF-0660-43CA-8A30-0CC8E64C82A7}"/>
              </a:ext>
            </a:extLst>
          </p:cNvPr>
          <p:cNvSpPr>
            <a:spLocks noGrp="1"/>
          </p:cNvSpPr>
          <p:nvPr>
            <p:ph type="dt" sz="half" idx="10"/>
          </p:nvPr>
        </p:nvSpPr>
        <p:spPr/>
        <p:txBody>
          <a:bodyPr/>
          <a:lstStyle/>
          <a:p>
            <a:fld id="{B42D328C-B938-4E8D-BA18-D6B4AEAD4513}" type="datetimeFigureOut">
              <a:rPr lang="en-US" smtClean="0"/>
              <a:pPr/>
              <a:t>5/19/2024</a:t>
            </a:fld>
            <a:endParaRPr lang="en-US"/>
          </a:p>
        </p:txBody>
      </p:sp>
      <p:sp>
        <p:nvSpPr>
          <p:cNvPr id="6" name="Footer Placeholder 5">
            <a:extLst>
              <a:ext uri="{FF2B5EF4-FFF2-40B4-BE49-F238E27FC236}">
                <a16:creationId xmlns:a16="http://schemas.microsoft.com/office/drawing/2014/main" id="{EE034424-C002-49F8-9B63-DD7D1B680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5CBC22-DB28-4B66-B924-84922D8951C0}"/>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8" name="Rectangle 7">
            <a:extLst>
              <a:ext uri="{FF2B5EF4-FFF2-40B4-BE49-F238E27FC236}">
                <a16:creationId xmlns:a16="http://schemas.microsoft.com/office/drawing/2014/main" id="{DBBF6B60-A9C1-4A07-B32C-8CCFFCF40A4A}"/>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9" name="Rectangle 8">
            <a:extLst>
              <a:ext uri="{FF2B5EF4-FFF2-40B4-BE49-F238E27FC236}">
                <a16:creationId xmlns:a16="http://schemas.microsoft.com/office/drawing/2014/main" id="{34925A20-BC26-4C02-90BC-3AB92E6F8C61}"/>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BC0637D2-E321-490D-B3C1-96A1BC775909}"/>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BFB19C0D-B89C-4FFC-B92A-792486AF17A5}"/>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212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42B25-6E11-4856-AAF4-F22FE611F78B}"/>
              </a:ext>
            </a:extLst>
          </p:cNvPr>
          <p:cNvSpPr>
            <a:spLocks noGrp="1"/>
          </p:cNvSpPr>
          <p:nvPr>
            <p:ph type="title"/>
          </p:nvPr>
        </p:nvSpPr>
        <p:spPr/>
        <p:txBody>
          <a:bodyPr>
            <a:normAutofit/>
          </a:bodyPr>
          <a:lstStyle>
            <a:lvl1pPr algn="l" defTabSz="914400" rtl="0" eaLnBrk="1" latinLnBrk="0" hangingPunct="1">
              <a:lnSpc>
                <a:spcPct val="90000"/>
              </a:lnSpc>
              <a:spcBef>
                <a:spcPct val="0"/>
              </a:spcBef>
              <a:buNone/>
              <a:defRPr lang="en-IN" sz="4400" b="0" kern="1200" dirty="0">
                <a:solidFill>
                  <a:srgbClr val="332F67"/>
                </a:solidFill>
                <a:latin typeface="Heltevica"/>
                <a:ea typeface="+mj-ea"/>
                <a:cs typeface="+mj-cs"/>
              </a:defRPr>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93354B81-59A8-48C7-8518-D239829056EB}"/>
              </a:ext>
            </a:extLst>
          </p:cNvPr>
          <p:cNvSpPr>
            <a:spLocks noGrp="1"/>
          </p:cNvSpPr>
          <p:nvPr>
            <p:ph type="dt" sz="half" idx="10"/>
          </p:nvPr>
        </p:nvSpPr>
        <p:spPr/>
        <p:txBody>
          <a:bodyPr/>
          <a:lstStyle/>
          <a:p>
            <a:fld id="{B42D328C-B938-4E8D-BA18-D6B4AEAD4513}" type="datetimeFigureOut">
              <a:rPr lang="en-US" smtClean="0"/>
              <a:pPr/>
              <a:t>5/19/2024</a:t>
            </a:fld>
            <a:endParaRPr lang="en-US"/>
          </a:p>
        </p:txBody>
      </p:sp>
      <p:sp>
        <p:nvSpPr>
          <p:cNvPr id="4" name="Footer Placeholder 3">
            <a:extLst>
              <a:ext uri="{FF2B5EF4-FFF2-40B4-BE49-F238E27FC236}">
                <a16:creationId xmlns:a16="http://schemas.microsoft.com/office/drawing/2014/main" id="{982351E8-DFDA-4AD5-9E81-156C7B0142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4DAFD8-4E1C-423C-A8FA-9E4FEB75762A}"/>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6" name="Rectangle 5">
            <a:extLst>
              <a:ext uri="{FF2B5EF4-FFF2-40B4-BE49-F238E27FC236}">
                <a16:creationId xmlns:a16="http://schemas.microsoft.com/office/drawing/2014/main" id="{71DD4527-3A5E-46B2-AA54-9FC0A20A1C84}"/>
              </a:ext>
            </a:extLst>
          </p:cNvPr>
          <p:cNvSpPr/>
          <p:nvPr/>
        </p:nvSpPr>
        <p:spPr>
          <a:xfrm>
            <a:off x="264967" y="958204"/>
            <a:ext cx="1220933" cy="66389"/>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IN"/>
          </a:p>
        </p:txBody>
      </p:sp>
      <p:sp>
        <p:nvSpPr>
          <p:cNvPr id="7" name="Rectangle 6">
            <a:extLst>
              <a:ext uri="{FF2B5EF4-FFF2-40B4-BE49-F238E27FC236}">
                <a16:creationId xmlns:a16="http://schemas.microsoft.com/office/drawing/2014/main" id="{484CADB4-9D46-4FD2-9DBB-A9F7CA16CC48}"/>
              </a:ext>
            </a:extLst>
          </p:cNvPr>
          <p:cNvSpPr/>
          <p:nvPr/>
        </p:nvSpPr>
        <p:spPr>
          <a:xfrm>
            <a:off x="140276" y="1014485"/>
            <a:ext cx="1220933" cy="66389"/>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F3F78242-09F0-4E23-AD0E-752F68E18A56}"/>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2E136101-D9EE-4903-85CC-8CD4E2CD06E2}"/>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4256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8D782-20C8-4598-A8F3-747E12CD7E1A}"/>
              </a:ext>
            </a:extLst>
          </p:cNvPr>
          <p:cNvSpPr>
            <a:spLocks noGrp="1"/>
          </p:cNvSpPr>
          <p:nvPr>
            <p:ph type="dt" sz="half" idx="10"/>
          </p:nvPr>
        </p:nvSpPr>
        <p:spPr/>
        <p:txBody>
          <a:bodyPr/>
          <a:lstStyle/>
          <a:p>
            <a:fld id="{B42D328C-B938-4E8D-BA18-D6B4AEAD4513}" type="datetimeFigureOut">
              <a:rPr lang="en-US" smtClean="0"/>
              <a:pPr/>
              <a:t>5/19/2024</a:t>
            </a:fld>
            <a:endParaRPr lang="en-US"/>
          </a:p>
        </p:txBody>
      </p:sp>
      <p:sp>
        <p:nvSpPr>
          <p:cNvPr id="3" name="Footer Placeholder 2">
            <a:extLst>
              <a:ext uri="{FF2B5EF4-FFF2-40B4-BE49-F238E27FC236}">
                <a16:creationId xmlns:a16="http://schemas.microsoft.com/office/drawing/2014/main" id="{0FB6E63E-6B58-4650-9F90-CE2F91057B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91653B-179B-4F04-A161-ACBF7210F1EC}"/>
              </a:ext>
            </a:extLst>
          </p:cNvPr>
          <p:cNvSpPr>
            <a:spLocks noGrp="1"/>
          </p:cNvSpPr>
          <p:nvPr>
            <p:ph type="sldNum" sz="quarter" idx="12"/>
          </p:nvPr>
        </p:nvSpPr>
        <p:spPr/>
        <p:txBody>
          <a:bodyPr/>
          <a:lstStyle/>
          <a:p>
            <a:fld id="{9F3004CF-1B37-45E7-B160-2B0ACE45549B}" type="slidenum">
              <a:rPr lang="en-US" smtClean="0"/>
              <a:pPr/>
              <a:t>‹#›</a:t>
            </a:fld>
            <a:endParaRPr lang="en-US"/>
          </a:p>
        </p:txBody>
      </p:sp>
      <p:sp>
        <p:nvSpPr>
          <p:cNvPr id="8" name="Rectangle 7">
            <a:extLst>
              <a:ext uri="{FF2B5EF4-FFF2-40B4-BE49-F238E27FC236}">
                <a16:creationId xmlns:a16="http://schemas.microsoft.com/office/drawing/2014/main" id="{6331DA5B-5A5B-4E48-A05F-AB42F70FFF5D}"/>
              </a:ext>
            </a:extLst>
          </p:cNvPr>
          <p:cNvSpPr/>
          <p:nvPr/>
        </p:nvSpPr>
        <p:spPr>
          <a:xfrm>
            <a:off x="0" y="6771574"/>
            <a:ext cx="9144000" cy="117054"/>
          </a:xfrm>
          <a:prstGeom prst="rect">
            <a:avLst/>
          </a:prstGeom>
          <a:solidFill>
            <a:srgbClr val="332F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4674A40-97D2-49BE-9BAC-8FBCC8F93CCD}"/>
              </a:ext>
            </a:extLst>
          </p:cNvPr>
          <p:cNvSpPr/>
          <p:nvPr/>
        </p:nvSpPr>
        <p:spPr>
          <a:xfrm>
            <a:off x="0" y="6654520"/>
            <a:ext cx="9144000" cy="117054"/>
          </a:xfrm>
          <a:prstGeom prst="rect">
            <a:avLst/>
          </a:prstGeom>
          <a:solidFill>
            <a:srgbClr val="AE251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523028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C284A5-AAC1-4617-9E19-A03F505F72A1}"/>
              </a:ext>
            </a:extLst>
          </p:cNvPr>
          <p:cNvSpPr>
            <a:spLocks noGrp="1"/>
          </p:cNvSpPr>
          <p:nvPr>
            <p:ph type="title"/>
          </p:nvPr>
        </p:nvSpPr>
        <p:spPr>
          <a:xfrm>
            <a:off x="140277" y="182996"/>
            <a:ext cx="8827078" cy="933595"/>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354A981A-16BF-4617-8EAC-61D33DF233F1}"/>
              </a:ext>
            </a:extLst>
          </p:cNvPr>
          <p:cNvSpPr>
            <a:spLocks noGrp="1"/>
          </p:cNvSpPr>
          <p:nvPr>
            <p:ph type="body" idx="1"/>
          </p:nvPr>
        </p:nvSpPr>
        <p:spPr>
          <a:xfrm>
            <a:off x="140277" y="1343892"/>
            <a:ext cx="8827077" cy="50124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EF389CE9-5C11-4F6D-8B4A-88967385C01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2D328C-B938-4E8D-BA18-D6B4AEAD4513}" type="datetimeFigureOut">
              <a:rPr lang="en-US" smtClean="0"/>
              <a:pPr/>
              <a:t>5/19/2024</a:t>
            </a:fld>
            <a:endParaRPr lang="en-US"/>
          </a:p>
        </p:txBody>
      </p:sp>
      <p:sp>
        <p:nvSpPr>
          <p:cNvPr id="5" name="Footer Placeholder 4">
            <a:extLst>
              <a:ext uri="{FF2B5EF4-FFF2-40B4-BE49-F238E27FC236}">
                <a16:creationId xmlns:a16="http://schemas.microsoft.com/office/drawing/2014/main" id="{76C91F2E-40CA-479B-A67D-57AF48BE3D7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34DC4F-E754-4B03-86E9-EA275293B0EE}"/>
              </a:ext>
            </a:extLst>
          </p:cNvPr>
          <p:cNvSpPr>
            <a:spLocks noGrp="1"/>
          </p:cNvSpPr>
          <p:nvPr>
            <p:ph type="sldNum" sz="quarter" idx="4"/>
          </p:nvPr>
        </p:nvSpPr>
        <p:spPr>
          <a:xfrm>
            <a:off x="8686801" y="6309881"/>
            <a:ext cx="426026" cy="365125"/>
          </a:xfrm>
          <a:prstGeom prst="rect">
            <a:avLst/>
          </a:prstGeom>
        </p:spPr>
        <p:txBody>
          <a:bodyPr vert="horz" lIns="91440" tIns="45720" rIns="91440" bIns="45720" rtlCol="0" anchor="ctr"/>
          <a:lstStyle>
            <a:lvl1pPr algn="r">
              <a:defRPr sz="1400">
                <a:solidFill>
                  <a:schemeClr val="tx1">
                    <a:tint val="75000"/>
                  </a:schemeClr>
                </a:solidFill>
              </a:defRPr>
            </a:lvl1pPr>
          </a:lstStyle>
          <a:p>
            <a:fld id="{9F3004CF-1B37-45E7-B160-2B0ACE45549B}" type="slidenum">
              <a:rPr lang="en-US" smtClean="0"/>
              <a:pPr/>
              <a:t>‹#›</a:t>
            </a:fld>
            <a:endParaRPr lang="en-US"/>
          </a:p>
        </p:txBody>
      </p:sp>
    </p:spTree>
    <p:extLst>
      <p:ext uri="{BB962C8B-B14F-4D97-AF65-F5344CB8AC3E}">
        <p14:creationId xmlns:p14="http://schemas.microsoft.com/office/powerpoint/2010/main" val="18812113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Heltevica"/>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tevic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tevic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tevic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tevic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tevic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err="1"/>
              <a:t>Shripad</a:t>
            </a:r>
            <a:r>
              <a:rPr lang="en-US" dirty="0"/>
              <a:t> V </a:t>
            </a:r>
            <a:r>
              <a:rPr lang="en-US" dirty="0" err="1"/>
              <a:t>Deshpande</a:t>
            </a:r>
            <a:endParaRPr lang="en-US" dirty="0"/>
          </a:p>
        </p:txBody>
      </p:sp>
      <p:sp>
        <p:nvSpPr>
          <p:cNvPr id="10" name="Title 3">
            <a:extLst>
              <a:ext uri="{FF2B5EF4-FFF2-40B4-BE49-F238E27FC236}">
                <a16:creationId xmlns:a16="http://schemas.microsoft.com/office/drawing/2014/main" id="{F6F0AE34-63F6-F533-D947-7471556424A9}"/>
              </a:ext>
            </a:extLst>
          </p:cNvPr>
          <p:cNvSpPr txBox="1">
            <a:spLocks/>
          </p:cNvSpPr>
          <p:nvPr/>
        </p:nvSpPr>
        <p:spPr>
          <a:xfrm>
            <a:off x="1219200" y="389986"/>
            <a:ext cx="6858000" cy="68718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4000" dirty="0">
                <a:latin typeface="Times New Roman" panose="02020603050405020304" pitchFamily="18" charset="0"/>
                <a:cs typeface="Times New Roman" panose="02020603050405020304" pitchFamily="18" charset="0"/>
              </a:rPr>
              <a:t>Embedded Operating Systems</a:t>
            </a:r>
          </a:p>
        </p:txBody>
      </p:sp>
      <p:sp>
        <p:nvSpPr>
          <p:cNvPr id="11" name="Title 3">
            <a:extLst>
              <a:ext uri="{FF2B5EF4-FFF2-40B4-BE49-F238E27FC236}">
                <a16:creationId xmlns:a16="http://schemas.microsoft.com/office/drawing/2014/main" id="{8566400D-B781-CEB9-61BE-840AAD125B6D}"/>
              </a:ext>
            </a:extLst>
          </p:cNvPr>
          <p:cNvSpPr txBox="1">
            <a:spLocks/>
          </p:cNvSpPr>
          <p:nvPr/>
        </p:nvSpPr>
        <p:spPr>
          <a:xfrm>
            <a:off x="1066800" y="1757551"/>
            <a:ext cx="6858000" cy="75991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rgbClr val="002060"/>
                </a:solidFill>
                <a:latin typeface="Heltevica"/>
                <a:ea typeface="+mj-ea"/>
                <a:cs typeface="+mj-cs"/>
              </a:defRPr>
            </a:lvl1pPr>
          </a:lstStyle>
          <a:p>
            <a:r>
              <a:rPr lang="en-US" sz="2800" dirty="0">
                <a:solidFill>
                  <a:schemeClr val="accent2">
                    <a:lumMod val="75000"/>
                  </a:schemeClr>
                </a:solidFill>
                <a:latin typeface="Times New Roman" panose="02020603050405020304" pitchFamily="18" charset="0"/>
                <a:cs typeface="Times New Roman" panose="02020603050405020304" pitchFamily="18" charset="0"/>
              </a:rPr>
              <a:t>4.1 Memory Management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2075" tIns="46038" rIns="92075" bIns="46038"/>
          <a:lstStyle/>
          <a:p>
            <a:r>
              <a:rPr lang="en-US" dirty="0"/>
              <a:t>Memory - Introduction</a:t>
            </a:r>
          </a:p>
        </p:txBody>
      </p:sp>
      <p:sp>
        <p:nvSpPr>
          <p:cNvPr id="6147" name="Rectangle 3" descr="Rectangle: Click to edit Master text styles&#10;Second level&#10;Third level&#10;Fourth level&#10;Fifth level"/>
          <p:cNvSpPr>
            <a:spLocks noGrp="1" noChangeArrowheads="1"/>
          </p:cNvSpPr>
          <p:nvPr>
            <p:ph type="body" idx="1"/>
          </p:nvPr>
        </p:nvSpPr>
        <p:spPr>
          <a:noFill/>
          <a:ln/>
        </p:spPr>
        <p:txBody>
          <a:bodyPr lIns="92075" tIns="46038" rIns="92075" bIns="46038"/>
          <a:lstStyle/>
          <a:p>
            <a:pPr>
              <a:lnSpc>
                <a:spcPct val="90000"/>
              </a:lnSpc>
            </a:pPr>
            <a:r>
              <a:rPr lang="en-US" dirty="0"/>
              <a:t>S</a:t>
            </a:r>
            <a:r>
              <a:rPr lang="en-US" sz="2800" dirty="0"/>
              <a:t>torage needed by the kernel, the other components of the operating system and the user programs.</a:t>
            </a:r>
          </a:p>
          <a:p>
            <a:pPr>
              <a:lnSpc>
                <a:spcPct val="90000"/>
              </a:lnSpc>
            </a:pPr>
            <a:r>
              <a:rPr lang="en-US" sz="2800" dirty="0"/>
              <a:t>In a multi-processing, multi-user system, the structure of the memory is quite complex.</a:t>
            </a:r>
          </a:p>
          <a:p>
            <a:pPr>
              <a:lnSpc>
                <a:spcPct val="90000"/>
              </a:lnSpc>
            </a:pPr>
            <a:r>
              <a:rPr lang="en-US" sz="2800" dirty="0"/>
              <a:t>Efficient memory management is very critical for good performance of the entire system.</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BASIC CONCEPTS</a:t>
            </a:r>
            <a:endParaRPr lang="en-IN" dirty="0"/>
          </a:p>
        </p:txBody>
      </p:sp>
      <p:sp>
        <p:nvSpPr>
          <p:cNvPr id="3" name="Content Placeholder 2"/>
          <p:cNvSpPr>
            <a:spLocks noGrp="1"/>
          </p:cNvSpPr>
          <p:nvPr>
            <p:ph idx="1"/>
          </p:nvPr>
        </p:nvSpPr>
        <p:spPr/>
        <p:txBody>
          <a:bodyPr/>
          <a:lstStyle/>
          <a:p>
            <a:pPr lvl="0" eaLnBrk="0" hangingPunct="0">
              <a:buFontTx/>
              <a:buChar char="•"/>
            </a:pPr>
            <a:r>
              <a:rPr kumimoji="1" lang="en-US" dirty="0">
                <a:solidFill>
                  <a:srgbClr val="000000"/>
                </a:solidFill>
                <a:latin typeface="+mj-lt"/>
              </a:rPr>
              <a:t>Stores large number of bits</a:t>
            </a:r>
          </a:p>
          <a:p>
            <a:pPr lvl="1" eaLnBrk="0" hangingPunct="0">
              <a:buFontTx/>
              <a:buChar char="–"/>
            </a:pPr>
            <a:r>
              <a:rPr kumimoji="1" lang="en-US" i="1" dirty="0">
                <a:solidFill>
                  <a:srgbClr val="000000"/>
                </a:solidFill>
                <a:latin typeface="+mj-lt"/>
              </a:rPr>
              <a:t>m</a:t>
            </a:r>
            <a:r>
              <a:rPr kumimoji="1" lang="en-US" dirty="0">
                <a:solidFill>
                  <a:srgbClr val="000000"/>
                </a:solidFill>
                <a:latin typeface="+mj-lt"/>
              </a:rPr>
              <a:t> x </a:t>
            </a:r>
            <a:r>
              <a:rPr kumimoji="1" lang="en-US" i="1" dirty="0">
                <a:solidFill>
                  <a:srgbClr val="000000"/>
                </a:solidFill>
                <a:latin typeface="+mj-lt"/>
              </a:rPr>
              <a:t>n</a:t>
            </a:r>
            <a:r>
              <a:rPr kumimoji="1" lang="en-US" dirty="0">
                <a:solidFill>
                  <a:srgbClr val="000000"/>
                </a:solidFill>
                <a:latin typeface="+mj-lt"/>
              </a:rPr>
              <a:t>: </a:t>
            </a:r>
            <a:r>
              <a:rPr kumimoji="1" lang="en-US" i="1" dirty="0">
                <a:solidFill>
                  <a:srgbClr val="000000"/>
                </a:solidFill>
                <a:latin typeface="+mj-lt"/>
              </a:rPr>
              <a:t>m</a:t>
            </a:r>
            <a:r>
              <a:rPr kumimoji="1" lang="en-US" dirty="0">
                <a:solidFill>
                  <a:srgbClr val="000000"/>
                </a:solidFill>
                <a:latin typeface="+mj-lt"/>
              </a:rPr>
              <a:t> words of </a:t>
            </a:r>
            <a:r>
              <a:rPr kumimoji="1" lang="en-US" i="1" dirty="0">
                <a:solidFill>
                  <a:srgbClr val="000000"/>
                </a:solidFill>
                <a:latin typeface="+mj-lt"/>
              </a:rPr>
              <a:t>n</a:t>
            </a:r>
            <a:r>
              <a:rPr kumimoji="1" lang="en-US" dirty="0">
                <a:solidFill>
                  <a:srgbClr val="000000"/>
                </a:solidFill>
                <a:latin typeface="+mj-lt"/>
              </a:rPr>
              <a:t> bits each</a:t>
            </a:r>
          </a:p>
          <a:p>
            <a:pPr lvl="1" eaLnBrk="0" hangingPunct="0">
              <a:buFontTx/>
              <a:buChar char="–"/>
            </a:pPr>
            <a:r>
              <a:rPr kumimoji="1" lang="en-US" dirty="0">
                <a:solidFill>
                  <a:srgbClr val="000000"/>
                </a:solidFill>
                <a:latin typeface="+mj-lt"/>
              </a:rPr>
              <a:t>k = Log2(</a:t>
            </a:r>
            <a:r>
              <a:rPr kumimoji="1" lang="en-US" i="1" dirty="0">
                <a:solidFill>
                  <a:srgbClr val="000000"/>
                </a:solidFill>
                <a:latin typeface="+mj-lt"/>
              </a:rPr>
              <a:t>m</a:t>
            </a:r>
            <a:r>
              <a:rPr kumimoji="1" lang="en-US" dirty="0">
                <a:solidFill>
                  <a:srgbClr val="000000"/>
                </a:solidFill>
                <a:latin typeface="+mj-lt"/>
              </a:rPr>
              <a:t>) address input signals</a:t>
            </a:r>
          </a:p>
          <a:p>
            <a:pPr lvl="1" eaLnBrk="0" hangingPunct="0">
              <a:buFontTx/>
              <a:buChar char="–"/>
            </a:pPr>
            <a:r>
              <a:rPr kumimoji="1" lang="en-US" dirty="0">
                <a:solidFill>
                  <a:srgbClr val="000000"/>
                </a:solidFill>
                <a:latin typeface="+mj-lt"/>
              </a:rPr>
              <a:t>or </a:t>
            </a:r>
            <a:r>
              <a:rPr kumimoji="1" lang="en-US" i="1" dirty="0">
                <a:solidFill>
                  <a:srgbClr val="000000"/>
                </a:solidFill>
                <a:latin typeface="+mj-lt"/>
              </a:rPr>
              <a:t>m</a:t>
            </a:r>
            <a:r>
              <a:rPr kumimoji="1" lang="en-US" dirty="0">
                <a:solidFill>
                  <a:srgbClr val="000000"/>
                </a:solidFill>
                <a:latin typeface="+mj-lt"/>
              </a:rPr>
              <a:t> = 2^k words</a:t>
            </a:r>
          </a:p>
          <a:p>
            <a:pPr lvl="1" eaLnBrk="0" hangingPunct="0">
              <a:buFontTx/>
              <a:buChar char="–"/>
            </a:pPr>
            <a:r>
              <a:rPr kumimoji="1" lang="en-US" dirty="0">
                <a:solidFill>
                  <a:srgbClr val="000000"/>
                </a:solidFill>
                <a:latin typeface="+mj-lt"/>
              </a:rPr>
              <a:t>e.g., 4,096 x 8 memory:</a:t>
            </a:r>
          </a:p>
          <a:p>
            <a:pPr lvl="2" eaLnBrk="0" hangingPunct="0">
              <a:buFontTx/>
              <a:buChar char="•"/>
            </a:pPr>
            <a:r>
              <a:rPr kumimoji="1" lang="en-US" dirty="0">
                <a:solidFill>
                  <a:srgbClr val="000000"/>
                </a:solidFill>
                <a:latin typeface="+mj-lt"/>
              </a:rPr>
              <a:t>32,768 bits</a:t>
            </a:r>
          </a:p>
          <a:p>
            <a:pPr lvl="2" eaLnBrk="0" hangingPunct="0">
              <a:buFontTx/>
              <a:buChar char="•"/>
            </a:pPr>
            <a:r>
              <a:rPr kumimoji="1" lang="en-US" dirty="0">
                <a:solidFill>
                  <a:srgbClr val="000000"/>
                </a:solidFill>
                <a:latin typeface="+mj-lt"/>
              </a:rPr>
              <a:t>12 address input signals</a:t>
            </a:r>
          </a:p>
          <a:p>
            <a:pPr lvl="2" eaLnBrk="0" hangingPunct="0">
              <a:buFontTx/>
              <a:buChar char="•"/>
            </a:pPr>
            <a:r>
              <a:rPr kumimoji="1" lang="en-US" dirty="0">
                <a:solidFill>
                  <a:srgbClr val="000000"/>
                </a:solidFill>
                <a:latin typeface="+mj-lt"/>
              </a:rPr>
              <a:t>8 input/output data signals</a:t>
            </a:r>
            <a:endParaRPr lang="en-US" dirty="0">
              <a:solidFill>
                <a:srgbClr val="000000"/>
              </a:solidFill>
              <a:latin typeface="+mj-lt"/>
            </a:endParaRPr>
          </a:p>
          <a:p>
            <a:pPr lvl="0" eaLnBrk="0" hangingPunct="0">
              <a:buFontTx/>
              <a:buChar char="•"/>
            </a:pPr>
            <a:r>
              <a:rPr lang="en-US" dirty="0">
                <a:solidFill>
                  <a:srgbClr val="000000"/>
                </a:solidFill>
                <a:latin typeface="+mj-lt"/>
              </a:rPr>
              <a:t>Memory access</a:t>
            </a:r>
          </a:p>
          <a:p>
            <a:pPr lvl="1" eaLnBrk="0" hangingPunct="0">
              <a:buFontTx/>
              <a:buChar char="–"/>
            </a:pPr>
            <a:r>
              <a:rPr lang="en-US" dirty="0">
                <a:solidFill>
                  <a:srgbClr val="000000"/>
                </a:solidFill>
                <a:latin typeface="+mj-lt"/>
              </a:rPr>
              <a:t>r/w: selects read or write</a:t>
            </a:r>
          </a:p>
          <a:p>
            <a:pPr lvl="1" eaLnBrk="0" hangingPunct="0">
              <a:buFontTx/>
              <a:buChar char="–"/>
            </a:pPr>
            <a:r>
              <a:rPr lang="en-US" dirty="0">
                <a:solidFill>
                  <a:srgbClr val="000000"/>
                </a:solidFill>
                <a:latin typeface="+mj-lt"/>
              </a:rPr>
              <a:t>enable: read or write only when asserted</a:t>
            </a:r>
          </a:p>
          <a:p>
            <a:endParaRPr lang="en-IN" dirty="0">
              <a:latin typeface="+mj-lt"/>
            </a:endParaRPr>
          </a:p>
        </p:txBody>
      </p:sp>
      <p:sp>
        <p:nvSpPr>
          <p:cNvPr id="4" name="Slide Number Placeholder 3"/>
          <p:cNvSpPr>
            <a:spLocks noGrp="1"/>
          </p:cNvSpPr>
          <p:nvPr>
            <p:ph type="sldNum" sz="quarter" idx="11"/>
          </p:nvPr>
        </p:nvSpPr>
        <p:spPr/>
        <p:txBody>
          <a:bodyPr/>
          <a:lstStyle/>
          <a:p>
            <a:fld id="{DDF6946E-AFD2-4EBA-A28B-FE4E80C8A0D6}" type="slidenum">
              <a:rPr lang="en-US" smtClean="0"/>
              <a:pPr/>
              <a:t>3</a:t>
            </a:fld>
            <a:endParaRPr lang="en-US" dirty="0"/>
          </a:p>
        </p:txBody>
      </p:sp>
      <p:grpSp>
        <p:nvGrpSpPr>
          <p:cNvPr id="50" name="Group 144"/>
          <p:cNvGrpSpPr>
            <a:grpSpLocks/>
          </p:cNvGrpSpPr>
          <p:nvPr/>
        </p:nvGrpSpPr>
        <p:grpSpPr bwMode="auto">
          <a:xfrm>
            <a:off x="6213475" y="1242622"/>
            <a:ext cx="2473325" cy="4365625"/>
            <a:chOff x="3728" y="1067"/>
            <a:chExt cx="1558" cy="2750"/>
          </a:xfrm>
        </p:grpSpPr>
        <p:grpSp>
          <p:nvGrpSpPr>
            <p:cNvPr id="51" name="Group 100"/>
            <p:cNvGrpSpPr>
              <a:grpSpLocks/>
            </p:cNvGrpSpPr>
            <p:nvPr/>
          </p:nvGrpSpPr>
          <p:grpSpPr bwMode="auto">
            <a:xfrm>
              <a:off x="4100" y="1067"/>
              <a:ext cx="1042" cy="1139"/>
              <a:chOff x="4496" y="1157"/>
              <a:chExt cx="832" cy="1079"/>
            </a:xfrm>
          </p:grpSpPr>
          <p:sp>
            <p:nvSpPr>
              <p:cNvPr id="74" name="Text Box 101"/>
              <p:cNvSpPr txBox="1">
                <a:spLocks noChangeArrowheads="1"/>
              </p:cNvSpPr>
              <p:nvPr/>
            </p:nvSpPr>
            <p:spPr bwMode="auto">
              <a:xfrm>
                <a:off x="4694" y="1327"/>
                <a:ext cx="634" cy="640"/>
              </a:xfrm>
              <a:prstGeom prst="rect">
                <a:avLst/>
              </a:prstGeom>
              <a:solidFill>
                <a:srgbClr val="FFFFFF"/>
              </a:solidFill>
              <a:ln w="9525">
                <a:solidFill>
                  <a:srgbClr val="000000"/>
                </a:solidFill>
                <a:miter lim="800000"/>
                <a:headEnd/>
                <a:tailEnd/>
              </a:ln>
            </p:spPr>
            <p:txBody>
              <a:bodyPr lIns="0" rIns="0"/>
              <a:lstStyle/>
              <a:p>
                <a:pPr algn="ctr" eaLnBrk="0" fontAlgn="base" hangingPunct="0">
                  <a:spcBef>
                    <a:spcPct val="0"/>
                  </a:spcBef>
                  <a:spcAft>
                    <a:spcPct val="0"/>
                  </a:spcAft>
                </a:pPr>
                <a:endParaRPr lang="en-US" sz="900">
                  <a:solidFill>
                    <a:srgbClr val="000000"/>
                  </a:solidFill>
                  <a:latin typeface="Times New Roman" panose="02020603050405020304" pitchFamily="18" charset="0"/>
                </a:endParaRPr>
              </a:p>
            </p:txBody>
          </p:sp>
          <p:sp>
            <p:nvSpPr>
              <p:cNvPr id="75" name="Text Box 102"/>
              <p:cNvSpPr txBox="1">
                <a:spLocks noChangeArrowheads="1"/>
              </p:cNvSpPr>
              <p:nvPr/>
            </p:nvSpPr>
            <p:spPr bwMode="auto">
              <a:xfrm>
                <a:off x="4694" y="1157"/>
                <a:ext cx="634"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050" b="1" u="sng" dirty="0">
                    <a:solidFill>
                      <a:srgbClr val="000000"/>
                    </a:solidFill>
                    <a:latin typeface="+mj-lt"/>
                  </a:rPr>
                  <a:t>m ×  n memory</a:t>
                </a:r>
                <a:endParaRPr lang="en-US" sz="1050" u="sng" dirty="0">
                  <a:solidFill>
                    <a:srgbClr val="000000"/>
                  </a:solidFill>
                  <a:latin typeface="+mj-lt"/>
                </a:endParaRPr>
              </a:p>
            </p:txBody>
          </p:sp>
          <p:sp>
            <p:nvSpPr>
              <p:cNvPr id="76" name="Line 103"/>
              <p:cNvSpPr>
                <a:spLocks noChangeShapeType="1"/>
              </p:cNvSpPr>
              <p:nvPr/>
            </p:nvSpPr>
            <p:spPr bwMode="auto">
              <a:xfrm>
                <a:off x="4694" y="1455"/>
                <a:ext cx="6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77" name="Line 104"/>
              <p:cNvSpPr>
                <a:spLocks noChangeShapeType="1"/>
              </p:cNvSpPr>
              <p:nvPr/>
            </p:nvSpPr>
            <p:spPr bwMode="auto">
              <a:xfrm>
                <a:off x="4694" y="1578"/>
                <a:ext cx="6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78" name="Line 105"/>
              <p:cNvSpPr>
                <a:spLocks noChangeShapeType="1"/>
              </p:cNvSpPr>
              <p:nvPr/>
            </p:nvSpPr>
            <p:spPr bwMode="auto">
              <a:xfrm>
                <a:off x="4694" y="1839"/>
                <a:ext cx="6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79" name="Text Box 106"/>
              <p:cNvSpPr txBox="1">
                <a:spLocks noChangeArrowheads="1"/>
              </p:cNvSpPr>
              <p:nvPr/>
            </p:nvSpPr>
            <p:spPr bwMode="auto">
              <a:xfrm>
                <a:off x="4925" y="1626"/>
                <a:ext cx="16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900">
                    <a:solidFill>
                      <a:srgbClr val="000000"/>
                    </a:solidFill>
                    <a:latin typeface="Times New Roman" panose="02020603050405020304" pitchFamily="18" charset="0"/>
                  </a:rPr>
                  <a:t>…</a:t>
                </a:r>
              </a:p>
            </p:txBody>
          </p:sp>
          <p:sp>
            <p:nvSpPr>
              <p:cNvPr id="80" name="Line 107"/>
              <p:cNvSpPr>
                <a:spLocks noChangeShapeType="1"/>
              </p:cNvSpPr>
              <p:nvPr/>
            </p:nvSpPr>
            <p:spPr bwMode="auto">
              <a:xfrm>
                <a:off x="4784" y="1327"/>
                <a:ext cx="0"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1" name="Line 108"/>
              <p:cNvSpPr>
                <a:spLocks noChangeShapeType="1"/>
              </p:cNvSpPr>
              <p:nvPr/>
            </p:nvSpPr>
            <p:spPr bwMode="auto">
              <a:xfrm>
                <a:off x="4854" y="1327"/>
                <a:ext cx="0"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2" name="Line 109"/>
              <p:cNvSpPr>
                <a:spLocks noChangeShapeType="1"/>
              </p:cNvSpPr>
              <p:nvPr/>
            </p:nvSpPr>
            <p:spPr bwMode="auto">
              <a:xfrm>
                <a:off x="4925" y="1327"/>
                <a:ext cx="0"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3" name="Line 110"/>
              <p:cNvSpPr>
                <a:spLocks noChangeShapeType="1"/>
              </p:cNvSpPr>
              <p:nvPr/>
            </p:nvSpPr>
            <p:spPr bwMode="auto">
              <a:xfrm>
                <a:off x="4995" y="1327"/>
                <a:ext cx="0"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4" name="Line 111"/>
              <p:cNvSpPr>
                <a:spLocks noChangeShapeType="1"/>
              </p:cNvSpPr>
              <p:nvPr/>
            </p:nvSpPr>
            <p:spPr bwMode="auto">
              <a:xfrm>
                <a:off x="5215" y="1327"/>
                <a:ext cx="0"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5" name="Text Box 112"/>
              <p:cNvSpPr txBox="1">
                <a:spLocks noChangeArrowheads="1"/>
              </p:cNvSpPr>
              <p:nvPr/>
            </p:nvSpPr>
            <p:spPr bwMode="auto">
              <a:xfrm>
                <a:off x="5046" y="1327"/>
                <a:ext cx="169"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900">
                    <a:solidFill>
                      <a:srgbClr val="000000"/>
                    </a:solidFill>
                    <a:latin typeface="Times New Roman" panose="02020603050405020304" pitchFamily="18" charset="0"/>
                  </a:rPr>
                  <a:t>…</a:t>
                </a:r>
              </a:p>
            </p:txBody>
          </p:sp>
          <p:sp>
            <p:nvSpPr>
              <p:cNvPr id="86" name="Line 113"/>
              <p:cNvSpPr>
                <a:spLocks noChangeShapeType="1"/>
              </p:cNvSpPr>
              <p:nvPr/>
            </p:nvSpPr>
            <p:spPr bwMode="auto">
              <a:xfrm>
                <a:off x="4784" y="1839"/>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7" name="Line 114"/>
              <p:cNvSpPr>
                <a:spLocks noChangeShapeType="1"/>
              </p:cNvSpPr>
              <p:nvPr/>
            </p:nvSpPr>
            <p:spPr bwMode="auto">
              <a:xfrm>
                <a:off x="4854" y="1839"/>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8" name="Line 115"/>
              <p:cNvSpPr>
                <a:spLocks noChangeShapeType="1"/>
              </p:cNvSpPr>
              <p:nvPr/>
            </p:nvSpPr>
            <p:spPr bwMode="auto">
              <a:xfrm>
                <a:off x="4995" y="1839"/>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89" name="Line 116"/>
              <p:cNvSpPr>
                <a:spLocks noChangeShapeType="1"/>
              </p:cNvSpPr>
              <p:nvPr/>
            </p:nvSpPr>
            <p:spPr bwMode="auto">
              <a:xfrm>
                <a:off x="4925" y="1839"/>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90" name="Line 117"/>
              <p:cNvSpPr>
                <a:spLocks noChangeShapeType="1"/>
              </p:cNvSpPr>
              <p:nvPr/>
            </p:nvSpPr>
            <p:spPr bwMode="auto">
              <a:xfrm>
                <a:off x="5215" y="1839"/>
                <a:ext cx="0"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91" name="AutoShape 118"/>
              <p:cNvSpPr>
                <a:spLocks/>
              </p:cNvSpPr>
              <p:nvPr/>
            </p:nvSpPr>
            <p:spPr bwMode="auto">
              <a:xfrm>
                <a:off x="4618" y="1327"/>
                <a:ext cx="70" cy="640"/>
              </a:xfrm>
              <a:prstGeom prst="leftBrace">
                <a:avLst>
                  <a:gd name="adj1" fmla="val 76190"/>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US" sz="1000">
                  <a:solidFill>
                    <a:srgbClr val="000000"/>
                  </a:solidFill>
                  <a:latin typeface="Times New Roman" panose="02020603050405020304" pitchFamily="18" charset="0"/>
                </a:endParaRPr>
              </a:p>
            </p:txBody>
          </p:sp>
          <p:sp>
            <p:nvSpPr>
              <p:cNvPr id="92" name="Text Box 119"/>
              <p:cNvSpPr txBox="1">
                <a:spLocks noChangeArrowheads="1"/>
              </p:cNvSpPr>
              <p:nvPr/>
            </p:nvSpPr>
            <p:spPr bwMode="auto">
              <a:xfrm>
                <a:off x="4694" y="2094"/>
                <a:ext cx="63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900" i="1">
                    <a:solidFill>
                      <a:srgbClr val="000000"/>
                    </a:solidFill>
                    <a:latin typeface="Times New Roman" panose="02020603050405020304" pitchFamily="18" charset="0"/>
                  </a:rPr>
                  <a:t>n</a:t>
                </a:r>
                <a:r>
                  <a:rPr lang="en-US" sz="900">
                    <a:solidFill>
                      <a:srgbClr val="000000"/>
                    </a:solidFill>
                    <a:latin typeface="Times New Roman" panose="02020603050405020304" pitchFamily="18" charset="0"/>
                  </a:rPr>
                  <a:t> bits per word</a:t>
                </a:r>
              </a:p>
            </p:txBody>
          </p:sp>
          <p:sp>
            <p:nvSpPr>
              <p:cNvPr id="93" name="AutoShape 120"/>
              <p:cNvSpPr>
                <a:spLocks/>
              </p:cNvSpPr>
              <p:nvPr/>
            </p:nvSpPr>
            <p:spPr bwMode="auto">
              <a:xfrm rot="-5400000">
                <a:off x="4965" y="1731"/>
                <a:ext cx="92" cy="634"/>
              </a:xfrm>
              <a:prstGeom prst="leftBrace">
                <a:avLst>
                  <a:gd name="adj1" fmla="val 57428"/>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94" name="Text Box 121"/>
              <p:cNvSpPr txBox="1">
                <a:spLocks noChangeArrowheads="1"/>
              </p:cNvSpPr>
              <p:nvPr/>
            </p:nvSpPr>
            <p:spPr bwMode="auto">
              <a:xfrm rot="16200000">
                <a:off x="4262" y="1619"/>
                <a:ext cx="576"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i="1" dirty="0">
                    <a:solidFill>
                      <a:srgbClr val="000000"/>
                    </a:solidFill>
                    <a:latin typeface="+mj-lt"/>
                  </a:rPr>
                  <a:t>m</a:t>
                </a:r>
                <a:r>
                  <a:rPr lang="en-US" sz="1200" dirty="0">
                    <a:solidFill>
                      <a:srgbClr val="000000"/>
                    </a:solidFill>
                    <a:latin typeface="+mj-lt"/>
                  </a:rPr>
                  <a:t> words</a:t>
                </a:r>
              </a:p>
            </p:txBody>
          </p:sp>
        </p:grpSp>
        <p:grpSp>
          <p:nvGrpSpPr>
            <p:cNvPr id="52" name="Group 122"/>
            <p:cNvGrpSpPr>
              <a:grpSpLocks/>
            </p:cNvGrpSpPr>
            <p:nvPr/>
          </p:nvGrpSpPr>
          <p:grpSpPr bwMode="auto">
            <a:xfrm>
              <a:off x="3728" y="2448"/>
              <a:ext cx="1558" cy="1369"/>
              <a:chOff x="3908" y="2436"/>
              <a:chExt cx="1558" cy="1369"/>
            </a:xfrm>
          </p:grpSpPr>
          <p:grpSp>
            <p:nvGrpSpPr>
              <p:cNvPr id="53" name="Group 123"/>
              <p:cNvGrpSpPr>
                <a:grpSpLocks/>
              </p:cNvGrpSpPr>
              <p:nvPr/>
            </p:nvGrpSpPr>
            <p:grpSpPr bwMode="auto">
              <a:xfrm>
                <a:off x="3908" y="2574"/>
                <a:ext cx="1468" cy="1231"/>
                <a:chOff x="3890" y="2502"/>
                <a:chExt cx="1468" cy="1231"/>
              </a:xfrm>
            </p:grpSpPr>
            <p:sp>
              <p:nvSpPr>
                <p:cNvPr id="55" name="Text Box 124"/>
                <p:cNvSpPr txBox="1">
                  <a:spLocks noChangeArrowheads="1"/>
                </p:cNvSpPr>
                <p:nvPr/>
              </p:nvSpPr>
              <p:spPr bwMode="auto">
                <a:xfrm>
                  <a:off x="3890" y="2669"/>
                  <a:ext cx="37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dirty="0">
                      <a:solidFill>
                        <a:srgbClr val="000000"/>
                      </a:solidFill>
                      <a:latin typeface="+mj-lt"/>
                    </a:rPr>
                    <a:t>enable</a:t>
                  </a:r>
                </a:p>
              </p:txBody>
            </p:sp>
            <p:sp>
              <p:nvSpPr>
                <p:cNvPr id="56" name="Text Box 125"/>
                <p:cNvSpPr txBox="1">
                  <a:spLocks noChangeArrowheads="1"/>
                </p:cNvSpPr>
                <p:nvPr/>
              </p:nvSpPr>
              <p:spPr bwMode="auto">
                <a:xfrm>
                  <a:off x="4578" y="2525"/>
                  <a:ext cx="780" cy="716"/>
                </a:xfrm>
                <a:prstGeom prst="rect">
                  <a:avLst/>
                </a:prstGeom>
                <a:solidFill>
                  <a:srgbClr val="FFFFFF"/>
                </a:solidFill>
                <a:ln w="9525">
                  <a:solidFill>
                    <a:srgbClr val="000000"/>
                  </a:solidFill>
                  <a:miter lim="800000"/>
                  <a:headEnd/>
                  <a:tailEnd/>
                </a:ln>
              </p:spPr>
              <p:txBody>
                <a:bodyPr lIns="0" rIns="0"/>
                <a:lstStyle/>
                <a:p>
                  <a:pPr algn="ctr" eaLnBrk="0" fontAlgn="base" hangingPunct="0">
                    <a:spcBef>
                      <a:spcPct val="0"/>
                    </a:spcBef>
                    <a:spcAft>
                      <a:spcPct val="0"/>
                    </a:spcAft>
                  </a:pPr>
                  <a:r>
                    <a:rPr lang="en-US" sz="1000">
                      <a:solidFill>
                        <a:srgbClr val="000000"/>
                      </a:solidFill>
                      <a:latin typeface="Times New Roman" panose="02020603050405020304" pitchFamily="18" charset="0"/>
                    </a:rPr>
                    <a:t>2</a:t>
                  </a:r>
                  <a:r>
                    <a:rPr lang="en-US" sz="1000" baseline="30000">
                      <a:solidFill>
                        <a:srgbClr val="000000"/>
                      </a:solidFill>
                      <a:latin typeface="Times New Roman" panose="02020603050405020304" pitchFamily="18" charset="0"/>
                    </a:rPr>
                    <a:t>k</a:t>
                  </a:r>
                  <a:r>
                    <a:rPr lang="en-US" sz="1000">
                      <a:solidFill>
                        <a:srgbClr val="000000"/>
                      </a:solidFill>
                      <a:latin typeface="Times New Roman" panose="02020603050405020304" pitchFamily="18" charset="0"/>
                    </a:rPr>
                    <a:t> × n read and write memory</a:t>
                  </a:r>
                </a:p>
              </p:txBody>
            </p:sp>
            <p:sp>
              <p:nvSpPr>
                <p:cNvPr id="57" name="Text Box 126"/>
                <p:cNvSpPr txBox="1">
                  <a:spLocks noChangeArrowheads="1"/>
                </p:cNvSpPr>
                <p:nvPr/>
              </p:nvSpPr>
              <p:spPr bwMode="auto">
                <a:xfrm>
                  <a:off x="4043" y="2906"/>
                  <a:ext cx="21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a:solidFill>
                        <a:srgbClr val="000000"/>
                      </a:solidFill>
                      <a:latin typeface="Times New Roman" panose="02020603050405020304" pitchFamily="18" charset="0"/>
                    </a:rPr>
                    <a:t>A</a:t>
                  </a:r>
                  <a:r>
                    <a:rPr lang="en-US" sz="1200" baseline="-25000">
                      <a:solidFill>
                        <a:srgbClr val="000000"/>
                      </a:solidFill>
                      <a:latin typeface="Times New Roman" panose="02020603050405020304" pitchFamily="18" charset="0"/>
                    </a:rPr>
                    <a:t>0</a:t>
                  </a:r>
                  <a:endParaRPr lang="en-US" sz="900">
                    <a:solidFill>
                      <a:srgbClr val="000000"/>
                    </a:solidFill>
                    <a:latin typeface="Times New Roman" panose="02020603050405020304" pitchFamily="18" charset="0"/>
                  </a:endParaRPr>
                </a:p>
              </p:txBody>
            </p:sp>
            <p:sp>
              <p:nvSpPr>
                <p:cNvPr id="58" name="Line 127"/>
                <p:cNvSpPr>
                  <a:spLocks noChangeShapeType="1"/>
                </p:cNvSpPr>
                <p:nvPr/>
              </p:nvSpPr>
              <p:spPr bwMode="auto">
                <a:xfrm rot="-5400000">
                  <a:off x="4419" y="2890"/>
                  <a:ext cx="0" cy="319"/>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59" name="Line 128"/>
                <p:cNvSpPr>
                  <a:spLocks noChangeShapeType="1"/>
                </p:cNvSpPr>
                <p:nvPr/>
              </p:nvSpPr>
              <p:spPr bwMode="auto">
                <a:xfrm rot="-5400000">
                  <a:off x="4419" y="3033"/>
                  <a:ext cx="0" cy="319"/>
                </a:xfrm>
                <a:prstGeom prst="line">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0" name="Text Box 129"/>
                <p:cNvSpPr txBox="1">
                  <a:spLocks noChangeArrowheads="1"/>
                </p:cNvSpPr>
                <p:nvPr/>
              </p:nvSpPr>
              <p:spPr bwMode="auto">
                <a:xfrm>
                  <a:off x="4317" y="3003"/>
                  <a:ext cx="208"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900">
                      <a:solidFill>
                        <a:srgbClr val="000000"/>
                      </a:solidFill>
                      <a:latin typeface="Times New Roman" panose="02020603050405020304" pitchFamily="18" charset="0"/>
                    </a:rPr>
                    <a:t>…</a:t>
                  </a:r>
                </a:p>
              </p:txBody>
            </p:sp>
            <p:sp>
              <p:nvSpPr>
                <p:cNvPr id="61" name="Line 130"/>
                <p:cNvSpPr>
                  <a:spLocks noChangeShapeType="1"/>
                </p:cNvSpPr>
                <p:nvPr/>
              </p:nvSpPr>
              <p:spPr bwMode="auto">
                <a:xfrm rot="-5400000">
                  <a:off x="4419" y="2818"/>
                  <a:ext cx="0" cy="319"/>
                </a:xfrm>
                <a:prstGeom prst="line">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2" name="Line 131"/>
                <p:cNvSpPr>
                  <a:spLocks noChangeShapeType="1"/>
                </p:cNvSpPr>
                <p:nvPr/>
              </p:nvSpPr>
              <p:spPr bwMode="auto">
                <a:xfrm rot="-5400000">
                  <a:off x="4419" y="2556"/>
                  <a:ext cx="0" cy="319"/>
                </a:xfrm>
                <a:prstGeom prst="line">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3" name="Line 132"/>
                <p:cNvSpPr>
                  <a:spLocks noChangeShapeType="1"/>
                </p:cNvSpPr>
                <p:nvPr/>
              </p:nvSpPr>
              <p:spPr bwMode="auto">
                <a:xfrm rot="-5400000">
                  <a:off x="4419" y="2413"/>
                  <a:ext cx="0" cy="319"/>
                </a:xfrm>
                <a:prstGeom prst="line">
                  <a:avLst/>
                </a:prstGeom>
                <a:noFill/>
                <a:ln w="9525">
                  <a:solidFill>
                    <a:srgbClr val="000000"/>
                  </a:solidFill>
                  <a:round/>
                  <a:headEnd type="non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4" name="Text Box 133"/>
                <p:cNvSpPr txBox="1">
                  <a:spLocks noChangeArrowheads="1"/>
                </p:cNvSpPr>
                <p:nvPr/>
              </p:nvSpPr>
              <p:spPr bwMode="auto">
                <a:xfrm>
                  <a:off x="3926" y="2502"/>
                  <a:ext cx="37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dirty="0">
                      <a:solidFill>
                        <a:srgbClr val="000000"/>
                      </a:solidFill>
                      <a:latin typeface="+mj-lt"/>
                    </a:rPr>
                    <a:t>r/w</a:t>
                  </a:r>
                </a:p>
              </p:txBody>
            </p:sp>
            <p:sp>
              <p:nvSpPr>
                <p:cNvPr id="65" name="Line 134"/>
                <p:cNvSpPr>
                  <a:spLocks noChangeShapeType="1"/>
                </p:cNvSpPr>
                <p:nvPr/>
              </p:nvSpPr>
              <p:spPr bwMode="auto">
                <a:xfrm>
                  <a:off x="5085" y="3241"/>
                  <a:ext cx="0" cy="349"/>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6" name="Line 135"/>
                <p:cNvSpPr>
                  <a:spLocks noChangeShapeType="1"/>
                </p:cNvSpPr>
                <p:nvPr/>
              </p:nvSpPr>
              <p:spPr bwMode="auto">
                <a:xfrm>
                  <a:off x="4984" y="3241"/>
                  <a:ext cx="0" cy="349"/>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7" name="Text Box 136"/>
                <p:cNvSpPr txBox="1">
                  <a:spLocks noChangeArrowheads="1"/>
                </p:cNvSpPr>
                <p:nvPr/>
              </p:nvSpPr>
              <p:spPr bwMode="auto">
                <a:xfrm>
                  <a:off x="4783" y="3288"/>
                  <a:ext cx="208"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900">
                      <a:solidFill>
                        <a:srgbClr val="000000"/>
                      </a:solidFill>
                      <a:latin typeface="Times New Roman" panose="02020603050405020304" pitchFamily="18" charset="0"/>
                    </a:rPr>
                    <a:t>…</a:t>
                  </a:r>
                </a:p>
              </p:txBody>
            </p:sp>
            <p:sp>
              <p:nvSpPr>
                <p:cNvPr id="68" name="Line 137"/>
                <p:cNvSpPr>
                  <a:spLocks noChangeShapeType="1"/>
                </p:cNvSpPr>
                <p:nvPr/>
              </p:nvSpPr>
              <p:spPr bwMode="auto">
                <a:xfrm>
                  <a:off x="5165" y="3241"/>
                  <a:ext cx="0" cy="349"/>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69" name="Text Box 138"/>
                <p:cNvSpPr txBox="1">
                  <a:spLocks noChangeArrowheads="1"/>
                </p:cNvSpPr>
                <p:nvPr/>
              </p:nvSpPr>
              <p:spPr bwMode="auto">
                <a:xfrm>
                  <a:off x="4798" y="3590"/>
                  <a:ext cx="18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endParaRPr lang="en-US" sz="900">
                    <a:solidFill>
                      <a:srgbClr val="000000"/>
                    </a:solidFill>
                    <a:latin typeface="Times New Roman" panose="02020603050405020304" pitchFamily="18" charset="0"/>
                  </a:endParaRPr>
                </a:p>
              </p:txBody>
            </p:sp>
            <p:sp>
              <p:nvSpPr>
                <p:cNvPr id="70" name="Text Box 139"/>
                <p:cNvSpPr txBox="1">
                  <a:spLocks noChangeArrowheads="1"/>
                </p:cNvSpPr>
                <p:nvPr/>
              </p:nvSpPr>
              <p:spPr bwMode="auto">
                <a:xfrm>
                  <a:off x="5123" y="3590"/>
                  <a:ext cx="134"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a:solidFill>
                        <a:srgbClr val="000000"/>
                      </a:solidFill>
                      <a:latin typeface="Times New Roman" panose="02020603050405020304" pitchFamily="18" charset="0"/>
                    </a:rPr>
                    <a:t>Q</a:t>
                  </a:r>
                  <a:r>
                    <a:rPr lang="en-US" sz="1200" baseline="-25000">
                      <a:solidFill>
                        <a:srgbClr val="000000"/>
                      </a:solidFill>
                      <a:latin typeface="Times New Roman" panose="02020603050405020304" pitchFamily="18" charset="0"/>
                    </a:rPr>
                    <a:t>0</a:t>
                  </a:r>
                  <a:endParaRPr lang="en-US" sz="1200">
                    <a:solidFill>
                      <a:srgbClr val="000000"/>
                    </a:solidFill>
                    <a:latin typeface="Times New Roman" panose="02020603050405020304" pitchFamily="18" charset="0"/>
                  </a:endParaRPr>
                </a:p>
              </p:txBody>
            </p:sp>
            <p:sp>
              <p:nvSpPr>
                <p:cNvPr id="71" name="Text Box 140"/>
                <p:cNvSpPr txBox="1">
                  <a:spLocks noChangeArrowheads="1"/>
                </p:cNvSpPr>
                <p:nvPr/>
              </p:nvSpPr>
              <p:spPr bwMode="auto">
                <a:xfrm>
                  <a:off x="4620" y="3590"/>
                  <a:ext cx="355"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a:solidFill>
                        <a:srgbClr val="000000"/>
                      </a:solidFill>
                      <a:latin typeface="Times New Roman" panose="02020603050405020304" pitchFamily="18" charset="0"/>
                    </a:rPr>
                    <a:t>Q</a:t>
                  </a:r>
                  <a:r>
                    <a:rPr lang="en-US" sz="1200" baseline="-25000">
                      <a:solidFill>
                        <a:srgbClr val="000000"/>
                      </a:solidFill>
                      <a:latin typeface="Times New Roman" panose="02020603050405020304" pitchFamily="18" charset="0"/>
                    </a:rPr>
                    <a:t>n-1</a:t>
                  </a:r>
                  <a:endParaRPr lang="en-US" sz="900">
                    <a:solidFill>
                      <a:srgbClr val="000000"/>
                    </a:solidFill>
                    <a:latin typeface="Times New Roman" panose="02020603050405020304" pitchFamily="18" charset="0"/>
                  </a:endParaRPr>
                </a:p>
              </p:txBody>
            </p:sp>
            <p:sp>
              <p:nvSpPr>
                <p:cNvPr id="72" name="Line 141"/>
                <p:cNvSpPr>
                  <a:spLocks noChangeShapeType="1"/>
                </p:cNvSpPr>
                <p:nvPr/>
              </p:nvSpPr>
              <p:spPr bwMode="auto">
                <a:xfrm>
                  <a:off x="4783" y="3241"/>
                  <a:ext cx="0" cy="349"/>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sz="900">
                    <a:solidFill>
                      <a:srgbClr val="000000"/>
                    </a:solidFill>
                    <a:latin typeface="Times New Roman" panose="02020603050405020304" pitchFamily="18" charset="0"/>
                  </a:endParaRPr>
                </a:p>
              </p:txBody>
            </p:sp>
            <p:sp>
              <p:nvSpPr>
                <p:cNvPr id="73" name="Text Box 142"/>
                <p:cNvSpPr txBox="1">
                  <a:spLocks noChangeArrowheads="1"/>
                </p:cNvSpPr>
                <p:nvPr/>
              </p:nvSpPr>
              <p:spPr bwMode="auto">
                <a:xfrm>
                  <a:off x="4035" y="3145"/>
                  <a:ext cx="218"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ctr" eaLnBrk="0" fontAlgn="base" hangingPunct="0">
                    <a:spcBef>
                      <a:spcPct val="0"/>
                    </a:spcBef>
                    <a:spcAft>
                      <a:spcPct val="0"/>
                    </a:spcAft>
                  </a:pPr>
                  <a:r>
                    <a:rPr lang="en-US" sz="1200">
                      <a:solidFill>
                        <a:srgbClr val="000000"/>
                      </a:solidFill>
                      <a:latin typeface="Times New Roman" panose="02020603050405020304" pitchFamily="18" charset="0"/>
                    </a:rPr>
                    <a:t>A</a:t>
                  </a:r>
                  <a:r>
                    <a:rPr lang="en-US" sz="1200" baseline="-25000">
                      <a:solidFill>
                        <a:srgbClr val="000000"/>
                      </a:solidFill>
                      <a:latin typeface="Times New Roman" panose="02020603050405020304" pitchFamily="18" charset="0"/>
                    </a:rPr>
                    <a:t>k-1</a:t>
                  </a:r>
                  <a:endParaRPr lang="en-US" sz="1200">
                    <a:solidFill>
                      <a:srgbClr val="000000"/>
                    </a:solidFill>
                    <a:latin typeface="Times New Roman" panose="02020603050405020304" pitchFamily="18" charset="0"/>
                  </a:endParaRPr>
                </a:p>
              </p:txBody>
            </p:sp>
          </p:grpSp>
          <p:sp>
            <p:nvSpPr>
              <p:cNvPr id="54" name="Text Box 143"/>
              <p:cNvSpPr txBox="1">
                <a:spLocks noChangeArrowheads="1"/>
              </p:cNvSpPr>
              <p:nvPr/>
            </p:nvSpPr>
            <p:spPr bwMode="auto">
              <a:xfrm>
                <a:off x="4524" y="2436"/>
                <a:ext cx="942" cy="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ctr" eaLnBrk="0" fontAlgn="base" hangingPunct="0">
                  <a:spcBef>
                    <a:spcPct val="50000"/>
                  </a:spcBef>
                  <a:spcAft>
                    <a:spcPct val="0"/>
                  </a:spcAft>
                </a:pPr>
                <a:r>
                  <a:rPr lang="en-US" sz="900" b="1" u="sng">
                    <a:solidFill>
                      <a:srgbClr val="000000"/>
                    </a:solidFill>
                    <a:latin typeface="Times New Roman" panose="02020603050405020304" pitchFamily="18" charset="0"/>
                  </a:rPr>
                  <a:t>memory external view</a:t>
                </a:r>
              </a:p>
            </p:txBody>
          </p:sp>
        </p:grpSp>
      </p:grpSp>
    </p:spTree>
    <p:extLst>
      <p:ext uri="{BB962C8B-B14F-4D97-AF65-F5344CB8AC3E}">
        <p14:creationId xmlns:p14="http://schemas.microsoft.com/office/powerpoint/2010/main" val="204706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BASIC CONCEPTS</a:t>
            </a:r>
            <a:endParaRPr lang="en-IN" dirty="0"/>
          </a:p>
        </p:txBody>
      </p:sp>
      <p:sp>
        <p:nvSpPr>
          <p:cNvPr id="3" name="Content Placeholder 2"/>
          <p:cNvSpPr>
            <a:spLocks noGrp="1"/>
          </p:cNvSpPr>
          <p:nvPr>
            <p:ph idx="1"/>
          </p:nvPr>
        </p:nvSpPr>
        <p:spPr/>
        <p:txBody>
          <a:bodyPr/>
          <a:lstStyle/>
          <a:p>
            <a:pPr lvl="0"/>
            <a:r>
              <a:rPr lang="en-IN" sz="2800" b="0" i="0" dirty="0"/>
              <a:t>Processor Memory (Register Array)</a:t>
            </a:r>
          </a:p>
          <a:p>
            <a:r>
              <a:rPr lang="en-IN" b="0" i="0" dirty="0"/>
              <a:t>Cache Memory</a:t>
            </a:r>
            <a:endParaRPr lang="en-IN" dirty="0"/>
          </a:p>
          <a:p>
            <a:r>
              <a:rPr lang="en-IN" sz="2800" b="0" i="0" dirty="0"/>
              <a:t>Internal on-chip Memory</a:t>
            </a:r>
            <a:endParaRPr lang="en-IN" dirty="0"/>
          </a:p>
          <a:p>
            <a:r>
              <a:rPr lang="en-IN" b="0" i="0" dirty="0"/>
              <a:t>Primary Memory</a:t>
            </a:r>
            <a:endParaRPr lang="en-IN" dirty="0"/>
          </a:p>
          <a:p>
            <a:r>
              <a:rPr lang="en-IN" sz="2800" b="0" i="0" dirty="0"/>
              <a:t>Secondary Memory</a:t>
            </a:r>
            <a:endParaRPr lang="en-IN" dirty="0"/>
          </a:p>
          <a:p>
            <a:pPr lvl="0"/>
            <a:endParaRPr lang="en-IN" sz="2800" b="0" i="0" dirty="0"/>
          </a:p>
          <a:p>
            <a:pPr lvl="0"/>
            <a:endParaRPr lang="en-IN" dirty="0"/>
          </a:p>
        </p:txBody>
      </p:sp>
      <p:sp>
        <p:nvSpPr>
          <p:cNvPr id="4" name="Slide Number Placeholder 3"/>
          <p:cNvSpPr>
            <a:spLocks noGrp="1"/>
          </p:cNvSpPr>
          <p:nvPr>
            <p:ph type="sldNum" sz="quarter" idx="11"/>
          </p:nvPr>
        </p:nvSpPr>
        <p:spPr/>
        <p:txBody>
          <a:bodyPr/>
          <a:lstStyle/>
          <a:p>
            <a:fld id="{DDF6946E-AFD2-4EBA-A28B-FE4E80C8A0D6}" type="slidenum">
              <a:rPr lang="en-US" smtClean="0"/>
              <a:pPr/>
              <a:t>4</a:t>
            </a:fld>
            <a:endParaRPr lang="en-US" dirty="0"/>
          </a:p>
        </p:txBody>
      </p:sp>
    </p:spTree>
    <p:extLst>
      <p:ext uri="{BB962C8B-B14F-4D97-AF65-F5344CB8AC3E}">
        <p14:creationId xmlns:p14="http://schemas.microsoft.com/office/powerpoint/2010/main" val="1073205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MEMORY HIERARCHY</a:t>
            </a:r>
          </a:p>
        </p:txBody>
      </p:sp>
      <p:sp>
        <p:nvSpPr>
          <p:cNvPr id="4" name="Slide Number Placeholder 3"/>
          <p:cNvSpPr>
            <a:spLocks noGrp="1"/>
          </p:cNvSpPr>
          <p:nvPr>
            <p:ph type="sldNum" sz="quarter" idx="11"/>
          </p:nvPr>
        </p:nvSpPr>
        <p:spPr/>
        <p:txBody>
          <a:bodyPr/>
          <a:lstStyle/>
          <a:p>
            <a:fld id="{DDF6946E-AFD2-4EBA-A28B-FE4E80C8A0D6}" type="slidenum">
              <a:rPr lang="en-US" smtClean="0"/>
              <a:pPr/>
              <a:t>5</a:t>
            </a:fld>
            <a:endParaRPr lang="en-US" dirty="0"/>
          </a:p>
        </p:txBody>
      </p:sp>
      <p:pic>
        <p:nvPicPr>
          <p:cNvPr id="2050" name="Picture 2" descr="https://upload.wikimedia.org/wikipedia/commons/thumb/0/0c/ComputerMemoryHierarchy.svg/800px-ComputerMemoryHierarchy.svg.pn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327"/>
          <a:stretch/>
        </p:blipFill>
        <p:spPr bwMode="auto">
          <a:xfrm>
            <a:off x="754581" y="1145784"/>
            <a:ext cx="7634838" cy="4921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460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2075" tIns="46038" rIns="92075" bIns="46038"/>
          <a:lstStyle/>
          <a:p>
            <a:r>
              <a:rPr lang="en-US"/>
              <a:t>Memory management requirements</a:t>
            </a:r>
          </a:p>
        </p:txBody>
      </p:sp>
      <p:sp>
        <p:nvSpPr>
          <p:cNvPr id="10243" name="Rectangle 3" descr="Rectangle: Click to edit Master text styles&#10;Second level&#10;Third level&#10;Fourth level&#10;Fifth level"/>
          <p:cNvSpPr>
            <a:spLocks noGrp="1" noChangeArrowheads="1"/>
          </p:cNvSpPr>
          <p:nvPr>
            <p:ph type="body" idx="1"/>
          </p:nvPr>
        </p:nvSpPr>
        <p:spPr>
          <a:xfrm>
            <a:off x="140277" y="1143000"/>
            <a:ext cx="8827077" cy="5410200"/>
          </a:xfrm>
          <a:noFill/>
          <a:ln/>
        </p:spPr>
        <p:txBody>
          <a:bodyPr lIns="92075" tIns="46038" rIns="92075" bIns="46038">
            <a:normAutofit lnSpcReduction="10000"/>
          </a:bodyPr>
          <a:lstStyle/>
          <a:p>
            <a:pPr>
              <a:lnSpc>
                <a:spcPct val="90000"/>
              </a:lnSpc>
            </a:pPr>
            <a:r>
              <a:rPr lang="en-US" sz="2800" b="1" dirty="0"/>
              <a:t>Relocation</a:t>
            </a:r>
            <a:r>
              <a:rPr lang="en-US" sz="2800" dirty="0"/>
              <a:t>: Branch addresses and data references within a program memory  space (user address space) have to be translated into references in the memory range a program is loaded into.</a:t>
            </a:r>
          </a:p>
          <a:p>
            <a:pPr>
              <a:lnSpc>
                <a:spcPct val="90000"/>
              </a:lnSpc>
            </a:pPr>
            <a:r>
              <a:rPr lang="en-US" sz="2800" b="1" dirty="0"/>
              <a:t>Protection</a:t>
            </a:r>
            <a:r>
              <a:rPr lang="en-US" sz="2800" dirty="0"/>
              <a:t>: Each process should be protected against unauthorized access by other processes, whether accidental or intentional.</a:t>
            </a:r>
          </a:p>
          <a:p>
            <a:r>
              <a:rPr lang="en-US" b="1" dirty="0"/>
              <a:t>Sharing</a:t>
            </a:r>
            <a:r>
              <a:rPr lang="en-US" dirty="0"/>
              <a:t> : Allow several processes to access the same portion of main memory : very common in many applications. Ex. many server-threads executing the same service routine.</a:t>
            </a:r>
          </a:p>
          <a:p>
            <a:r>
              <a:rPr lang="en-US" b="1" dirty="0"/>
              <a:t>Logical organization : </a:t>
            </a:r>
            <a:r>
              <a:rPr lang="en-US" dirty="0"/>
              <a:t>allow separate compilation and run-time resolution of references. To provide different access privileges (</a:t>
            </a:r>
            <a:r>
              <a:rPr lang="en-US" dirty="0" err="1"/>
              <a:t>rwx</a:t>
            </a:r>
            <a:r>
              <a:rPr lang="en-US" dirty="0"/>
              <a:t>) to allow sharing. Ex: segmentation.</a:t>
            </a:r>
          </a:p>
          <a:p>
            <a:pPr>
              <a:lnSpc>
                <a:spcPct val="90000"/>
              </a:lnSpc>
            </a:pPr>
            <a:endParaRPr lang="en-US" sz="28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a:ln/>
        </p:spPr>
        <p:txBody>
          <a:bodyPr lIns="92075" tIns="46038" rIns="92075" bIns="46038"/>
          <a:lstStyle/>
          <a:p>
            <a:r>
              <a:rPr lang="en-US" dirty="0"/>
              <a:t>Memory management requirements</a:t>
            </a:r>
          </a:p>
        </p:txBody>
      </p:sp>
      <p:sp>
        <p:nvSpPr>
          <p:cNvPr id="14339" name="Rectangle 3" descr="Rectangle: Click to edit Master text styles&#10;Second level&#10;Third level&#10;Fourth level&#10;Fifth level"/>
          <p:cNvSpPr>
            <a:spLocks noGrp="1" noChangeArrowheads="1"/>
          </p:cNvSpPr>
          <p:nvPr>
            <p:ph type="body" idx="1"/>
          </p:nvPr>
        </p:nvSpPr>
        <p:spPr>
          <a:xfrm>
            <a:off x="140277" y="1219200"/>
            <a:ext cx="8827077" cy="5012458"/>
          </a:xfrm>
          <a:noFill/>
          <a:ln/>
        </p:spPr>
        <p:txBody>
          <a:bodyPr lIns="92075" tIns="46038" rIns="92075" bIns="46038"/>
          <a:lstStyle/>
          <a:p>
            <a:r>
              <a:rPr lang="en-US" sz="2800" b="1" dirty="0"/>
              <a:t>Physical organization:</a:t>
            </a:r>
            <a:r>
              <a:rPr lang="en-US" sz="2800" dirty="0"/>
              <a:t> Memory hierarchy or level of memory (Main Memory, Cache, Secondary memory etc). Organization of each of these levels and movement and address translation among the various levels.</a:t>
            </a:r>
          </a:p>
          <a:p>
            <a:r>
              <a:rPr lang="en-US" sz="2800" b="1" dirty="0"/>
              <a:t>Overhead </a:t>
            </a:r>
            <a:r>
              <a:rPr lang="en-US" sz="2800" dirty="0"/>
              <a:t>: should be low. System should not be spending much time in managing memory compared to executing user programs.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2075" tIns="46038" rIns="92075" bIns="46038"/>
          <a:lstStyle/>
          <a:p>
            <a:r>
              <a:rPr lang="en-US"/>
              <a:t>Memory management techniques</a:t>
            </a:r>
          </a:p>
        </p:txBody>
      </p:sp>
      <p:sp>
        <p:nvSpPr>
          <p:cNvPr id="16387" name="Rectangle 3" descr="Rectangle: Click to edit Master text styles&#10;Second level&#10;Third level&#10;Fourth level&#10;Fifth level"/>
          <p:cNvSpPr>
            <a:spLocks noGrp="1" noChangeArrowheads="1"/>
          </p:cNvSpPr>
          <p:nvPr>
            <p:ph type="body" idx="1"/>
          </p:nvPr>
        </p:nvSpPr>
        <p:spPr>
          <a:xfrm>
            <a:off x="140277" y="1143000"/>
            <a:ext cx="8827077" cy="5012458"/>
          </a:xfrm>
          <a:noFill/>
          <a:ln/>
        </p:spPr>
        <p:txBody>
          <a:bodyPr lIns="92075" tIns="46038" rIns="92075" bIns="46038">
            <a:normAutofit/>
          </a:bodyPr>
          <a:lstStyle/>
          <a:p>
            <a:pPr>
              <a:lnSpc>
                <a:spcPct val="90000"/>
              </a:lnSpc>
            </a:pPr>
            <a:r>
              <a:rPr lang="en-US" b="1" dirty="0"/>
              <a:t>Fixed partitioning</a:t>
            </a:r>
            <a:r>
              <a:rPr lang="en-US" dirty="0"/>
              <a:t>: Main memory statically divided into fixed-sized partitions: could be equal-sized or unequal-sized. Simple to implement. Inefficient use of memory and results in internal-fragmentation.</a:t>
            </a:r>
          </a:p>
          <a:p>
            <a:pPr>
              <a:lnSpc>
                <a:spcPct val="90000"/>
              </a:lnSpc>
            </a:pPr>
            <a:r>
              <a:rPr lang="en-US" b="1" dirty="0"/>
              <a:t>Dynamic partitioning : </a:t>
            </a:r>
            <a:r>
              <a:rPr lang="en-US" dirty="0"/>
              <a:t>Partitions are dynamically created. Compaction needed to counter external fragmentation. Inefficient use of processor.</a:t>
            </a:r>
          </a:p>
          <a:p>
            <a:pPr>
              <a:lnSpc>
                <a:spcPct val="90000"/>
              </a:lnSpc>
            </a:pPr>
            <a:r>
              <a:rPr lang="en-US" b="1" dirty="0"/>
              <a:t>Simple paging: </a:t>
            </a:r>
            <a:r>
              <a:rPr lang="en-US" dirty="0"/>
              <a:t>Both main memory and process space are divided into number of equal-sized frames. A process may exist in non-contiguous main memory pages</a:t>
            </a:r>
            <a:r>
              <a:rPr lang="en-US" sz="2400" dirty="0"/>
              <a: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a:ln/>
        </p:spPr>
        <p:txBody>
          <a:bodyPr lIns="92075" tIns="46038" rIns="92075" bIns="46038"/>
          <a:lstStyle/>
          <a:p>
            <a:r>
              <a:rPr lang="en-US"/>
              <a:t>Memory management techniques</a:t>
            </a:r>
          </a:p>
        </p:txBody>
      </p:sp>
      <p:sp>
        <p:nvSpPr>
          <p:cNvPr id="18435" name="Rectangle 3" descr="Rectangle: Click to edit Master text styles&#10;Second level&#10;Third level&#10;Fourth level&#10;Fifth level"/>
          <p:cNvSpPr>
            <a:spLocks noGrp="1" noChangeArrowheads="1"/>
          </p:cNvSpPr>
          <p:nvPr>
            <p:ph type="body" idx="1"/>
          </p:nvPr>
        </p:nvSpPr>
        <p:spPr>
          <a:xfrm>
            <a:off x="228600" y="1219200"/>
            <a:ext cx="8763000" cy="5257800"/>
          </a:xfrm>
          <a:noFill/>
          <a:ln/>
        </p:spPr>
        <p:txBody>
          <a:bodyPr lIns="92075" tIns="46038" rIns="92075" bIns="46038">
            <a:normAutofit/>
          </a:bodyPr>
          <a:lstStyle/>
          <a:p>
            <a:pPr>
              <a:lnSpc>
                <a:spcPct val="90000"/>
              </a:lnSpc>
            </a:pPr>
            <a:r>
              <a:rPr lang="en-US" sz="2800" b="1" dirty="0"/>
              <a:t>Simple segmentation :</a:t>
            </a:r>
            <a:r>
              <a:rPr lang="en-US" sz="2800" dirty="0"/>
              <a:t> To accommodate dynamically growing partitions: Compiler tables, for example. This technique does not create fragmentation, but needs compaction.</a:t>
            </a:r>
          </a:p>
          <a:p>
            <a:pPr>
              <a:lnSpc>
                <a:spcPct val="90000"/>
              </a:lnSpc>
            </a:pPr>
            <a:r>
              <a:rPr lang="en-US" sz="2800" b="1" u="sng" dirty="0"/>
              <a:t>Virtual memory with paging</a:t>
            </a:r>
            <a:r>
              <a:rPr lang="en-US" sz="2800" dirty="0"/>
              <a:t>: Same as simple paging but the pages currently needed are in the main memory. Known as demand paging.</a:t>
            </a:r>
          </a:p>
          <a:p>
            <a:pPr>
              <a:lnSpc>
                <a:spcPct val="90000"/>
              </a:lnSpc>
            </a:pPr>
            <a:r>
              <a:rPr lang="en-US" sz="2800" b="1" dirty="0"/>
              <a:t>Virtual memory with segmentation: </a:t>
            </a:r>
            <a:r>
              <a:rPr lang="en-US" sz="2800" dirty="0"/>
              <a:t>Same as simple segmentation but only those segments needed are in the main memory.</a:t>
            </a:r>
          </a:p>
          <a:p>
            <a:pPr>
              <a:lnSpc>
                <a:spcPct val="90000"/>
              </a:lnSpc>
            </a:pPr>
            <a:r>
              <a:rPr lang="en-US" sz="2800" b="1" dirty="0"/>
              <a:t>Segmented-paged virtual memory</a:t>
            </a:r>
            <a:endParaRPr lang="en-US" sz="28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p:spPr>
        <p:txBody>
          <a:bodyPr lIns="92075" tIns="46038" rIns="92075" bIns="46038">
            <a:normAutofit/>
          </a:bodyPr>
          <a:lstStyle/>
          <a:p>
            <a:r>
              <a:rPr lang="en-US" sz="3200" dirty="0"/>
              <a:t>Basic memory operations: </a:t>
            </a:r>
            <a:r>
              <a:rPr lang="en-US" sz="2800" dirty="0"/>
              <a:t>Relocation</a:t>
            </a:r>
            <a:endParaRPr lang="en-US" dirty="0"/>
          </a:p>
        </p:txBody>
      </p:sp>
      <p:sp>
        <p:nvSpPr>
          <p:cNvPr id="20483" name="Rectangle 3" descr="Rectangle: Click to edit Master text styles&#10;Second level&#10;Third level&#10;Fourth level&#10;Fifth level"/>
          <p:cNvSpPr>
            <a:spLocks noGrp="1" noChangeArrowheads="1"/>
          </p:cNvSpPr>
          <p:nvPr>
            <p:ph type="body" idx="1"/>
          </p:nvPr>
        </p:nvSpPr>
        <p:spPr>
          <a:xfrm>
            <a:off x="76200" y="1143000"/>
            <a:ext cx="8915400" cy="5334000"/>
          </a:xfrm>
          <a:noFill/>
          <a:ln/>
        </p:spPr>
        <p:txBody>
          <a:bodyPr lIns="92075" tIns="46038" rIns="92075" bIns="46038">
            <a:normAutofit lnSpcReduction="10000"/>
          </a:bodyPr>
          <a:lstStyle/>
          <a:p>
            <a:pPr>
              <a:lnSpc>
                <a:spcPct val="120000"/>
              </a:lnSpc>
              <a:spcBef>
                <a:spcPts val="600"/>
              </a:spcBef>
            </a:pPr>
            <a:r>
              <a:rPr lang="en-US" sz="2800" dirty="0"/>
              <a:t>A process in the memory includes instructions plus data. Instruction contain memory references: Addresses of data items, addresses of instructions etc. </a:t>
            </a:r>
          </a:p>
          <a:p>
            <a:pPr>
              <a:lnSpc>
                <a:spcPct val="120000"/>
              </a:lnSpc>
              <a:spcBef>
                <a:spcPts val="600"/>
              </a:spcBef>
            </a:pPr>
            <a:r>
              <a:rPr lang="en-US" sz="2800" dirty="0"/>
              <a:t>These are </a:t>
            </a:r>
            <a:r>
              <a:rPr lang="en-US" sz="2800" b="1" i="1" dirty="0"/>
              <a:t>logical addresses </a:t>
            </a:r>
            <a:r>
              <a:rPr lang="en-US" sz="2800" dirty="0"/>
              <a:t>or</a:t>
            </a:r>
            <a:r>
              <a:rPr lang="en-US" sz="2800" b="1" i="1" dirty="0"/>
              <a:t> Virtual addresses </a:t>
            </a:r>
            <a:r>
              <a:rPr lang="en-US" sz="2800" dirty="0"/>
              <a:t>: relative addresses are examples of this. These are addresses which are expressed with reference to some known point, usually the beginning of the program.</a:t>
            </a:r>
          </a:p>
          <a:p>
            <a:pPr>
              <a:lnSpc>
                <a:spcPct val="120000"/>
              </a:lnSpc>
              <a:spcBef>
                <a:spcPts val="600"/>
              </a:spcBef>
            </a:pPr>
            <a:r>
              <a:rPr lang="en-US" sz="2800" b="1" i="1" dirty="0"/>
              <a:t>Physical addresses </a:t>
            </a:r>
            <a:r>
              <a:rPr lang="en-US" sz="2800" dirty="0"/>
              <a:t>are absolute addresses in the memory. </a:t>
            </a:r>
          </a:p>
          <a:p>
            <a:pPr>
              <a:lnSpc>
                <a:spcPct val="120000"/>
              </a:lnSpc>
              <a:spcBef>
                <a:spcPts val="600"/>
              </a:spcBef>
            </a:pPr>
            <a:r>
              <a:rPr lang="en-US" sz="2800" dirty="0"/>
              <a:t>Relative addressing or position independence helps easy relocation of programs.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a:ln/>
        </p:spPr>
        <p:txBody>
          <a:bodyPr lIns="92075" tIns="46038" rIns="92075" bIns="46038">
            <a:normAutofit/>
          </a:bodyPr>
          <a:lstStyle/>
          <a:p>
            <a:r>
              <a:rPr lang="en-US" sz="3200" dirty="0"/>
              <a:t>Basic memory operations:</a:t>
            </a:r>
            <a:r>
              <a:rPr lang="en-US" dirty="0"/>
              <a:t> </a:t>
            </a:r>
            <a:r>
              <a:rPr lang="en-US" sz="2800" dirty="0"/>
              <a:t>Linking and loading</a:t>
            </a:r>
            <a:endParaRPr lang="en-US" sz="5400" dirty="0"/>
          </a:p>
        </p:txBody>
      </p:sp>
      <p:sp>
        <p:nvSpPr>
          <p:cNvPr id="22531" name="Rectangle 3" descr="Rectangle: Click to edit Master text styles&#10;Second level&#10;Third level&#10;Fourth level&#10;Fifth level"/>
          <p:cNvSpPr>
            <a:spLocks noGrp="1" noChangeArrowheads="1"/>
          </p:cNvSpPr>
          <p:nvPr>
            <p:ph type="body" idx="1"/>
          </p:nvPr>
        </p:nvSpPr>
        <p:spPr>
          <a:xfrm>
            <a:off x="228600" y="1219200"/>
            <a:ext cx="8686800" cy="5181600"/>
          </a:xfrm>
          <a:noFill/>
          <a:ln/>
        </p:spPr>
        <p:txBody>
          <a:bodyPr lIns="92075" tIns="46038" rIns="92075" bIns="46038">
            <a:normAutofit/>
          </a:bodyPr>
          <a:lstStyle/>
          <a:p>
            <a:pPr>
              <a:lnSpc>
                <a:spcPct val="90000"/>
              </a:lnSpc>
            </a:pPr>
            <a:r>
              <a:rPr lang="en-US" sz="2400" b="1" dirty="0"/>
              <a:t>Linker</a:t>
            </a:r>
            <a:r>
              <a:rPr lang="en-US" sz="2400" dirty="0"/>
              <a:t> takes collection of object modules and produces a load module that consists of an integrated set of program and data to be passed to the loader. As part of this process, it resolves all the external symbolic references (linkages)in the load module.</a:t>
            </a:r>
          </a:p>
          <a:p>
            <a:pPr>
              <a:lnSpc>
                <a:spcPct val="90000"/>
              </a:lnSpc>
            </a:pPr>
            <a:r>
              <a:rPr lang="en-US" sz="2400" dirty="0"/>
              <a:t>The nature of the address linkage –</a:t>
            </a:r>
          </a:p>
          <a:p>
            <a:pPr lvl="1"/>
            <a:r>
              <a:rPr lang="en-US" sz="2000" dirty="0"/>
              <a:t>Static linking,</a:t>
            </a:r>
          </a:p>
          <a:p>
            <a:pPr lvl="1"/>
            <a:r>
              <a:rPr lang="en-US" sz="2000" dirty="0"/>
              <a:t>Load-time dynamic linking,</a:t>
            </a:r>
          </a:p>
          <a:p>
            <a:pPr lvl="1"/>
            <a:r>
              <a:rPr lang="en-US" sz="2000" dirty="0"/>
              <a:t>Run-time dynamic linking.</a:t>
            </a:r>
          </a:p>
          <a:p>
            <a:pPr>
              <a:lnSpc>
                <a:spcPct val="90000"/>
              </a:lnSpc>
            </a:pPr>
            <a:r>
              <a:rPr lang="en-US" sz="2400" dirty="0"/>
              <a:t>Dynamic linking: Deferring the linkage of external references</a:t>
            </a:r>
          </a:p>
          <a:p>
            <a:pPr>
              <a:lnSpc>
                <a:spcPct val="90000"/>
              </a:lnSpc>
            </a:pPr>
            <a:r>
              <a:rPr lang="en-US" sz="2400" dirty="0"/>
              <a:t>Loading : Placing the executable image in physical memory and starting its execution</a:t>
            </a:r>
          </a:p>
          <a:p>
            <a:pPr>
              <a:lnSpc>
                <a:spcPct val="90000"/>
              </a:lnSpc>
            </a:pPr>
            <a:r>
              <a:rPr lang="en-US" sz="2400" dirty="0"/>
              <a:t>Run time memory requirement of the program (malloc)</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636000" y="6438900"/>
            <a:ext cx="419100" cy="406400"/>
          </a:xfrm>
          <a:prstGeom prst="rect">
            <a:avLst/>
          </a:prstGeom>
        </p:spPr>
        <p:txBody>
          <a:bodyPr/>
          <a:lstStyle/>
          <a:p>
            <a:fld id="{07069BA0-3E3F-4D9E-A451-7D649BF475C7}" type="slidenum">
              <a:rPr lang="en-US"/>
              <a:pPr/>
              <a:t>12</a:t>
            </a:fld>
            <a:endParaRPr lang="en-US"/>
          </a:p>
        </p:txBody>
      </p:sp>
      <p:sp>
        <p:nvSpPr>
          <p:cNvPr id="9218" name="Rectangle 2"/>
          <p:cNvSpPr>
            <a:spLocks noGrp="1" noChangeArrowheads="1"/>
          </p:cNvSpPr>
          <p:nvPr>
            <p:ph type="title"/>
          </p:nvPr>
        </p:nvSpPr>
        <p:spPr/>
        <p:txBody>
          <a:bodyPr>
            <a:noAutofit/>
          </a:bodyPr>
          <a:lstStyle/>
          <a:p>
            <a:r>
              <a:rPr lang="en-US" sz="3200" dirty="0"/>
              <a:t>Memory Management functions - </a:t>
            </a:r>
            <a:r>
              <a:rPr lang="en-US" sz="2800" dirty="0"/>
              <a:t>Protection</a:t>
            </a:r>
          </a:p>
        </p:txBody>
      </p:sp>
      <p:sp>
        <p:nvSpPr>
          <p:cNvPr id="9219" name="Rectangle 3"/>
          <p:cNvSpPr>
            <a:spLocks noGrp="1" noChangeArrowheads="1"/>
          </p:cNvSpPr>
          <p:nvPr>
            <p:ph type="body" idx="1"/>
          </p:nvPr>
        </p:nvSpPr>
        <p:spPr>
          <a:xfrm>
            <a:off x="266700" y="1381125"/>
            <a:ext cx="5219700" cy="5172075"/>
          </a:xfrm>
        </p:spPr>
        <p:txBody>
          <a:bodyPr>
            <a:normAutofit/>
          </a:bodyPr>
          <a:lstStyle/>
          <a:p>
            <a:r>
              <a:rPr lang="en-US" sz="2800" dirty="0"/>
              <a:t>No process should be able to access even a single byte which, it is not authorized to.</a:t>
            </a:r>
          </a:p>
          <a:p>
            <a:r>
              <a:rPr lang="en-US" dirty="0"/>
              <a:t>Technique - </a:t>
            </a:r>
            <a:r>
              <a:rPr lang="en-US" sz="2800" dirty="0"/>
              <a:t>Use base and limit values</a:t>
            </a:r>
          </a:p>
          <a:p>
            <a:pPr lvl="1"/>
            <a:r>
              <a:rPr lang="en-US" sz="2400" dirty="0"/>
              <a:t>address locations added to base value to map to physical address</a:t>
            </a:r>
          </a:p>
          <a:p>
            <a:pPr lvl="1"/>
            <a:r>
              <a:rPr lang="en-US" sz="2400" dirty="0"/>
              <a:t>address locations larger than limit value generates exception</a:t>
            </a:r>
          </a:p>
          <a:p>
            <a:r>
              <a:rPr lang="en-US" sz="2800" dirty="0"/>
              <a:t>Every memory access goes through the above check.</a:t>
            </a:r>
          </a:p>
        </p:txBody>
      </p:sp>
      <p:pic>
        <p:nvPicPr>
          <p:cNvPr id="5" name="Picture 5"/>
          <p:cNvPicPr>
            <a:picLocks noChangeAspect="1" noChangeArrowheads="1"/>
          </p:cNvPicPr>
          <p:nvPr/>
        </p:nvPicPr>
        <p:blipFill>
          <a:blip r:embed="rId2"/>
          <a:srcRect/>
          <a:stretch>
            <a:fillRect/>
          </a:stretch>
        </p:blipFill>
        <p:spPr bwMode="auto">
          <a:xfrm>
            <a:off x="5638800" y="1828800"/>
            <a:ext cx="3273425" cy="36068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SITpresentation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9373934A-9758-4286-A45B-5F131CACE0BD}" vid="{1C888272-DC3C-4536-B28E-19F3F7FDC4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SITpresentationTheme</Template>
  <TotalTime>2429</TotalTime>
  <Words>778</Words>
  <Application>Microsoft Office PowerPoint</Application>
  <PresentationFormat>On-screen Show (4:3)</PresentationFormat>
  <Paragraphs>89</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Heltevica</vt:lpstr>
      <vt:lpstr>Times New Roman</vt:lpstr>
      <vt:lpstr>SITpresentationTheme</vt:lpstr>
      <vt:lpstr>PowerPoint Presentation</vt:lpstr>
      <vt:lpstr>Memory - Introduction</vt:lpstr>
      <vt:lpstr>MEMORY: BASIC CONCEPTS</vt:lpstr>
      <vt:lpstr>MEMORY: BASIC CONCEPTS</vt:lpstr>
      <vt:lpstr>MEMORY HIERARCHY</vt:lpstr>
      <vt:lpstr>Memory management requirements</vt:lpstr>
      <vt:lpstr>Memory management requirements</vt:lpstr>
      <vt:lpstr>Memory management techniques</vt:lpstr>
      <vt:lpstr>Memory management techniques</vt:lpstr>
      <vt:lpstr>Basic memory operations: Relocation</vt:lpstr>
      <vt:lpstr>Basic memory operations: Linking and loading</vt:lpstr>
      <vt:lpstr>Memory Management functions - Protection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shripad</dc:creator>
  <cp:lastModifiedBy>deshpande.shripad2@gmail.com</cp:lastModifiedBy>
  <cp:revision>41</cp:revision>
  <dcterms:created xsi:type="dcterms:W3CDTF">2020-06-22T05:24:12Z</dcterms:created>
  <dcterms:modified xsi:type="dcterms:W3CDTF">2024-05-19T14:26:50Z</dcterms:modified>
</cp:coreProperties>
</file>