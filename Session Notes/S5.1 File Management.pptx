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6" r:id="rId2"/>
    <p:sldId id="258" r:id="rId3"/>
    <p:sldId id="367" r:id="rId4"/>
    <p:sldId id="368" r:id="rId5"/>
    <p:sldId id="369" r:id="rId6"/>
    <p:sldId id="370" r:id="rId7"/>
    <p:sldId id="371" r:id="rId8"/>
    <p:sldId id="372" r:id="rId9"/>
    <p:sldId id="375" r:id="rId10"/>
    <p:sldId id="373" r:id="rId11"/>
    <p:sldId id="37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0D78A-5224-4CB5-BB4D-D00426FBAAA4}" type="datetimeFigureOut">
              <a:rPr lang="en-US" smtClean="0"/>
              <a:pPr/>
              <a:t>5/23/2024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650D78A-5224-4CB5-BB4D-D00426FBAAA4}" type="datetimeFigureOut">
              <a:rPr lang="en-US" smtClean="0"/>
              <a:pPr/>
              <a:t>5/23/2024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650D78A-5224-4CB5-BB4D-D00426FBAAA4}" type="datetimeFigureOut">
              <a:rPr lang="en-US" smtClean="0"/>
              <a:pPr/>
              <a:t>5/23/2024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650D78A-5224-4CB5-BB4D-D00426FBAAA4}" type="datetimeFigureOut">
              <a:rPr lang="en-US" smtClean="0"/>
              <a:pPr/>
              <a:t>5/23/2024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0D78A-5224-4CB5-BB4D-D00426FBAAA4}" type="datetimeFigureOut">
              <a:rPr lang="en-US" smtClean="0"/>
              <a:pPr/>
              <a:t>5/23/2024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0D78A-5224-4CB5-BB4D-D00426FBAAA4}" type="datetimeFigureOut">
              <a:rPr lang="en-US" smtClean="0"/>
              <a:pPr/>
              <a:t>5/23/2024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0D78A-5224-4CB5-BB4D-D00426FBAAA4}" type="datetimeFigureOut">
              <a:rPr lang="en-US" smtClean="0"/>
              <a:pPr/>
              <a:t>5/23/2024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5/23/2024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D742D1-7BF0-48ED-ADAF-9E3A1836E61B}"/>
              </a:ext>
            </a:extLst>
          </p:cNvPr>
          <p:cNvSpPr/>
          <p:nvPr/>
        </p:nvSpPr>
        <p:spPr>
          <a:xfrm>
            <a:off x="0" y="4735808"/>
            <a:ext cx="9144000" cy="2122193"/>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3C5F9472-A0F2-4550-9734-62C795442E30}"/>
              </a:ext>
            </a:extLst>
          </p:cNvPr>
          <p:cNvSpPr>
            <a:spLocks noGrp="1"/>
          </p:cNvSpPr>
          <p:nvPr>
            <p:ph type="ctrTitle"/>
          </p:nvPr>
        </p:nvSpPr>
        <p:spPr>
          <a:xfrm>
            <a:off x="1142999" y="2657918"/>
            <a:ext cx="6858000" cy="1655478"/>
          </a:xfrm>
        </p:spPr>
        <p:txBody>
          <a:bodyPr anchor="ctr"/>
          <a:lstStyle>
            <a:lvl1pPr algn="ctr">
              <a:defRPr sz="6000" b="1">
                <a:solidFill>
                  <a:srgbClr val="002060"/>
                </a:solidFill>
                <a:latin typeface="Heltevica"/>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106664E1-9485-4079-B9A8-E082A5C72AAE}"/>
              </a:ext>
            </a:extLst>
          </p:cNvPr>
          <p:cNvSpPr>
            <a:spLocks noGrp="1"/>
          </p:cNvSpPr>
          <p:nvPr>
            <p:ph type="subTitle" idx="1" hasCustomPrompt="1"/>
          </p:nvPr>
        </p:nvSpPr>
        <p:spPr>
          <a:xfrm>
            <a:off x="1143000" y="4989529"/>
            <a:ext cx="6858000" cy="508721"/>
          </a:xfrm>
        </p:spPr>
        <p:txBody>
          <a:bodyPr anchor="ctr">
            <a:normAutofit/>
          </a:bodyPr>
          <a:lstStyle>
            <a:lvl1pPr marL="0" indent="0" algn="ctr">
              <a:buNone/>
              <a:defRPr sz="2800">
                <a:solidFill>
                  <a:schemeClr val="bg1"/>
                </a:solidFill>
                <a:latin typeface="Heltevic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Faculty</a:t>
            </a:r>
          </a:p>
        </p:txBody>
      </p:sp>
      <p:sp>
        <p:nvSpPr>
          <p:cNvPr id="6" name="Slide Number Placeholder 5">
            <a:extLst>
              <a:ext uri="{FF2B5EF4-FFF2-40B4-BE49-F238E27FC236}">
                <a16:creationId xmlns:a16="http://schemas.microsoft.com/office/drawing/2014/main" id="{D25D7214-C4CD-498C-9834-C885BB9C4D0B}"/>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15" name="Text Placeholder 14">
            <a:extLst>
              <a:ext uri="{FF2B5EF4-FFF2-40B4-BE49-F238E27FC236}">
                <a16:creationId xmlns:a16="http://schemas.microsoft.com/office/drawing/2014/main" id="{11C1536E-590E-4BA0-BAD4-4BEA88F0BF3E}"/>
              </a:ext>
            </a:extLst>
          </p:cNvPr>
          <p:cNvSpPr>
            <a:spLocks noGrp="1"/>
          </p:cNvSpPr>
          <p:nvPr>
            <p:ph type="body" sz="quarter" idx="13" hasCustomPrompt="1"/>
          </p:nvPr>
        </p:nvSpPr>
        <p:spPr>
          <a:xfrm>
            <a:off x="1142999" y="1892448"/>
            <a:ext cx="6858000" cy="310144"/>
          </a:xfrm>
        </p:spPr>
        <p:txBody>
          <a:bodyPr>
            <a:noAutofit/>
          </a:bodyPr>
          <a:lstStyle>
            <a:lvl1pPr marL="0" indent="0" algn="ctr">
              <a:buNone/>
              <a:defRPr sz="2000"/>
            </a:lvl1pPr>
          </a:lstStyle>
          <a:p>
            <a:pPr lvl="0"/>
            <a:r>
              <a:rPr lang="en-US" dirty="0"/>
              <a:t>Name of the Course</a:t>
            </a:r>
          </a:p>
        </p:txBody>
      </p:sp>
      <p:sp>
        <p:nvSpPr>
          <p:cNvPr id="17" name="Text Placeholder 16">
            <a:extLst>
              <a:ext uri="{FF2B5EF4-FFF2-40B4-BE49-F238E27FC236}">
                <a16:creationId xmlns:a16="http://schemas.microsoft.com/office/drawing/2014/main" id="{4BAB6A75-82A7-4C99-B78D-F243936C3370}"/>
              </a:ext>
            </a:extLst>
          </p:cNvPr>
          <p:cNvSpPr>
            <a:spLocks noGrp="1"/>
          </p:cNvSpPr>
          <p:nvPr>
            <p:ph type="body" sz="quarter" idx="14" hasCustomPrompt="1"/>
          </p:nvPr>
        </p:nvSpPr>
        <p:spPr>
          <a:xfrm>
            <a:off x="1142999" y="2320790"/>
            <a:ext cx="6858000" cy="310145"/>
          </a:xfrm>
        </p:spPr>
        <p:txBody>
          <a:bodyPr>
            <a:normAutofit/>
          </a:bodyPr>
          <a:lstStyle>
            <a:lvl1pPr marL="0" indent="0" algn="ctr">
              <a:buNone/>
              <a:defRPr lang="en-US" sz="1600" kern="1200" dirty="0" smtClean="0">
                <a:solidFill>
                  <a:schemeClr val="tx1"/>
                </a:solidFill>
                <a:latin typeface="Heltevica"/>
                <a:ea typeface="+mn-ea"/>
                <a:cs typeface="+mn-cs"/>
              </a:defRPr>
            </a:lvl1pPr>
          </a:lstStyle>
          <a:p>
            <a:pPr lvl="0"/>
            <a:r>
              <a:rPr lang="en-US" dirty="0"/>
              <a:t>Topic No</a:t>
            </a:r>
          </a:p>
        </p:txBody>
      </p:sp>
    </p:spTree>
    <p:extLst>
      <p:ext uri="{BB962C8B-B14F-4D97-AF65-F5344CB8AC3E}">
        <p14:creationId xmlns:p14="http://schemas.microsoft.com/office/powerpoint/2010/main" val="150037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50D78A-5224-4CB5-BB4D-D00426FBAAA4}" type="datetimeFigureOut">
              <a:rPr lang="en-US" smtClean="0"/>
              <a:pPr/>
              <a:t>5/23/2024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F332CE-0119-479D-996B-626D015DC57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dirty="0" err="1"/>
              <a:t>Shripad</a:t>
            </a:r>
            <a:r>
              <a:rPr lang="en-US" dirty="0"/>
              <a:t> V </a:t>
            </a:r>
            <a:r>
              <a:rPr lang="en-US" dirty="0" err="1"/>
              <a:t>Deshpande</a:t>
            </a:r>
            <a:endParaRPr lang="en-US" dirty="0"/>
          </a:p>
        </p:txBody>
      </p:sp>
      <p:sp>
        <p:nvSpPr>
          <p:cNvPr id="10" name="Title 3">
            <a:extLst>
              <a:ext uri="{FF2B5EF4-FFF2-40B4-BE49-F238E27FC236}">
                <a16:creationId xmlns:a16="http://schemas.microsoft.com/office/drawing/2014/main" id="{F6F0AE34-63F6-F533-D947-7471556424A9}"/>
              </a:ext>
            </a:extLst>
          </p:cNvPr>
          <p:cNvSpPr txBox="1">
            <a:spLocks/>
          </p:cNvSpPr>
          <p:nvPr/>
        </p:nvSpPr>
        <p:spPr>
          <a:xfrm>
            <a:off x="1219200" y="389986"/>
            <a:ext cx="6858000" cy="6871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4000" dirty="0">
                <a:latin typeface="Times New Roman" panose="02020603050405020304" pitchFamily="18" charset="0"/>
                <a:cs typeface="Times New Roman" panose="02020603050405020304" pitchFamily="18" charset="0"/>
              </a:rPr>
              <a:t>Embedded Operating Systems</a:t>
            </a:r>
          </a:p>
        </p:txBody>
      </p:sp>
      <p:sp>
        <p:nvSpPr>
          <p:cNvPr id="11" name="Title 3">
            <a:extLst>
              <a:ext uri="{FF2B5EF4-FFF2-40B4-BE49-F238E27FC236}">
                <a16:creationId xmlns:a16="http://schemas.microsoft.com/office/drawing/2014/main" id="{8566400D-B781-CEB9-61BE-840AAD125B6D}"/>
              </a:ext>
            </a:extLst>
          </p:cNvPr>
          <p:cNvSpPr txBox="1">
            <a:spLocks/>
          </p:cNvSpPr>
          <p:nvPr/>
        </p:nvSpPr>
        <p:spPr>
          <a:xfrm>
            <a:off x="1066800" y="1757551"/>
            <a:ext cx="6858000" cy="75991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2800" dirty="0">
                <a:solidFill>
                  <a:schemeClr val="accent2">
                    <a:lumMod val="75000"/>
                  </a:schemeClr>
                </a:solidFill>
                <a:latin typeface="Times New Roman" panose="02020603050405020304" pitchFamily="18" charset="0"/>
                <a:cs typeface="Times New Roman" panose="02020603050405020304" pitchFamily="18" charset="0"/>
              </a:rPr>
              <a:t>5.1 File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r>
              <a:rPr lang="en-US" dirty="0"/>
              <a:t>What is a File System ?</a:t>
            </a:r>
          </a:p>
        </p:txBody>
      </p:sp>
      <p:sp>
        <p:nvSpPr>
          <p:cNvPr id="3" name="Content Placeholder 2"/>
          <p:cNvSpPr>
            <a:spLocks noGrp="1"/>
          </p:cNvSpPr>
          <p:nvPr>
            <p:ph idx="1"/>
          </p:nvPr>
        </p:nvSpPr>
        <p:spPr>
          <a:xfrm>
            <a:off x="457200" y="1219200"/>
            <a:ext cx="8229600" cy="5234135"/>
          </a:xfrm>
        </p:spPr>
        <p:txBody>
          <a:bodyPr>
            <a:normAutofit fontScale="92500" lnSpcReduction="20000"/>
          </a:bodyPr>
          <a:lstStyle/>
          <a:p>
            <a:r>
              <a:rPr lang="en-US" sz="2800" b="0" i="0" dirty="0">
                <a:solidFill>
                  <a:srgbClr val="273239"/>
                </a:solidFill>
                <a:effectLst/>
                <a:highlight>
                  <a:srgbClr val="FFFFFF"/>
                </a:highlight>
                <a:latin typeface="+mj-lt"/>
              </a:rPr>
              <a:t>a method used by OS to store, organize, and manage files and directories on a storage device.</a:t>
            </a:r>
          </a:p>
          <a:p>
            <a:r>
              <a:rPr lang="en-US" sz="2800" dirty="0">
                <a:latin typeface="+mj-lt"/>
              </a:rPr>
              <a:t>Some examples of FS –</a:t>
            </a:r>
          </a:p>
          <a:p>
            <a:pPr lvl="1" fontAlgn="base"/>
            <a:r>
              <a:rPr lang="en-US" sz="2400" b="1" i="0" dirty="0">
                <a:solidFill>
                  <a:srgbClr val="273239"/>
                </a:solidFill>
                <a:effectLst/>
                <a:highlight>
                  <a:srgbClr val="FFFFFF"/>
                </a:highlight>
                <a:latin typeface="+mj-lt"/>
              </a:rPr>
              <a:t>FAT (File Allocation Table):</a:t>
            </a:r>
            <a:r>
              <a:rPr lang="en-US" sz="2400" b="0" i="0" dirty="0">
                <a:solidFill>
                  <a:srgbClr val="273239"/>
                </a:solidFill>
                <a:effectLst/>
                <a:highlight>
                  <a:srgbClr val="FFFFFF"/>
                </a:highlight>
                <a:latin typeface="+mj-lt"/>
              </a:rPr>
              <a:t> An older file system used by older versions of Windows and other operating systems.</a:t>
            </a:r>
          </a:p>
          <a:p>
            <a:pPr lvl="1" fontAlgn="base"/>
            <a:r>
              <a:rPr lang="en-US" sz="2400" b="1" i="0" dirty="0">
                <a:solidFill>
                  <a:srgbClr val="273239"/>
                </a:solidFill>
                <a:effectLst/>
                <a:highlight>
                  <a:srgbClr val="FFFFFF"/>
                </a:highlight>
                <a:latin typeface="+mj-lt"/>
              </a:rPr>
              <a:t>NTFS (New Technology File System):</a:t>
            </a:r>
            <a:r>
              <a:rPr lang="en-US" sz="2400" b="0" i="0" dirty="0">
                <a:solidFill>
                  <a:srgbClr val="273239"/>
                </a:solidFill>
                <a:effectLst/>
                <a:highlight>
                  <a:srgbClr val="FFFFFF"/>
                </a:highlight>
                <a:latin typeface="+mj-lt"/>
              </a:rPr>
              <a:t> A modern file system used by Windows. It supports features such as file and folder permissions, compression, and encryption.</a:t>
            </a:r>
          </a:p>
          <a:p>
            <a:pPr lvl="1" fontAlgn="base"/>
            <a:r>
              <a:rPr lang="en-US" sz="2400" b="1" i="0" dirty="0" err="1">
                <a:solidFill>
                  <a:srgbClr val="273239"/>
                </a:solidFill>
                <a:effectLst/>
                <a:highlight>
                  <a:srgbClr val="FFFFFF"/>
                </a:highlight>
                <a:latin typeface="+mj-lt"/>
              </a:rPr>
              <a:t>ext</a:t>
            </a:r>
            <a:r>
              <a:rPr lang="en-US" sz="2400" b="1" i="0" dirty="0">
                <a:solidFill>
                  <a:srgbClr val="273239"/>
                </a:solidFill>
                <a:effectLst/>
                <a:highlight>
                  <a:srgbClr val="FFFFFF"/>
                </a:highlight>
                <a:latin typeface="+mj-lt"/>
              </a:rPr>
              <a:t> (Extended File System):</a:t>
            </a:r>
            <a:r>
              <a:rPr lang="en-US" sz="2400" b="0" i="0" dirty="0">
                <a:solidFill>
                  <a:srgbClr val="273239"/>
                </a:solidFill>
                <a:effectLst/>
                <a:highlight>
                  <a:srgbClr val="FFFFFF"/>
                </a:highlight>
                <a:latin typeface="+mj-lt"/>
              </a:rPr>
              <a:t> A file system commonly used on Linux and Unix-based operating systems.</a:t>
            </a:r>
          </a:p>
          <a:p>
            <a:pPr lvl="1" fontAlgn="base"/>
            <a:r>
              <a:rPr lang="en-US" sz="2400" b="1" i="0" dirty="0">
                <a:solidFill>
                  <a:srgbClr val="273239"/>
                </a:solidFill>
                <a:effectLst/>
                <a:highlight>
                  <a:srgbClr val="FFFFFF"/>
                </a:highlight>
                <a:latin typeface="+mj-lt"/>
              </a:rPr>
              <a:t>HFS (Hierarchical File System):</a:t>
            </a:r>
            <a:r>
              <a:rPr lang="en-US" sz="2400" b="0" i="0" dirty="0">
                <a:solidFill>
                  <a:srgbClr val="273239"/>
                </a:solidFill>
                <a:effectLst/>
                <a:highlight>
                  <a:srgbClr val="FFFFFF"/>
                </a:highlight>
                <a:latin typeface="+mj-lt"/>
              </a:rPr>
              <a:t> A file system used by macOS.</a:t>
            </a:r>
          </a:p>
          <a:p>
            <a:pPr lvl="1" fontAlgn="base"/>
            <a:r>
              <a:rPr lang="en-US" sz="2400" b="1" i="0" dirty="0">
                <a:solidFill>
                  <a:srgbClr val="273239"/>
                </a:solidFill>
                <a:effectLst/>
                <a:highlight>
                  <a:srgbClr val="FFFFFF"/>
                </a:highlight>
                <a:latin typeface="+mj-lt"/>
              </a:rPr>
              <a:t>APFS (Apple File System):</a:t>
            </a:r>
            <a:r>
              <a:rPr lang="en-US" sz="2400" b="0" i="0" dirty="0">
                <a:solidFill>
                  <a:srgbClr val="273239"/>
                </a:solidFill>
                <a:effectLst/>
                <a:highlight>
                  <a:srgbClr val="FFFFFF"/>
                </a:highlight>
                <a:latin typeface="+mj-lt"/>
              </a:rPr>
              <a:t> A new file system introduced by Apple for their Macs and iOS devices.</a:t>
            </a:r>
          </a:p>
          <a:p>
            <a:pPr marL="342900" lvl="1" indent="-342900" fontAlgn="base">
              <a:buFont typeface="Arial" pitchFamily="34" charset="0"/>
              <a:buChar char="•"/>
            </a:pPr>
            <a:r>
              <a:rPr lang="en-US" dirty="0">
                <a:latin typeface="+mj-lt"/>
              </a:rPr>
              <a:t>a file is the smallest allotment of logical secondary storage.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pPr algn="l" fontAlgn="base"/>
            <a:r>
              <a:rPr lang="en-US" dirty="0"/>
              <a:t>Issues Handled By File System</a:t>
            </a:r>
          </a:p>
        </p:txBody>
      </p:sp>
      <p:sp>
        <p:nvSpPr>
          <p:cNvPr id="3" name="Content Placeholder 2"/>
          <p:cNvSpPr>
            <a:spLocks noGrp="1"/>
          </p:cNvSpPr>
          <p:nvPr>
            <p:ph idx="1"/>
          </p:nvPr>
        </p:nvSpPr>
        <p:spPr>
          <a:xfrm>
            <a:off x="457200" y="1052736"/>
            <a:ext cx="8229600" cy="5400599"/>
          </a:xfrm>
        </p:spPr>
        <p:txBody>
          <a:bodyPr>
            <a:normAutofit/>
          </a:bodyPr>
          <a:lstStyle/>
          <a:p>
            <a:pPr rtl="0" fontAlgn="base"/>
            <a:r>
              <a:rPr lang="en-US" sz="2800" b="0" i="0" dirty="0">
                <a:solidFill>
                  <a:srgbClr val="273239"/>
                </a:solidFill>
                <a:effectLst/>
                <a:highlight>
                  <a:srgbClr val="FFFFFF"/>
                </a:highlight>
                <a:latin typeface="Nunito" pitchFamily="2" charset="0"/>
              </a:rPr>
              <a:t>keep the files organized in the best way possible. The storage as well as retrieval must be fast.</a:t>
            </a:r>
          </a:p>
          <a:p>
            <a:pPr rtl="0" fontAlgn="base"/>
            <a:r>
              <a:rPr lang="en-US" sz="2800" dirty="0">
                <a:solidFill>
                  <a:srgbClr val="273239"/>
                </a:solidFill>
                <a:highlight>
                  <a:srgbClr val="FFFFFF"/>
                </a:highlight>
                <a:latin typeface="Nunito" pitchFamily="2" charset="0"/>
              </a:rPr>
              <a:t>The file </a:t>
            </a:r>
            <a:r>
              <a:rPr lang="en-US" sz="2800" b="0" i="0" dirty="0">
                <a:solidFill>
                  <a:srgbClr val="273239"/>
                </a:solidFill>
                <a:effectLst/>
                <a:highlight>
                  <a:srgbClr val="FFFFFF"/>
                </a:highlight>
                <a:latin typeface="Nunito" pitchFamily="2" charset="0"/>
              </a:rPr>
              <a:t>may be kept in the disk’s non-contiguous blocks. The FS must keep track of all the blocks where the files are partially located.</a:t>
            </a:r>
          </a:p>
          <a:p>
            <a:pPr rtl="0" fontAlgn="base"/>
            <a:r>
              <a:rPr lang="en-US" sz="2800" dirty="0">
                <a:solidFill>
                  <a:srgbClr val="273239"/>
                </a:solidFill>
                <a:highlight>
                  <a:srgbClr val="FFFFFF"/>
                </a:highlight>
                <a:latin typeface="Nunito" pitchFamily="2" charset="0"/>
              </a:rPr>
              <a:t>To manage file’s attributes, types and operations</a:t>
            </a:r>
          </a:p>
          <a:p>
            <a:pPr lvl="1" fontAlgn="base"/>
            <a:r>
              <a:rPr lang="en-US" sz="2000" b="0" i="0" dirty="0">
                <a:solidFill>
                  <a:srgbClr val="273239"/>
                </a:solidFill>
                <a:effectLst/>
                <a:highlight>
                  <a:srgbClr val="FFFFFF"/>
                </a:highlight>
                <a:latin typeface="Nunito" pitchFamily="2" charset="0"/>
              </a:rPr>
              <a:t>Attributes – Name, Type, Size, Creation Date, Modification Date, Owner, Protection</a:t>
            </a:r>
          </a:p>
          <a:p>
            <a:pPr lvl="1" fontAlgn="base"/>
            <a:r>
              <a:rPr lang="en-US" sz="2000" dirty="0">
                <a:solidFill>
                  <a:srgbClr val="273239"/>
                </a:solidFill>
                <a:highlight>
                  <a:srgbClr val="FFFFFF"/>
                </a:highlight>
                <a:latin typeface="Nunito" pitchFamily="2" charset="0"/>
              </a:rPr>
              <a:t>Type – doc, exe, jpg, mp3, java, class </a:t>
            </a:r>
            <a:r>
              <a:rPr lang="en-US" sz="2000" dirty="0" err="1">
                <a:solidFill>
                  <a:srgbClr val="273239"/>
                </a:solidFill>
                <a:highlight>
                  <a:srgbClr val="FFFFFF"/>
                </a:highlight>
                <a:latin typeface="Nunito" pitchFamily="2" charset="0"/>
              </a:rPr>
              <a:t>etc</a:t>
            </a:r>
            <a:endParaRPr lang="en-US" sz="2000" dirty="0">
              <a:solidFill>
                <a:srgbClr val="273239"/>
              </a:solidFill>
              <a:highlight>
                <a:srgbClr val="FFFFFF"/>
              </a:highlight>
              <a:latin typeface="Nunito" pitchFamily="2" charset="0"/>
            </a:endParaRPr>
          </a:p>
          <a:p>
            <a:pPr lvl="1" fontAlgn="base"/>
            <a:r>
              <a:rPr lang="en-US" sz="2000" dirty="0" err="1">
                <a:solidFill>
                  <a:srgbClr val="273239"/>
                </a:solidFill>
                <a:highlight>
                  <a:srgbClr val="FFFFFF"/>
                </a:highlight>
                <a:latin typeface="Nunito" pitchFamily="2" charset="0"/>
              </a:rPr>
              <a:t>Operarations</a:t>
            </a:r>
            <a:r>
              <a:rPr lang="en-US" sz="2000" dirty="0">
                <a:solidFill>
                  <a:srgbClr val="273239"/>
                </a:solidFill>
                <a:highlight>
                  <a:srgbClr val="FFFFFF"/>
                </a:highlight>
                <a:latin typeface="Nunito" pitchFamily="2" charset="0"/>
              </a:rPr>
              <a:t> – create, open, read, write, close, delete, truncate, append, seek</a:t>
            </a:r>
            <a:endParaRPr lang="en-US" sz="2000" b="0" i="0" dirty="0">
              <a:solidFill>
                <a:srgbClr val="273239"/>
              </a:solidFill>
              <a:effectLst/>
              <a:highlight>
                <a:srgbClr val="FFFFFF"/>
              </a:highlight>
              <a:latin typeface="Nunito" pitchFamily="2" charset="0"/>
            </a:endParaRPr>
          </a:p>
          <a:p>
            <a:pPr rtl="0" fontAlgn="base"/>
            <a:endParaRPr lang="en-US" sz="1600" b="0" i="0" dirty="0">
              <a:solidFill>
                <a:srgbClr val="273239"/>
              </a:solidFill>
              <a:effectLst/>
              <a:highlight>
                <a:srgbClr val="FFFFFF"/>
              </a:highlight>
              <a:latin typeface="Nunito" pitchFamily="2" charset="0"/>
            </a:endParaRPr>
          </a:p>
        </p:txBody>
      </p:sp>
    </p:spTree>
    <p:extLst>
      <p:ext uri="{BB962C8B-B14F-4D97-AF65-F5344CB8AC3E}">
        <p14:creationId xmlns:p14="http://schemas.microsoft.com/office/powerpoint/2010/main" val="57831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pPr algn="l" fontAlgn="base"/>
            <a:r>
              <a:rPr lang="en-US" dirty="0"/>
              <a:t>File Directory</a:t>
            </a:r>
          </a:p>
        </p:txBody>
      </p:sp>
      <p:sp>
        <p:nvSpPr>
          <p:cNvPr id="3" name="Content Placeholder 2"/>
          <p:cNvSpPr>
            <a:spLocks noGrp="1"/>
          </p:cNvSpPr>
          <p:nvPr>
            <p:ph idx="1"/>
          </p:nvPr>
        </p:nvSpPr>
        <p:spPr>
          <a:xfrm>
            <a:off x="457200" y="1052736"/>
            <a:ext cx="8229600" cy="5400599"/>
          </a:xfrm>
        </p:spPr>
        <p:txBody>
          <a:bodyPr>
            <a:normAutofit lnSpcReduction="10000"/>
          </a:bodyPr>
          <a:lstStyle/>
          <a:p>
            <a:pPr rtl="0" fontAlgn="base"/>
            <a:r>
              <a:rPr lang="en-US" sz="2800" b="0" i="0" dirty="0">
                <a:solidFill>
                  <a:srgbClr val="273239"/>
                </a:solidFill>
                <a:effectLst/>
                <a:highlight>
                  <a:srgbClr val="FFFFFF"/>
                </a:highlight>
                <a:latin typeface="Nunito" pitchFamily="2" charset="0"/>
              </a:rPr>
              <a:t>It is a collection of files, and it is a file itself, accessible by various file management functions.</a:t>
            </a:r>
          </a:p>
          <a:p>
            <a:pPr fontAlgn="base"/>
            <a:r>
              <a:rPr lang="en-US" sz="2800" dirty="0">
                <a:solidFill>
                  <a:srgbClr val="273239"/>
                </a:solidFill>
                <a:highlight>
                  <a:srgbClr val="FFFFFF"/>
                </a:highlight>
                <a:latin typeface="Nunito" pitchFamily="2" charset="0"/>
              </a:rPr>
              <a:t>The operations performed on the directory are: </a:t>
            </a:r>
          </a:p>
          <a:p>
            <a:pPr lvl="1" fontAlgn="base"/>
            <a:r>
              <a:rPr lang="en-US" sz="2400" dirty="0">
                <a:solidFill>
                  <a:srgbClr val="273239"/>
                </a:solidFill>
                <a:highlight>
                  <a:srgbClr val="FFFFFF"/>
                </a:highlight>
                <a:latin typeface="Nunito" pitchFamily="2" charset="0"/>
              </a:rPr>
              <a:t>Create a directory</a:t>
            </a:r>
          </a:p>
          <a:p>
            <a:pPr lvl="1" fontAlgn="base"/>
            <a:r>
              <a:rPr lang="en-US" sz="2400" dirty="0">
                <a:solidFill>
                  <a:srgbClr val="273239"/>
                </a:solidFill>
                <a:highlight>
                  <a:srgbClr val="FFFFFF"/>
                </a:highlight>
                <a:latin typeface="Nunito" pitchFamily="2" charset="0"/>
              </a:rPr>
              <a:t>Delete a directory</a:t>
            </a:r>
          </a:p>
          <a:p>
            <a:pPr lvl="1" fontAlgn="base"/>
            <a:r>
              <a:rPr lang="en-US" sz="2400" dirty="0">
                <a:solidFill>
                  <a:srgbClr val="273239"/>
                </a:solidFill>
                <a:highlight>
                  <a:srgbClr val="FFFFFF"/>
                </a:highlight>
                <a:latin typeface="Nunito" pitchFamily="2" charset="0"/>
              </a:rPr>
              <a:t>List a directory</a:t>
            </a:r>
          </a:p>
          <a:p>
            <a:pPr lvl="1" fontAlgn="base"/>
            <a:r>
              <a:rPr lang="en-US" sz="2400" dirty="0">
                <a:solidFill>
                  <a:srgbClr val="273239"/>
                </a:solidFill>
                <a:highlight>
                  <a:srgbClr val="FFFFFF"/>
                </a:highlight>
                <a:latin typeface="Nunito" pitchFamily="2" charset="0"/>
              </a:rPr>
              <a:t>Search for a file</a:t>
            </a:r>
          </a:p>
          <a:p>
            <a:pPr lvl="1" fontAlgn="base"/>
            <a:r>
              <a:rPr lang="en-US" sz="2400" dirty="0">
                <a:solidFill>
                  <a:srgbClr val="273239"/>
                </a:solidFill>
                <a:highlight>
                  <a:srgbClr val="FFFFFF"/>
                </a:highlight>
                <a:latin typeface="Nunito" pitchFamily="2" charset="0"/>
              </a:rPr>
              <a:t>Rename a directory</a:t>
            </a:r>
          </a:p>
          <a:p>
            <a:pPr lvl="1" fontAlgn="base"/>
            <a:r>
              <a:rPr lang="en-US" sz="2400" dirty="0">
                <a:solidFill>
                  <a:srgbClr val="273239"/>
                </a:solidFill>
                <a:highlight>
                  <a:srgbClr val="FFFFFF"/>
                </a:highlight>
                <a:latin typeface="Nunito" pitchFamily="2" charset="0"/>
              </a:rPr>
              <a:t>Traverse the file system</a:t>
            </a:r>
          </a:p>
          <a:p>
            <a:pPr rtl="0" fontAlgn="base"/>
            <a:r>
              <a:rPr lang="en-US" sz="2800" dirty="0">
                <a:solidFill>
                  <a:srgbClr val="273239"/>
                </a:solidFill>
                <a:highlight>
                  <a:srgbClr val="FFFFFF"/>
                </a:highlight>
                <a:latin typeface="Nunito" pitchFamily="2" charset="0"/>
              </a:rPr>
              <a:t>Single Level directory, Tree-Structured Directory</a:t>
            </a:r>
          </a:p>
        </p:txBody>
      </p:sp>
    </p:spTree>
    <p:extLst>
      <p:ext uri="{BB962C8B-B14F-4D97-AF65-F5344CB8AC3E}">
        <p14:creationId xmlns:p14="http://schemas.microsoft.com/office/powerpoint/2010/main" val="2866229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pPr algn="l" fontAlgn="base"/>
            <a:r>
              <a:rPr lang="en-US" dirty="0"/>
              <a:t>File Allocation Methods</a:t>
            </a:r>
          </a:p>
        </p:txBody>
      </p:sp>
      <p:sp>
        <p:nvSpPr>
          <p:cNvPr id="3" name="Content Placeholder 2"/>
          <p:cNvSpPr>
            <a:spLocks noGrp="1"/>
          </p:cNvSpPr>
          <p:nvPr>
            <p:ph idx="1"/>
          </p:nvPr>
        </p:nvSpPr>
        <p:spPr>
          <a:xfrm>
            <a:off x="457200" y="1052736"/>
            <a:ext cx="8229600" cy="5400599"/>
          </a:xfrm>
        </p:spPr>
        <p:txBody>
          <a:bodyPr>
            <a:normAutofit/>
          </a:bodyPr>
          <a:lstStyle/>
          <a:p>
            <a:pPr algn="l" fontAlgn="base"/>
            <a:r>
              <a:rPr lang="en-US" sz="2800" b="0" i="0" dirty="0">
                <a:solidFill>
                  <a:srgbClr val="273239"/>
                </a:solidFill>
                <a:effectLst/>
                <a:highlight>
                  <a:srgbClr val="FFFFFF"/>
                </a:highlight>
                <a:latin typeface="Nunito" pitchFamily="2" charset="0"/>
              </a:rPr>
              <a:t>Defines how the files are stored in the disk blocks.</a:t>
            </a:r>
          </a:p>
          <a:p>
            <a:pPr fontAlgn="base"/>
            <a:r>
              <a:rPr lang="en-US" sz="2800" dirty="0">
                <a:solidFill>
                  <a:srgbClr val="273239"/>
                </a:solidFill>
                <a:highlight>
                  <a:srgbClr val="FFFFFF"/>
                </a:highlight>
                <a:latin typeface="Nunito" pitchFamily="2" charset="0"/>
              </a:rPr>
              <a:t>The main idea behind these methods is to provide:</a:t>
            </a:r>
          </a:p>
          <a:p>
            <a:pPr lvl="1" fontAlgn="base"/>
            <a:r>
              <a:rPr lang="en-US" sz="2400" dirty="0">
                <a:solidFill>
                  <a:srgbClr val="273239"/>
                </a:solidFill>
                <a:highlight>
                  <a:srgbClr val="FFFFFF"/>
                </a:highlight>
                <a:latin typeface="Nunito" pitchFamily="2" charset="0"/>
              </a:rPr>
              <a:t>Efficient disk space utilization.</a:t>
            </a:r>
          </a:p>
          <a:p>
            <a:pPr lvl="1" fontAlgn="base"/>
            <a:r>
              <a:rPr lang="en-US" sz="2400" dirty="0">
                <a:solidFill>
                  <a:srgbClr val="273239"/>
                </a:solidFill>
                <a:highlight>
                  <a:srgbClr val="FFFFFF"/>
                </a:highlight>
                <a:latin typeface="Nunito" pitchFamily="2" charset="0"/>
              </a:rPr>
              <a:t>Fast access to the file blocks.</a:t>
            </a:r>
          </a:p>
          <a:p>
            <a:pPr algn="l" fontAlgn="base"/>
            <a:r>
              <a:rPr lang="en-US" sz="2800" dirty="0">
                <a:solidFill>
                  <a:srgbClr val="273239"/>
                </a:solidFill>
                <a:highlight>
                  <a:srgbClr val="FFFFFF"/>
                </a:highlight>
                <a:latin typeface="Nunito" pitchFamily="2" charset="0"/>
              </a:rPr>
              <a:t>T</a:t>
            </a:r>
            <a:r>
              <a:rPr lang="en-US" sz="2800" b="0" i="0" dirty="0">
                <a:solidFill>
                  <a:srgbClr val="273239"/>
                </a:solidFill>
                <a:effectLst/>
                <a:highlight>
                  <a:srgbClr val="FFFFFF"/>
                </a:highlight>
                <a:latin typeface="Nunito" pitchFamily="2" charset="0"/>
              </a:rPr>
              <a:t>hree main disk space or file allocation methods.</a:t>
            </a:r>
          </a:p>
          <a:p>
            <a:pPr lvl="1" fontAlgn="base">
              <a:buFont typeface="Arial" panose="020B0604020202020204" pitchFamily="34" charset="0"/>
              <a:buChar char="•"/>
            </a:pPr>
            <a:r>
              <a:rPr lang="en-US" sz="2000" b="0" i="0" dirty="0">
                <a:solidFill>
                  <a:srgbClr val="273239"/>
                </a:solidFill>
                <a:effectLst/>
                <a:highlight>
                  <a:srgbClr val="FFFFFF"/>
                </a:highlight>
                <a:latin typeface="Nunito" pitchFamily="2" charset="0"/>
              </a:rPr>
              <a:t>Contiguous Allocation</a:t>
            </a:r>
          </a:p>
          <a:p>
            <a:pPr lvl="1" fontAlgn="base">
              <a:buFont typeface="Arial" panose="020B0604020202020204" pitchFamily="34" charset="0"/>
              <a:buChar char="•"/>
            </a:pPr>
            <a:r>
              <a:rPr lang="en-US" sz="2000" b="0" i="0" dirty="0">
                <a:solidFill>
                  <a:srgbClr val="273239"/>
                </a:solidFill>
                <a:effectLst/>
                <a:highlight>
                  <a:srgbClr val="FFFFFF"/>
                </a:highlight>
                <a:latin typeface="Nunito" pitchFamily="2" charset="0"/>
              </a:rPr>
              <a:t>Linked Allocation</a:t>
            </a:r>
          </a:p>
          <a:p>
            <a:pPr lvl="1" fontAlgn="base">
              <a:buFont typeface="Arial" panose="020B0604020202020204" pitchFamily="34" charset="0"/>
              <a:buChar char="•"/>
            </a:pPr>
            <a:r>
              <a:rPr lang="en-US" sz="2000" b="0" i="0" dirty="0">
                <a:solidFill>
                  <a:srgbClr val="273239"/>
                </a:solidFill>
                <a:effectLst/>
                <a:highlight>
                  <a:srgbClr val="FFFFFF"/>
                </a:highlight>
                <a:latin typeface="Nunito" pitchFamily="2" charset="0"/>
              </a:rPr>
              <a:t>Indexed Allocation</a:t>
            </a:r>
          </a:p>
          <a:p>
            <a:pPr rtl="0" fontAlgn="base"/>
            <a:endParaRPr lang="en-US" sz="2800" dirty="0">
              <a:solidFill>
                <a:srgbClr val="273239"/>
              </a:solidFill>
              <a:highlight>
                <a:srgbClr val="FFFFFF"/>
              </a:highlight>
              <a:latin typeface="Nunito" pitchFamily="2" charset="0"/>
            </a:endParaRPr>
          </a:p>
        </p:txBody>
      </p:sp>
    </p:spTree>
    <p:extLst>
      <p:ext uri="{BB962C8B-B14F-4D97-AF65-F5344CB8AC3E}">
        <p14:creationId xmlns:p14="http://schemas.microsoft.com/office/powerpoint/2010/main" val="2630663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pPr lvl="1" fontAlgn="base"/>
            <a:r>
              <a:rPr lang="en-US" sz="4400" b="0" i="0" dirty="0">
                <a:solidFill>
                  <a:srgbClr val="273239"/>
                </a:solidFill>
                <a:effectLst/>
                <a:highlight>
                  <a:srgbClr val="FFFFFF"/>
                </a:highlight>
                <a:latin typeface="Nunito" pitchFamily="2" charset="0"/>
              </a:rPr>
              <a:t>Contiguous Allocation</a:t>
            </a:r>
          </a:p>
        </p:txBody>
      </p:sp>
      <p:sp>
        <p:nvSpPr>
          <p:cNvPr id="3" name="Content Placeholder 2"/>
          <p:cNvSpPr>
            <a:spLocks noGrp="1"/>
          </p:cNvSpPr>
          <p:nvPr>
            <p:ph idx="1"/>
          </p:nvPr>
        </p:nvSpPr>
        <p:spPr>
          <a:xfrm>
            <a:off x="457200" y="1052736"/>
            <a:ext cx="8229600" cy="5400599"/>
          </a:xfrm>
        </p:spPr>
        <p:txBody>
          <a:bodyPr>
            <a:normAutofit lnSpcReduction="10000"/>
          </a:bodyPr>
          <a:lstStyle/>
          <a:p>
            <a:pPr algn="l" fontAlgn="base"/>
            <a:r>
              <a:rPr lang="en-US" sz="2800" dirty="0">
                <a:solidFill>
                  <a:srgbClr val="273239"/>
                </a:solidFill>
                <a:highlight>
                  <a:srgbClr val="FFFFFF"/>
                </a:highlight>
                <a:latin typeface="Nunito" pitchFamily="2" charset="0"/>
              </a:rPr>
              <a:t>E</a:t>
            </a:r>
            <a:r>
              <a:rPr lang="en-US" sz="2800" b="0" i="0" dirty="0">
                <a:solidFill>
                  <a:srgbClr val="273239"/>
                </a:solidFill>
                <a:effectLst/>
                <a:highlight>
                  <a:srgbClr val="FFFFFF"/>
                </a:highlight>
                <a:latin typeface="Nunito" pitchFamily="2" charset="0"/>
              </a:rPr>
              <a:t>ach file occupies a contiguous set of blocks on the disk.</a:t>
            </a:r>
          </a:p>
          <a:p>
            <a:pPr fontAlgn="base"/>
            <a:r>
              <a:rPr lang="en-US" sz="2800" dirty="0">
                <a:solidFill>
                  <a:srgbClr val="273239"/>
                </a:solidFill>
                <a:highlight>
                  <a:srgbClr val="FFFFFF"/>
                </a:highlight>
                <a:latin typeface="Nunito" pitchFamily="2" charset="0"/>
              </a:rPr>
              <a:t>The directory entry for a file with contiguous allocation contains</a:t>
            </a:r>
          </a:p>
          <a:p>
            <a:pPr lvl="1" fontAlgn="base">
              <a:buFont typeface="Arial" panose="020B0604020202020204" pitchFamily="34" charset="0"/>
              <a:buChar char="•"/>
            </a:pPr>
            <a:r>
              <a:rPr lang="en-US" sz="2000" b="0" i="0" dirty="0">
                <a:solidFill>
                  <a:srgbClr val="273239"/>
                </a:solidFill>
                <a:effectLst/>
                <a:highlight>
                  <a:srgbClr val="FFFFFF"/>
                </a:highlight>
                <a:latin typeface="Nunito" pitchFamily="2" charset="0"/>
              </a:rPr>
              <a:t>Address of starting block</a:t>
            </a:r>
          </a:p>
          <a:p>
            <a:pPr lvl="1" fontAlgn="base">
              <a:buFont typeface="Arial" panose="020B0604020202020204" pitchFamily="34" charset="0"/>
              <a:buChar char="•"/>
            </a:pPr>
            <a:r>
              <a:rPr lang="en-US" sz="2000" b="0" i="0" dirty="0">
                <a:solidFill>
                  <a:srgbClr val="273239"/>
                </a:solidFill>
                <a:effectLst/>
                <a:highlight>
                  <a:srgbClr val="FFFFFF"/>
                </a:highlight>
                <a:latin typeface="Nunito" pitchFamily="2" charset="0"/>
              </a:rPr>
              <a:t>Length of the allocated portion.</a:t>
            </a:r>
          </a:p>
          <a:p>
            <a:pPr fontAlgn="base"/>
            <a:r>
              <a:rPr lang="en-US" sz="2800" dirty="0">
                <a:solidFill>
                  <a:srgbClr val="273239"/>
                </a:solidFill>
                <a:highlight>
                  <a:srgbClr val="FFFFFF"/>
                </a:highlight>
                <a:latin typeface="Nunito" pitchFamily="2" charset="0"/>
              </a:rPr>
              <a:t>Advantages:</a:t>
            </a:r>
          </a:p>
          <a:p>
            <a:pPr lvl="1" fontAlgn="base">
              <a:buFont typeface="Arial" panose="020B0604020202020204" pitchFamily="34" charset="0"/>
              <a:buChar char="•"/>
            </a:pPr>
            <a:r>
              <a:rPr lang="en-US" sz="2000" dirty="0">
                <a:solidFill>
                  <a:srgbClr val="273239"/>
                </a:solidFill>
                <a:highlight>
                  <a:srgbClr val="FFFFFF"/>
                </a:highlight>
                <a:latin typeface="Nunito" pitchFamily="2" charset="0"/>
              </a:rPr>
              <a:t>Both the Sequential and Direct Accesses are supported </a:t>
            </a:r>
          </a:p>
          <a:p>
            <a:pPr lvl="1" fontAlgn="base">
              <a:buFont typeface="Arial" panose="020B0604020202020204" pitchFamily="34" charset="0"/>
              <a:buChar char="•"/>
            </a:pPr>
            <a:r>
              <a:rPr lang="en-US" sz="2000" dirty="0">
                <a:solidFill>
                  <a:srgbClr val="273239"/>
                </a:solidFill>
                <a:highlight>
                  <a:srgbClr val="FFFFFF"/>
                </a:highlight>
                <a:latin typeface="Nunito" pitchFamily="2" charset="0"/>
              </a:rPr>
              <a:t>extremely fast since the number of seeks are minimal</a:t>
            </a:r>
          </a:p>
          <a:p>
            <a:pPr fontAlgn="base"/>
            <a:r>
              <a:rPr lang="en-US" sz="2800" dirty="0">
                <a:solidFill>
                  <a:srgbClr val="273239"/>
                </a:solidFill>
                <a:highlight>
                  <a:srgbClr val="FFFFFF"/>
                </a:highlight>
                <a:latin typeface="Nunito" pitchFamily="2" charset="0"/>
              </a:rPr>
              <a:t>Disadvantages:</a:t>
            </a:r>
          </a:p>
          <a:p>
            <a:pPr lvl="1" fontAlgn="base">
              <a:buFont typeface="Arial" panose="020B0604020202020204" pitchFamily="34" charset="0"/>
              <a:buChar char="•"/>
            </a:pPr>
            <a:r>
              <a:rPr lang="en-US" sz="2000" dirty="0">
                <a:solidFill>
                  <a:srgbClr val="273239"/>
                </a:solidFill>
                <a:highlight>
                  <a:srgbClr val="FFFFFF"/>
                </a:highlight>
                <a:latin typeface="Nunito" pitchFamily="2" charset="0"/>
              </a:rPr>
              <a:t>internal and external fragmentation. inefficient in terms of memory utilization.</a:t>
            </a:r>
          </a:p>
          <a:p>
            <a:pPr lvl="1" fontAlgn="base">
              <a:buFont typeface="Arial" panose="020B0604020202020204" pitchFamily="34" charset="0"/>
              <a:buChar char="•"/>
            </a:pPr>
            <a:r>
              <a:rPr lang="en-US" sz="2000" dirty="0">
                <a:solidFill>
                  <a:srgbClr val="273239"/>
                </a:solidFill>
                <a:highlight>
                  <a:srgbClr val="FFFFFF"/>
                </a:highlight>
                <a:latin typeface="Nunito" pitchFamily="2" charset="0"/>
              </a:rPr>
              <a:t>Increasing file size is difficult because it depends on the availability of contiguous memory at a particular instance.</a:t>
            </a:r>
          </a:p>
          <a:p>
            <a:pPr rtl="0" fontAlgn="base"/>
            <a:endParaRPr lang="en-US" sz="2800" dirty="0">
              <a:solidFill>
                <a:srgbClr val="273239"/>
              </a:solidFill>
              <a:highlight>
                <a:srgbClr val="FFFFFF"/>
              </a:highlight>
              <a:latin typeface="Nunito" pitchFamily="2" charset="0"/>
            </a:endParaRPr>
          </a:p>
        </p:txBody>
      </p:sp>
    </p:spTree>
    <p:extLst>
      <p:ext uri="{BB962C8B-B14F-4D97-AF65-F5344CB8AC3E}">
        <p14:creationId xmlns:p14="http://schemas.microsoft.com/office/powerpoint/2010/main" val="336549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39" y="14842"/>
            <a:ext cx="8229600" cy="1143000"/>
          </a:xfrm>
        </p:spPr>
        <p:txBody>
          <a:bodyPr/>
          <a:lstStyle/>
          <a:p>
            <a:pPr algn="l" fontAlgn="base"/>
            <a:r>
              <a:rPr lang="en-US" dirty="0"/>
              <a:t>Linked List Allocation</a:t>
            </a:r>
          </a:p>
        </p:txBody>
      </p:sp>
      <p:sp>
        <p:nvSpPr>
          <p:cNvPr id="3" name="Content Placeholder 2"/>
          <p:cNvSpPr>
            <a:spLocks noGrp="1"/>
          </p:cNvSpPr>
          <p:nvPr>
            <p:ph idx="1"/>
          </p:nvPr>
        </p:nvSpPr>
        <p:spPr>
          <a:xfrm>
            <a:off x="457200" y="1052736"/>
            <a:ext cx="8229600" cy="5400599"/>
          </a:xfrm>
        </p:spPr>
        <p:txBody>
          <a:bodyPr>
            <a:normAutofit fontScale="92500" lnSpcReduction="20000"/>
          </a:bodyPr>
          <a:lstStyle/>
          <a:p>
            <a:pPr fontAlgn="base"/>
            <a:r>
              <a:rPr lang="en-US" sz="2800" dirty="0">
                <a:solidFill>
                  <a:srgbClr val="273239"/>
                </a:solidFill>
                <a:highlight>
                  <a:srgbClr val="FFFFFF"/>
                </a:highlight>
                <a:latin typeface="Nunito" pitchFamily="2" charset="0"/>
              </a:rPr>
              <a:t>Each file is a linked list of disk blocks which can be scattered anywhere on the disk.</a:t>
            </a:r>
          </a:p>
          <a:p>
            <a:pPr fontAlgn="base"/>
            <a:r>
              <a:rPr lang="en-US" sz="2800" dirty="0">
                <a:solidFill>
                  <a:srgbClr val="273239"/>
                </a:solidFill>
                <a:highlight>
                  <a:srgbClr val="FFFFFF"/>
                </a:highlight>
                <a:latin typeface="Nunito" pitchFamily="2" charset="0"/>
              </a:rPr>
              <a:t>The directory entry contains a pointer to the starting and the ending file block. Each block contains a pointer to the next block occupied by the file.</a:t>
            </a:r>
          </a:p>
          <a:p>
            <a:pPr fontAlgn="base"/>
            <a:r>
              <a:rPr lang="en-US" sz="2800" dirty="0">
                <a:solidFill>
                  <a:srgbClr val="273239"/>
                </a:solidFill>
                <a:highlight>
                  <a:srgbClr val="FFFFFF"/>
                </a:highlight>
                <a:latin typeface="Nunito" pitchFamily="2" charset="0"/>
              </a:rPr>
              <a:t>Advantages:</a:t>
            </a:r>
          </a:p>
          <a:p>
            <a:pPr lvl="1" fontAlgn="base"/>
            <a:r>
              <a:rPr lang="en-US" sz="2400" dirty="0">
                <a:solidFill>
                  <a:srgbClr val="273239"/>
                </a:solidFill>
                <a:highlight>
                  <a:srgbClr val="FFFFFF"/>
                </a:highlight>
                <a:latin typeface="Nunito" pitchFamily="2" charset="0"/>
              </a:rPr>
              <a:t>File size can be increased easily.</a:t>
            </a:r>
          </a:p>
          <a:p>
            <a:pPr lvl="1" fontAlgn="base"/>
            <a:r>
              <a:rPr lang="en-US" sz="2400" dirty="0">
                <a:solidFill>
                  <a:srgbClr val="273239"/>
                </a:solidFill>
                <a:highlight>
                  <a:srgbClr val="FFFFFF"/>
                </a:highlight>
                <a:latin typeface="Nunito" pitchFamily="2" charset="0"/>
              </a:rPr>
              <a:t>Does not suffer from external fragmentation hence better in terms of storage space utilization.</a:t>
            </a:r>
          </a:p>
          <a:p>
            <a:pPr fontAlgn="base"/>
            <a:r>
              <a:rPr lang="en-US" sz="2800" dirty="0">
                <a:solidFill>
                  <a:srgbClr val="273239"/>
                </a:solidFill>
                <a:highlight>
                  <a:srgbClr val="FFFFFF"/>
                </a:highlight>
                <a:latin typeface="Nunito" pitchFamily="2" charset="0"/>
              </a:rPr>
              <a:t>Disadvantages:</a:t>
            </a:r>
          </a:p>
          <a:p>
            <a:pPr lvl="1" fontAlgn="base"/>
            <a:r>
              <a:rPr lang="en-US" sz="2400" dirty="0">
                <a:solidFill>
                  <a:srgbClr val="273239"/>
                </a:solidFill>
                <a:highlight>
                  <a:srgbClr val="FFFFFF"/>
                </a:highlight>
                <a:latin typeface="Nunito" pitchFamily="2" charset="0"/>
              </a:rPr>
              <a:t>Large number of seeks are needed to access every block individually. This makes linked allocation slower.</a:t>
            </a:r>
          </a:p>
          <a:p>
            <a:pPr lvl="1" fontAlgn="base"/>
            <a:r>
              <a:rPr lang="en-US" sz="2400" dirty="0">
                <a:solidFill>
                  <a:srgbClr val="273239"/>
                </a:solidFill>
                <a:highlight>
                  <a:srgbClr val="FFFFFF"/>
                </a:highlight>
                <a:latin typeface="Nunito" pitchFamily="2" charset="0"/>
              </a:rPr>
              <a:t>No random or direct access. </a:t>
            </a:r>
          </a:p>
          <a:p>
            <a:pPr lvl="1" fontAlgn="base"/>
            <a:r>
              <a:rPr lang="en-US" sz="2400" dirty="0">
                <a:solidFill>
                  <a:srgbClr val="273239"/>
                </a:solidFill>
                <a:highlight>
                  <a:srgbClr val="FFFFFF"/>
                </a:highlight>
                <a:latin typeface="Nunito" pitchFamily="2" charset="0"/>
              </a:rPr>
              <a:t>Pointers required in the linked allocation incur some extra overhead.</a:t>
            </a:r>
          </a:p>
          <a:p>
            <a:pPr rtl="0" fontAlgn="base"/>
            <a:endParaRPr lang="en-US" sz="2800" dirty="0">
              <a:solidFill>
                <a:srgbClr val="273239"/>
              </a:solidFill>
              <a:highlight>
                <a:srgbClr val="FFFFFF"/>
              </a:highlight>
              <a:latin typeface="Nunito" pitchFamily="2" charset="0"/>
            </a:endParaRPr>
          </a:p>
        </p:txBody>
      </p:sp>
    </p:spTree>
    <p:extLst>
      <p:ext uri="{BB962C8B-B14F-4D97-AF65-F5344CB8AC3E}">
        <p14:creationId xmlns:p14="http://schemas.microsoft.com/office/powerpoint/2010/main" val="744531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90" y="-90264"/>
            <a:ext cx="8229600" cy="1143000"/>
          </a:xfrm>
        </p:spPr>
        <p:txBody>
          <a:bodyPr/>
          <a:lstStyle/>
          <a:p>
            <a:pPr algn="l" fontAlgn="base"/>
            <a:r>
              <a:rPr lang="en-IN" dirty="0"/>
              <a:t>Indexed</a:t>
            </a:r>
            <a:r>
              <a:rPr lang="en-IN" b="1" i="0" dirty="0">
                <a:solidFill>
                  <a:srgbClr val="273239"/>
                </a:solidFill>
                <a:effectLst/>
                <a:highlight>
                  <a:srgbClr val="FFFFFF"/>
                </a:highlight>
                <a:latin typeface="Nunito" pitchFamily="2" charset="0"/>
              </a:rPr>
              <a:t> </a:t>
            </a:r>
            <a:r>
              <a:rPr lang="en-IN" dirty="0"/>
              <a:t>Allocation</a:t>
            </a:r>
            <a:endParaRPr lang="en-US" dirty="0"/>
          </a:p>
        </p:txBody>
      </p:sp>
      <p:sp>
        <p:nvSpPr>
          <p:cNvPr id="3" name="Content Placeholder 2"/>
          <p:cNvSpPr>
            <a:spLocks noGrp="1"/>
          </p:cNvSpPr>
          <p:nvPr>
            <p:ph idx="1"/>
          </p:nvPr>
        </p:nvSpPr>
        <p:spPr>
          <a:xfrm>
            <a:off x="457200" y="1052736"/>
            <a:ext cx="8229600" cy="5400599"/>
          </a:xfrm>
        </p:spPr>
        <p:txBody>
          <a:bodyPr>
            <a:normAutofit fontScale="92500" lnSpcReduction="10000"/>
          </a:bodyPr>
          <a:lstStyle/>
          <a:p>
            <a:pPr fontAlgn="base">
              <a:lnSpc>
                <a:spcPct val="80000"/>
              </a:lnSpc>
            </a:pPr>
            <a:r>
              <a:rPr lang="en-US" sz="2600" dirty="0">
                <a:solidFill>
                  <a:srgbClr val="273239"/>
                </a:solidFill>
                <a:highlight>
                  <a:srgbClr val="FFFFFF"/>
                </a:highlight>
                <a:latin typeface="Nunito" pitchFamily="2" charset="0"/>
              </a:rPr>
              <a:t>A special block known as the Index block contains the pointers to all the blocks occupied by a file. </a:t>
            </a:r>
          </a:p>
          <a:p>
            <a:pPr fontAlgn="base">
              <a:lnSpc>
                <a:spcPct val="80000"/>
              </a:lnSpc>
            </a:pPr>
            <a:r>
              <a:rPr lang="en-US" sz="2600" dirty="0">
                <a:solidFill>
                  <a:srgbClr val="273239"/>
                </a:solidFill>
                <a:highlight>
                  <a:srgbClr val="FFFFFF"/>
                </a:highlight>
                <a:latin typeface="Nunito" pitchFamily="2" charset="0"/>
              </a:rPr>
              <a:t>Each file has its own index block. </a:t>
            </a:r>
          </a:p>
          <a:p>
            <a:pPr fontAlgn="base">
              <a:lnSpc>
                <a:spcPct val="80000"/>
              </a:lnSpc>
            </a:pPr>
            <a:r>
              <a:rPr lang="en-US" sz="2600" dirty="0">
                <a:solidFill>
                  <a:srgbClr val="273239"/>
                </a:solidFill>
                <a:highlight>
                  <a:srgbClr val="FFFFFF"/>
                </a:highlight>
                <a:latin typeface="Nunito" pitchFamily="2" charset="0"/>
              </a:rPr>
              <a:t>The </a:t>
            </a:r>
            <a:r>
              <a:rPr lang="en-US" sz="2600" dirty="0" err="1">
                <a:solidFill>
                  <a:srgbClr val="273239"/>
                </a:solidFill>
                <a:highlight>
                  <a:srgbClr val="FFFFFF"/>
                </a:highlight>
                <a:latin typeface="Nunito" pitchFamily="2" charset="0"/>
              </a:rPr>
              <a:t>i</a:t>
            </a:r>
            <a:r>
              <a:rPr lang="en-US" sz="2600" baseline="30000" dirty="0" err="1">
                <a:solidFill>
                  <a:srgbClr val="273239"/>
                </a:solidFill>
                <a:highlight>
                  <a:srgbClr val="FFFFFF"/>
                </a:highlight>
                <a:latin typeface="Nunito" pitchFamily="2" charset="0"/>
              </a:rPr>
              <a:t>th</a:t>
            </a:r>
            <a:r>
              <a:rPr lang="en-US" sz="2600" dirty="0">
                <a:solidFill>
                  <a:srgbClr val="273239"/>
                </a:solidFill>
                <a:highlight>
                  <a:srgbClr val="FFFFFF"/>
                </a:highlight>
                <a:latin typeface="Nunito" pitchFamily="2" charset="0"/>
              </a:rPr>
              <a:t> entry in the index block contains the disk address of the </a:t>
            </a:r>
            <a:r>
              <a:rPr lang="en-US" sz="2600" dirty="0" err="1">
                <a:solidFill>
                  <a:srgbClr val="273239"/>
                </a:solidFill>
                <a:highlight>
                  <a:srgbClr val="FFFFFF"/>
                </a:highlight>
                <a:latin typeface="Nunito" pitchFamily="2" charset="0"/>
              </a:rPr>
              <a:t>i</a:t>
            </a:r>
            <a:r>
              <a:rPr lang="en-US" sz="2600" baseline="30000" dirty="0" err="1">
                <a:solidFill>
                  <a:srgbClr val="273239"/>
                </a:solidFill>
                <a:highlight>
                  <a:srgbClr val="FFFFFF"/>
                </a:highlight>
                <a:latin typeface="Nunito" pitchFamily="2" charset="0"/>
              </a:rPr>
              <a:t>th</a:t>
            </a:r>
            <a:r>
              <a:rPr lang="en-US" sz="2600" dirty="0">
                <a:solidFill>
                  <a:srgbClr val="273239"/>
                </a:solidFill>
                <a:highlight>
                  <a:srgbClr val="FFFFFF"/>
                </a:highlight>
                <a:latin typeface="Nunito" pitchFamily="2" charset="0"/>
              </a:rPr>
              <a:t> file block.</a:t>
            </a:r>
          </a:p>
          <a:p>
            <a:pPr fontAlgn="base">
              <a:lnSpc>
                <a:spcPct val="80000"/>
              </a:lnSpc>
            </a:pPr>
            <a:r>
              <a:rPr lang="en-US" sz="2600" dirty="0">
                <a:solidFill>
                  <a:srgbClr val="273239"/>
                </a:solidFill>
                <a:highlight>
                  <a:srgbClr val="FFFFFF"/>
                </a:highlight>
                <a:latin typeface="Nunito" pitchFamily="2" charset="0"/>
              </a:rPr>
              <a:t>The directory entry contains the address of the index block.</a:t>
            </a:r>
          </a:p>
          <a:p>
            <a:pPr fontAlgn="base">
              <a:lnSpc>
                <a:spcPct val="80000"/>
              </a:lnSpc>
            </a:pPr>
            <a:r>
              <a:rPr lang="en-US" sz="2600" dirty="0">
                <a:solidFill>
                  <a:srgbClr val="273239"/>
                </a:solidFill>
                <a:highlight>
                  <a:srgbClr val="FFFFFF"/>
                </a:highlight>
                <a:latin typeface="Nunito" pitchFamily="2" charset="0"/>
              </a:rPr>
              <a:t>For large files, single index block may not be able to hold all the pointers. So secondary level of indexing is used -</a:t>
            </a:r>
          </a:p>
          <a:p>
            <a:pPr lvl="1" fontAlgn="base"/>
            <a:r>
              <a:rPr lang="en-US" sz="1600" b="1" i="0" dirty="0">
                <a:solidFill>
                  <a:srgbClr val="273239"/>
                </a:solidFill>
                <a:effectLst/>
                <a:highlight>
                  <a:srgbClr val="FFFFFF"/>
                </a:highlight>
                <a:latin typeface="Nunito" pitchFamily="2" charset="0"/>
              </a:rPr>
              <a:t>Linked scheme:</a:t>
            </a:r>
            <a:r>
              <a:rPr lang="en-US" sz="1600" b="0" i="0" dirty="0">
                <a:solidFill>
                  <a:srgbClr val="273239"/>
                </a:solidFill>
                <a:effectLst/>
                <a:highlight>
                  <a:srgbClr val="FFFFFF"/>
                </a:highlight>
                <a:latin typeface="Nunito" pitchFamily="2" charset="0"/>
              </a:rPr>
              <a:t> This scheme links two or more index blocks linked together for holding the pointers. </a:t>
            </a:r>
          </a:p>
          <a:p>
            <a:pPr lvl="1" fontAlgn="base"/>
            <a:r>
              <a:rPr lang="en-US" sz="1600" b="1" i="0" dirty="0">
                <a:solidFill>
                  <a:srgbClr val="273239"/>
                </a:solidFill>
                <a:effectLst/>
                <a:highlight>
                  <a:srgbClr val="FFFFFF"/>
                </a:highlight>
                <a:latin typeface="Nunito" pitchFamily="2" charset="0"/>
              </a:rPr>
              <a:t>Multilevel index:</a:t>
            </a:r>
            <a:r>
              <a:rPr lang="en-US" sz="1600" b="0" i="0" dirty="0">
                <a:solidFill>
                  <a:srgbClr val="273239"/>
                </a:solidFill>
                <a:effectLst/>
                <a:highlight>
                  <a:srgbClr val="FFFFFF"/>
                </a:highlight>
                <a:latin typeface="Nunito" pitchFamily="2" charset="0"/>
              </a:rPr>
              <a:t> </a:t>
            </a:r>
            <a:r>
              <a:rPr lang="en-US" sz="1600" dirty="0">
                <a:solidFill>
                  <a:srgbClr val="273239"/>
                </a:solidFill>
                <a:highlight>
                  <a:srgbClr val="FFFFFF"/>
                </a:highlight>
                <a:latin typeface="Nunito" pitchFamily="2" charset="0"/>
              </a:rPr>
              <a:t>A</a:t>
            </a:r>
            <a:r>
              <a:rPr lang="en-US" sz="1600" b="0" i="0" dirty="0">
                <a:solidFill>
                  <a:srgbClr val="273239"/>
                </a:solidFill>
                <a:effectLst/>
                <a:highlight>
                  <a:srgbClr val="FFFFFF"/>
                </a:highlight>
                <a:latin typeface="Nunito" pitchFamily="2" charset="0"/>
              </a:rPr>
              <a:t> first level index block is used to point to the second level index blocks which in turn points to the disk blocks.</a:t>
            </a:r>
          </a:p>
          <a:p>
            <a:pPr lvl="1" fontAlgn="base"/>
            <a:r>
              <a:rPr lang="en-US" sz="1600" b="1" i="0" dirty="0">
                <a:solidFill>
                  <a:srgbClr val="273239"/>
                </a:solidFill>
                <a:effectLst/>
                <a:highlight>
                  <a:srgbClr val="FFFFFF"/>
                </a:highlight>
                <a:latin typeface="Nunito" pitchFamily="2" charset="0"/>
              </a:rPr>
              <a:t>Combined Scheme:</a:t>
            </a:r>
            <a:r>
              <a:rPr lang="en-US" sz="1600" b="0" i="0" dirty="0">
                <a:solidFill>
                  <a:srgbClr val="273239"/>
                </a:solidFill>
                <a:effectLst/>
                <a:highlight>
                  <a:srgbClr val="FFFFFF"/>
                </a:highlight>
                <a:latin typeface="Nunito" pitchFamily="2" charset="0"/>
              </a:rPr>
              <a:t> a special block called the </a:t>
            </a:r>
            <a:r>
              <a:rPr lang="en-US" sz="1600" b="1" i="0" dirty="0" err="1">
                <a:solidFill>
                  <a:srgbClr val="273239"/>
                </a:solidFill>
                <a:effectLst/>
                <a:highlight>
                  <a:srgbClr val="FFFFFF"/>
                </a:highlight>
                <a:latin typeface="Nunito" pitchFamily="2" charset="0"/>
              </a:rPr>
              <a:t>Inode</a:t>
            </a:r>
            <a:r>
              <a:rPr lang="en-US" sz="1600" b="1" i="0" dirty="0">
                <a:solidFill>
                  <a:srgbClr val="273239"/>
                </a:solidFill>
                <a:effectLst/>
                <a:highlight>
                  <a:srgbClr val="FFFFFF"/>
                </a:highlight>
                <a:latin typeface="Nunito" pitchFamily="2" charset="0"/>
              </a:rPr>
              <a:t> (information Node)</a:t>
            </a:r>
            <a:r>
              <a:rPr lang="en-US" sz="1600" b="0" i="0" dirty="0">
                <a:solidFill>
                  <a:srgbClr val="273239"/>
                </a:solidFill>
                <a:effectLst/>
                <a:highlight>
                  <a:srgbClr val="FFFFFF"/>
                </a:highlight>
                <a:latin typeface="Nunito" pitchFamily="2" charset="0"/>
              </a:rPr>
              <a:t> contains all the information about the file and the remaining space of </a:t>
            </a:r>
            <a:r>
              <a:rPr lang="en-US" sz="1600" b="0" i="0" dirty="0" err="1">
                <a:solidFill>
                  <a:srgbClr val="273239"/>
                </a:solidFill>
                <a:effectLst/>
                <a:highlight>
                  <a:srgbClr val="FFFFFF"/>
                </a:highlight>
                <a:latin typeface="Nunito" pitchFamily="2" charset="0"/>
              </a:rPr>
              <a:t>Inode</a:t>
            </a:r>
            <a:r>
              <a:rPr lang="en-US" sz="1600" b="0" i="0" dirty="0">
                <a:solidFill>
                  <a:srgbClr val="273239"/>
                </a:solidFill>
                <a:effectLst/>
                <a:highlight>
                  <a:srgbClr val="FFFFFF"/>
                </a:highlight>
                <a:latin typeface="Nunito" pitchFamily="2" charset="0"/>
              </a:rPr>
              <a:t> is used to store the Disk Block addresses</a:t>
            </a:r>
            <a:r>
              <a:rPr lang="en-US" sz="1600" b="0" i="1" dirty="0">
                <a:solidFill>
                  <a:srgbClr val="273239"/>
                </a:solidFill>
                <a:effectLst/>
                <a:highlight>
                  <a:srgbClr val="FFFFFF"/>
                </a:highlight>
                <a:latin typeface="Nunito" pitchFamily="2" charset="0"/>
              </a:rPr>
              <a:t>.</a:t>
            </a:r>
            <a:r>
              <a:rPr lang="en-US" sz="1600" b="0" i="0" dirty="0">
                <a:solidFill>
                  <a:srgbClr val="273239"/>
                </a:solidFill>
                <a:effectLst/>
                <a:highlight>
                  <a:srgbClr val="FFFFFF"/>
                </a:highlight>
                <a:latin typeface="Nunito" pitchFamily="2" charset="0"/>
              </a:rPr>
              <a:t> The first few of these pointers in </a:t>
            </a:r>
            <a:r>
              <a:rPr lang="en-US" sz="1600" b="0" i="0" dirty="0" err="1">
                <a:solidFill>
                  <a:srgbClr val="273239"/>
                </a:solidFill>
                <a:effectLst/>
                <a:highlight>
                  <a:srgbClr val="FFFFFF"/>
                </a:highlight>
                <a:latin typeface="Nunito" pitchFamily="2" charset="0"/>
              </a:rPr>
              <a:t>Inode</a:t>
            </a:r>
            <a:r>
              <a:rPr lang="en-US" sz="1600" b="0" i="0" dirty="0">
                <a:solidFill>
                  <a:srgbClr val="273239"/>
                </a:solidFill>
                <a:effectLst/>
                <a:highlight>
                  <a:srgbClr val="FFFFFF"/>
                </a:highlight>
                <a:latin typeface="Nunito" pitchFamily="2" charset="0"/>
              </a:rPr>
              <a:t> point to the </a:t>
            </a:r>
            <a:r>
              <a:rPr lang="en-US" sz="1600" b="1" i="0" dirty="0">
                <a:solidFill>
                  <a:srgbClr val="273239"/>
                </a:solidFill>
                <a:effectLst/>
                <a:highlight>
                  <a:srgbClr val="FFFFFF"/>
                </a:highlight>
                <a:latin typeface="Nunito" pitchFamily="2" charset="0"/>
              </a:rPr>
              <a:t>direct blocks</a:t>
            </a:r>
            <a:r>
              <a:rPr lang="en-US" sz="1600" b="0" i="0" dirty="0">
                <a:solidFill>
                  <a:srgbClr val="273239"/>
                </a:solidFill>
                <a:effectLst/>
                <a:highlight>
                  <a:srgbClr val="FFFFFF"/>
                </a:highlight>
                <a:latin typeface="Nunito" pitchFamily="2" charset="0"/>
              </a:rPr>
              <a:t> </a:t>
            </a:r>
            <a:r>
              <a:rPr lang="en-US" sz="1600" b="0" i="0" dirty="0" err="1">
                <a:solidFill>
                  <a:srgbClr val="273239"/>
                </a:solidFill>
                <a:effectLst/>
                <a:highlight>
                  <a:srgbClr val="FFFFFF"/>
                </a:highlight>
                <a:latin typeface="Nunito" pitchFamily="2" charset="0"/>
              </a:rPr>
              <a:t>i.e</a:t>
            </a:r>
            <a:r>
              <a:rPr lang="en-US" sz="1600" b="0" i="0" dirty="0">
                <a:solidFill>
                  <a:srgbClr val="273239"/>
                </a:solidFill>
                <a:effectLst/>
                <a:highlight>
                  <a:srgbClr val="FFFFFF"/>
                </a:highlight>
                <a:latin typeface="Nunito" pitchFamily="2" charset="0"/>
              </a:rPr>
              <a:t> the pointers contain the addresses of the disk blocks that contain data of the file. The next few pointers point to indirect blocks. Indirect blocks may be single indirect, double indirect or triple indirect.</a:t>
            </a:r>
            <a:endParaRPr lang="en-US" sz="4800" dirty="0">
              <a:solidFill>
                <a:srgbClr val="273239"/>
              </a:solidFill>
              <a:highlight>
                <a:srgbClr val="FFFFFF"/>
              </a:highlight>
              <a:latin typeface="Nunito" pitchFamily="2" charset="0"/>
            </a:endParaRPr>
          </a:p>
        </p:txBody>
      </p:sp>
    </p:spTree>
    <p:extLst>
      <p:ext uri="{BB962C8B-B14F-4D97-AF65-F5344CB8AC3E}">
        <p14:creationId xmlns:p14="http://schemas.microsoft.com/office/powerpoint/2010/main" val="3997518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90" y="-90264"/>
            <a:ext cx="8229600" cy="1143000"/>
          </a:xfrm>
        </p:spPr>
        <p:txBody>
          <a:bodyPr>
            <a:normAutofit/>
          </a:bodyPr>
          <a:lstStyle/>
          <a:p>
            <a:pPr algn="l" fontAlgn="base"/>
            <a:r>
              <a:rPr lang="en-IN" dirty="0"/>
              <a:t>File System Security</a:t>
            </a:r>
            <a:endParaRPr lang="en-US" dirty="0"/>
          </a:p>
        </p:txBody>
      </p:sp>
      <p:sp>
        <p:nvSpPr>
          <p:cNvPr id="4" name="Rectangle 1">
            <a:extLst>
              <a:ext uri="{FF2B5EF4-FFF2-40B4-BE49-F238E27FC236}">
                <a16:creationId xmlns:a16="http://schemas.microsoft.com/office/drawing/2014/main" id="{6C58F71F-71CF-3120-1B54-0F9FEA99AB2F}"/>
              </a:ext>
            </a:extLst>
          </p:cNvPr>
          <p:cNvSpPr>
            <a:spLocks noGrp="1" noChangeArrowheads="1"/>
          </p:cNvSpPr>
          <p:nvPr>
            <p:ph idx="1"/>
          </p:nvPr>
        </p:nvSpPr>
        <p:spPr bwMode="auto">
          <a:xfrm>
            <a:off x="420003" y="1354489"/>
            <a:ext cx="8075240" cy="47043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235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eaLnBrk="1" hangingPunct="1">
              <a:lnSpc>
                <a:spcPct val="70000"/>
              </a:lnSpc>
              <a:spcBef>
                <a:spcPct val="20000"/>
              </a:spcBef>
            </a:pPr>
            <a:r>
              <a:rPr lang="en-US" dirty="0">
                <a:solidFill>
                  <a:srgbClr val="273239"/>
                </a:solidFill>
                <a:highlight>
                  <a:srgbClr val="FFFFFF"/>
                </a:highlight>
                <a:latin typeface="Nunito" pitchFamily="2" charset="0"/>
              </a:rPr>
              <a:t>An essential aspect of File Management in operating system (OS).</a:t>
            </a:r>
          </a:p>
          <a:p>
            <a:pPr lvl="0" eaLnBrk="1" hangingPunct="1">
              <a:lnSpc>
                <a:spcPct val="70000"/>
              </a:lnSpc>
              <a:spcBef>
                <a:spcPct val="20000"/>
              </a:spcBef>
            </a:pPr>
            <a:r>
              <a:rPr lang="en-US" dirty="0">
                <a:solidFill>
                  <a:srgbClr val="273239"/>
                </a:solidFill>
                <a:highlight>
                  <a:srgbClr val="FFFFFF"/>
                </a:highlight>
                <a:latin typeface="Nunito" pitchFamily="2" charset="0"/>
              </a:rPr>
              <a:t>It involves protecting the data stored on your disks from unauthorized access, modification, or deletion.</a:t>
            </a:r>
          </a:p>
          <a:p>
            <a:pPr lvl="0" eaLnBrk="1" hangingPunct="1">
              <a:lnSpc>
                <a:spcPct val="70000"/>
              </a:lnSpc>
              <a:spcBef>
                <a:spcPct val="20000"/>
              </a:spcBef>
            </a:pPr>
            <a:r>
              <a:rPr lang="en-US" dirty="0">
                <a:solidFill>
                  <a:srgbClr val="273239"/>
                </a:solidFill>
                <a:highlight>
                  <a:srgbClr val="FFFFFF"/>
                </a:highlight>
                <a:latin typeface="Nunito" pitchFamily="2" charset="0"/>
              </a:rPr>
              <a:t>It also requires monitoring and auditing the file system activity and security events on your OS to detect and respond to any potential threats or incidents.</a:t>
            </a:r>
          </a:p>
          <a:p>
            <a:pPr lvl="0" eaLnBrk="1" hangingPunct="1">
              <a:lnSpc>
                <a:spcPct val="70000"/>
              </a:lnSpc>
              <a:spcBef>
                <a:spcPct val="20000"/>
              </a:spcBef>
            </a:pPr>
            <a:r>
              <a:rPr lang="en-US" dirty="0">
                <a:solidFill>
                  <a:srgbClr val="273239"/>
                </a:solidFill>
                <a:highlight>
                  <a:srgbClr val="FFFFFF"/>
                </a:highlight>
                <a:latin typeface="Nunito" pitchFamily="2" charset="0"/>
              </a:rPr>
              <a:t>This is managed by two ways –</a:t>
            </a:r>
          </a:p>
          <a:p>
            <a:pPr lvl="1" eaLnBrk="1" hangingPunct="1">
              <a:lnSpc>
                <a:spcPct val="70000"/>
              </a:lnSpc>
              <a:spcBef>
                <a:spcPct val="20000"/>
              </a:spcBef>
            </a:pPr>
            <a:r>
              <a:rPr lang="en-US" dirty="0">
                <a:solidFill>
                  <a:srgbClr val="273239"/>
                </a:solidFill>
                <a:highlight>
                  <a:srgbClr val="FFFFFF"/>
                </a:highlight>
                <a:latin typeface="Nunito" pitchFamily="2" charset="0"/>
              </a:rPr>
              <a:t>Encryption</a:t>
            </a:r>
          </a:p>
          <a:p>
            <a:pPr lvl="1" eaLnBrk="1" hangingPunct="1">
              <a:lnSpc>
                <a:spcPct val="70000"/>
              </a:lnSpc>
              <a:spcBef>
                <a:spcPct val="20000"/>
              </a:spcBef>
            </a:pPr>
            <a:r>
              <a:rPr lang="en-US" dirty="0">
                <a:solidFill>
                  <a:srgbClr val="273239"/>
                </a:solidFill>
                <a:highlight>
                  <a:srgbClr val="FFFFFF"/>
                </a:highlight>
                <a:latin typeface="Nunito" pitchFamily="2" charset="0"/>
              </a:rPr>
              <a:t>Access control</a:t>
            </a:r>
          </a:p>
        </p:txBody>
      </p:sp>
    </p:spTree>
    <p:extLst>
      <p:ext uri="{BB962C8B-B14F-4D97-AF65-F5344CB8AC3E}">
        <p14:creationId xmlns:p14="http://schemas.microsoft.com/office/powerpoint/2010/main" val="4193045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90" y="-90264"/>
            <a:ext cx="8229600" cy="1143000"/>
          </a:xfrm>
        </p:spPr>
        <p:txBody>
          <a:bodyPr>
            <a:normAutofit/>
          </a:bodyPr>
          <a:lstStyle/>
          <a:p>
            <a:pPr algn="l" fontAlgn="base"/>
            <a:r>
              <a:rPr lang="en-IN" dirty="0"/>
              <a:t>Encryption in File System</a:t>
            </a:r>
            <a:endParaRPr lang="en-US" dirty="0"/>
          </a:p>
        </p:txBody>
      </p:sp>
      <p:sp>
        <p:nvSpPr>
          <p:cNvPr id="4" name="Rectangle 1">
            <a:extLst>
              <a:ext uri="{FF2B5EF4-FFF2-40B4-BE49-F238E27FC236}">
                <a16:creationId xmlns:a16="http://schemas.microsoft.com/office/drawing/2014/main" id="{6C58F71F-71CF-3120-1B54-0F9FEA99AB2F}"/>
              </a:ext>
            </a:extLst>
          </p:cNvPr>
          <p:cNvSpPr>
            <a:spLocks noGrp="1" noChangeArrowheads="1"/>
          </p:cNvSpPr>
          <p:nvPr>
            <p:ph idx="1"/>
          </p:nvPr>
        </p:nvSpPr>
        <p:spPr bwMode="auto">
          <a:xfrm>
            <a:off x="393290" y="1052736"/>
            <a:ext cx="8075240" cy="47320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2000" tIns="180000" rIns="36000" bIns="1800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eaLnBrk="1" hangingPunct="1">
              <a:lnSpc>
                <a:spcPct val="70000"/>
              </a:lnSpc>
              <a:spcBef>
                <a:spcPct val="20000"/>
              </a:spcBef>
              <a:spcAft>
                <a:spcPts val="1200"/>
              </a:spcAft>
            </a:pPr>
            <a:r>
              <a:rPr lang="en-US" sz="2800" dirty="0">
                <a:highlight>
                  <a:srgbClr val="FFFFFF"/>
                </a:highlight>
              </a:rPr>
              <a:t>A technique to protect the data on the disk from unauthorized access, even if the disk is physically stolen or compromised.</a:t>
            </a:r>
          </a:p>
          <a:p>
            <a:pPr lvl="0" eaLnBrk="1" hangingPunct="1">
              <a:lnSpc>
                <a:spcPct val="70000"/>
              </a:lnSpc>
              <a:spcBef>
                <a:spcPct val="20000"/>
              </a:spcBef>
              <a:spcAft>
                <a:spcPts val="1200"/>
              </a:spcAft>
            </a:pPr>
            <a:r>
              <a:rPr lang="en-US" sz="2800" dirty="0">
                <a:highlight>
                  <a:srgbClr val="FFFFFF"/>
                </a:highlight>
              </a:rPr>
              <a:t>Encryption involves converting the data into a scrambled form that can only be decrypted with a valid key. The key can be stored on the disk, on a separate device, or in the cloud.</a:t>
            </a:r>
          </a:p>
          <a:p>
            <a:pPr lvl="0" eaLnBrk="1" hangingPunct="1">
              <a:lnSpc>
                <a:spcPct val="70000"/>
              </a:lnSpc>
              <a:spcBef>
                <a:spcPct val="20000"/>
              </a:spcBef>
              <a:spcAft>
                <a:spcPts val="1200"/>
              </a:spcAft>
            </a:pPr>
            <a:r>
              <a:rPr lang="en-US" sz="2800" dirty="0">
                <a:highlight>
                  <a:srgbClr val="FFFFFF"/>
                </a:highlight>
              </a:rPr>
              <a:t>Some OS provide built-in encryption features, such as BitLocker for Windows, </a:t>
            </a:r>
            <a:r>
              <a:rPr lang="en-US" sz="2800" dirty="0" err="1">
                <a:highlight>
                  <a:srgbClr val="FFFFFF"/>
                </a:highlight>
              </a:rPr>
              <a:t>FileVault</a:t>
            </a:r>
            <a:r>
              <a:rPr lang="en-US" sz="2800" dirty="0">
                <a:highlight>
                  <a:srgbClr val="FFFFFF"/>
                </a:highlight>
              </a:rPr>
              <a:t> for macOS, and LUKS for Linux.</a:t>
            </a:r>
          </a:p>
          <a:p>
            <a:pPr lvl="0" eaLnBrk="1" hangingPunct="1">
              <a:lnSpc>
                <a:spcPct val="70000"/>
              </a:lnSpc>
              <a:spcBef>
                <a:spcPct val="20000"/>
              </a:spcBef>
              <a:spcAft>
                <a:spcPts val="1200"/>
              </a:spcAft>
            </a:pPr>
            <a:r>
              <a:rPr lang="en-US" sz="2800" dirty="0">
                <a:highlight>
                  <a:srgbClr val="FFFFFF"/>
                </a:highlight>
              </a:rPr>
              <a:t>Encryption can be applied to the whole disk, or to specific partitions, files, or folders.</a:t>
            </a:r>
            <a:endParaRPr lang="en-US" altLang="en-US" sz="2000" dirty="0">
              <a:solidFill>
                <a:srgbClr val="273239"/>
              </a:solidFill>
              <a:highlight>
                <a:srgbClr val="FFFFFF"/>
              </a:highlight>
              <a:latin typeface="Nunito" pitchFamily="2" charset="0"/>
            </a:endParaRPr>
          </a:p>
        </p:txBody>
      </p:sp>
    </p:spTree>
    <p:extLst>
      <p:ext uri="{BB962C8B-B14F-4D97-AF65-F5344CB8AC3E}">
        <p14:creationId xmlns:p14="http://schemas.microsoft.com/office/powerpoint/2010/main" val="852040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8ADC9-7CF5-767D-24C2-A0590DC080A7}"/>
              </a:ext>
            </a:extLst>
          </p:cNvPr>
          <p:cNvSpPr>
            <a:spLocks noGrp="1"/>
          </p:cNvSpPr>
          <p:nvPr>
            <p:ph type="title"/>
          </p:nvPr>
        </p:nvSpPr>
        <p:spPr>
          <a:xfrm>
            <a:off x="467929" y="-2498"/>
            <a:ext cx="8229600" cy="1143000"/>
          </a:xfrm>
        </p:spPr>
        <p:txBody>
          <a:bodyPr>
            <a:noAutofit/>
          </a:bodyPr>
          <a:lstStyle/>
          <a:p>
            <a:pPr algn="l"/>
            <a:r>
              <a:rPr lang="en-IN" sz="3200" dirty="0"/>
              <a:t>Some Linux Commands for File, Directory etc</a:t>
            </a:r>
          </a:p>
        </p:txBody>
      </p:sp>
      <p:sp>
        <p:nvSpPr>
          <p:cNvPr id="3" name="Content Placeholder 2">
            <a:extLst>
              <a:ext uri="{FF2B5EF4-FFF2-40B4-BE49-F238E27FC236}">
                <a16:creationId xmlns:a16="http://schemas.microsoft.com/office/drawing/2014/main" id="{4B21D032-D02B-1CD7-44F4-7DC6C5840A1B}"/>
              </a:ext>
            </a:extLst>
          </p:cNvPr>
          <p:cNvSpPr>
            <a:spLocks noGrp="1"/>
          </p:cNvSpPr>
          <p:nvPr>
            <p:ph idx="1"/>
          </p:nvPr>
        </p:nvSpPr>
        <p:spPr>
          <a:xfrm>
            <a:off x="395536" y="1052736"/>
            <a:ext cx="8229600" cy="5184576"/>
          </a:xfrm>
        </p:spPr>
        <p:txBody>
          <a:bodyPr>
            <a:normAutofit/>
          </a:bodyPr>
          <a:lstStyle/>
          <a:p>
            <a:r>
              <a:rPr lang="en-IN" sz="2400" dirty="0"/>
              <a:t>ls -l : to list files in a directory with details</a:t>
            </a:r>
          </a:p>
          <a:p>
            <a:r>
              <a:rPr lang="en-IN" sz="2400" dirty="0" err="1"/>
              <a:t>chmod</a:t>
            </a:r>
            <a:r>
              <a:rPr lang="en-IN" sz="2400" dirty="0"/>
              <a:t> : for changing access permissions</a:t>
            </a:r>
          </a:p>
          <a:p>
            <a:r>
              <a:rPr lang="en-IN" sz="2400" dirty="0"/>
              <a:t>touch : update time stamp, create an empty file</a:t>
            </a:r>
          </a:p>
          <a:p>
            <a:r>
              <a:rPr lang="en-IN" sz="2400" dirty="0" err="1"/>
              <a:t>mkdir</a:t>
            </a:r>
            <a:r>
              <a:rPr lang="en-IN" sz="2400" dirty="0"/>
              <a:t> : with –p option can create subdirectory even if parent directory not existing</a:t>
            </a:r>
          </a:p>
          <a:p>
            <a:r>
              <a:rPr lang="en-IN" sz="2400" dirty="0"/>
              <a:t>find : find a file given path name and file name</a:t>
            </a:r>
          </a:p>
          <a:p>
            <a:r>
              <a:rPr lang="en-IN" sz="2400" dirty="0" err="1"/>
              <a:t>rmdir</a:t>
            </a:r>
            <a:r>
              <a:rPr lang="en-IN" sz="2400" dirty="0"/>
              <a:t> : remove directory (only if empty)</a:t>
            </a:r>
          </a:p>
          <a:p>
            <a:r>
              <a:rPr lang="en-IN" sz="2400" dirty="0"/>
              <a:t>rm : remove file (or directory with –rf option)</a:t>
            </a:r>
          </a:p>
          <a:p>
            <a:r>
              <a:rPr lang="en-IN" sz="2400" dirty="0"/>
              <a:t>mv : rename a file or directory</a:t>
            </a:r>
          </a:p>
          <a:p>
            <a:r>
              <a:rPr lang="en-IN" sz="2400" dirty="0"/>
              <a:t>cp : copy a file or directory</a:t>
            </a:r>
          </a:p>
          <a:p>
            <a:r>
              <a:rPr lang="en-IN" sz="2400" dirty="0"/>
              <a:t>cd, </a:t>
            </a:r>
            <a:r>
              <a:rPr lang="en-IN" sz="2400" dirty="0" err="1"/>
              <a:t>pwd</a:t>
            </a:r>
            <a:r>
              <a:rPr lang="en-IN" sz="2400" dirty="0"/>
              <a:t> … and many more</a:t>
            </a:r>
          </a:p>
          <a:p>
            <a:endParaRPr lang="en-IN" dirty="0"/>
          </a:p>
          <a:p>
            <a:endParaRPr lang="en-IN" dirty="0"/>
          </a:p>
        </p:txBody>
      </p:sp>
    </p:spTree>
    <p:extLst>
      <p:ext uri="{BB962C8B-B14F-4D97-AF65-F5344CB8AC3E}">
        <p14:creationId xmlns:p14="http://schemas.microsoft.com/office/powerpoint/2010/main" val="34579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2114</TotalTime>
  <Words>1065</Words>
  <Application>Microsoft Office PowerPoint</Application>
  <PresentationFormat>On-screen Show (4:3)</PresentationFormat>
  <Paragraphs>91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Heltevica</vt:lpstr>
      <vt:lpstr>Nunito</vt:lpstr>
      <vt:lpstr>Times New Roman</vt:lpstr>
      <vt:lpstr>Office Theme</vt:lpstr>
      <vt:lpstr>PowerPoint Presentation</vt:lpstr>
      <vt:lpstr>What is a File System ?</vt:lpstr>
      <vt:lpstr>Issues Handled By File System</vt:lpstr>
      <vt:lpstr>File Directory</vt:lpstr>
      <vt:lpstr>File Allocation Methods</vt:lpstr>
      <vt:lpstr>Contiguous Allocation</vt:lpstr>
      <vt:lpstr>Linked List Allocation</vt:lpstr>
      <vt:lpstr>Indexed Allocation</vt:lpstr>
      <vt:lpstr>File System Security</vt:lpstr>
      <vt:lpstr>Encryption in File System</vt:lpstr>
      <vt:lpstr>Some Linux Commands for File, Directory etc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Synchronization</dc:title>
  <dc:creator>Bhaskar</dc:creator>
  <cp:lastModifiedBy>deshpande.shripad2@gmail.com</cp:lastModifiedBy>
  <cp:revision>31</cp:revision>
  <dcterms:created xsi:type="dcterms:W3CDTF">2019-03-18T01:07:42Z</dcterms:created>
  <dcterms:modified xsi:type="dcterms:W3CDTF">2024-05-23T08:40:30Z</dcterms:modified>
</cp:coreProperties>
</file>