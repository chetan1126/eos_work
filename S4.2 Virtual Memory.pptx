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5" r:id="rId2"/>
    <p:sldId id="274" r:id="rId3"/>
    <p:sldId id="258" r:id="rId4"/>
    <p:sldId id="259" r:id="rId5"/>
    <p:sldId id="290" r:id="rId6"/>
    <p:sldId id="291" r:id="rId7"/>
    <p:sldId id="292" r:id="rId8"/>
    <p:sldId id="293" r:id="rId9"/>
    <p:sldId id="260" r:id="rId10"/>
    <p:sldId id="296" r:id="rId11"/>
    <p:sldId id="261" r:id="rId12"/>
    <p:sldId id="262" r:id="rId13"/>
    <p:sldId id="263" r:id="rId14"/>
    <p:sldId id="264" r:id="rId15"/>
    <p:sldId id="265" r:id="rId16"/>
    <p:sldId id="266" r:id="rId17"/>
    <p:sldId id="277" r:id="rId18"/>
    <p:sldId id="278" r:id="rId19"/>
    <p:sldId id="279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4" r:id="rId30"/>
    <p:sldId id="29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2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3CEFE-D7C9-4D64-8C81-912C4EAC04C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4EF3F-F26E-421B-B15F-E79FE942C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3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31FB525-E2EE-406B-BEFF-E92B41A28B9A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67" tIns="46034" rIns="92067" bIns="46034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49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6188723-4920-4E4B-A0F1-9BBE15238E6F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97" tIns="44454" rIns="90497" bIns="44454"/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072183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9pPr>
          </a:lstStyle>
          <a:p>
            <a:fld id="{8B2950A8-EC1C-4825-A949-F1DD9F990F17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347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9pPr>
          </a:lstStyle>
          <a:p>
            <a:fld id="{C995FD0D-B23C-4141-AF67-D3BFDAD9ED81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183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9pPr>
          </a:lstStyle>
          <a:p>
            <a:fld id="{C68C156E-15A8-4DA5-A0B7-F75389951ECF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822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9pPr>
          </a:lstStyle>
          <a:p>
            <a:fld id="{1C6CB1D6-92C1-4EF7-A2D5-D94A4B32E05F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2970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A9BEE9D-A384-4AAB-9E0B-702E0B7DD5BB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97" tIns="44454" rIns="90497" bIns="44454"/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79477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0165B8D-4979-40DE-9C92-3D0FDBE36CD4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97" tIns="44454" rIns="90497" bIns="44454"/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4288020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CBDBEBB-A703-4988-AE38-D50D7C84D0FA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97" tIns="44454" rIns="90497" bIns="44454"/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324190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6900B50-9AA4-4525-A354-B33311943A6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97" tIns="44454" rIns="90497" bIns="44454"/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019475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AE6641C-E6FD-4573-BBF2-99F1578B949D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solidFill>
            <a:srgbClr val="FFFFFF"/>
          </a:solidFill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63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49" tIns="45725" rIns="91449" bIns="45725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283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4737092-85B2-43C6-8242-FF2D7CA4B4B8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solidFill>
            <a:srgbClr val="FFFFFF"/>
          </a:solidFill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63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49" tIns="45725" rIns="91449" bIns="45725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484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3277F84-AACC-4489-9308-84BF488DD76B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97" tIns="44454" rIns="90497" bIns="44454"/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872054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9pPr>
          </a:lstStyle>
          <a:p>
            <a:fld id="{749D6EC2-ED7B-4BFD-9779-58D981FA74FF}" type="slidenum">
              <a:rPr lang="en-US" altLang="ko-KR"/>
              <a:pPr/>
              <a:t>29</a:t>
            </a:fld>
            <a:endParaRPr lang="en-US" altLang="ko-KR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7946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8"/>
                <a:ea typeface="굴림" pitchFamily="50" charset="-128"/>
              </a:defRPr>
            </a:lvl9pPr>
          </a:lstStyle>
          <a:p>
            <a:fld id="{749D6EC2-ED7B-4BFD-9779-58D981FA74FF}" type="slidenum">
              <a:rPr lang="en-US" altLang="ko-KR"/>
              <a:pPr/>
              <a:t>30</a:t>
            </a:fld>
            <a:endParaRPr lang="en-US" altLang="ko-KR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326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9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40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92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86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6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05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66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0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31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77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27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742D1-7BF0-48ED-ADAF-9E3A1836E61B}"/>
              </a:ext>
            </a:extLst>
          </p:cNvPr>
          <p:cNvSpPr/>
          <p:nvPr/>
        </p:nvSpPr>
        <p:spPr>
          <a:xfrm>
            <a:off x="0" y="4735809"/>
            <a:ext cx="12192000" cy="2122193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9472-A0F2-4550-9734-62C79544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657918"/>
            <a:ext cx="9144000" cy="1655478"/>
          </a:xfrm>
        </p:spPr>
        <p:txBody>
          <a:bodyPr anchor="ctr"/>
          <a:lstStyle>
            <a:lvl1pPr algn="ctr">
              <a:defRPr sz="6000" b="1">
                <a:solidFill>
                  <a:srgbClr val="002060"/>
                </a:solidFill>
                <a:latin typeface="Heltevica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664E1-9485-4079-B9A8-E082A5C72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989530"/>
            <a:ext cx="9144000" cy="5087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Heltevic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Faculty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7214-C4CD-498C-9834-C885BB9C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C1536E-590E-4BA0-BAD4-4BEA88F0BF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3999" y="1892448"/>
            <a:ext cx="9144000" cy="310144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Name of the Course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AB6A75-82A7-4C99-B78D-F243936C3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3999" y="2320791"/>
            <a:ext cx="9144000" cy="3101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Topic No</a:t>
            </a:r>
          </a:p>
        </p:txBody>
      </p:sp>
    </p:spTree>
    <p:extLst>
      <p:ext uri="{BB962C8B-B14F-4D97-AF65-F5344CB8AC3E}">
        <p14:creationId xmlns:p14="http://schemas.microsoft.com/office/powerpoint/2010/main" val="5747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E3FB9-66C2-4F05-8C41-C5461555D552}" type="datetimeFigureOut">
              <a:rPr lang="en-IN" smtClean="0"/>
              <a:t>19-05-2024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F0B76-0AB5-4A82-81D9-D75A2110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90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Shripad</a:t>
            </a:r>
            <a:r>
              <a:rPr lang="en-US" dirty="0"/>
              <a:t> V </a:t>
            </a:r>
            <a:r>
              <a:rPr lang="en-US" dirty="0" err="1"/>
              <a:t>Deshpande</a:t>
            </a:r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6F0AE34-63F6-F533-D947-7471556424A9}"/>
              </a:ext>
            </a:extLst>
          </p:cNvPr>
          <p:cNvSpPr txBox="1">
            <a:spLocks/>
          </p:cNvSpPr>
          <p:nvPr/>
        </p:nvSpPr>
        <p:spPr>
          <a:xfrm>
            <a:off x="2743200" y="389987"/>
            <a:ext cx="6858000" cy="687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Operating Systems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566400D-B781-CEB9-61BE-840AAD125B6D}"/>
              </a:ext>
            </a:extLst>
          </p:cNvPr>
          <p:cNvSpPr txBox="1">
            <a:spLocks/>
          </p:cNvSpPr>
          <p:nvPr/>
        </p:nvSpPr>
        <p:spPr>
          <a:xfrm>
            <a:off x="2590800" y="1757552"/>
            <a:ext cx="6858000" cy="759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33645"/>
            <a:ext cx="8229600" cy="724092"/>
          </a:xfrm>
        </p:spPr>
        <p:txBody>
          <a:bodyPr>
            <a:normAutofit/>
          </a:bodyPr>
          <a:lstStyle/>
          <a:p>
            <a:r>
              <a:rPr lang="en-US" sz="3600" dirty="0"/>
              <a:t>Motivation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March 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81200" y="998731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Virtual memory (VM)</a:t>
            </a:r>
            <a:r>
              <a:rPr lang="en-US" sz="2800" dirty="0"/>
              <a:t>: A technique using main memory as a “cache” for secondary storage (disk).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200" y="2078850"/>
            <a:ext cx="82296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Consider a collection of programs is simultaneously running on a computer.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 total required memory is much larger than the amount of main memory.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Main memory needs to contain only the active portions of the programs.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 principle of locality applies.</a:t>
            </a:r>
          </a:p>
        </p:txBody>
      </p:sp>
    </p:spTree>
    <p:extLst>
      <p:ext uri="{BB962C8B-B14F-4D97-AF65-F5344CB8AC3E}">
        <p14:creationId xmlns:p14="http://schemas.microsoft.com/office/powerpoint/2010/main" val="177181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/>
              <a:t>Locality</a:t>
            </a:r>
          </a:p>
        </p:txBody>
      </p:sp>
      <p:sp>
        <p:nvSpPr>
          <p:cNvPr id="81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057400" y="1600200"/>
            <a:ext cx="8229600" cy="4191000"/>
          </a:xfrm>
        </p:spPr>
        <p:txBody>
          <a:bodyPr vert="horz" lIns="92075" tIns="46038" rIns="92075" bIns="46038" rtlCol="0">
            <a:normAutofit lnSpcReduction="10000"/>
          </a:bodyPr>
          <a:lstStyle/>
          <a:p>
            <a:pPr>
              <a:defRPr/>
            </a:pPr>
            <a:r>
              <a:rPr lang="en-US" altLang="en-US" b="1"/>
              <a:t>Temporal locality</a:t>
            </a:r>
            <a:r>
              <a:rPr lang="en-US" altLang="en-US"/>
              <a:t>: Addresses that are referenced at some time Ts will be accessed in the near future (Ts + delta_time) with high probability. Example : Execution in a loop.</a:t>
            </a:r>
          </a:p>
          <a:p>
            <a:pPr>
              <a:defRPr/>
            </a:pPr>
            <a:r>
              <a:rPr lang="en-US" altLang="en-US" b="1"/>
              <a:t>Spatial locality</a:t>
            </a:r>
            <a:r>
              <a:rPr lang="en-US" altLang="en-US"/>
              <a:t>: Items whose addresses are near one another tend to be referenced close together in time. Example: Accessing array elements.</a:t>
            </a:r>
          </a:p>
          <a:p>
            <a:pPr>
              <a:defRPr/>
            </a:pPr>
            <a:r>
              <a:rPr lang="en-US" altLang="en-US"/>
              <a:t>How can we exploit this characteristics of programs? Keep only the current locality in the main memory. Need not keep the entire program in the main memory.</a:t>
            </a:r>
          </a:p>
        </p:txBody>
      </p:sp>
    </p:spTree>
    <p:extLst>
      <p:ext uri="{BB962C8B-B14F-4D97-AF65-F5344CB8AC3E}">
        <p14:creationId xmlns:p14="http://schemas.microsoft.com/office/powerpoint/2010/main" val="7342955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/>
              <a:t>Locality and Virtual Memory</a:t>
            </a:r>
          </a:p>
        </p:txBody>
      </p:sp>
      <p:sp>
        <p:nvSpPr>
          <p:cNvPr id="245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/>
              <a:t>Principle of locality of references: memory  references within a process tend to cluster</a:t>
            </a:r>
          </a:p>
          <a:p>
            <a:r>
              <a:rPr lang="en-US" altLang="en-US"/>
              <a:t>Hence: only a few pieces of a process will be needed over a short period of time</a:t>
            </a:r>
          </a:p>
          <a:p>
            <a:r>
              <a:rPr lang="en-US" altLang="en-US"/>
              <a:t>Possible to make intelligent guesses about which pieces will be needed in the future</a:t>
            </a:r>
          </a:p>
          <a:p>
            <a:r>
              <a:rPr lang="en-US" altLang="en-US"/>
              <a:t>This suggests that virtual memory may work efficiently (ie: trashing should not occur too often)</a:t>
            </a:r>
          </a:p>
        </p:txBody>
      </p:sp>
    </p:spTree>
    <p:extLst>
      <p:ext uri="{BB962C8B-B14F-4D97-AF65-F5344CB8AC3E}">
        <p14:creationId xmlns:p14="http://schemas.microsoft.com/office/powerpoint/2010/main" val="28144564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/>
              <a:t>MMU (Memory Management Unit)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sz="2400" dirty="0"/>
              <a:t>The hardware base that makes a virtual memory system possible.</a:t>
            </a:r>
          </a:p>
          <a:p>
            <a:r>
              <a:rPr lang="en-US" altLang="ko-KR" sz="2400" dirty="0"/>
              <a:t>Allows software to reference physical memory by virtual addresses, quite often more than one.</a:t>
            </a:r>
          </a:p>
          <a:p>
            <a:r>
              <a:rPr lang="en-US" altLang="ko-KR" sz="2400" dirty="0"/>
              <a:t>It accomplishes this through the use of page and page tables.</a:t>
            </a:r>
          </a:p>
          <a:p>
            <a:r>
              <a:rPr lang="en-US" altLang="ko-KR" sz="2400" dirty="0"/>
              <a:t>Use a section of memory to translate virtual addresses into physical addresses via a series of table lookups.</a:t>
            </a:r>
          </a:p>
          <a:p>
            <a:r>
              <a:rPr lang="en-US" altLang="ko-KR" sz="2400" dirty="0"/>
              <a:t>The software that handles the page fault is generally part of an operating system and the hardware that detects this situation.</a:t>
            </a:r>
          </a:p>
        </p:txBody>
      </p:sp>
    </p:spTree>
    <p:extLst>
      <p:ext uri="{BB962C8B-B14F-4D97-AF65-F5344CB8AC3E}">
        <p14:creationId xmlns:p14="http://schemas.microsoft.com/office/powerpoint/2010/main" val="89394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Segmentation</a:t>
            </a:r>
            <a:r>
              <a:rPr lang="en-US" altLang="ko-KR">
                <a:latin typeface="Arial" panose="020B0604020202020204" pitchFamily="34" charset="0"/>
              </a:rPr>
              <a:t>……</a:t>
            </a:r>
            <a:endParaRPr lang="en-US" altLang="ko-KR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81200" y="1600200"/>
            <a:ext cx="8229600" cy="499745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altLang="ko-KR" sz="2400" dirty="0"/>
              <a:t>Segmentation involves the relocation of variable sized segments into the physical address space. </a:t>
            </a:r>
          </a:p>
          <a:p>
            <a:pPr>
              <a:lnSpc>
                <a:spcPct val="80000"/>
              </a:lnSpc>
            </a:pPr>
            <a:r>
              <a:rPr lang="en-US" altLang="ko-KR" sz="2400" dirty="0"/>
              <a:t>Generally these segments are contiguous units, and are referred to in programs by their segment number and an offset to the requested data. </a:t>
            </a:r>
          </a:p>
          <a:p>
            <a:pPr>
              <a:lnSpc>
                <a:spcPct val="80000"/>
              </a:lnSpc>
            </a:pPr>
            <a:r>
              <a:rPr lang="en-US" altLang="ko-KR" sz="2400" dirty="0"/>
              <a:t>Efficient segmentation relies on programs that are very thoughtfully written for their target system. </a:t>
            </a:r>
          </a:p>
          <a:p>
            <a:pPr>
              <a:lnSpc>
                <a:spcPct val="80000"/>
              </a:lnSpc>
            </a:pPr>
            <a:r>
              <a:rPr lang="en-US" altLang="ko-KR" sz="2400" dirty="0"/>
              <a:t>Since segmentation relies on memory that is located in single large blocks, it is very possible that enough free space is available to load a new module, but can not be utilized.</a:t>
            </a:r>
          </a:p>
          <a:p>
            <a:pPr>
              <a:lnSpc>
                <a:spcPct val="80000"/>
              </a:lnSpc>
            </a:pPr>
            <a:r>
              <a:rPr lang="en-US" altLang="ko-KR" sz="2400" dirty="0"/>
              <a:t>Segmentation may also suffer from internal fragmentation if segments are not variable-sized, where memory above the segment is not used by the program but is still </a:t>
            </a:r>
            <a:r>
              <a:rPr lang="en-US" altLang="ko-KR" sz="2400" dirty="0">
                <a:latin typeface="Arial" panose="020B0604020202020204" pitchFamily="34" charset="0"/>
              </a:rPr>
              <a:t>“</a:t>
            </a:r>
            <a:r>
              <a:rPr lang="en-US" altLang="ko-KR" sz="2400" dirty="0"/>
              <a:t>reserved</a:t>
            </a:r>
            <a:r>
              <a:rPr lang="en-US" altLang="ko-KR" sz="2400" dirty="0">
                <a:latin typeface="Arial" panose="020B0604020202020204" pitchFamily="34" charset="0"/>
              </a:rPr>
              <a:t>”</a:t>
            </a:r>
            <a:r>
              <a:rPr lang="en-US" altLang="ko-KR" sz="2400" dirty="0"/>
              <a:t> for it.</a:t>
            </a:r>
          </a:p>
        </p:txBody>
      </p:sp>
    </p:spTree>
    <p:extLst>
      <p:ext uri="{BB962C8B-B14F-4D97-AF65-F5344CB8AC3E}">
        <p14:creationId xmlns:p14="http://schemas.microsoft.com/office/powerpoint/2010/main" val="342243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Paging</a:t>
            </a:r>
            <a:r>
              <a:rPr lang="en-US" altLang="ko-KR">
                <a:latin typeface="Arial" panose="020B0604020202020204" pitchFamily="34" charset="0"/>
              </a:rPr>
              <a:t>……</a:t>
            </a:r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19288" y="1341439"/>
            <a:ext cx="8229600" cy="518318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altLang="ko-KR" sz="2400"/>
              <a:t>Paging provides a somewhat easier interface for programs, in that its operation tends to be more automatic and thus transparent. </a:t>
            </a:r>
          </a:p>
          <a:p>
            <a:pPr>
              <a:lnSpc>
                <a:spcPct val="80000"/>
              </a:lnSpc>
            </a:pPr>
            <a:r>
              <a:rPr lang="en-US" altLang="ko-KR" sz="2400"/>
              <a:t>Each unit of transfer, referred to as a page, is of a fixed size and swapped by the virtual memory manager outside of the program</a:t>
            </a:r>
            <a:r>
              <a:rPr lang="en-US" altLang="ko-KR" sz="2400">
                <a:latin typeface="Arial" panose="020B0604020202020204" pitchFamily="34" charset="0"/>
              </a:rPr>
              <a:t>’</a:t>
            </a:r>
            <a:r>
              <a:rPr lang="en-US" altLang="ko-KR" sz="2400"/>
              <a:t>s control. </a:t>
            </a:r>
          </a:p>
          <a:p>
            <a:pPr>
              <a:lnSpc>
                <a:spcPct val="80000"/>
              </a:lnSpc>
            </a:pPr>
            <a:r>
              <a:rPr lang="en-US" altLang="ko-KR" sz="2400"/>
              <a:t>Instead of utilizing a segment/offset addressing approach, as seen in segmentation, paging uses a linear sequence of virtual addresses which are mapped to physical memory as necessary. </a:t>
            </a:r>
          </a:p>
          <a:p>
            <a:pPr>
              <a:lnSpc>
                <a:spcPct val="80000"/>
              </a:lnSpc>
            </a:pPr>
            <a:r>
              <a:rPr lang="en-US" altLang="ko-KR" sz="2400"/>
              <a:t>Due to this addressing approach, a single program may refer to series of many non-contiguous segments. </a:t>
            </a:r>
          </a:p>
          <a:p>
            <a:pPr>
              <a:lnSpc>
                <a:spcPct val="80000"/>
              </a:lnSpc>
            </a:pPr>
            <a:r>
              <a:rPr lang="en-US" altLang="ko-KR" sz="2400"/>
              <a:t>Although some internal fragmentation may still exist due to the fixed size of the pages, the approach virtually eliminates external fragmentation. </a:t>
            </a:r>
          </a:p>
        </p:txBody>
      </p:sp>
    </p:spTree>
    <p:extLst>
      <p:ext uri="{BB962C8B-B14F-4D97-AF65-F5344CB8AC3E}">
        <p14:creationId xmlns:p14="http://schemas.microsoft.com/office/powerpoint/2010/main" val="175504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Paging</a:t>
            </a:r>
            <a:r>
              <a:rPr lang="en-US" altLang="ko-KR">
                <a:latin typeface="Arial" panose="020B0604020202020204" pitchFamily="34" charset="0"/>
              </a:rPr>
              <a:t>……</a:t>
            </a:r>
            <a:r>
              <a:rPr lang="en-US" altLang="ko-KR"/>
              <a:t>(cont</a:t>
            </a:r>
            <a:r>
              <a:rPr lang="en-US" altLang="ko-KR">
                <a:latin typeface="Arial" panose="020B0604020202020204" pitchFamily="34" charset="0"/>
              </a:rPr>
              <a:t>’</a:t>
            </a:r>
            <a:r>
              <a:rPr lang="en-US" altLang="ko-KR"/>
              <a:t>d)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A technique used by virtual memory operating systems to help ensure that the data you need is available as quickly as possible.</a:t>
            </a:r>
          </a:p>
          <a:p>
            <a:r>
              <a:rPr lang="en-US" altLang="ko-KR"/>
              <a:t>The operating system copies a certain number of pages from your storage device to main memory.</a:t>
            </a:r>
          </a:p>
          <a:p>
            <a:r>
              <a:rPr lang="en-US" altLang="ko-KR"/>
              <a:t>When a program needs a page that is not in maim memory, the operating system copies the required page into memory and copies another page back to the disk.</a:t>
            </a:r>
          </a:p>
        </p:txBody>
      </p:sp>
    </p:spTree>
    <p:extLst>
      <p:ext uri="{BB962C8B-B14F-4D97-AF65-F5344CB8AC3E}">
        <p14:creationId xmlns:p14="http://schemas.microsoft.com/office/powerpoint/2010/main" val="123640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/>
              <a:t>Characteristics of Paging and Segmentation</a:t>
            </a:r>
          </a:p>
        </p:txBody>
      </p:sp>
      <p:sp>
        <p:nvSpPr>
          <p:cNvPr id="81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 bwMode="auto">
          <a:xfrm>
            <a:off x="2286000" y="1600200"/>
            <a:ext cx="8077200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altLang="en-US"/>
              <a:t>Memory references are dynamically translated into physical addresses at run time</a:t>
            </a:r>
          </a:p>
          <a:p>
            <a:pPr lvl="1"/>
            <a:r>
              <a:rPr lang="en-US" altLang="en-US" sz="2500"/>
              <a:t>a process may be swapped in and out of main  memory such that it occupies different regions</a:t>
            </a:r>
          </a:p>
          <a:p>
            <a:r>
              <a:rPr lang="en-US" altLang="en-US"/>
              <a:t>A process may be broken up into </a:t>
            </a:r>
            <a:r>
              <a:rPr lang="en-US" altLang="en-US">
                <a:solidFill>
                  <a:schemeClr val="hlink"/>
                </a:solidFill>
              </a:rPr>
              <a:t>pieces</a:t>
            </a:r>
            <a:r>
              <a:rPr lang="en-US" altLang="en-US"/>
              <a:t> (pages or segments) that do not need to be located contiguously in main memory</a:t>
            </a:r>
          </a:p>
          <a:p>
            <a:r>
              <a:rPr lang="en-US" altLang="en-US"/>
              <a:t>Hence: </a:t>
            </a:r>
            <a:r>
              <a:rPr lang="en-US" altLang="en-US">
                <a:solidFill>
                  <a:schemeClr val="hlink"/>
                </a:solidFill>
              </a:rPr>
              <a:t>all pieces of a process do not need to be loaded in main memory during execution</a:t>
            </a:r>
            <a:endParaRPr lang="en-US" altLang="en-US"/>
          </a:p>
          <a:p>
            <a:pPr lvl="1"/>
            <a:r>
              <a:rPr lang="en-US" altLang="en-US"/>
              <a:t>computation may proceed for some time if the next instruction to be fetch (or the next data to be accessed) is in a piece located in main memory</a:t>
            </a:r>
          </a:p>
        </p:txBody>
      </p:sp>
    </p:spTree>
    <p:extLst>
      <p:ext uri="{BB962C8B-B14F-4D97-AF65-F5344CB8AC3E}">
        <p14:creationId xmlns:p14="http://schemas.microsoft.com/office/powerpoint/2010/main" val="40356484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F7D4-601D-4166-F15C-3AA9DFCC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Paging and Segmentation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2F5252-AD6A-50E2-9E18-3C9F60443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79735"/>
              </p:ext>
            </p:extLst>
          </p:nvPr>
        </p:nvGraphicFramePr>
        <p:xfrm>
          <a:off x="838200" y="1895507"/>
          <a:ext cx="10515600" cy="37824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0575">
                  <a:extLst>
                    <a:ext uri="{9D8B030D-6E8A-4147-A177-3AD203B41FA5}">
                      <a16:colId xmlns:a16="http://schemas.microsoft.com/office/drawing/2014/main" val="121940325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046801258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311347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spc="10">
                          <a:effectLst/>
                        </a:rPr>
                        <a:t>S.NO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95250" marB="9525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spc="10">
                          <a:effectLst/>
                        </a:rPr>
                        <a:t>Paging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spc="10">
                          <a:effectLst/>
                        </a:rPr>
                        <a:t>Segmentation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297862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1.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Fixed size pages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Variable size segments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23448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2.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Page size is determined by hardware.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Segment size decided by user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7020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3.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internal fragmentation.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external fragmentation.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1124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4.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Paging is invisible to the user.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Segmentation is visible to the user.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239465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5.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>
                          <a:effectLst/>
                        </a:rPr>
                        <a:t>A page is referred to as a physical unit of information.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0" spc="10" dirty="0">
                          <a:effectLst/>
                        </a:rPr>
                        <a:t>A segment is referred to as a logical unit of information.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575110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43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971550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/>
              <a:t>Process Execution</a:t>
            </a:r>
          </a:p>
        </p:txBody>
      </p:sp>
      <p:sp>
        <p:nvSpPr>
          <p:cNvPr id="102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 bwMode="auto">
          <a:xfrm>
            <a:off x="2667000" y="1295400"/>
            <a:ext cx="7696200" cy="518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/>
              <a:t>The OS brings into main memory only a few pieces of the program (including its starting point)</a:t>
            </a:r>
          </a:p>
          <a:p>
            <a:r>
              <a:rPr lang="en-US" altLang="en-US"/>
              <a:t>Each page/segment table entry has a </a:t>
            </a:r>
            <a:r>
              <a:rPr lang="en-US" altLang="en-US">
                <a:solidFill>
                  <a:schemeClr val="hlink"/>
                </a:solidFill>
              </a:rPr>
              <a:t>present bit</a:t>
            </a:r>
            <a:r>
              <a:rPr lang="en-US" altLang="en-US"/>
              <a:t> that is set only if the corresponding piece is in main memory</a:t>
            </a:r>
          </a:p>
          <a:p>
            <a:r>
              <a:rPr lang="en-US" altLang="en-US"/>
              <a:t>The </a:t>
            </a:r>
            <a:r>
              <a:rPr lang="en-US" altLang="en-US">
                <a:solidFill>
                  <a:schemeClr val="hlink"/>
                </a:solidFill>
              </a:rPr>
              <a:t>resident set</a:t>
            </a:r>
            <a:r>
              <a:rPr lang="en-US" altLang="en-US"/>
              <a:t>  is the portion of the process that is in main memory</a:t>
            </a:r>
          </a:p>
          <a:p>
            <a:r>
              <a:rPr lang="en-US" altLang="en-US"/>
              <a:t>An interrupt (memory fault) is generated when the memory reference is on a piece not present in main memory</a:t>
            </a:r>
          </a:p>
        </p:txBody>
      </p:sp>
    </p:spTree>
    <p:extLst>
      <p:ext uri="{BB962C8B-B14F-4D97-AF65-F5344CB8AC3E}">
        <p14:creationId xmlns:p14="http://schemas.microsoft.com/office/powerpoint/2010/main" val="167661548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971550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/>
              <a:t>Process Execution (cont.)</a:t>
            </a:r>
          </a:p>
        </p:txBody>
      </p:sp>
      <p:sp>
        <p:nvSpPr>
          <p:cNvPr id="12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/>
              <a:t>OS places the process in a Blocking state</a:t>
            </a:r>
          </a:p>
          <a:p>
            <a:r>
              <a:rPr lang="en-US" altLang="en-US"/>
              <a:t>OS issues a disk I/O Read request to bring into main memory the piece referenced to</a:t>
            </a:r>
          </a:p>
          <a:p>
            <a:r>
              <a:rPr lang="en-US" altLang="en-US"/>
              <a:t>another process is dispatched to run while the disk I/O takes place</a:t>
            </a:r>
          </a:p>
          <a:p>
            <a:r>
              <a:rPr lang="en-US" altLang="en-US"/>
              <a:t>an interrupt is issued when the disk I/O completes </a:t>
            </a:r>
          </a:p>
          <a:p>
            <a:pPr lvl="1"/>
            <a:r>
              <a:rPr lang="en-US" altLang="en-US"/>
              <a:t>this causes the OS to place the affected process in the Ready state</a:t>
            </a:r>
          </a:p>
        </p:txBody>
      </p:sp>
    </p:spTree>
    <p:extLst>
      <p:ext uri="{BB962C8B-B14F-4D97-AF65-F5344CB8AC3E}">
        <p14:creationId xmlns:p14="http://schemas.microsoft.com/office/powerpoint/2010/main" val="276108517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762000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Advantages of Partial Loading</a:t>
            </a:r>
          </a:p>
        </p:txBody>
      </p:sp>
      <p:sp>
        <p:nvSpPr>
          <p:cNvPr id="143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 bwMode="auto">
          <a:xfrm>
            <a:off x="1143000" y="1066800"/>
            <a:ext cx="9220200" cy="541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More processes can be maintained in main memory</a:t>
            </a:r>
          </a:p>
          <a:p>
            <a:pPr lvl="1"/>
            <a:r>
              <a:rPr lang="en-US" altLang="en-US" dirty="0"/>
              <a:t>only load in some of the pieces of each process</a:t>
            </a:r>
          </a:p>
          <a:p>
            <a:pPr lvl="1"/>
            <a:r>
              <a:rPr lang="en-US" altLang="en-US" dirty="0"/>
              <a:t>With more processes in main memory, it is more likely that a process will be in the Ready state at any given time</a:t>
            </a:r>
          </a:p>
          <a:p>
            <a:r>
              <a:rPr lang="en-US" altLang="en-US" dirty="0">
                <a:solidFill>
                  <a:schemeClr val="hlink"/>
                </a:solidFill>
              </a:rPr>
              <a:t>A process can now execute even if it is larger than the main memory size</a:t>
            </a:r>
          </a:p>
          <a:p>
            <a:pPr lvl="1"/>
            <a:r>
              <a:rPr lang="en-US" altLang="en-US" dirty="0"/>
              <a:t>it is even possible to use more bits for logical addresses than the bits needed for addressing the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419774210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107950"/>
            <a:ext cx="10515600" cy="1325563"/>
          </a:xfrm>
        </p:spPr>
        <p:txBody>
          <a:bodyPr/>
          <a:lstStyle/>
          <a:p>
            <a:r>
              <a:rPr lang="en-US" altLang="en-US" dirty="0"/>
              <a:t>Virtual Memory: large as you wish!</a:t>
            </a:r>
          </a:p>
        </p:txBody>
      </p:sp>
      <p:sp>
        <p:nvSpPr>
          <p:cNvPr id="16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 bwMode="auto">
          <a:xfrm>
            <a:off x="838200" y="1609724"/>
            <a:ext cx="9525000" cy="50196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en-US" altLang="en-US" dirty="0"/>
              <a:t>Ex: 16 bits are needed to address a physical memory of 64KB</a:t>
            </a:r>
          </a:p>
          <a:p>
            <a:pPr lvl="1"/>
            <a:r>
              <a:rPr lang="en-US" altLang="en-US" dirty="0"/>
              <a:t> let’s use a page size of 1KB so that 10 bits are needed for offsets within a page</a:t>
            </a:r>
          </a:p>
          <a:p>
            <a:pPr lvl="1"/>
            <a:r>
              <a:rPr lang="en-US" altLang="en-US" dirty="0"/>
              <a:t>For the page number part of a logical address we may use a number of bits larger than 6, say 22 (a modest value!!)</a:t>
            </a:r>
          </a:p>
          <a:p>
            <a:r>
              <a:rPr lang="en-US" altLang="en-US" sz="2400" dirty="0">
                <a:solidFill>
                  <a:schemeClr val="hlink"/>
                </a:solidFill>
              </a:rPr>
              <a:t>The memory referenced by a logical address is called virtual memory</a:t>
            </a:r>
          </a:p>
          <a:p>
            <a:pPr lvl="1"/>
            <a:r>
              <a:rPr lang="en-US" altLang="en-US" dirty="0"/>
              <a:t>is maintained on secondary memory (ex: disk)</a:t>
            </a:r>
          </a:p>
          <a:p>
            <a:pPr lvl="1"/>
            <a:r>
              <a:rPr lang="en-US" altLang="en-US" dirty="0"/>
              <a:t>pieces are brought into main memory only when needed</a:t>
            </a:r>
          </a:p>
        </p:txBody>
      </p:sp>
    </p:spTree>
    <p:extLst>
      <p:ext uri="{BB962C8B-B14F-4D97-AF65-F5344CB8AC3E}">
        <p14:creationId xmlns:p14="http://schemas.microsoft.com/office/powerpoint/2010/main" val="31553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1"/>
            <a:ext cx="7772400" cy="790575"/>
          </a:xfrm>
        </p:spPr>
        <p:txBody>
          <a:bodyPr/>
          <a:lstStyle/>
          <a:p>
            <a:r>
              <a:rPr lang="en-US" altLang="en-US"/>
              <a:t>Virtual Memory (cont.)</a:t>
            </a:r>
          </a:p>
        </p:txBody>
      </p:sp>
      <p:sp>
        <p:nvSpPr>
          <p:cNvPr id="184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 bwMode="auto">
          <a:xfrm>
            <a:off x="533400" y="1095376"/>
            <a:ext cx="10410825" cy="52578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en-US" altLang="en-US" sz="2600" dirty="0"/>
              <a:t>For better performance, the file system is often bypassed and virtual memory is stored in a special area of the disk called the </a:t>
            </a:r>
            <a:r>
              <a:rPr lang="en-US" altLang="en-US" sz="2600" dirty="0">
                <a:solidFill>
                  <a:schemeClr val="hlink"/>
                </a:solidFill>
              </a:rPr>
              <a:t>swap space</a:t>
            </a:r>
          </a:p>
          <a:p>
            <a:pPr lvl="2"/>
            <a:r>
              <a:rPr lang="en-US" altLang="en-US" dirty="0"/>
              <a:t>larger blocks are used and file lookups and indirect allocation methods are not used</a:t>
            </a:r>
          </a:p>
          <a:p>
            <a:r>
              <a:rPr lang="en-US" altLang="en-US" dirty="0"/>
              <a:t>By contrast, physical memory is the memory referenced by a physical address</a:t>
            </a:r>
          </a:p>
          <a:p>
            <a:pPr lvl="1"/>
            <a:r>
              <a:rPr lang="en-US" altLang="en-US" sz="2600" dirty="0"/>
              <a:t>is located on DRAM</a:t>
            </a:r>
          </a:p>
          <a:p>
            <a:r>
              <a:rPr lang="en-US" altLang="en-US" dirty="0"/>
              <a:t>The translation from logical address to physical address is done by indexing the appropriate page/segment table with the help of memory management hardware</a:t>
            </a:r>
          </a:p>
        </p:txBody>
      </p:sp>
    </p:spTree>
    <p:extLst>
      <p:ext uri="{BB962C8B-B14F-4D97-AF65-F5344CB8AC3E}">
        <p14:creationId xmlns:p14="http://schemas.microsoft.com/office/powerpoint/2010/main" val="1365659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0"/>
            <a:ext cx="10515600" cy="1325563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Possibility of trashing</a:t>
            </a:r>
          </a:p>
        </p:txBody>
      </p:sp>
      <p:sp>
        <p:nvSpPr>
          <p:cNvPr id="204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 bwMode="auto">
          <a:xfrm>
            <a:off x="771526" y="1016977"/>
            <a:ext cx="5981700" cy="54981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2400" dirty="0"/>
              <a:t>To accommodate as many processes as possible, only a few pieces of each process is maintained in main memory</a:t>
            </a:r>
          </a:p>
          <a:p>
            <a:r>
              <a:rPr lang="en-US" altLang="en-US" sz="2400" dirty="0"/>
              <a:t>But main memory may be full: when the OS brings one piece in, it must swap one piece out</a:t>
            </a:r>
          </a:p>
          <a:p>
            <a:r>
              <a:rPr lang="en-US" altLang="en-US" sz="2400" dirty="0"/>
              <a:t>The OS must not swap out a piece of a process just before that piece is needed</a:t>
            </a:r>
          </a:p>
          <a:p>
            <a:r>
              <a:rPr lang="en-US" altLang="en-US" sz="2400" dirty="0"/>
              <a:t>If it does this too often this leads to </a:t>
            </a:r>
            <a:r>
              <a:rPr lang="en-US" altLang="en-US" sz="2400" dirty="0">
                <a:solidFill>
                  <a:schemeClr val="hlink"/>
                </a:solidFill>
              </a:rPr>
              <a:t>trashing</a:t>
            </a:r>
            <a:r>
              <a:rPr lang="en-US" altLang="en-US" sz="2400" dirty="0"/>
              <a:t>:</a:t>
            </a:r>
          </a:p>
          <a:p>
            <a:pPr lvl="1"/>
            <a:r>
              <a:rPr lang="en-US" altLang="en-US" sz="2000" dirty="0"/>
              <a:t>The processor spends most of its time swapping pieces rather than executing user instructions</a:t>
            </a:r>
          </a:p>
          <a:p>
            <a:r>
              <a:rPr lang="en-US" sz="2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Reasons for trashing -high degree of multiprogramming, lack of frames, and incorrect page replacement policy</a:t>
            </a:r>
            <a:endParaRPr lang="en-US" altLang="en-US" sz="2400" dirty="0"/>
          </a:p>
        </p:txBody>
      </p:sp>
      <p:pic>
        <p:nvPicPr>
          <p:cNvPr id="2" name="Picture 2" descr="Lightbox">
            <a:extLst>
              <a:ext uri="{FF2B5EF4-FFF2-40B4-BE49-F238E27FC236}">
                <a16:creationId xmlns:a16="http://schemas.microsoft.com/office/drawing/2014/main" id="{3A915BCB-6687-15BD-1306-99E9807F0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659" y="1667223"/>
            <a:ext cx="4422815" cy="3723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37103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749" y="1403775"/>
            <a:ext cx="6577617" cy="4455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2078939" y="1808820"/>
            <a:ext cx="724810" cy="3195355"/>
            <a:chOff x="307992" y="1763814"/>
            <a:chExt cx="724810" cy="3195355"/>
          </a:xfrm>
        </p:grpSpPr>
        <p:sp>
          <p:nvSpPr>
            <p:cNvPr id="6" name="TextBox 5"/>
            <p:cNvSpPr txBox="1"/>
            <p:nvPr/>
          </p:nvSpPr>
          <p:spPr>
            <a:xfrm rot="5400000">
              <a:off x="-451285" y="3108158"/>
              <a:ext cx="1980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FF"/>
                  </a:solidFill>
                </a:rPr>
                <a:t>virtual pages</a:t>
              </a:r>
            </a:p>
          </p:txBody>
        </p:sp>
        <p:sp>
          <p:nvSpPr>
            <p:cNvPr id="7" name="Left Brace 6"/>
            <p:cNvSpPr/>
            <p:nvPr/>
          </p:nvSpPr>
          <p:spPr>
            <a:xfrm>
              <a:off x="701570" y="1763814"/>
              <a:ext cx="331232" cy="3195355"/>
            </a:xfrm>
            <a:prstGeom prst="leftBrac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 flipH="1">
            <a:off x="9201345" y="1808819"/>
            <a:ext cx="720081" cy="2385266"/>
            <a:chOff x="319610" y="2302943"/>
            <a:chExt cx="720081" cy="2385266"/>
          </a:xfrm>
        </p:grpSpPr>
        <p:sp>
          <p:nvSpPr>
            <p:cNvPr id="11" name="TextBox 10"/>
            <p:cNvSpPr txBox="1"/>
            <p:nvPr/>
          </p:nvSpPr>
          <p:spPr>
            <a:xfrm rot="16200000" flipH="1">
              <a:off x="-439667" y="3242242"/>
              <a:ext cx="1980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FF"/>
                  </a:solidFill>
                </a:rPr>
                <a:t>physical pages</a:t>
              </a:r>
            </a:p>
          </p:txBody>
        </p:sp>
        <p:sp>
          <p:nvSpPr>
            <p:cNvPr id="12" name="Left Brace 11"/>
            <p:cNvSpPr/>
            <p:nvPr/>
          </p:nvSpPr>
          <p:spPr>
            <a:xfrm>
              <a:off x="701572" y="2302943"/>
              <a:ext cx="338119" cy="2385266"/>
            </a:xfrm>
            <a:prstGeom prst="leftBrac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960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33645"/>
            <a:ext cx="8229600" cy="724092"/>
          </a:xfrm>
        </p:spPr>
        <p:txBody>
          <a:bodyPr>
            <a:noAutofit/>
          </a:bodyPr>
          <a:lstStyle/>
          <a:p>
            <a:r>
              <a:rPr lang="en-US" sz="3600" dirty="0"/>
              <a:t>Virtual to Physical Address Mapping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1" y="1083806"/>
            <a:ext cx="6442915" cy="4537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2900645" y="998731"/>
            <a:ext cx="6299726" cy="2014783"/>
            <a:chOff x="1376645" y="1363704"/>
            <a:chExt cx="6299726" cy="2014783"/>
          </a:xfrm>
        </p:grpSpPr>
        <p:sp>
          <p:nvSpPr>
            <p:cNvPr id="8" name="TextBox 7"/>
            <p:cNvSpPr txBox="1"/>
            <p:nvPr/>
          </p:nvSpPr>
          <p:spPr>
            <a:xfrm>
              <a:off x="6057165" y="2668850"/>
              <a:ext cx="16192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FF"/>
                  </a:solidFill>
                </a:rPr>
                <a:t>4KB page size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76645" y="2670601"/>
              <a:ext cx="14851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FF"/>
                  </a:solidFill>
                </a:rPr>
                <a:t>2</a:t>
              </a:r>
              <a:r>
                <a:rPr lang="en-US" sz="2400" baseline="30000" dirty="0">
                  <a:solidFill>
                    <a:srgbClr val="0000FF"/>
                  </a:solidFill>
                </a:rPr>
                <a:t>20</a:t>
              </a:r>
              <a:r>
                <a:rPr lang="en-US" sz="2000" dirty="0">
                  <a:solidFill>
                    <a:srgbClr val="0000FF"/>
                  </a:solidFill>
                </a:rPr>
                <a:t> virtual pages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 rot="16200000" flipH="1">
              <a:off x="4213942" y="-1428586"/>
              <a:ext cx="670139" cy="6254719"/>
              <a:chOff x="369552" y="2302944"/>
              <a:chExt cx="670139" cy="6254719"/>
            </a:xfrm>
          </p:grpSpPr>
          <p:sp>
            <p:nvSpPr>
              <p:cNvPr id="12" name="TextBox 11"/>
              <p:cNvSpPr txBox="1"/>
              <p:nvPr/>
            </p:nvSpPr>
            <p:spPr>
              <a:xfrm rot="5400000" flipV="1">
                <a:off x="228252" y="7010584"/>
                <a:ext cx="6827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0000FF"/>
                    </a:solidFill>
                  </a:rPr>
                  <a:t>4GB</a:t>
                </a:r>
              </a:p>
            </p:txBody>
          </p:sp>
          <p:sp>
            <p:nvSpPr>
              <p:cNvPr id="13" name="Left Brace 12"/>
              <p:cNvSpPr/>
              <p:nvPr/>
            </p:nvSpPr>
            <p:spPr>
              <a:xfrm>
                <a:off x="701572" y="2302944"/>
                <a:ext cx="338119" cy="6254719"/>
              </a:xfrm>
              <a:prstGeom prst="leftBrace">
                <a:avLst>
                  <a:gd name="adj1" fmla="val 8333"/>
                  <a:gd name="adj2" fmla="val 78173"/>
                </a:avLst>
              </a:prstGeom>
              <a:ln w="285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3215681" y="3699033"/>
            <a:ext cx="6165684" cy="2148044"/>
            <a:chOff x="1691681" y="4064007"/>
            <a:chExt cx="6165684" cy="2148044"/>
          </a:xfrm>
        </p:grpSpPr>
        <p:sp>
          <p:nvSpPr>
            <p:cNvPr id="6" name="TextBox 5"/>
            <p:cNvSpPr txBox="1"/>
            <p:nvPr/>
          </p:nvSpPr>
          <p:spPr>
            <a:xfrm>
              <a:off x="5337084" y="5454225"/>
              <a:ext cx="25202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FF"/>
                  </a:solidFill>
                </a:rPr>
                <a:t>4KB page size (frame)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91681" y="5504165"/>
              <a:ext cx="184520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FF"/>
                  </a:solidFill>
                </a:rPr>
                <a:t>2</a:t>
              </a:r>
              <a:r>
                <a:rPr lang="en-US" sz="2400" baseline="30000" dirty="0">
                  <a:solidFill>
                    <a:srgbClr val="0000FF"/>
                  </a:solidFill>
                </a:rPr>
                <a:t>18</a:t>
              </a:r>
              <a:r>
                <a:rPr lang="en-US" sz="2000" dirty="0">
                  <a:solidFill>
                    <a:srgbClr val="0000FF"/>
                  </a:solidFill>
                </a:rPr>
                <a:t> physical pages (frames)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 rot="16200000" flipH="1">
              <a:off x="4422103" y="1513604"/>
              <a:ext cx="704842" cy="5805647"/>
              <a:chOff x="334850" y="2212932"/>
              <a:chExt cx="704842" cy="5805647"/>
            </a:xfrm>
          </p:grpSpPr>
          <p:sp>
            <p:nvSpPr>
              <p:cNvPr id="15" name="TextBox 14"/>
              <p:cNvSpPr txBox="1"/>
              <p:nvPr/>
            </p:nvSpPr>
            <p:spPr>
              <a:xfrm rot="5400000" flipV="1">
                <a:off x="152364" y="5995818"/>
                <a:ext cx="7650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0000FF"/>
                    </a:solidFill>
                  </a:rPr>
                  <a:t>1GB</a:t>
                </a:r>
              </a:p>
            </p:txBody>
          </p:sp>
          <p:sp>
            <p:nvSpPr>
              <p:cNvPr id="16" name="Left Brace 15"/>
              <p:cNvSpPr/>
              <p:nvPr/>
            </p:nvSpPr>
            <p:spPr>
              <a:xfrm>
                <a:off x="701573" y="2212932"/>
                <a:ext cx="338119" cy="5805647"/>
              </a:xfrm>
              <a:prstGeom prst="leftBrace">
                <a:avLst>
                  <a:gd name="adj1" fmla="val 8333"/>
                  <a:gd name="adj2" fmla="val 68657"/>
                </a:avLst>
              </a:prstGeom>
              <a:ln w="285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Rectangle 17"/>
          <p:cNvSpPr/>
          <p:nvPr/>
        </p:nvSpPr>
        <p:spPr>
          <a:xfrm>
            <a:off x="2180566" y="5814265"/>
            <a:ext cx="7875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Illusion of an unbounded amount of virtual memory.</a:t>
            </a:r>
          </a:p>
        </p:txBody>
      </p:sp>
    </p:spTree>
    <p:extLst>
      <p:ext uri="{BB962C8B-B14F-4D97-AF65-F5344CB8AC3E}">
        <p14:creationId xmlns:p14="http://schemas.microsoft.com/office/powerpoint/2010/main" val="209313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68923" y="503958"/>
            <a:ext cx="11207261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600" dirty="0"/>
              <a:t>Design choices in VM systems are motivated by the high cost of page fault, taking </a:t>
            </a:r>
            <a:r>
              <a:rPr lang="en-US" sz="3600" b="1" dirty="0">
                <a:solidFill>
                  <a:srgbClr val="0000FF"/>
                </a:solidFill>
              </a:rPr>
              <a:t>millions</a:t>
            </a:r>
            <a:r>
              <a:rPr lang="en-US" sz="3600" dirty="0"/>
              <a:t> of clock cycles to process.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Pages should be large enough to amortize the high access time. Size ranges from 1 KB (embedded), 16 KB (PC) to 64 KB (servers).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Organizations that reduce the page fault rate, e.g., fully associative placement of pages in memory.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Page faults can be handled in SW because the overhead will be small compared to the disk access time. SW can use smart algorithms for page placement.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Write-through will not work for VM, since writes take too long. VM uses </a:t>
            </a:r>
            <a:r>
              <a:rPr lang="en-US" sz="3200" b="1" dirty="0">
                <a:solidFill>
                  <a:srgbClr val="0000FF"/>
                </a:solidFill>
              </a:rPr>
              <a:t>write-back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709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24092"/>
          </a:xfrm>
        </p:spPr>
        <p:txBody>
          <a:bodyPr>
            <a:normAutofit/>
          </a:bodyPr>
          <a:lstStyle/>
          <a:p>
            <a:r>
              <a:rPr lang="en-US" sz="3600" dirty="0"/>
              <a:t>Placing a Page and Finding it Again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953725"/>
            <a:ext cx="10720754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800" dirty="0"/>
              <a:t>Reducing page fault frequency is critical due to the high page fault penalty.</a:t>
            </a:r>
          </a:p>
          <a:p>
            <a:pPr algn="just">
              <a:spcAft>
                <a:spcPts val="600"/>
              </a:spcAft>
            </a:pPr>
            <a:r>
              <a:rPr lang="en-US" sz="2800" dirty="0"/>
              <a:t>The operating system (OS) maps the virtual to any physical page (associative placement of pages).</a:t>
            </a:r>
          </a:p>
          <a:p>
            <a:pPr algn="just">
              <a:spcAft>
                <a:spcPts val="600"/>
              </a:spcAft>
            </a:pPr>
            <a:r>
              <a:rPr lang="en-US" sz="2800" dirty="0"/>
              <a:t>The OS can use smart algorithms and complex data structures to track page usage.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3744036"/>
            <a:ext cx="10720754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800" dirty="0"/>
              <a:t>A </a:t>
            </a:r>
            <a:r>
              <a:rPr lang="en-US" sz="2800" b="1" dirty="0">
                <a:solidFill>
                  <a:srgbClr val="0000FF"/>
                </a:solidFill>
              </a:rPr>
              <a:t>page table </a:t>
            </a:r>
            <a:r>
              <a:rPr lang="en-US" sz="2800" dirty="0"/>
              <a:t>stored </a:t>
            </a:r>
            <a:r>
              <a:rPr lang="en-US" sz="2800" b="1" dirty="0">
                <a:solidFill>
                  <a:srgbClr val="0000FF"/>
                </a:solidFill>
              </a:rPr>
              <a:t>in memory</a:t>
            </a:r>
            <a:r>
              <a:rPr lang="en-US" sz="2800" dirty="0"/>
              <a:t>, indexed by the virtual page number, contains the virtual to physical address translations.</a:t>
            </a:r>
          </a:p>
          <a:p>
            <a:pPr algn="just">
              <a:spcAft>
                <a:spcPts val="600"/>
              </a:spcAft>
            </a:pPr>
            <a:r>
              <a:rPr lang="en-US" sz="2800" dirty="0"/>
              <a:t>An entry contains the physical page number for that virtual page </a:t>
            </a:r>
            <a:r>
              <a:rPr lang="en-US" sz="2800" b="1" dirty="0"/>
              <a:t>if the page is currently in memory</a:t>
            </a:r>
            <a:r>
              <a:rPr lang="en-US" sz="2800" dirty="0"/>
              <a:t>.</a:t>
            </a:r>
          </a:p>
          <a:p>
            <a:pPr algn="just">
              <a:spcAft>
                <a:spcPts val="600"/>
              </a:spcAft>
            </a:pPr>
            <a:r>
              <a:rPr lang="en-US" sz="2800" dirty="0"/>
              <a:t>To indicate the location of the page table in memory, the hardware includes a </a:t>
            </a:r>
            <a:r>
              <a:rPr lang="en-US" sz="2800" b="1" dirty="0">
                <a:solidFill>
                  <a:srgbClr val="0000FF"/>
                </a:solidFill>
              </a:rPr>
              <a:t>page table register</a:t>
            </a:r>
            <a:r>
              <a:rPr lang="en-US" sz="2800" i="1" dirty="0"/>
              <a:t>, </a:t>
            </a:r>
            <a:r>
              <a:rPr lang="en-US" sz="2800" dirty="0"/>
              <a:t>pointing to the start of the page table. </a:t>
            </a:r>
          </a:p>
          <a:p>
            <a:pPr algn="just">
              <a:spcAft>
                <a:spcPts val="600"/>
              </a:spcAf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177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91662" y="548680"/>
            <a:ext cx="1066213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The process’s address space, and hence all the data it can access in memory, is defined by its page table, residing in the memory.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 OS needs to load only the page table register with the pointer to the table of the process to be run.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Each process has its own page table (+register), since different processes use the same virtual addresses.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 OS allocates the physical memory and updates the page tables, to avoid </a:t>
            </a:r>
            <a:r>
              <a:rPr lang="en-US" sz="2800" b="1" dirty="0"/>
              <a:t>collision</a:t>
            </a:r>
            <a:r>
              <a:rPr lang="en-US" sz="2800" dirty="0"/>
              <a:t> of the virtual address spaces of different processes.</a:t>
            </a:r>
          </a:p>
          <a:p>
            <a:pPr algn="just"/>
            <a:r>
              <a:rPr lang="en-US" sz="2800" dirty="0"/>
              <a:t>Separate page tables provide </a:t>
            </a:r>
            <a:r>
              <a:rPr lang="en-US" sz="2800" b="1" dirty="0"/>
              <a:t>protection</a:t>
            </a:r>
            <a:r>
              <a:rPr lang="en-US" sz="2800" dirty="0"/>
              <a:t> of one process from another.</a:t>
            </a:r>
          </a:p>
        </p:txBody>
      </p:sp>
    </p:spTree>
    <p:extLst>
      <p:ext uri="{BB962C8B-B14F-4D97-AF65-F5344CB8AC3E}">
        <p14:creationId xmlns:p14="http://schemas.microsoft.com/office/powerpoint/2010/main" val="34183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665" y="990588"/>
            <a:ext cx="5989536" cy="5228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ular Callout 5"/>
          <p:cNvSpPr/>
          <p:nvPr/>
        </p:nvSpPr>
        <p:spPr>
          <a:xfrm>
            <a:off x="8391255" y="2663915"/>
            <a:ext cx="1620179" cy="1246784"/>
          </a:xfrm>
          <a:prstGeom prst="wedgeRectCallout">
            <a:avLst>
              <a:gd name="adj1" fmla="val -115305"/>
              <a:gd name="adj2" fmla="val 19965"/>
            </a:avLst>
          </a:prstGeom>
          <a:solidFill>
            <a:srgbClr val="0000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1256" y="2663916"/>
            <a:ext cx="162017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OS algorithm determines the physical page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0815" y="278651"/>
            <a:ext cx="315035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dirty="0"/>
              <a:t>The page table</a:t>
            </a:r>
            <a:endParaRPr lang="he-IL" sz="3200" dirty="0"/>
          </a:p>
        </p:txBody>
      </p:sp>
      <p:sp>
        <p:nvSpPr>
          <p:cNvPr id="10" name="Rectangular Callout 9"/>
          <p:cNvSpPr/>
          <p:nvPr/>
        </p:nvSpPr>
        <p:spPr>
          <a:xfrm>
            <a:off x="2135561" y="2663916"/>
            <a:ext cx="1620179" cy="1015663"/>
          </a:xfrm>
          <a:prstGeom prst="wedgeRectCallout">
            <a:avLst>
              <a:gd name="adj1" fmla="val 43203"/>
              <a:gd name="adj2" fmla="val -196027"/>
            </a:avLst>
          </a:prstGeom>
          <a:solidFill>
            <a:srgbClr val="0000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35561" y="2663915"/>
            <a:ext cx="162017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Each process has such register.</a:t>
            </a:r>
          </a:p>
        </p:txBody>
      </p:sp>
    </p:spTree>
    <p:extLst>
      <p:ext uri="{BB962C8B-B14F-4D97-AF65-F5344CB8AC3E}">
        <p14:creationId xmlns:p14="http://schemas.microsoft.com/office/powerpoint/2010/main" val="259372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90556" y="2244057"/>
            <a:ext cx="7965885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The OS creates the space on </a:t>
            </a:r>
            <a:r>
              <a:rPr lang="en-US" sz="2800" b="1" dirty="0">
                <a:solidFill>
                  <a:srgbClr val="0000FF"/>
                </a:solidFill>
              </a:rPr>
              <a:t>disk</a:t>
            </a:r>
            <a:r>
              <a:rPr lang="en-US" sz="2800" dirty="0"/>
              <a:t> for all the pages of a process when it creates the process.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This disk space is called the </a:t>
            </a:r>
            <a:r>
              <a:rPr lang="en-US" sz="2800" b="1" dirty="0">
                <a:solidFill>
                  <a:srgbClr val="0000FF"/>
                </a:solidFill>
              </a:rPr>
              <a:t>swap space</a:t>
            </a:r>
            <a:r>
              <a:rPr lang="en-US" sz="2800" dirty="0"/>
              <a:t>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OS also creates a data structure to record where each virtual page is stored on disk.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It may be part of the page table or an auxiliary data structure indexed in the same way as the page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90555" y="683696"/>
            <a:ext cx="796588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The physical page bit-width is extended to 32 for ease of indexing. The extra bits are used to store additional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287133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93888" y="323656"/>
            <a:ext cx="70125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page table maps each VM page to either a page in main memory or a page stored on disk.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070776" y="1222987"/>
            <a:ext cx="5985665" cy="4591278"/>
            <a:chOff x="2546775" y="1222987"/>
            <a:chExt cx="5985665" cy="4591278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6775" y="1222987"/>
              <a:ext cx="5985665" cy="4591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Group 8"/>
            <p:cNvGrpSpPr/>
            <p:nvPr/>
          </p:nvGrpSpPr>
          <p:grpSpPr>
            <a:xfrm>
              <a:off x="7182290" y="2055331"/>
              <a:ext cx="765085" cy="902133"/>
              <a:chOff x="7182290" y="2055331"/>
              <a:chExt cx="765085" cy="902133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7182290" y="2055331"/>
                <a:ext cx="7650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frame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182290" y="2235351"/>
                <a:ext cx="7650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frame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7182290" y="2438890"/>
                <a:ext cx="7650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frame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7182290" y="2618910"/>
                <a:ext cx="7650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frame</a:t>
                </a:r>
              </a:p>
            </p:txBody>
          </p:sp>
        </p:grpSp>
      </p:grpSp>
      <p:sp>
        <p:nvSpPr>
          <p:cNvPr id="6" name="Rectangle 5"/>
          <p:cNvSpPr/>
          <p:nvPr/>
        </p:nvSpPr>
        <p:spPr>
          <a:xfrm>
            <a:off x="2045550" y="2078850"/>
            <a:ext cx="21602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Virtual page number is used to index the page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45549" y="4149080"/>
            <a:ext cx="29253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Valid bit 0: the page currently resides only on disk, at a specified disk address.</a:t>
            </a:r>
          </a:p>
        </p:txBody>
      </p:sp>
    </p:spTree>
    <p:extLst>
      <p:ext uri="{BB962C8B-B14F-4D97-AF65-F5344CB8AC3E}">
        <p14:creationId xmlns:p14="http://schemas.microsoft.com/office/powerpoint/2010/main" val="18719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00125" y="548681"/>
            <a:ext cx="896630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OS handles data structure to track which processes and which virtual addresses use each physical page.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 OS is another process, and these tables controlling memory reside in memory.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When all the pages in main memory are in use, the OS chooses a page to replace. Replaced pages are written to swap space on the disk.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To minimize the number of page faults </a:t>
            </a:r>
            <a:r>
              <a:rPr lang="en-US" sz="2800" b="1" dirty="0"/>
              <a:t>LRU</a:t>
            </a:r>
            <a:r>
              <a:rPr lang="en-US" sz="2800" dirty="0"/>
              <a:t> is used. But it is too expensive, requiring updating a data structure on </a:t>
            </a:r>
            <a:r>
              <a:rPr lang="en-US" sz="2800" b="1" dirty="0"/>
              <a:t>every</a:t>
            </a:r>
            <a:r>
              <a:rPr lang="en-US" sz="2800" i="1" dirty="0"/>
              <a:t> </a:t>
            </a:r>
            <a:r>
              <a:rPr lang="en-US" sz="2800" dirty="0"/>
              <a:t>memory reference. Instead, an approximation is used.</a:t>
            </a:r>
          </a:p>
        </p:txBody>
      </p:sp>
    </p:spTree>
    <p:extLst>
      <p:ext uri="{BB962C8B-B14F-4D97-AF65-F5344CB8AC3E}">
        <p14:creationId xmlns:p14="http://schemas.microsoft.com/office/powerpoint/2010/main" val="21218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638691"/>
            <a:ext cx="997267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Some computers provide a </a:t>
            </a:r>
            <a:r>
              <a:rPr lang="en-US" sz="2800" b="1" dirty="0">
                <a:solidFill>
                  <a:srgbClr val="0000FF"/>
                </a:solidFill>
              </a:rPr>
              <a:t>use bit </a:t>
            </a:r>
            <a:r>
              <a:rPr lang="en-US" sz="2800" dirty="0"/>
              <a:t>or </a:t>
            </a:r>
            <a:r>
              <a:rPr lang="en-US" sz="2800" b="1" dirty="0">
                <a:solidFill>
                  <a:srgbClr val="0000FF"/>
                </a:solidFill>
              </a:rPr>
              <a:t>reference bit</a:t>
            </a:r>
            <a:r>
              <a:rPr lang="en-US" sz="2800" dirty="0"/>
              <a:t>, (in HW) which is set whenever a page is accessed.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OS periodically clears the use bits and records them. It can determine which pages were touched during a certain time period.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OS then evicts a page whose reference bit is 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654026"/>
            <a:ext cx="997267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With 32-bit virtual address, 4 KB page size, and 4 bytes per page table entry, the total page table size is: # page table entries = 2</a:t>
            </a:r>
            <a:r>
              <a:rPr lang="en-US" sz="3200" baseline="30000" dirty="0"/>
              <a:t>32</a:t>
            </a:r>
            <a:r>
              <a:rPr lang="en-US" sz="2800" dirty="0"/>
              <a:t> / 2</a:t>
            </a:r>
            <a:r>
              <a:rPr lang="en-US" sz="3200" baseline="30000" dirty="0"/>
              <a:t>12</a:t>
            </a:r>
            <a:r>
              <a:rPr lang="en-US" sz="3200" dirty="0"/>
              <a:t> = </a:t>
            </a:r>
            <a:r>
              <a:rPr lang="en-US" sz="2800" dirty="0"/>
              <a:t>2</a:t>
            </a:r>
            <a:r>
              <a:rPr lang="en-US" sz="3200" baseline="30000" dirty="0"/>
              <a:t>20</a:t>
            </a:r>
            <a:r>
              <a:rPr lang="en-US" sz="3200" dirty="0"/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Size of page table = </a:t>
            </a:r>
            <a:r>
              <a:rPr lang="en-US" sz="2400" dirty="0"/>
              <a:t>2</a:t>
            </a:r>
            <a:r>
              <a:rPr lang="en-US" sz="2800" baseline="30000" dirty="0"/>
              <a:t>20 </a:t>
            </a:r>
            <a:r>
              <a:rPr lang="en-US" sz="2800" dirty="0"/>
              <a:t>x 4bytes = 4MB </a:t>
            </a:r>
            <a:r>
              <a:rPr lang="en-US" sz="2800" b="1" dirty="0"/>
              <a:t>(for every process! There may be 100’s!)</a:t>
            </a:r>
          </a:p>
        </p:txBody>
      </p:sp>
    </p:spTree>
    <p:extLst>
      <p:ext uri="{BB962C8B-B14F-4D97-AF65-F5344CB8AC3E}">
        <p14:creationId xmlns:p14="http://schemas.microsoft.com/office/powerpoint/2010/main" val="143569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24092"/>
          </a:xfrm>
        </p:spPr>
        <p:txBody>
          <a:bodyPr>
            <a:normAutofit/>
          </a:bodyPr>
          <a:lstStyle/>
          <a:p>
            <a:r>
              <a:rPr lang="en-US" sz="3600" dirty="0"/>
              <a:t>Writes in Virtual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08720"/>
            <a:ext cx="10239375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Access time difference between cache and main memory is 10’s – 100’s cycles. Write-through with a write buffer to hide the latency of the write from the processor worked.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In a VM system, writes to disk take millions processor cycles, so write-through is impractical.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>
                <a:solidFill>
                  <a:srgbClr val="0000FF"/>
                </a:solidFill>
              </a:rPr>
              <a:t>Write-back</a:t>
            </a:r>
            <a:r>
              <a:rPr lang="en-US" sz="2800" dirty="0"/>
              <a:t>, called </a:t>
            </a:r>
            <a:r>
              <a:rPr lang="en-US" sz="2800" b="1" dirty="0">
                <a:solidFill>
                  <a:srgbClr val="0000FF"/>
                </a:solidFill>
              </a:rPr>
              <a:t>copy back</a:t>
            </a:r>
            <a:r>
              <a:rPr lang="en-US" sz="2800" dirty="0"/>
              <a:t>, is copying the page back to disk when it is replaced in the memory.</a:t>
            </a:r>
          </a:p>
          <a:p>
            <a:pPr algn="just"/>
            <a:r>
              <a:rPr lang="en-US" sz="2800" dirty="0"/>
              <a:t>Disk </a:t>
            </a:r>
            <a:r>
              <a:rPr lang="en-US" sz="2800" b="1" dirty="0"/>
              <a:t>transfer time </a:t>
            </a:r>
            <a:r>
              <a:rPr lang="en-US" sz="2800" dirty="0"/>
              <a:t>is small compared to </a:t>
            </a:r>
            <a:r>
              <a:rPr lang="en-US" sz="2800" b="1" dirty="0"/>
              <a:t>access time</a:t>
            </a:r>
            <a:r>
              <a:rPr lang="en-US" sz="2800" dirty="0"/>
              <a:t>, so copy back is far more efficient than write-through.</a:t>
            </a:r>
          </a:p>
        </p:txBody>
      </p:sp>
    </p:spTree>
    <p:extLst>
      <p:ext uri="{BB962C8B-B14F-4D97-AF65-F5344CB8AC3E}">
        <p14:creationId xmlns:p14="http://schemas.microsoft.com/office/powerpoint/2010/main" val="325548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00124" y="612846"/>
            <a:ext cx="9877425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A write-back is still costly.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We would like to know whether at a replacement the page needs</a:t>
            </a:r>
            <a:r>
              <a:rPr lang="en-US" sz="2800" i="1" dirty="0"/>
              <a:t> </a:t>
            </a:r>
            <a:r>
              <a:rPr lang="en-US" sz="2800" dirty="0"/>
              <a:t>to be copied back.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A </a:t>
            </a:r>
            <a:r>
              <a:rPr lang="en-US" sz="2800" b="1" dirty="0">
                <a:solidFill>
                  <a:srgbClr val="0000FF"/>
                </a:solidFill>
              </a:rPr>
              <a:t>dirty bit </a:t>
            </a:r>
            <a:r>
              <a:rPr lang="en-US" sz="2800" dirty="0"/>
              <a:t>is added to the page table, being set when any word in a page is written.</a:t>
            </a:r>
          </a:p>
          <a:p>
            <a:pPr algn="just"/>
            <a:r>
              <a:rPr lang="en-US" sz="2800" dirty="0"/>
              <a:t>The dirty bit indicates whether the page needs to be written out before its location in memory can be given to another page.</a:t>
            </a:r>
          </a:p>
        </p:txBody>
      </p:sp>
    </p:spTree>
    <p:extLst>
      <p:ext uri="{BB962C8B-B14F-4D97-AF65-F5344CB8AC3E}">
        <p14:creationId xmlns:p14="http://schemas.microsoft.com/office/powerpoint/2010/main" val="240470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Paging replacement algorithms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OPT(MIN) : eliminate the page that be not expected to be used.</a:t>
            </a:r>
          </a:p>
          <a:p>
            <a:r>
              <a:rPr lang="en-US" altLang="ko-KR" dirty="0"/>
              <a:t>FIFO(first input/first  output) : rather than choosing the victim page at random, the oldest page is the first to be removed.</a:t>
            </a:r>
          </a:p>
          <a:p>
            <a:r>
              <a:rPr lang="en-US" altLang="ko-KR" dirty="0"/>
              <a:t>LRU(Least Recently used) : move out the page that is oldest in terms of usage. </a:t>
            </a:r>
          </a:p>
          <a:p>
            <a:r>
              <a:rPr lang="en-US" altLang="ko-KR" dirty="0"/>
              <a:t>LFU(Least Frequently used) : move out the page that is not used often in the past.</a:t>
            </a:r>
          </a:p>
          <a:p>
            <a:r>
              <a:rPr lang="en-US" altLang="ko-KR" dirty="0"/>
              <a:t>MRU (Most recently used) : move out the page that is newest I n  terms of usage.</a:t>
            </a:r>
          </a:p>
        </p:txBody>
      </p:sp>
    </p:spTree>
    <p:extLst>
      <p:ext uri="{BB962C8B-B14F-4D97-AF65-F5344CB8AC3E}">
        <p14:creationId xmlns:p14="http://schemas.microsoft.com/office/powerpoint/2010/main" val="3759508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9125" y="-139700"/>
            <a:ext cx="10515600" cy="1325563"/>
          </a:xfrm>
        </p:spPr>
        <p:txBody>
          <a:bodyPr/>
          <a:lstStyle/>
          <a:p>
            <a:r>
              <a:rPr lang="en-US" altLang="ko-KR" dirty="0" err="1"/>
              <a:t>Belady’s</a:t>
            </a:r>
            <a:r>
              <a:rPr lang="en-US" altLang="ko-KR" dirty="0"/>
              <a:t> </a:t>
            </a:r>
            <a:r>
              <a:rPr lang="en-US" altLang="ko-KR" dirty="0" err="1"/>
              <a:t>anamoly</a:t>
            </a:r>
            <a:endParaRPr lang="en-US" altLang="ko-KR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19125" y="904876"/>
            <a:ext cx="10734675" cy="5272088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It’s the phenomenon that 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increasing the number of page frames results in an increase in the number of page faults for a given memory access pattern.</a:t>
            </a:r>
          </a:p>
          <a:p>
            <a:r>
              <a:rPr lang="en-US" altLang="ko-KR" dirty="0">
                <a:solidFill>
                  <a:srgbClr val="273239"/>
                </a:solidFill>
                <a:highlight>
                  <a:srgbClr val="FFFFFF"/>
                </a:highlight>
                <a:latin typeface="Nunito" pitchFamily="2" charset="0"/>
              </a:rPr>
              <a:t>FIFO and MRU policies suffer from this </a:t>
            </a:r>
            <a:r>
              <a:rPr lang="en-US" altLang="ko-KR" dirty="0" err="1">
                <a:solidFill>
                  <a:srgbClr val="273239"/>
                </a:solidFill>
                <a:highlight>
                  <a:srgbClr val="FFFFFF"/>
                </a:highlight>
                <a:latin typeface="Nunito" pitchFamily="2" charset="0"/>
              </a:rPr>
              <a:t>anamoly</a:t>
            </a:r>
            <a:r>
              <a:rPr lang="en-US" altLang="ko-KR" dirty="0">
                <a:solidFill>
                  <a:srgbClr val="273239"/>
                </a:solidFill>
                <a:highlight>
                  <a:srgbClr val="FFFFFF"/>
                </a:highlight>
                <a:latin typeface="Nunito" pitchFamily="2" charset="0"/>
              </a:rPr>
              <a:t> whereas LRU and optimal do not have this problem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0631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2441</Words>
  <Application>Microsoft Office PowerPoint</Application>
  <PresentationFormat>Widescreen</PresentationFormat>
  <Paragraphs>189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Heltevica</vt:lpstr>
      <vt:lpstr>Nunito</vt:lpstr>
      <vt:lpstr>Times New Roman</vt:lpstr>
      <vt:lpstr>Office Theme</vt:lpstr>
      <vt:lpstr>PowerPoint Presentation</vt:lpstr>
      <vt:lpstr>Motivation</vt:lpstr>
      <vt:lpstr>Locality</vt:lpstr>
      <vt:lpstr>Locality and Virtual Memory</vt:lpstr>
      <vt:lpstr>MMU (Memory Management Unit)</vt:lpstr>
      <vt:lpstr>Segmentation……</vt:lpstr>
      <vt:lpstr>Paging……</vt:lpstr>
      <vt:lpstr>Paging……(cont’d)</vt:lpstr>
      <vt:lpstr>Characteristics of Paging and Segmentation</vt:lpstr>
      <vt:lpstr>Paging and Segmentation</vt:lpstr>
      <vt:lpstr>Process Execution</vt:lpstr>
      <vt:lpstr>Process Execution (cont.)</vt:lpstr>
      <vt:lpstr>Advantages of Partial Loading</vt:lpstr>
      <vt:lpstr>Virtual Memory: large as you wish!</vt:lpstr>
      <vt:lpstr>Virtual Memory (cont.)</vt:lpstr>
      <vt:lpstr>Possibility of trashing</vt:lpstr>
      <vt:lpstr>PowerPoint Presentation</vt:lpstr>
      <vt:lpstr>Virtual to Physical Address Mapping</vt:lpstr>
      <vt:lpstr>PowerPoint Presentation</vt:lpstr>
      <vt:lpstr>Placing a Page and Finding it Again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Writes in Virtual Memory</vt:lpstr>
      <vt:lpstr>PowerPoint Presentation</vt:lpstr>
      <vt:lpstr>Paging replacement algorithms</vt:lpstr>
      <vt:lpstr>Belady’s anamoly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Motivation</dc:title>
  <dc:creator>Shripad Deshpande</dc:creator>
  <cp:lastModifiedBy>deshpande.shripad2@gmail.com</cp:lastModifiedBy>
  <cp:revision>6</cp:revision>
  <dcterms:created xsi:type="dcterms:W3CDTF">2024-05-16T09:25:22Z</dcterms:created>
  <dcterms:modified xsi:type="dcterms:W3CDTF">2024-05-19T16:48:24Z</dcterms:modified>
</cp:coreProperties>
</file>