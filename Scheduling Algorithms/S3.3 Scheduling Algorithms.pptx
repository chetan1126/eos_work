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  <p:sldMasterId id="2147483744" r:id="rId2"/>
    <p:sldMasterId id="2147483767" r:id="rId3"/>
  </p:sldMasterIdLst>
  <p:notesMasterIdLst>
    <p:notesMasterId r:id="rId23"/>
  </p:notesMasterIdLst>
  <p:sldIdLst>
    <p:sldId id="292" r:id="rId4"/>
    <p:sldId id="304" r:id="rId5"/>
    <p:sldId id="305" r:id="rId6"/>
    <p:sldId id="306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5" r:id="rId15"/>
    <p:sldId id="316" r:id="rId16"/>
    <p:sldId id="318" r:id="rId17"/>
    <p:sldId id="314" r:id="rId18"/>
    <p:sldId id="319" r:id="rId19"/>
    <p:sldId id="320" r:id="rId20"/>
    <p:sldId id="321" r:id="rId21"/>
    <p:sldId id="322" r:id="rId2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59" autoAdjust="0"/>
    <p:restoredTop sz="94799" autoAdjust="0"/>
  </p:normalViewPr>
  <p:slideViewPr>
    <p:cSldViewPr snapToGrid="0">
      <p:cViewPr varScale="1">
        <p:scale>
          <a:sx n="48" d="100"/>
          <a:sy n="48" d="100"/>
        </p:scale>
        <p:origin x="1416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23E8B12-3F34-45D2-8FB8-A6A0BA4F84BB}" type="datetimeFigureOut">
              <a:rPr lang="en-US" smtClean="0"/>
              <a:pPr/>
              <a:t>5/3/2025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32A8105-5A3C-4FF4-8611-155F6BA99BD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97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1533C3-0300-4177-A3A0-0DE76C4FB318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3D0633E-37BD-432B-A2DE-CAFF800475B4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5026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84"/>
            <a:ext cx="8229600" cy="11430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4319"/>
            <a:ext cx="8229600" cy="51920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E63EC-8AFA-4D7B-8965-B2DF3628C408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F6946E-AFD2-4EBA-A28B-FE4E80C8A0D6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3879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8A903-EC3D-4B6B-AF85-3997A8ED7E27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F293B28-53E6-415B-8ABA-6367A40025DD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4365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2F4BE2-E0D1-4B72-AB6D-96FAF99E5539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D043626-412D-44D7-AA07-1D5D095F51DA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2359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6442E9-2D08-4C1A-BBBE-8EE9E9BA0CD4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AAB2FB-7CC6-4815-A03E-14D1FBDFB3E2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8222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02FF4-CFAE-4256-9C6B-809FE2F578E3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074F9F2-097F-41F2-B320-ECECE14E0A5C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9759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1C6832-3794-493D-8D05-642D66CAF60A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97E62FA-0845-4F63-BBCC-07D952408000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520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379E0-D8B8-41F8-B9E7-3285193D17A3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1FFFF0D-F99F-4991-8A91-265695EC6AF4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432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13C92-F88D-4D73-876F-2334B8920EEC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2455B18-0106-47E4-A252-95D573862636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9911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BD7437-7986-42AB-923B-D5A1A204FFC7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02DBB19-778A-4304-9C76-AA232893441D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7868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BD94B9-950F-4124-99FA-1A9F5361E815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3D37D55-045B-4775-B085-92AC91E004FD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300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1682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181DBE7-B9E6-467E-9A43-B40407397293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2118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A56C122-F553-4555-A330-F6C5AC5AF8D8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378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2C7A1B-0C2A-4904-8662-152EDDFB9F6B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112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0151F6-65EE-4854-8D27-95059AB32837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8249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99EFD7-AC3A-42EC-B2A1-9AED51326ED9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781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DD784A-4559-480A-AAEA-E412E9544AA9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6946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17CFC6-D0EA-4757-A522-F8542AF0071E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27089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9F3922-297C-4DBE-B015-511596666B4B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1200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87F267D-B3BA-4C38-9A9D-65AE810FDF6C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2447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1E0D9C-9886-4659-B504-B80CDBB180EA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996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71351" y="412576"/>
            <a:ext cx="6672649" cy="1865871"/>
          </a:xfrm>
          <a:noFill/>
          <a:scene3d>
            <a:camera prst="orthographicFront"/>
            <a:lightRig rig="threePt" dir="t"/>
          </a:scene3d>
          <a:sp3d>
            <a:bevelT w="139700" prst="cross"/>
          </a:sp3d>
        </p:spPr>
        <p:txBody>
          <a:bodyPr anchor="b">
            <a:normAutofit/>
          </a:bodyPr>
          <a:lstStyle>
            <a:lvl1pPr algn="r">
              <a:defRPr sz="4000" b="1">
                <a:ln>
                  <a:solidFill>
                    <a:schemeClr val="bg1"/>
                  </a:solidFill>
                </a:ln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0" y="2767914"/>
            <a:ext cx="9144000" cy="4090086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algn="r" fontAlgn="t"/>
            <a:r>
              <a:rPr lang="en-IN" sz="1800" dirty="0">
                <a:solidFill>
                  <a:schemeClr val="tx1"/>
                </a:solidFill>
                <a:latin typeface="Cambria" panose="02040503050406030204" pitchFamily="18" charset="0"/>
              </a:rPr>
              <a:t>by</a:t>
            </a:r>
          </a:p>
          <a:p>
            <a:pPr algn="r" fontAlgn="t"/>
            <a:r>
              <a:rPr lang="en-IN" sz="1800" b="1" dirty="0">
                <a:solidFill>
                  <a:schemeClr val="tx1"/>
                </a:solidFill>
                <a:latin typeface="Cambria" panose="02040503050406030204" pitchFamily="18" charset="0"/>
              </a:rPr>
              <a:t>Mr </a:t>
            </a:r>
            <a:r>
              <a:rPr lang="en-IN" sz="1800" b="1" dirty="0" err="1">
                <a:solidFill>
                  <a:schemeClr val="tx1"/>
                </a:solidFill>
                <a:latin typeface="Cambria" panose="02040503050406030204" pitchFamily="18" charset="0"/>
              </a:rPr>
              <a:t>Parag</a:t>
            </a:r>
            <a:r>
              <a:rPr lang="en-IN" sz="1800" b="1" dirty="0">
                <a:solidFill>
                  <a:schemeClr val="tx1"/>
                </a:solidFill>
                <a:latin typeface="Cambria" panose="02040503050406030204" pitchFamily="18" charset="0"/>
              </a:rPr>
              <a:t> </a:t>
            </a:r>
            <a:r>
              <a:rPr lang="en-IN" sz="1800" b="1" dirty="0" err="1">
                <a:solidFill>
                  <a:schemeClr val="tx1"/>
                </a:solidFill>
                <a:latin typeface="Cambria" panose="02040503050406030204" pitchFamily="18" charset="0"/>
              </a:rPr>
              <a:t>Narkhede</a:t>
            </a:r>
            <a:endParaRPr lang="en-IN" sz="1800" dirty="0">
              <a:solidFill>
                <a:schemeClr val="tx1"/>
              </a:solidFill>
              <a:latin typeface="Cambria" panose="02040503050406030204" pitchFamily="18" charset="0"/>
            </a:endParaRPr>
          </a:p>
          <a:p>
            <a:pPr algn="r" fontAlgn="t"/>
            <a:r>
              <a:rPr lang="en-IN" sz="1800" dirty="0" err="1">
                <a:solidFill>
                  <a:schemeClr val="tx1"/>
                </a:solidFill>
                <a:latin typeface="Cambria" panose="02040503050406030204" pitchFamily="18" charset="0"/>
              </a:rPr>
              <a:t>Asst</a:t>
            </a:r>
            <a:r>
              <a:rPr lang="en-IN" sz="1800" dirty="0">
                <a:solidFill>
                  <a:schemeClr val="tx1"/>
                </a:solidFill>
                <a:latin typeface="Cambria" panose="02040503050406030204" pitchFamily="18" charset="0"/>
              </a:rPr>
              <a:t> Professor</a:t>
            </a:r>
          </a:p>
          <a:p>
            <a:pPr algn="r" fontAlgn="t"/>
            <a:r>
              <a:rPr lang="en-IN" sz="1800" dirty="0">
                <a:solidFill>
                  <a:schemeClr val="tx1"/>
                </a:solidFill>
                <a:latin typeface="Cambria" panose="02040503050406030204" pitchFamily="18" charset="0"/>
              </a:rPr>
              <a:t>Electronics &amp; Telecommunication Engineering</a:t>
            </a:r>
          </a:p>
          <a:p>
            <a:pPr algn="r" fontAlgn="t"/>
            <a:r>
              <a:rPr lang="en-IN" sz="1800" dirty="0">
                <a:solidFill>
                  <a:schemeClr val="tx1"/>
                </a:solidFill>
                <a:latin typeface="Cambria" panose="02040503050406030204" pitchFamily="18" charset="0"/>
              </a:rPr>
              <a:t>Symbiosis Institute of Technology, Pune</a:t>
            </a:r>
          </a:p>
          <a:p>
            <a:pPr algn="r" fontAlgn="t"/>
            <a:r>
              <a:rPr lang="en-IN" sz="1800" dirty="0">
                <a:solidFill>
                  <a:schemeClr val="tx1"/>
                </a:solidFill>
                <a:latin typeface="Cambria" panose="02040503050406030204" pitchFamily="18" charset="0"/>
              </a:rPr>
              <a:t>parag.narkhede@sitpune.edu.in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307F7-E2AB-479A-A234-987841A92DAE}" type="datetime1">
              <a:rPr lang="en-IN" smtClean="0"/>
              <a:pPr/>
              <a:t>03-05-2025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635"/>
            <a:ext cx="2571755" cy="2571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6123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7994822" cy="1325563"/>
          </a:xfrm>
          <a:solidFill>
            <a:schemeClr val="accent5">
              <a:lumMod val="50000"/>
            </a:schemeClr>
          </a:solidFill>
        </p:spPr>
        <p:txBody>
          <a:bodyPr>
            <a:noAutofit/>
          </a:bodyPr>
          <a:lstStyle>
            <a:lvl1pPr algn="ctr">
              <a:defRPr sz="32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68" y="1445741"/>
            <a:ext cx="8882963" cy="4910610"/>
          </a:xfrm>
        </p:spPr>
        <p:txBody>
          <a:bodyPr>
            <a:normAutofit/>
          </a:bodyPr>
          <a:lstStyle>
            <a:lvl1pPr>
              <a:defRPr sz="18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sz="16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defRPr sz="12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1DBE7-B9E6-467E-9A43-B40407397293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8607425" y="6405717"/>
            <a:ext cx="501650" cy="460375"/>
          </a:xfrm>
          <a:prstGeom prst="round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9131" y="6453341"/>
            <a:ext cx="20574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</a:defRPr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2090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C7A1B-0C2A-4904-8662-152EDDFB9F6B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8607425" y="6405717"/>
            <a:ext cx="501650" cy="460375"/>
          </a:xfrm>
          <a:prstGeom prst="round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0250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0151F6-65EE-4854-8D27-95059AB32837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8607425" y="6405717"/>
            <a:ext cx="501650" cy="460375"/>
          </a:xfrm>
          <a:prstGeom prst="round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5797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99EFD7-AC3A-42EC-B2A1-9AED51326ED9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8607425" y="6405717"/>
            <a:ext cx="501650" cy="460375"/>
          </a:xfrm>
          <a:prstGeom prst="round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1516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D784A-4559-480A-AAEA-E412E9544AA9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8607425" y="6405717"/>
            <a:ext cx="501650" cy="460375"/>
          </a:xfrm>
          <a:prstGeom prst="round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1366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7CFC6-D0EA-4757-A522-F8542AF0071E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8607425" y="6405717"/>
            <a:ext cx="501650" cy="460375"/>
          </a:xfrm>
          <a:prstGeom prst="round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9512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F3922-297C-4DBE-B015-511596666B4B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8607425" y="6405717"/>
            <a:ext cx="501650" cy="460375"/>
          </a:xfrm>
          <a:prstGeom prst="round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6285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F267D-B3BA-4C38-9A9D-65AE810FDF6C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8607425" y="6405717"/>
            <a:ext cx="501650" cy="460375"/>
          </a:xfrm>
          <a:prstGeom prst="roundRect">
            <a:avLst/>
          </a:prstGeom>
          <a:solidFill>
            <a:srgbClr val="92D05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6346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0D9C-9886-4659-B504-B80CDBB180EA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310462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3D742D1-7BF0-48ED-ADAF-9E3A1836E61B}"/>
              </a:ext>
            </a:extLst>
          </p:cNvPr>
          <p:cNvSpPr/>
          <p:nvPr/>
        </p:nvSpPr>
        <p:spPr>
          <a:xfrm>
            <a:off x="0" y="4735808"/>
            <a:ext cx="9144000" cy="2122193"/>
          </a:xfrm>
          <a:prstGeom prst="rect">
            <a:avLst/>
          </a:prstGeom>
          <a:solidFill>
            <a:srgbClr val="332F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5F9472-A0F2-4550-9734-62C795442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2999" y="2657918"/>
            <a:ext cx="6858000" cy="1655478"/>
          </a:xfrm>
        </p:spPr>
        <p:txBody>
          <a:bodyPr anchor="ctr"/>
          <a:lstStyle>
            <a:lvl1pPr algn="ctr">
              <a:defRPr sz="6000" b="1">
                <a:solidFill>
                  <a:srgbClr val="002060"/>
                </a:solidFill>
                <a:latin typeface="Heltevica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664E1-9485-4079-B9A8-E082A5C72A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989529"/>
            <a:ext cx="6858000" cy="508721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Heltevic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 of Faculty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D7214-C4CD-498C-9834-C885BB9C4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3004CF-1B37-45E7-B160-2B0ACE45549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C1536E-590E-4BA0-BAD4-4BEA88F0BF3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42999" y="1892448"/>
            <a:ext cx="6858000" cy="310144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Name of the Course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AB6A75-82A7-4C99-B78D-F243936C33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42999" y="2320790"/>
            <a:ext cx="6858000" cy="3101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Heltevica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Topic No</a:t>
            </a:r>
          </a:p>
        </p:txBody>
      </p:sp>
    </p:spTree>
    <p:extLst>
      <p:ext uri="{BB962C8B-B14F-4D97-AF65-F5344CB8AC3E}">
        <p14:creationId xmlns:p14="http://schemas.microsoft.com/office/powerpoint/2010/main" val="3202418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87F7A9D7-4141-4236-9451-A5AD93E42AC5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0" y="6597650"/>
            <a:ext cx="9144000" cy="196850"/>
          </a:xfrm>
          <a:prstGeom prst="rect">
            <a:avLst/>
          </a:prstGeom>
          <a:solidFill>
            <a:srgbClr val="B3EBFF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8" name="Rectangle 7"/>
          <p:cNvSpPr/>
          <p:nvPr/>
        </p:nvSpPr>
        <p:spPr>
          <a:xfrm>
            <a:off x="1" y="6651384"/>
            <a:ext cx="9119615" cy="234000"/>
          </a:xfrm>
          <a:prstGeom prst="rect">
            <a:avLst/>
          </a:prstGeom>
          <a:solidFill>
            <a:srgbClr val="003366"/>
          </a:solid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8607425" y="6386513"/>
            <a:ext cx="501650" cy="46037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02450" y="6453188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002060"/>
                </a:solidFill>
                <a:latin typeface="Verdana" panose="020B0604030504040204" pitchFamily="34" charset="0"/>
              </a:defRPr>
            </a:lvl1pPr>
          </a:lstStyle>
          <a:p>
            <a:fld id="{86328927-7C42-4683-88BD-FD23917B259E}" type="slidenum">
              <a:rPr lang="en-US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976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381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E2D4A2BB-2474-4199-9CE6-D5455710AC46}" type="datetime1">
              <a:rPr lang="en-IN" smtClean="0"/>
              <a:pPr/>
              <a:t>03-05-2025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fld id="{556834BF-61B1-45CC-B63C-4379291F734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0" y="6602413"/>
            <a:ext cx="9144000" cy="211137"/>
          </a:xfrm>
          <a:prstGeom prst="rect">
            <a:avLst/>
          </a:prstGeom>
          <a:solidFill>
            <a:srgbClr val="B3EBFF"/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" y="6685721"/>
            <a:ext cx="9119615" cy="199663"/>
          </a:xfrm>
          <a:prstGeom prst="rect">
            <a:avLst/>
          </a:prstGeom>
          <a:solidFill>
            <a:srgbClr val="003366"/>
          </a:solidFill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7858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F7A9D7-4141-4236-9451-A5AD93E42AC5}" type="datetime1">
              <a:rPr lang="en-IN" smtClean="0"/>
              <a:pPr>
                <a:defRPr/>
              </a:pPr>
              <a:t>03-05-2025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02247" y="647313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rgbClr val="002060"/>
                </a:solidFill>
              </a:defRPr>
            </a:lvl1pPr>
          </a:lstStyle>
          <a:p>
            <a:fld id="{86328927-7C42-4683-88BD-FD23917B259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938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Shripad</a:t>
            </a:r>
            <a:r>
              <a:rPr lang="en-US" dirty="0"/>
              <a:t> V </a:t>
            </a:r>
            <a:r>
              <a:rPr lang="en-US" dirty="0" err="1"/>
              <a:t>Deshpande</a:t>
            </a:r>
            <a:endParaRPr lang="en-US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F6F0AE34-63F6-F533-D947-7471556424A9}"/>
              </a:ext>
            </a:extLst>
          </p:cNvPr>
          <p:cNvSpPr txBox="1">
            <a:spLocks/>
          </p:cNvSpPr>
          <p:nvPr/>
        </p:nvSpPr>
        <p:spPr>
          <a:xfrm>
            <a:off x="1219200" y="389986"/>
            <a:ext cx="6858000" cy="6871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Operating Systems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8566400D-B781-CEB9-61BE-840AAD125B6D}"/>
              </a:ext>
            </a:extLst>
          </p:cNvPr>
          <p:cNvSpPr txBox="1">
            <a:spLocks/>
          </p:cNvSpPr>
          <p:nvPr/>
        </p:nvSpPr>
        <p:spPr>
          <a:xfrm>
            <a:off x="1066800" y="1757551"/>
            <a:ext cx="6858000" cy="759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2060"/>
                </a:solidFill>
                <a:latin typeface="Heltevica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2.6 Scheduling Algorithms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SCHEDULING CRITERIA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rgbClr val="00B0F0"/>
                </a:solidFill>
              </a:rPr>
              <a:t>CPU utilization </a:t>
            </a:r>
            <a:r>
              <a:rPr lang="en-IN" dirty="0"/>
              <a:t>– percent of time that the CPU is busy executing a process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0B0F0"/>
                </a:solidFill>
              </a:rPr>
              <a:t>Throughput</a:t>
            </a:r>
            <a:r>
              <a:rPr lang="en-IN" dirty="0"/>
              <a:t> – number of processes that are completed per time unit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0B0F0"/>
                </a:solidFill>
              </a:rPr>
              <a:t>Response time </a:t>
            </a:r>
            <a:r>
              <a:rPr lang="en-IN" dirty="0"/>
              <a:t>– amount of time it takes from when a request was submitted until the first response occurs (but not the time it takes to output the entire response)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0B0F0"/>
                </a:solidFill>
              </a:rPr>
              <a:t>Waiting time </a:t>
            </a:r>
            <a:r>
              <a:rPr lang="en-IN" dirty="0"/>
              <a:t>– the amount of time before a process starts after first entering the ready queue (or the sum of the amount of time a process has spent waiting in the ready queue)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00B0F0"/>
                </a:solidFill>
              </a:rPr>
              <a:t>Turnaround time </a:t>
            </a:r>
            <a:r>
              <a:rPr lang="en-IN" dirty="0"/>
              <a:t>– amount of time to execute a particular process from the time of submission through the time of completion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520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 CRITERIA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It is desirable to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Maximize CPU utilization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Maximize throughput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Minimize turnaround time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Minimize start time 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Minimize waiting time 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Minimize response time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584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SINGLE PROCESSOR SCHEDULING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First Come, First Served (FCFS)</a:t>
            </a:r>
          </a:p>
          <a:p>
            <a:pPr>
              <a:lnSpc>
                <a:spcPct val="150000"/>
              </a:lnSpc>
            </a:pPr>
            <a:r>
              <a:rPr lang="en-IN" dirty="0"/>
              <a:t>Shortest Job First (SJF)</a:t>
            </a:r>
          </a:p>
          <a:p>
            <a:pPr>
              <a:lnSpc>
                <a:spcPct val="150000"/>
              </a:lnSpc>
            </a:pPr>
            <a:r>
              <a:rPr lang="en-IN" dirty="0"/>
              <a:t>Priority</a:t>
            </a:r>
          </a:p>
          <a:p>
            <a:pPr>
              <a:lnSpc>
                <a:spcPct val="150000"/>
              </a:lnSpc>
            </a:pPr>
            <a:r>
              <a:rPr lang="en-IN" dirty="0"/>
              <a:t>Round Robin (RR)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639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00B0F0"/>
                </a:solidFill>
              </a:rPr>
              <a:t>Cooperative/Non-pre-emptive Scheduling</a:t>
            </a:r>
          </a:p>
          <a:p>
            <a:pPr>
              <a:lnSpc>
                <a:spcPct val="150000"/>
              </a:lnSpc>
            </a:pPr>
            <a:r>
              <a:rPr lang="en-IN" dirty="0"/>
              <a:t>Once started, a task within a co-operative scheduling system will continue to run until it relinquishes control.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 marL="0" indent="0">
              <a:lnSpc>
                <a:spcPct val="150000"/>
              </a:lnSpc>
              <a:buNone/>
            </a:pPr>
            <a:r>
              <a:rPr lang="en-IN" dirty="0">
                <a:solidFill>
                  <a:srgbClr val="00B0F0"/>
                </a:solidFill>
              </a:rPr>
              <a:t>Pre-emptive Scheduling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Tasks are usually assigned with priorities. At times it is necessary to run a certain task that has a higher priority before another task although it is running. Therefore, the running task is interrupted for some time and resumed later when the priority task has finished its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071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FIRST-COME, FIRST-SERVED (FCFS)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“Run until Done” </a:t>
            </a:r>
          </a:p>
          <a:p>
            <a:pPr>
              <a:lnSpc>
                <a:spcPct val="150000"/>
              </a:lnSpc>
            </a:pPr>
            <a:r>
              <a:rPr lang="en-US" dirty="0"/>
              <a:t>one program runs non-</a:t>
            </a:r>
            <a:r>
              <a:rPr lang="en-US" dirty="0" err="1"/>
              <a:t>preemtively</a:t>
            </a:r>
            <a:r>
              <a:rPr lang="en-US" dirty="0"/>
              <a:t> until it is finished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068375"/>
              </p:ext>
            </p:extLst>
          </p:nvPr>
        </p:nvGraphicFramePr>
        <p:xfrm>
          <a:off x="2050093" y="2712233"/>
          <a:ext cx="31983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6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1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Process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Burst Time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8633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FCFS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Case 1 : Suppose that the processes arrive in the order: P1 , P2 , P3 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Gantt Chart for the schedule is: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671812" y="2256425"/>
            <a:ext cx="5554662" cy="1127125"/>
            <a:chOff x="1061" y="2384"/>
            <a:chExt cx="3499" cy="710"/>
          </a:xfrm>
        </p:grpSpPr>
        <p:sp>
          <p:nvSpPr>
            <p:cNvPr id="6" name="AutoShape 4"/>
            <p:cNvSpPr>
              <a:spLocks noChangeArrowheads="1"/>
            </p:cNvSpPr>
            <p:nvPr/>
          </p:nvSpPr>
          <p:spPr bwMode="auto">
            <a:xfrm>
              <a:off x="1165" y="2384"/>
              <a:ext cx="3312" cy="384"/>
            </a:xfrm>
            <a:prstGeom prst="roundRect">
              <a:avLst>
                <a:gd name="adj" fmla="val 259"/>
              </a:avLst>
            </a:prstGeom>
            <a:solidFill>
              <a:srgbClr val="FFFF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7" name="AutoShape 5"/>
            <p:cNvSpPr>
              <a:spLocks noChangeArrowheads="1"/>
            </p:cNvSpPr>
            <p:nvPr/>
          </p:nvSpPr>
          <p:spPr bwMode="auto">
            <a:xfrm>
              <a:off x="1981" y="243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8" name="AutoShape 6"/>
            <p:cNvSpPr>
              <a:spLocks noChangeArrowheads="1"/>
            </p:cNvSpPr>
            <p:nvPr/>
          </p:nvSpPr>
          <p:spPr bwMode="auto">
            <a:xfrm>
              <a:off x="3469" y="243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9" name="AutoShape 7"/>
            <p:cNvSpPr>
              <a:spLocks noChangeArrowheads="1"/>
            </p:cNvSpPr>
            <p:nvPr/>
          </p:nvSpPr>
          <p:spPr bwMode="auto">
            <a:xfrm>
              <a:off x="4045" y="243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10" name="Line 8"/>
            <p:cNvSpPr>
              <a:spLocks noChangeShapeType="1"/>
            </p:cNvSpPr>
            <p:nvPr/>
          </p:nvSpPr>
          <p:spPr bwMode="auto">
            <a:xfrm>
              <a:off x="1165" y="276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>
              <a:off x="4477" y="276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3277" y="2384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3853" y="2384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3277" y="276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>
              <a:off x="3853" y="276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AutoShape 14"/>
            <p:cNvSpPr>
              <a:spLocks noChangeArrowheads="1"/>
            </p:cNvSpPr>
            <p:nvPr/>
          </p:nvSpPr>
          <p:spPr bwMode="auto">
            <a:xfrm>
              <a:off x="3133" y="286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24</a:t>
              </a:r>
            </a:p>
          </p:txBody>
        </p:sp>
        <p:sp>
          <p:nvSpPr>
            <p:cNvPr id="17" name="AutoShape 15"/>
            <p:cNvSpPr>
              <a:spLocks noChangeArrowheads="1"/>
            </p:cNvSpPr>
            <p:nvPr/>
          </p:nvSpPr>
          <p:spPr bwMode="auto">
            <a:xfrm>
              <a:off x="3709" y="286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27</a:t>
              </a:r>
            </a:p>
          </p:txBody>
        </p:sp>
        <p:sp>
          <p:nvSpPr>
            <p:cNvPr id="18" name="AutoShape 16"/>
            <p:cNvSpPr>
              <a:spLocks noChangeArrowheads="1"/>
            </p:cNvSpPr>
            <p:nvPr/>
          </p:nvSpPr>
          <p:spPr bwMode="auto">
            <a:xfrm>
              <a:off x="4285" y="286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30</a:t>
              </a:r>
            </a:p>
          </p:txBody>
        </p:sp>
        <p:sp>
          <p:nvSpPr>
            <p:cNvPr id="19" name="AutoShape 17"/>
            <p:cNvSpPr>
              <a:spLocks noChangeArrowheads="1"/>
            </p:cNvSpPr>
            <p:nvPr/>
          </p:nvSpPr>
          <p:spPr bwMode="auto">
            <a:xfrm>
              <a:off x="1061" y="2864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0</a:t>
              </a:r>
            </a:p>
          </p:txBody>
        </p:sp>
      </p:grp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5252064"/>
              </p:ext>
            </p:extLst>
          </p:nvPr>
        </p:nvGraphicFramePr>
        <p:xfrm>
          <a:off x="1495381" y="3488847"/>
          <a:ext cx="6096000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Process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Burst Time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Waiting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Turn around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Average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2059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FCFS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Case 2 : Suppose that the processes arrive in the order: P2 , P3 , P1 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The Gantt Chart for the schedule is: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324609"/>
              </p:ext>
            </p:extLst>
          </p:nvPr>
        </p:nvGraphicFramePr>
        <p:xfrm>
          <a:off x="1511492" y="3765616"/>
          <a:ext cx="6096000" cy="212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Process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Burst Time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Waiting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Turn around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Average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2" name="Group 3"/>
          <p:cNvGrpSpPr>
            <a:grpSpLocks/>
          </p:cNvGrpSpPr>
          <p:nvPr/>
        </p:nvGrpSpPr>
        <p:grpSpPr bwMode="auto">
          <a:xfrm>
            <a:off x="1778192" y="2284163"/>
            <a:ext cx="5573713" cy="1127125"/>
            <a:chOff x="1028" y="1184"/>
            <a:chExt cx="3511" cy="710"/>
          </a:xfrm>
        </p:grpSpPr>
        <p:sp>
          <p:nvSpPr>
            <p:cNvPr id="23" name="AutoShape 4"/>
            <p:cNvSpPr>
              <a:spLocks noChangeArrowheads="1"/>
            </p:cNvSpPr>
            <p:nvPr/>
          </p:nvSpPr>
          <p:spPr bwMode="auto">
            <a:xfrm>
              <a:off x="1124" y="1184"/>
              <a:ext cx="3312" cy="384"/>
            </a:xfrm>
            <a:prstGeom prst="roundRect">
              <a:avLst>
                <a:gd name="adj" fmla="val 259"/>
              </a:avLst>
            </a:prstGeom>
            <a:solidFill>
              <a:srgbClr val="FFFF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24" name="AutoShape 5"/>
            <p:cNvSpPr>
              <a:spLocks noChangeArrowheads="1"/>
            </p:cNvSpPr>
            <p:nvPr/>
          </p:nvSpPr>
          <p:spPr bwMode="auto">
            <a:xfrm>
              <a:off x="3355" y="123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25" name="AutoShape 6"/>
            <p:cNvSpPr>
              <a:spLocks noChangeArrowheads="1"/>
            </p:cNvSpPr>
            <p:nvPr/>
          </p:nvSpPr>
          <p:spPr bwMode="auto">
            <a:xfrm>
              <a:off x="1867" y="123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26" name="AutoShape 7"/>
            <p:cNvSpPr>
              <a:spLocks noChangeArrowheads="1"/>
            </p:cNvSpPr>
            <p:nvPr/>
          </p:nvSpPr>
          <p:spPr bwMode="auto">
            <a:xfrm>
              <a:off x="1291" y="123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27" name="Line 8"/>
            <p:cNvSpPr>
              <a:spLocks noChangeShapeType="1"/>
            </p:cNvSpPr>
            <p:nvPr/>
          </p:nvSpPr>
          <p:spPr bwMode="auto">
            <a:xfrm>
              <a:off x="4436" y="156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Line 9"/>
            <p:cNvSpPr>
              <a:spLocks noChangeShapeType="1"/>
            </p:cNvSpPr>
            <p:nvPr/>
          </p:nvSpPr>
          <p:spPr bwMode="auto">
            <a:xfrm>
              <a:off x="1124" y="156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Line 10"/>
            <p:cNvSpPr>
              <a:spLocks noChangeShapeType="1"/>
            </p:cNvSpPr>
            <p:nvPr/>
          </p:nvSpPr>
          <p:spPr bwMode="auto">
            <a:xfrm>
              <a:off x="2324" y="1184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Line 11"/>
            <p:cNvSpPr>
              <a:spLocks noChangeShapeType="1"/>
            </p:cNvSpPr>
            <p:nvPr/>
          </p:nvSpPr>
          <p:spPr bwMode="auto">
            <a:xfrm>
              <a:off x="1748" y="1184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Line 12"/>
            <p:cNvSpPr>
              <a:spLocks noChangeShapeType="1"/>
            </p:cNvSpPr>
            <p:nvPr/>
          </p:nvSpPr>
          <p:spPr bwMode="auto">
            <a:xfrm>
              <a:off x="2324" y="156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Line 13"/>
            <p:cNvSpPr>
              <a:spLocks noChangeShapeType="1"/>
            </p:cNvSpPr>
            <p:nvPr/>
          </p:nvSpPr>
          <p:spPr bwMode="auto">
            <a:xfrm>
              <a:off x="1748" y="156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AutoShape 14"/>
            <p:cNvSpPr>
              <a:spLocks noChangeArrowheads="1"/>
            </p:cNvSpPr>
            <p:nvPr/>
          </p:nvSpPr>
          <p:spPr bwMode="auto">
            <a:xfrm>
              <a:off x="2232" y="1664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6</a:t>
              </a:r>
            </a:p>
          </p:txBody>
        </p:sp>
        <p:sp>
          <p:nvSpPr>
            <p:cNvPr id="34" name="AutoShape 15"/>
            <p:cNvSpPr>
              <a:spLocks noChangeArrowheads="1"/>
            </p:cNvSpPr>
            <p:nvPr/>
          </p:nvSpPr>
          <p:spPr bwMode="auto">
            <a:xfrm>
              <a:off x="1656" y="1664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35" name="AutoShape 16"/>
            <p:cNvSpPr>
              <a:spLocks noChangeArrowheads="1"/>
            </p:cNvSpPr>
            <p:nvPr/>
          </p:nvSpPr>
          <p:spPr bwMode="auto">
            <a:xfrm>
              <a:off x="4264" y="166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30</a:t>
              </a:r>
            </a:p>
          </p:txBody>
        </p:sp>
        <p:sp>
          <p:nvSpPr>
            <p:cNvPr id="36" name="AutoShape 17"/>
            <p:cNvSpPr>
              <a:spLocks noChangeArrowheads="1"/>
            </p:cNvSpPr>
            <p:nvPr/>
          </p:nvSpPr>
          <p:spPr bwMode="auto">
            <a:xfrm>
              <a:off x="1028" y="1664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162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FCFS – PROS &amp;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Simple (+)</a:t>
            </a:r>
          </a:p>
          <a:p>
            <a:pPr>
              <a:lnSpc>
                <a:spcPct val="150000"/>
              </a:lnSpc>
            </a:pPr>
            <a:r>
              <a:rPr lang="en-IN" dirty="0"/>
              <a:t>Short jobs get stuck behind long ones (-)</a:t>
            </a:r>
          </a:p>
          <a:p>
            <a:pPr>
              <a:lnSpc>
                <a:spcPct val="150000"/>
              </a:lnSpc>
            </a:pPr>
            <a:r>
              <a:rPr lang="en-IN" dirty="0"/>
              <a:t>Performance is highly dependent on the order in which jobs arrive (-)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718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SHORTEST JOB FIRST (SJF)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When the CPU becomes available, it is assigned to the process that has the smallest burst time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IN" dirty="0" err="1">
                <a:solidFill>
                  <a:srgbClr val="00B0F0"/>
                </a:solidFill>
              </a:rPr>
              <a:t>Nonpreemptive</a:t>
            </a:r>
            <a:r>
              <a:rPr lang="en-IN" dirty="0"/>
              <a:t> – once the CPU is given to the process, it cannot be </a:t>
            </a:r>
            <a:r>
              <a:rPr lang="en-IN" dirty="0" err="1"/>
              <a:t>preempted</a:t>
            </a:r>
            <a:r>
              <a:rPr lang="en-IN" dirty="0"/>
              <a:t> until it completes its execution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solidFill>
                  <a:srgbClr val="00B0F0"/>
                </a:solidFill>
              </a:rPr>
              <a:t>Preemptive</a:t>
            </a:r>
            <a:r>
              <a:rPr lang="en-IN" dirty="0"/>
              <a:t> – if a new process arrives with a CPU burst length less than the remaining time of the current executing process, </a:t>
            </a:r>
            <a:r>
              <a:rPr lang="en-IN" dirty="0" err="1"/>
              <a:t>preempt</a:t>
            </a:r>
            <a:r>
              <a:rPr lang="en-IN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781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NON-PREEMPTIVE SJF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1: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869696"/>
              </p:ext>
            </p:extLst>
          </p:nvPr>
        </p:nvGraphicFramePr>
        <p:xfrm>
          <a:off x="1442689" y="1973197"/>
          <a:ext cx="6655495" cy="249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10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1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10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Process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Arrival Time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Burst Time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Waiting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Turn around</a:t>
                      </a:r>
                      <a:r>
                        <a:rPr lang="en-IN" baseline="0" dirty="0"/>
                        <a:t> time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P1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P2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P3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P4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Average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7" name="Group 6"/>
          <p:cNvGrpSpPr/>
          <p:nvPr/>
        </p:nvGrpSpPr>
        <p:grpSpPr>
          <a:xfrm>
            <a:off x="1784350" y="5031223"/>
            <a:ext cx="5575300" cy="1185862"/>
            <a:chOff x="2043113" y="3690938"/>
            <a:chExt cx="5575300" cy="1185862"/>
          </a:xfrm>
        </p:grpSpPr>
        <p:sp>
          <p:nvSpPr>
            <p:cNvPr id="8" name="AutoShape 4"/>
            <p:cNvSpPr>
              <a:spLocks noChangeArrowheads="1"/>
            </p:cNvSpPr>
            <p:nvPr/>
          </p:nvSpPr>
          <p:spPr bwMode="auto">
            <a:xfrm>
              <a:off x="2195513" y="3690938"/>
              <a:ext cx="5257800" cy="609600"/>
            </a:xfrm>
            <a:prstGeom prst="roundRect">
              <a:avLst>
                <a:gd name="adj" fmla="val 259"/>
              </a:avLst>
            </a:prstGeom>
            <a:solidFill>
              <a:srgbClr val="FFFF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9" name="AutoShape 5"/>
            <p:cNvSpPr>
              <a:spLocks noChangeArrowheads="1"/>
            </p:cNvSpPr>
            <p:nvPr/>
          </p:nvSpPr>
          <p:spPr bwMode="auto">
            <a:xfrm>
              <a:off x="5980113" y="3763963"/>
              <a:ext cx="420687" cy="350837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10" name="AutoShape 6"/>
            <p:cNvSpPr>
              <a:spLocks noChangeArrowheads="1"/>
            </p:cNvSpPr>
            <p:nvPr/>
          </p:nvSpPr>
          <p:spPr bwMode="auto">
            <a:xfrm>
              <a:off x="2170113" y="3763963"/>
              <a:ext cx="420687" cy="350837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11" name="AutoShape 7"/>
            <p:cNvSpPr>
              <a:spLocks noChangeArrowheads="1"/>
            </p:cNvSpPr>
            <p:nvPr/>
          </p:nvSpPr>
          <p:spPr bwMode="auto">
            <a:xfrm>
              <a:off x="3008313" y="3763963"/>
              <a:ext cx="420687" cy="350837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7453313" y="4300538"/>
              <a:ext cx="1587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2195513" y="4300538"/>
              <a:ext cx="1587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3816350" y="3690938"/>
              <a:ext cx="1588" cy="609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2514600" y="3690938"/>
              <a:ext cx="1588" cy="609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>
              <a:off x="3816350" y="4300538"/>
              <a:ext cx="1588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>
              <a:off x="2819400" y="4187825"/>
              <a:ext cx="1588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AutoShape 14"/>
            <p:cNvSpPr>
              <a:spLocks noChangeArrowheads="1"/>
            </p:cNvSpPr>
            <p:nvPr/>
          </p:nvSpPr>
          <p:spPr bwMode="auto">
            <a:xfrm>
              <a:off x="3657600" y="4525963"/>
              <a:ext cx="311150" cy="350837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19" name="AutoShape 15"/>
            <p:cNvSpPr>
              <a:spLocks noChangeArrowheads="1"/>
            </p:cNvSpPr>
            <p:nvPr/>
          </p:nvSpPr>
          <p:spPr bwMode="auto">
            <a:xfrm>
              <a:off x="2355850" y="4525963"/>
              <a:ext cx="311150" cy="350837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20" name="AutoShape 16"/>
            <p:cNvSpPr>
              <a:spLocks noChangeArrowheads="1"/>
            </p:cNvSpPr>
            <p:nvPr/>
          </p:nvSpPr>
          <p:spPr bwMode="auto">
            <a:xfrm>
              <a:off x="7180263" y="4525963"/>
              <a:ext cx="438150" cy="350837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16</a:t>
              </a:r>
            </a:p>
          </p:txBody>
        </p:sp>
        <p:sp>
          <p:nvSpPr>
            <p:cNvPr id="21" name="AutoShape 17"/>
            <p:cNvSpPr>
              <a:spLocks noChangeArrowheads="1"/>
            </p:cNvSpPr>
            <p:nvPr/>
          </p:nvSpPr>
          <p:spPr bwMode="auto">
            <a:xfrm>
              <a:off x="2043113" y="4525963"/>
              <a:ext cx="311150" cy="350837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22" name="AutoShape 18"/>
            <p:cNvSpPr>
              <a:spLocks noChangeArrowheads="1"/>
            </p:cNvSpPr>
            <p:nvPr/>
          </p:nvSpPr>
          <p:spPr bwMode="auto">
            <a:xfrm>
              <a:off x="4303713" y="3763963"/>
              <a:ext cx="420687" cy="350837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5341938" y="3690938"/>
              <a:ext cx="1587" cy="609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3124200" y="4187825"/>
              <a:ext cx="1588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3505200" y="4187825"/>
              <a:ext cx="1588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Line 24"/>
            <p:cNvSpPr>
              <a:spLocks noChangeShapeType="1"/>
            </p:cNvSpPr>
            <p:nvPr/>
          </p:nvSpPr>
          <p:spPr bwMode="auto">
            <a:xfrm>
              <a:off x="4114800" y="4187825"/>
              <a:ext cx="1588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>
              <a:off x="5332413" y="4300538"/>
              <a:ext cx="1587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AutoShape 26"/>
            <p:cNvSpPr>
              <a:spLocks noChangeArrowheads="1"/>
            </p:cNvSpPr>
            <p:nvPr/>
          </p:nvSpPr>
          <p:spPr bwMode="auto">
            <a:xfrm>
              <a:off x="5111750" y="4525963"/>
              <a:ext cx="438150" cy="350837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10</a:t>
              </a:r>
            </a:p>
          </p:txBody>
        </p:sp>
        <p:sp>
          <p:nvSpPr>
            <p:cNvPr id="29" name="Line 27"/>
            <p:cNvSpPr>
              <a:spLocks noChangeShapeType="1"/>
            </p:cNvSpPr>
            <p:nvPr/>
          </p:nvSpPr>
          <p:spPr bwMode="auto">
            <a:xfrm>
              <a:off x="5029200" y="4187825"/>
              <a:ext cx="1588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5624513" y="4187825"/>
              <a:ext cx="1587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5929313" y="4187825"/>
              <a:ext cx="1587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2514600" y="4300538"/>
              <a:ext cx="1588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6538913" y="4187825"/>
              <a:ext cx="1587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6843713" y="4187825"/>
              <a:ext cx="1587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Line 34"/>
            <p:cNvSpPr>
              <a:spLocks noChangeShapeType="1"/>
            </p:cNvSpPr>
            <p:nvPr/>
          </p:nvSpPr>
          <p:spPr bwMode="auto">
            <a:xfrm>
              <a:off x="7148513" y="4187825"/>
              <a:ext cx="1587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Line 36"/>
            <p:cNvSpPr>
              <a:spLocks noChangeShapeType="1"/>
            </p:cNvSpPr>
            <p:nvPr/>
          </p:nvSpPr>
          <p:spPr bwMode="auto">
            <a:xfrm>
              <a:off x="4724400" y="4191000"/>
              <a:ext cx="1588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Line 38"/>
            <p:cNvSpPr>
              <a:spLocks noChangeShapeType="1"/>
            </p:cNvSpPr>
            <p:nvPr/>
          </p:nvSpPr>
          <p:spPr bwMode="auto">
            <a:xfrm>
              <a:off x="6248400" y="4191000"/>
              <a:ext cx="1588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Line 39"/>
            <p:cNvSpPr>
              <a:spLocks noChangeShapeType="1"/>
            </p:cNvSpPr>
            <p:nvPr/>
          </p:nvSpPr>
          <p:spPr bwMode="auto">
            <a:xfrm>
              <a:off x="4419600" y="4191000"/>
              <a:ext cx="1588" cy="22860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777424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NON-PREEMPTIVE SJF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2: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938076"/>
              </p:ext>
            </p:extLst>
          </p:nvPr>
        </p:nvGraphicFramePr>
        <p:xfrm>
          <a:off x="1461718" y="1923094"/>
          <a:ext cx="6655495" cy="249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0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5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33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Process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Arrival Time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Burst Time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Waiting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Turn around</a:t>
                      </a:r>
                      <a:r>
                        <a:rPr lang="en-IN" baseline="0" dirty="0"/>
                        <a:t> time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P1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0 - 0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7-0 =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P2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 – 2 =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 – 2</a:t>
                      </a:r>
                      <a:r>
                        <a:rPr lang="en-IN" baseline="0" dirty="0"/>
                        <a:t> = 10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P3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 – 4 =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8 - 4 =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P4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 – 5 =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16 – 5 = 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Average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9" name="Group 4"/>
          <p:cNvGrpSpPr>
            <a:grpSpLocks/>
          </p:cNvGrpSpPr>
          <p:nvPr/>
        </p:nvGrpSpPr>
        <p:grpSpPr bwMode="auto">
          <a:xfrm>
            <a:off x="1930379" y="4940585"/>
            <a:ext cx="5575299" cy="1128713"/>
            <a:chOff x="1287" y="2325"/>
            <a:chExt cx="3512" cy="711"/>
          </a:xfrm>
        </p:grpSpPr>
        <p:sp>
          <p:nvSpPr>
            <p:cNvPr id="40" name="AutoShape 5"/>
            <p:cNvSpPr>
              <a:spLocks noChangeArrowheads="1"/>
            </p:cNvSpPr>
            <p:nvPr/>
          </p:nvSpPr>
          <p:spPr bwMode="auto">
            <a:xfrm>
              <a:off x="1383" y="2325"/>
              <a:ext cx="3312" cy="384"/>
            </a:xfrm>
            <a:prstGeom prst="roundRect">
              <a:avLst>
                <a:gd name="adj" fmla="val 259"/>
              </a:avLst>
            </a:prstGeom>
            <a:solidFill>
              <a:srgbClr val="FFFF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41" name="AutoShape 6"/>
            <p:cNvSpPr>
              <a:spLocks noChangeArrowheads="1"/>
            </p:cNvSpPr>
            <p:nvPr/>
          </p:nvSpPr>
          <p:spPr bwMode="auto">
            <a:xfrm>
              <a:off x="1815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42" name="AutoShape 7"/>
            <p:cNvSpPr>
              <a:spLocks noChangeArrowheads="1"/>
            </p:cNvSpPr>
            <p:nvPr/>
          </p:nvSpPr>
          <p:spPr bwMode="auto">
            <a:xfrm>
              <a:off x="2823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43" name="AutoShape 8"/>
            <p:cNvSpPr>
              <a:spLocks noChangeArrowheads="1"/>
            </p:cNvSpPr>
            <p:nvPr/>
          </p:nvSpPr>
          <p:spPr bwMode="auto">
            <a:xfrm>
              <a:off x="3399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44" name="Line 9"/>
            <p:cNvSpPr>
              <a:spLocks noChangeShapeType="1"/>
            </p:cNvSpPr>
            <p:nvPr/>
          </p:nvSpPr>
          <p:spPr bwMode="auto">
            <a:xfrm>
              <a:off x="4695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Line 10"/>
            <p:cNvSpPr>
              <a:spLocks noChangeShapeType="1"/>
            </p:cNvSpPr>
            <p:nvPr/>
          </p:nvSpPr>
          <p:spPr bwMode="auto">
            <a:xfrm>
              <a:off x="1383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Line 11"/>
            <p:cNvSpPr>
              <a:spLocks noChangeShapeType="1"/>
            </p:cNvSpPr>
            <p:nvPr/>
          </p:nvSpPr>
          <p:spPr bwMode="auto">
            <a:xfrm>
              <a:off x="3111" y="2325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Line 12"/>
            <p:cNvSpPr>
              <a:spLocks noChangeShapeType="1"/>
            </p:cNvSpPr>
            <p:nvPr/>
          </p:nvSpPr>
          <p:spPr bwMode="auto">
            <a:xfrm>
              <a:off x="2823" y="2325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Line 13"/>
            <p:cNvSpPr>
              <a:spLocks noChangeShapeType="1"/>
            </p:cNvSpPr>
            <p:nvPr/>
          </p:nvSpPr>
          <p:spPr bwMode="auto">
            <a:xfrm>
              <a:off x="2823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9" name="Line 14"/>
            <p:cNvSpPr>
              <a:spLocks noChangeShapeType="1"/>
            </p:cNvSpPr>
            <p:nvPr/>
          </p:nvSpPr>
          <p:spPr bwMode="auto">
            <a:xfrm>
              <a:off x="181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AutoShape 15"/>
            <p:cNvSpPr>
              <a:spLocks noChangeArrowheads="1"/>
            </p:cNvSpPr>
            <p:nvPr/>
          </p:nvSpPr>
          <p:spPr bwMode="auto">
            <a:xfrm>
              <a:off x="2727" y="2805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7</a:t>
              </a:r>
            </a:p>
          </p:txBody>
        </p:sp>
        <p:sp>
          <p:nvSpPr>
            <p:cNvPr id="51" name="AutoShape 16"/>
            <p:cNvSpPr>
              <a:spLocks noChangeArrowheads="1"/>
            </p:cNvSpPr>
            <p:nvPr/>
          </p:nvSpPr>
          <p:spPr bwMode="auto">
            <a:xfrm>
              <a:off x="1752" y="2809"/>
              <a:ext cx="195" cy="222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52" name="AutoShape 17"/>
            <p:cNvSpPr>
              <a:spLocks noChangeArrowheads="1"/>
            </p:cNvSpPr>
            <p:nvPr/>
          </p:nvSpPr>
          <p:spPr bwMode="auto">
            <a:xfrm>
              <a:off x="4523" y="2805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16</a:t>
              </a:r>
            </a:p>
          </p:txBody>
        </p:sp>
        <p:sp>
          <p:nvSpPr>
            <p:cNvPr id="53" name="AutoShape 18"/>
            <p:cNvSpPr>
              <a:spLocks noChangeArrowheads="1"/>
            </p:cNvSpPr>
            <p:nvPr/>
          </p:nvSpPr>
          <p:spPr bwMode="auto">
            <a:xfrm>
              <a:off x="1287" y="2805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54" name="AutoShape 19"/>
            <p:cNvSpPr>
              <a:spLocks noChangeArrowheads="1"/>
            </p:cNvSpPr>
            <p:nvPr/>
          </p:nvSpPr>
          <p:spPr bwMode="auto">
            <a:xfrm>
              <a:off x="4119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55" name="Line 20"/>
            <p:cNvSpPr>
              <a:spLocks noChangeShapeType="1"/>
            </p:cNvSpPr>
            <p:nvPr/>
          </p:nvSpPr>
          <p:spPr bwMode="auto">
            <a:xfrm>
              <a:off x="3879" y="2325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Line 21"/>
            <p:cNvSpPr>
              <a:spLocks noChangeShapeType="1"/>
            </p:cNvSpPr>
            <p:nvPr/>
          </p:nvSpPr>
          <p:spPr bwMode="auto">
            <a:xfrm>
              <a:off x="157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Line 22"/>
            <p:cNvSpPr>
              <a:spLocks noChangeShapeType="1"/>
            </p:cNvSpPr>
            <p:nvPr/>
          </p:nvSpPr>
          <p:spPr bwMode="auto">
            <a:xfrm>
              <a:off x="205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Line 23"/>
            <p:cNvSpPr>
              <a:spLocks noChangeShapeType="1"/>
            </p:cNvSpPr>
            <p:nvPr/>
          </p:nvSpPr>
          <p:spPr bwMode="auto">
            <a:xfrm>
              <a:off x="229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Line 24"/>
            <p:cNvSpPr>
              <a:spLocks noChangeShapeType="1"/>
            </p:cNvSpPr>
            <p:nvPr/>
          </p:nvSpPr>
          <p:spPr bwMode="auto">
            <a:xfrm>
              <a:off x="2487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Line 25"/>
            <p:cNvSpPr>
              <a:spLocks noChangeShapeType="1"/>
            </p:cNvSpPr>
            <p:nvPr/>
          </p:nvSpPr>
          <p:spPr bwMode="auto">
            <a:xfrm>
              <a:off x="2679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Line 26"/>
            <p:cNvSpPr>
              <a:spLocks noChangeShapeType="1"/>
            </p:cNvSpPr>
            <p:nvPr/>
          </p:nvSpPr>
          <p:spPr bwMode="auto">
            <a:xfrm>
              <a:off x="3111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AutoShape 27"/>
            <p:cNvSpPr>
              <a:spLocks noChangeArrowheads="1"/>
            </p:cNvSpPr>
            <p:nvPr/>
          </p:nvSpPr>
          <p:spPr bwMode="auto">
            <a:xfrm>
              <a:off x="3015" y="2805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8</a:t>
              </a:r>
            </a:p>
          </p:txBody>
        </p:sp>
        <p:sp>
          <p:nvSpPr>
            <p:cNvPr id="63" name="Line 28"/>
            <p:cNvSpPr>
              <a:spLocks noChangeShapeType="1"/>
            </p:cNvSpPr>
            <p:nvPr/>
          </p:nvSpPr>
          <p:spPr bwMode="auto">
            <a:xfrm>
              <a:off x="3351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Line 29"/>
            <p:cNvSpPr>
              <a:spLocks noChangeShapeType="1"/>
            </p:cNvSpPr>
            <p:nvPr/>
          </p:nvSpPr>
          <p:spPr bwMode="auto">
            <a:xfrm>
              <a:off x="3543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Line 30"/>
            <p:cNvSpPr>
              <a:spLocks noChangeShapeType="1"/>
            </p:cNvSpPr>
            <p:nvPr/>
          </p:nvSpPr>
          <p:spPr bwMode="auto">
            <a:xfrm>
              <a:off x="373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6" name="Line 31"/>
            <p:cNvSpPr>
              <a:spLocks noChangeShapeType="1"/>
            </p:cNvSpPr>
            <p:nvPr/>
          </p:nvSpPr>
          <p:spPr bwMode="auto">
            <a:xfrm>
              <a:off x="3879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7" name="AutoShape 32"/>
            <p:cNvSpPr>
              <a:spLocks noChangeArrowheads="1"/>
            </p:cNvSpPr>
            <p:nvPr/>
          </p:nvSpPr>
          <p:spPr bwMode="auto">
            <a:xfrm>
              <a:off x="3735" y="2805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12</a:t>
              </a:r>
            </a:p>
          </p:txBody>
        </p:sp>
        <p:sp>
          <p:nvSpPr>
            <p:cNvPr id="68" name="Line 33"/>
            <p:cNvSpPr>
              <a:spLocks noChangeShapeType="1"/>
            </p:cNvSpPr>
            <p:nvPr/>
          </p:nvSpPr>
          <p:spPr bwMode="auto">
            <a:xfrm>
              <a:off x="4119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69" name="Line 34"/>
            <p:cNvSpPr>
              <a:spLocks noChangeShapeType="1"/>
            </p:cNvSpPr>
            <p:nvPr/>
          </p:nvSpPr>
          <p:spPr bwMode="auto">
            <a:xfrm>
              <a:off x="4311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0" name="Line 35"/>
            <p:cNvSpPr>
              <a:spLocks noChangeShapeType="1"/>
            </p:cNvSpPr>
            <p:nvPr/>
          </p:nvSpPr>
          <p:spPr bwMode="auto">
            <a:xfrm>
              <a:off x="4503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47245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PREEMPTIVE SJF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Example 3: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976044"/>
              </p:ext>
            </p:extLst>
          </p:nvPr>
        </p:nvGraphicFramePr>
        <p:xfrm>
          <a:off x="814191" y="1935620"/>
          <a:ext cx="7206641" cy="249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92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60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Process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Arrival Time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Burst Time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Waiting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Turn around</a:t>
                      </a:r>
                      <a:r>
                        <a:rPr lang="en-IN" baseline="0" dirty="0"/>
                        <a:t> time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P1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(0–0)+(11-2) =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16 - 0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P2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(2-2)+(5-4)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7 - 2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P3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(4-4)=0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5 - 4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P4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5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(7-5)=2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11 - 5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Average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8" name="Group 3"/>
          <p:cNvGrpSpPr>
            <a:grpSpLocks/>
          </p:cNvGrpSpPr>
          <p:nvPr/>
        </p:nvGrpSpPr>
        <p:grpSpPr bwMode="auto">
          <a:xfrm>
            <a:off x="1810011" y="5099139"/>
            <a:ext cx="5924550" cy="1204913"/>
            <a:chOff x="864" y="2364"/>
            <a:chExt cx="3732" cy="759"/>
          </a:xfrm>
        </p:grpSpPr>
        <p:sp>
          <p:nvSpPr>
            <p:cNvPr id="71" name="AutoShape 4"/>
            <p:cNvSpPr>
              <a:spLocks noChangeArrowheads="1"/>
            </p:cNvSpPr>
            <p:nvPr/>
          </p:nvSpPr>
          <p:spPr bwMode="auto">
            <a:xfrm>
              <a:off x="960" y="2373"/>
              <a:ext cx="3504" cy="384"/>
            </a:xfrm>
            <a:prstGeom prst="roundRect">
              <a:avLst>
                <a:gd name="adj" fmla="val 259"/>
              </a:avLst>
            </a:prstGeom>
            <a:solidFill>
              <a:srgbClr val="FFFF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72" name="AutoShape 5"/>
            <p:cNvSpPr>
              <a:spLocks noChangeArrowheads="1"/>
            </p:cNvSpPr>
            <p:nvPr/>
          </p:nvSpPr>
          <p:spPr bwMode="auto">
            <a:xfrm>
              <a:off x="1008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73" name="AutoShape 6"/>
            <p:cNvSpPr>
              <a:spLocks noChangeArrowheads="1"/>
            </p:cNvSpPr>
            <p:nvPr/>
          </p:nvSpPr>
          <p:spPr bwMode="auto">
            <a:xfrm>
              <a:off x="1824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74" name="AutoShape 7"/>
            <p:cNvSpPr>
              <a:spLocks noChangeArrowheads="1"/>
            </p:cNvSpPr>
            <p:nvPr/>
          </p:nvSpPr>
          <p:spPr bwMode="auto">
            <a:xfrm>
              <a:off x="1488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75" name="Line 8"/>
            <p:cNvSpPr>
              <a:spLocks noChangeShapeType="1"/>
            </p:cNvSpPr>
            <p:nvPr/>
          </p:nvSpPr>
          <p:spPr bwMode="auto">
            <a:xfrm>
              <a:off x="4452" y="274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6" name="Line 9"/>
            <p:cNvSpPr>
              <a:spLocks noChangeShapeType="1"/>
            </p:cNvSpPr>
            <p:nvPr/>
          </p:nvSpPr>
          <p:spPr bwMode="auto">
            <a:xfrm>
              <a:off x="960" y="2757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7" name="Line 10"/>
            <p:cNvSpPr>
              <a:spLocks noChangeShapeType="1"/>
            </p:cNvSpPr>
            <p:nvPr/>
          </p:nvSpPr>
          <p:spPr bwMode="auto">
            <a:xfrm>
              <a:off x="2688" y="2373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8" name="Line 11"/>
            <p:cNvSpPr>
              <a:spLocks noChangeShapeType="1"/>
            </p:cNvSpPr>
            <p:nvPr/>
          </p:nvSpPr>
          <p:spPr bwMode="auto">
            <a:xfrm>
              <a:off x="1344" y="2364"/>
              <a:ext cx="1" cy="57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79" name="Line 12"/>
            <p:cNvSpPr>
              <a:spLocks noChangeShapeType="1"/>
            </p:cNvSpPr>
            <p:nvPr/>
          </p:nvSpPr>
          <p:spPr bwMode="auto">
            <a:xfrm>
              <a:off x="2400" y="2757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0" name="AutoShape 13"/>
            <p:cNvSpPr>
              <a:spLocks noChangeArrowheads="1"/>
            </p:cNvSpPr>
            <p:nvPr/>
          </p:nvSpPr>
          <p:spPr bwMode="auto">
            <a:xfrm>
              <a:off x="1728" y="2892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81" name="AutoShape 14"/>
            <p:cNvSpPr>
              <a:spLocks noChangeArrowheads="1"/>
            </p:cNvSpPr>
            <p:nvPr/>
          </p:nvSpPr>
          <p:spPr bwMode="auto">
            <a:xfrm>
              <a:off x="1248" y="2892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82" name="AutoShape 15"/>
            <p:cNvSpPr>
              <a:spLocks noChangeArrowheads="1"/>
            </p:cNvSpPr>
            <p:nvPr/>
          </p:nvSpPr>
          <p:spPr bwMode="auto">
            <a:xfrm>
              <a:off x="3312" y="2880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11</a:t>
              </a:r>
            </a:p>
          </p:txBody>
        </p:sp>
        <p:sp>
          <p:nvSpPr>
            <p:cNvPr id="83" name="AutoShape 16"/>
            <p:cNvSpPr>
              <a:spLocks noChangeArrowheads="1"/>
            </p:cNvSpPr>
            <p:nvPr/>
          </p:nvSpPr>
          <p:spPr bwMode="auto">
            <a:xfrm>
              <a:off x="864" y="2880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84" name="AutoShape 17"/>
            <p:cNvSpPr>
              <a:spLocks noChangeArrowheads="1"/>
            </p:cNvSpPr>
            <p:nvPr/>
          </p:nvSpPr>
          <p:spPr bwMode="auto">
            <a:xfrm>
              <a:off x="2976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85" name="Line 18"/>
            <p:cNvSpPr>
              <a:spLocks noChangeShapeType="1"/>
            </p:cNvSpPr>
            <p:nvPr/>
          </p:nvSpPr>
          <p:spPr bwMode="auto">
            <a:xfrm>
              <a:off x="3456" y="2373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Line 19"/>
            <p:cNvSpPr>
              <a:spLocks noChangeShapeType="1"/>
            </p:cNvSpPr>
            <p:nvPr/>
          </p:nvSpPr>
          <p:spPr bwMode="auto">
            <a:xfrm>
              <a:off x="1152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7" name="Line 20"/>
            <p:cNvSpPr>
              <a:spLocks noChangeShapeType="1"/>
            </p:cNvSpPr>
            <p:nvPr/>
          </p:nvSpPr>
          <p:spPr bwMode="auto">
            <a:xfrm>
              <a:off x="1632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8" name="Line 21"/>
            <p:cNvSpPr>
              <a:spLocks noChangeShapeType="1"/>
            </p:cNvSpPr>
            <p:nvPr/>
          </p:nvSpPr>
          <p:spPr bwMode="auto">
            <a:xfrm>
              <a:off x="2688" y="2757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89" name="AutoShape 22"/>
            <p:cNvSpPr>
              <a:spLocks noChangeArrowheads="1"/>
            </p:cNvSpPr>
            <p:nvPr/>
          </p:nvSpPr>
          <p:spPr bwMode="auto">
            <a:xfrm>
              <a:off x="2064" y="2892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5</a:t>
              </a:r>
            </a:p>
          </p:txBody>
        </p:sp>
        <p:sp>
          <p:nvSpPr>
            <p:cNvPr id="90" name="Line 23"/>
            <p:cNvSpPr>
              <a:spLocks noChangeShapeType="1"/>
            </p:cNvSpPr>
            <p:nvPr/>
          </p:nvSpPr>
          <p:spPr bwMode="auto">
            <a:xfrm>
              <a:off x="2928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1" name="Line 24"/>
            <p:cNvSpPr>
              <a:spLocks noChangeShapeType="1"/>
            </p:cNvSpPr>
            <p:nvPr/>
          </p:nvSpPr>
          <p:spPr bwMode="auto">
            <a:xfrm>
              <a:off x="3120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2" name="Line 25"/>
            <p:cNvSpPr>
              <a:spLocks noChangeShapeType="1"/>
            </p:cNvSpPr>
            <p:nvPr/>
          </p:nvSpPr>
          <p:spPr bwMode="auto">
            <a:xfrm>
              <a:off x="3312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3" name="Line 26"/>
            <p:cNvSpPr>
              <a:spLocks noChangeShapeType="1"/>
            </p:cNvSpPr>
            <p:nvPr/>
          </p:nvSpPr>
          <p:spPr bwMode="auto">
            <a:xfrm>
              <a:off x="3456" y="2757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4" name="AutoShape 27"/>
            <p:cNvSpPr>
              <a:spLocks noChangeArrowheads="1"/>
            </p:cNvSpPr>
            <p:nvPr/>
          </p:nvSpPr>
          <p:spPr bwMode="auto">
            <a:xfrm>
              <a:off x="2592" y="2892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7</a:t>
              </a:r>
            </a:p>
          </p:txBody>
        </p:sp>
        <p:sp>
          <p:nvSpPr>
            <p:cNvPr id="95" name="Line 28"/>
            <p:cNvSpPr>
              <a:spLocks noChangeShapeType="1"/>
            </p:cNvSpPr>
            <p:nvPr/>
          </p:nvSpPr>
          <p:spPr bwMode="auto">
            <a:xfrm>
              <a:off x="3696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Line 29"/>
            <p:cNvSpPr>
              <a:spLocks noChangeShapeType="1"/>
            </p:cNvSpPr>
            <p:nvPr/>
          </p:nvSpPr>
          <p:spPr bwMode="auto">
            <a:xfrm>
              <a:off x="3888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7" name="Line 30"/>
            <p:cNvSpPr>
              <a:spLocks noChangeShapeType="1"/>
            </p:cNvSpPr>
            <p:nvPr/>
          </p:nvSpPr>
          <p:spPr bwMode="auto">
            <a:xfrm>
              <a:off x="4080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8" name="Line 31"/>
            <p:cNvSpPr>
              <a:spLocks noChangeShapeType="1"/>
            </p:cNvSpPr>
            <p:nvPr/>
          </p:nvSpPr>
          <p:spPr bwMode="auto">
            <a:xfrm>
              <a:off x="1824" y="2364"/>
              <a:ext cx="1" cy="57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99" name="Line 32"/>
            <p:cNvSpPr>
              <a:spLocks noChangeShapeType="1"/>
            </p:cNvSpPr>
            <p:nvPr/>
          </p:nvSpPr>
          <p:spPr bwMode="auto">
            <a:xfrm>
              <a:off x="2160" y="2364"/>
              <a:ext cx="1" cy="57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0" name="AutoShape 33"/>
            <p:cNvSpPr>
              <a:spLocks noChangeArrowheads="1"/>
            </p:cNvSpPr>
            <p:nvPr/>
          </p:nvSpPr>
          <p:spPr bwMode="auto">
            <a:xfrm>
              <a:off x="2256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101" name="AutoShape 34"/>
            <p:cNvSpPr>
              <a:spLocks noChangeArrowheads="1"/>
            </p:cNvSpPr>
            <p:nvPr/>
          </p:nvSpPr>
          <p:spPr bwMode="auto">
            <a:xfrm>
              <a:off x="3840" y="2412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102" name="Line 35"/>
            <p:cNvSpPr>
              <a:spLocks noChangeShapeType="1"/>
            </p:cNvSpPr>
            <p:nvPr/>
          </p:nvSpPr>
          <p:spPr bwMode="auto">
            <a:xfrm>
              <a:off x="4272" y="2686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03" name="AutoShape 36"/>
            <p:cNvSpPr>
              <a:spLocks noChangeArrowheads="1"/>
            </p:cNvSpPr>
            <p:nvPr/>
          </p:nvSpPr>
          <p:spPr bwMode="auto">
            <a:xfrm>
              <a:off x="4320" y="284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001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ROUND ROBIN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In a round robin , all the tasks were given equal amount of time to access the CPU. </a:t>
            </a:r>
          </a:p>
          <a:p>
            <a:pPr>
              <a:lnSpc>
                <a:spcPct val="150000"/>
              </a:lnSpc>
            </a:pPr>
            <a:r>
              <a:rPr lang="en-IN" dirty="0"/>
              <a:t>Time slice is followed.</a:t>
            </a:r>
          </a:p>
          <a:p>
            <a:pPr>
              <a:lnSpc>
                <a:spcPct val="150000"/>
              </a:lnSpc>
            </a:pPr>
            <a:r>
              <a:rPr lang="en-IN" dirty="0"/>
              <a:t>All the tasks run for fixed time specified. </a:t>
            </a:r>
          </a:p>
          <a:p>
            <a:pPr>
              <a:lnSpc>
                <a:spcPct val="150000"/>
              </a:lnSpc>
            </a:pPr>
            <a:r>
              <a:rPr lang="en-IN" dirty="0"/>
              <a:t>The tasks run in a similar fashion in a sequence.</a:t>
            </a:r>
          </a:p>
          <a:p>
            <a:pPr>
              <a:lnSpc>
                <a:spcPct val="150000"/>
              </a:lnSpc>
            </a:pPr>
            <a:r>
              <a:rPr lang="en-US" dirty="0"/>
              <a:t>If the current task has completed its work then the next task in the sequence will be scheduled.</a:t>
            </a: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121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ROUND ROBIN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37" name="Table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2607026"/>
              </p:ext>
            </p:extLst>
          </p:nvPr>
        </p:nvGraphicFramePr>
        <p:xfrm>
          <a:off x="526094" y="1671877"/>
          <a:ext cx="8166969" cy="3032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9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5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17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Process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Burst Time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Waiting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Turn around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[(0 – 0) + (77 - 20) + (121 – 97)] = 81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(20 – 0) = 20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68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[(37 – 0) + (97 - 57) + (134 – 117)] = 94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[(57 – 0) + (117 – 77)] =97</a:t>
                      </a:r>
                      <a:endParaRPr lang="en-IN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Average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113.5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8" name="Group 3"/>
          <p:cNvGrpSpPr>
            <a:grpSpLocks/>
          </p:cNvGrpSpPr>
          <p:nvPr/>
        </p:nvGrpSpPr>
        <p:grpSpPr bwMode="auto">
          <a:xfrm>
            <a:off x="1547018" y="5381625"/>
            <a:ext cx="6049963" cy="974725"/>
            <a:chOff x="1014" y="2490"/>
            <a:chExt cx="3811" cy="614"/>
          </a:xfrm>
        </p:grpSpPr>
        <p:grpSp>
          <p:nvGrpSpPr>
            <p:cNvPr id="39" name="Group 4"/>
            <p:cNvGrpSpPr>
              <a:grpSpLocks/>
            </p:cNvGrpSpPr>
            <p:nvPr/>
          </p:nvGrpSpPr>
          <p:grpSpPr bwMode="auto">
            <a:xfrm>
              <a:off x="1110" y="2490"/>
              <a:ext cx="3551" cy="383"/>
              <a:chOff x="1110" y="2490"/>
              <a:chExt cx="3551" cy="383"/>
            </a:xfrm>
          </p:grpSpPr>
          <p:grpSp>
            <p:nvGrpSpPr>
              <p:cNvPr id="51" name="Group 5"/>
              <p:cNvGrpSpPr>
                <a:grpSpLocks/>
              </p:cNvGrpSpPr>
              <p:nvPr/>
            </p:nvGrpSpPr>
            <p:grpSpPr bwMode="auto">
              <a:xfrm>
                <a:off x="1110" y="2490"/>
                <a:ext cx="354" cy="383"/>
                <a:chOff x="1110" y="2490"/>
                <a:chExt cx="354" cy="383"/>
              </a:xfrm>
            </p:grpSpPr>
            <p:sp>
              <p:nvSpPr>
                <p:cNvPr id="79" name="AutoShape 6"/>
                <p:cNvSpPr>
                  <a:spLocks noChangeArrowheads="1"/>
                </p:cNvSpPr>
                <p:nvPr/>
              </p:nvSpPr>
              <p:spPr bwMode="auto">
                <a:xfrm>
                  <a:off x="1110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80" name="AutoShape 7"/>
                <p:cNvSpPr>
                  <a:spLocks noChangeArrowheads="1"/>
                </p:cNvSpPr>
                <p:nvPr/>
              </p:nvSpPr>
              <p:spPr bwMode="auto">
                <a:xfrm>
                  <a:off x="1110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anose="020B0604020202020204" pitchFamily="34" charset="0"/>
                    <a:buNone/>
                  </a:pPr>
                  <a:r>
                    <a:rPr lang="en-GB" sz="1800" dirty="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P</a:t>
                  </a:r>
                  <a:r>
                    <a:rPr lang="en-GB" sz="1800" baseline="-25000" dirty="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52" name="Group 8"/>
              <p:cNvGrpSpPr>
                <a:grpSpLocks/>
              </p:cNvGrpSpPr>
              <p:nvPr/>
            </p:nvGrpSpPr>
            <p:grpSpPr bwMode="auto">
              <a:xfrm>
                <a:off x="1465" y="2490"/>
                <a:ext cx="355" cy="383"/>
                <a:chOff x="1465" y="2490"/>
                <a:chExt cx="355" cy="383"/>
              </a:xfrm>
            </p:grpSpPr>
            <p:sp>
              <p:nvSpPr>
                <p:cNvPr id="77" name="AutoShape 9"/>
                <p:cNvSpPr>
                  <a:spLocks noChangeArrowheads="1"/>
                </p:cNvSpPr>
                <p:nvPr/>
              </p:nvSpPr>
              <p:spPr bwMode="auto">
                <a:xfrm>
                  <a:off x="1465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8" name="AutoShape 10"/>
                <p:cNvSpPr>
                  <a:spLocks noChangeArrowheads="1"/>
                </p:cNvSpPr>
                <p:nvPr/>
              </p:nvSpPr>
              <p:spPr bwMode="auto">
                <a:xfrm>
                  <a:off x="1465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anose="020B0604020202020204" pitchFamily="34" charset="0"/>
                    <a:buNone/>
                  </a:pPr>
                  <a:r>
                    <a:rPr lang="en-GB" sz="1800" dirty="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P</a:t>
                  </a:r>
                  <a:r>
                    <a:rPr lang="en-GB" sz="1800" baseline="-25000" dirty="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2</a:t>
                  </a:r>
                </a:p>
              </p:txBody>
            </p:sp>
          </p:grpSp>
          <p:grpSp>
            <p:nvGrpSpPr>
              <p:cNvPr id="53" name="Group 11"/>
              <p:cNvGrpSpPr>
                <a:grpSpLocks/>
              </p:cNvGrpSpPr>
              <p:nvPr/>
            </p:nvGrpSpPr>
            <p:grpSpPr bwMode="auto">
              <a:xfrm>
                <a:off x="1820" y="2490"/>
                <a:ext cx="354" cy="383"/>
                <a:chOff x="1820" y="2490"/>
                <a:chExt cx="354" cy="383"/>
              </a:xfrm>
            </p:grpSpPr>
            <p:sp>
              <p:nvSpPr>
                <p:cNvPr id="75" name="AutoShape 12"/>
                <p:cNvSpPr>
                  <a:spLocks noChangeArrowheads="1"/>
                </p:cNvSpPr>
                <p:nvPr/>
              </p:nvSpPr>
              <p:spPr bwMode="auto">
                <a:xfrm>
                  <a:off x="1820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6" name="AutoShape 13"/>
                <p:cNvSpPr>
                  <a:spLocks noChangeArrowheads="1"/>
                </p:cNvSpPr>
                <p:nvPr/>
              </p:nvSpPr>
              <p:spPr bwMode="auto">
                <a:xfrm>
                  <a:off x="1820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anose="020B0604020202020204" pitchFamily="34" charset="0"/>
                    <a:buNone/>
                  </a:pPr>
                  <a:r>
                    <a:rPr lang="en-GB" sz="18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54" name="Group 14"/>
              <p:cNvGrpSpPr>
                <a:grpSpLocks/>
              </p:cNvGrpSpPr>
              <p:nvPr/>
            </p:nvGrpSpPr>
            <p:grpSpPr bwMode="auto">
              <a:xfrm>
                <a:off x="2175" y="2490"/>
                <a:ext cx="354" cy="383"/>
                <a:chOff x="2175" y="2490"/>
                <a:chExt cx="354" cy="383"/>
              </a:xfrm>
            </p:grpSpPr>
            <p:sp>
              <p:nvSpPr>
                <p:cNvPr id="73" name="AutoShape 15"/>
                <p:cNvSpPr>
                  <a:spLocks noChangeArrowheads="1"/>
                </p:cNvSpPr>
                <p:nvPr/>
              </p:nvSpPr>
              <p:spPr bwMode="auto">
                <a:xfrm>
                  <a:off x="2175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4" name="AutoShape 16"/>
                <p:cNvSpPr>
                  <a:spLocks noChangeArrowheads="1"/>
                </p:cNvSpPr>
                <p:nvPr/>
              </p:nvSpPr>
              <p:spPr bwMode="auto">
                <a:xfrm>
                  <a:off x="2175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anose="020B0604020202020204" pitchFamily="34" charset="0"/>
                    <a:buNone/>
                  </a:pPr>
                  <a:r>
                    <a:rPr lang="en-GB" sz="18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55" name="Group 17"/>
              <p:cNvGrpSpPr>
                <a:grpSpLocks/>
              </p:cNvGrpSpPr>
              <p:nvPr/>
            </p:nvGrpSpPr>
            <p:grpSpPr bwMode="auto">
              <a:xfrm>
                <a:off x="2531" y="2490"/>
                <a:ext cx="355" cy="383"/>
                <a:chOff x="2531" y="2490"/>
                <a:chExt cx="355" cy="383"/>
              </a:xfrm>
            </p:grpSpPr>
            <p:sp>
              <p:nvSpPr>
                <p:cNvPr id="71" name="AutoShape 18"/>
                <p:cNvSpPr>
                  <a:spLocks noChangeArrowheads="1"/>
                </p:cNvSpPr>
                <p:nvPr/>
              </p:nvSpPr>
              <p:spPr bwMode="auto">
                <a:xfrm>
                  <a:off x="2531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2" name="AutoShape 19"/>
                <p:cNvSpPr>
                  <a:spLocks noChangeArrowheads="1"/>
                </p:cNvSpPr>
                <p:nvPr/>
              </p:nvSpPr>
              <p:spPr bwMode="auto">
                <a:xfrm>
                  <a:off x="2531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anose="020B0604020202020204" pitchFamily="34" charset="0"/>
                    <a:buNone/>
                  </a:pPr>
                  <a:r>
                    <a:rPr lang="en-GB" sz="18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56" name="Group 20"/>
              <p:cNvGrpSpPr>
                <a:grpSpLocks/>
              </p:cNvGrpSpPr>
              <p:nvPr/>
            </p:nvGrpSpPr>
            <p:grpSpPr bwMode="auto">
              <a:xfrm>
                <a:off x="2886" y="2490"/>
                <a:ext cx="354" cy="383"/>
                <a:chOff x="2886" y="2490"/>
                <a:chExt cx="354" cy="383"/>
              </a:xfrm>
            </p:grpSpPr>
            <p:sp>
              <p:nvSpPr>
                <p:cNvPr id="69" name="AutoShape 21"/>
                <p:cNvSpPr>
                  <a:spLocks noChangeArrowheads="1"/>
                </p:cNvSpPr>
                <p:nvPr/>
              </p:nvSpPr>
              <p:spPr bwMode="auto">
                <a:xfrm>
                  <a:off x="2886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70" name="AutoShape 22"/>
                <p:cNvSpPr>
                  <a:spLocks noChangeArrowheads="1"/>
                </p:cNvSpPr>
                <p:nvPr/>
              </p:nvSpPr>
              <p:spPr bwMode="auto">
                <a:xfrm>
                  <a:off x="2886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anose="020B0604020202020204" pitchFamily="34" charset="0"/>
                    <a:buNone/>
                  </a:pPr>
                  <a:r>
                    <a:rPr lang="en-GB" sz="18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57" name="Group 23"/>
              <p:cNvGrpSpPr>
                <a:grpSpLocks/>
              </p:cNvGrpSpPr>
              <p:nvPr/>
            </p:nvGrpSpPr>
            <p:grpSpPr bwMode="auto">
              <a:xfrm>
                <a:off x="3241" y="2490"/>
                <a:ext cx="354" cy="383"/>
                <a:chOff x="3241" y="2490"/>
                <a:chExt cx="354" cy="383"/>
              </a:xfrm>
            </p:grpSpPr>
            <p:sp>
              <p:nvSpPr>
                <p:cNvPr id="67" name="AutoShape 24"/>
                <p:cNvSpPr>
                  <a:spLocks noChangeArrowheads="1"/>
                </p:cNvSpPr>
                <p:nvPr/>
              </p:nvSpPr>
              <p:spPr bwMode="auto">
                <a:xfrm>
                  <a:off x="3241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8" name="AutoShape 25"/>
                <p:cNvSpPr>
                  <a:spLocks noChangeArrowheads="1"/>
                </p:cNvSpPr>
                <p:nvPr/>
              </p:nvSpPr>
              <p:spPr bwMode="auto">
                <a:xfrm>
                  <a:off x="3241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anose="020B0604020202020204" pitchFamily="34" charset="0"/>
                    <a:buNone/>
                  </a:pPr>
                  <a:r>
                    <a:rPr lang="en-GB" sz="18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4</a:t>
                  </a:r>
                </a:p>
              </p:txBody>
            </p:sp>
          </p:grpSp>
          <p:grpSp>
            <p:nvGrpSpPr>
              <p:cNvPr id="58" name="Group 26"/>
              <p:cNvGrpSpPr>
                <a:grpSpLocks/>
              </p:cNvGrpSpPr>
              <p:nvPr/>
            </p:nvGrpSpPr>
            <p:grpSpPr bwMode="auto">
              <a:xfrm>
                <a:off x="3596" y="2490"/>
                <a:ext cx="354" cy="383"/>
                <a:chOff x="3596" y="2490"/>
                <a:chExt cx="354" cy="383"/>
              </a:xfrm>
            </p:grpSpPr>
            <p:sp>
              <p:nvSpPr>
                <p:cNvPr id="65" name="AutoShape 27"/>
                <p:cNvSpPr>
                  <a:spLocks noChangeArrowheads="1"/>
                </p:cNvSpPr>
                <p:nvPr/>
              </p:nvSpPr>
              <p:spPr bwMode="auto">
                <a:xfrm>
                  <a:off x="3596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6" name="AutoShape 28"/>
                <p:cNvSpPr>
                  <a:spLocks noChangeArrowheads="1"/>
                </p:cNvSpPr>
                <p:nvPr/>
              </p:nvSpPr>
              <p:spPr bwMode="auto">
                <a:xfrm>
                  <a:off x="3596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anose="020B0604020202020204" pitchFamily="34" charset="0"/>
                    <a:buNone/>
                  </a:pPr>
                  <a:r>
                    <a:rPr lang="en-GB" sz="18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1</a:t>
                  </a:r>
                </a:p>
              </p:txBody>
            </p:sp>
          </p:grpSp>
          <p:grpSp>
            <p:nvGrpSpPr>
              <p:cNvPr id="59" name="Group 29"/>
              <p:cNvGrpSpPr>
                <a:grpSpLocks/>
              </p:cNvGrpSpPr>
              <p:nvPr/>
            </p:nvGrpSpPr>
            <p:grpSpPr bwMode="auto">
              <a:xfrm>
                <a:off x="3951" y="2490"/>
                <a:ext cx="355" cy="383"/>
                <a:chOff x="3951" y="2490"/>
                <a:chExt cx="355" cy="383"/>
              </a:xfrm>
            </p:grpSpPr>
            <p:sp>
              <p:nvSpPr>
                <p:cNvPr id="63" name="AutoShape 30"/>
                <p:cNvSpPr>
                  <a:spLocks noChangeArrowheads="1"/>
                </p:cNvSpPr>
                <p:nvPr/>
              </p:nvSpPr>
              <p:spPr bwMode="auto">
                <a:xfrm>
                  <a:off x="3951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4" name="AutoShape 31"/>
                <p:cNvSpPr>
                  <a:spLocks noChangeArrowheads="1"/>
                </p:cNvSpPr>
                <p:nvPr/>
              </p:nvSpPr>
              <p:spPr bwMode="auto">
                <a:xfrm>
                  <a:off x="3951" y="2490"/>
                  <a:ext cx="356" cy="384"/>
                </a:xfrm>
                <a:prstGeom prst="roundRect">
                  <a:avLst>
                    <a:gd name="adj" fmla="val 278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anose="020B0604020202020204" pitchFamily="34" charset="0"/>
                    <a:buNone/>
                  </a:pPr>
                  <a:r>
                    <a:rPr lang="en-GB" sz="18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P</a:t>
                  </a:r>
                  <a:r>
                    <a:rPr lang="en-GB" sz="1800" baseline="-2500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3</a:t>
                  </a:r>
                </a:p>
              </p:txBody>
            </p:sp>
          </p:grpSp>
          <p:grpSp>
            <p:nvGrpSpPr>
              <p:cNvPr id="60" name="Group 32"/>
              <p:cNvGrpSpPr>
                <a:grpSpLocks/>
              </p:cNvGrpSpPr>
              <p:nvPr/>
            </p:nvGrpSpPr>
            <p:grpSpPr bwMode="auto">
              <a:xfrm>
                <a:off x="4307" y="2490"/>
                <a:ext cx="354" cy="383"/>
                <a:chOff x="4307" y="2490"/>
                <a:chExt cx="354" cy="383"/>
              </a:xfrm>
            </p:grpSpPr>
            <p:sp>
              <p:nvSpPr>
                <p:cNvPr id="61" name="AutoShape 33"/>
                <p:cNvSpPr>
                  <a:spLocks noChangeArrowheads="1"/>
                </p:cNvSpPr>
                <p:nvPr/>
              </p:nvSpPr>
              <p:spPr bwMode="auto">
                <a:xfrm>
                  <a:off x="4307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solidFill>
                  <a:srgbClr val="FFFF99"/>
                </a:solidFill>
                <a:ln w="936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62" name="AutoShape 34"/>
                <p:cNvSpPr>
                  <a:spLocks noChangeArrowheads="1"/>
                </p:cNvSpPr>
                <p:nvPr/>
              </p:nvSpPr>
              <p:spPr bwMode="auto">
                <a:xfrm>
                  <a:off x="4307" y="2490"/>
                  <a:ext cx="355" cy="384"/>
                </a:xfrm>
                <a:prstGeom prst="roundRect">
                  <a:avLst>
                    <a:gd name="adj" fmla="val 282"/>
                  </a:avLst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lIns="90000" tIns="46800" rIns="90000" bIns="46800" anchor="ctr"/>
                <a:lstStyle>
                  <a:lvl1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1pPr>
                  <a:lvl2pPr marL="742950" indent="-28575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2pPr>
                  <a:lvl3pPr marL="11430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3pPr>
                  <a:lvl4pPr marL="16002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4pPr>
                  <a:lvl5pPr marL="2057400" indent="-228600"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  <a:defRPr sz="24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Lucida Sans Unicode" panose="020B0602030504020204" pitchFamily="34" charset="0"/>
                    </a:defRPr>
                  </a:lvl9pPr>
                </a:lstStyle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100000"/>
                    <a:buFont typeface="Helvetica" panose="020B0604020202020204" pitchFamily="34" charset="0"/>
                    <a:buNone/>
                  </a:pPr>
                  <a:r>
                    <a:rPr lang="en-GB" sz="1800" dirty="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P</a:t>
                  </a:r>
                  <a:r>
                    <a:rPr lang="en-GB" sz="1800" baseline="-25000" dirty="0">
                      <a:solidFill>
                        <a:schemeClr val="tx1"/>
                      </a:solidFill>
                      <a:latin typeface="Helvetica" panose="020B0604020202020204" pitchFamily="34" charset="0"/>
                    </a:rPr>
                    <a:t>3</a:t>
                  </a:r>
                </a:p>
              </p:txBody>
            </p:sp>
          </p:grpSp>
        </p:grpSp>
        <p:sp>
          <p:nvSpPr>
            <p:cNvPr id="40" name="AutoShape 35"/>
            <p:cNvSpPr>
              <a:spLocks noChangeArrowheads="1"/>
            </p:cNvSpPr>
            <p:nvPr/>
          </p:nvSpPr>
          <p:spPr bwMode="auto">
            <a:xfrm>
              <a:off x="1014" y="2874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41" name="AutoShape 36"/>
            <p:cNvSpPr>
              <a:spLocks noChangeArrowheads="1"/>
            </p:cNvSpPr>
            <p:nvPr/>
          </p:nvSpPr>
          <p:spPr bwMode="auto">
            <a:xfrm>
              <a:off x="1310" y="287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20</a:t>
              </a:r>
            </a:p>
          </p:txBody>
        </p:sp>
        <p:sp>
          <p:nvSpPr>
            <p:cNvPr id="42" name="AutoShape 37"/>
            <p:cNvSpPr>
              <a:spLocks noChangeArrowheads="1"/>
            </p:cNvSpPr>
            <p:nvPr/>
          </p:nvSpPr>
          <p:spPr bwMode="auto">
            <a:xfrm>
              <a:off x="1646" y="287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37</a:t>
              </a:r>
            </a:p>
          </p:txBody>
        </p:sp>
        <p:sp>
          <p:nvSpPr>
            <p:cNvPr id="43" name="AutoShape 38"/>
            <p:cNvSpPr>
              <a:spLocks noChangeArrowheads="1"/>
            </p:cNvSpPr>
            <p:nvPr/>
          </p:nvSpPr>
          <p:spPr bwMode="auto">
            <a:xfrm>
              <a:off x="2026" y="287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57</a:t>
              </a:r>
            </a:p>
          </p:txBody>
        </p:sp>
        <p:sp>
          <p:nvSpPr>
            <p:cNvPr id="44" name="AutoShape 39"/>
            <p:cNvSpPr>
              <a:spLocks noChangeArrowheads="1"/>
            </p:cNvSpPr>
            <p:nvPr/>
          </p:nvSpPr>
          <p:spPr bwMode="auto">
            <a:xfrm>
              <a:off x="2414" y="287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77</a:t>
              </a:r>
            </a:p>
          </p:txBody>
        </p:sp>
        <p:sp>
          <p:nvSpPr>
            <p:cNvPr id="45" name="AutoShape 40"/>
            <p:cNvSpPr>
              <a:spLocks noChangeArrowheads="1"/>
            </p:cNvSpPr>
            <p:nvPr/>
          </p:nvSpPr>
          <p:spPr bwMode="auto">
            <a:xfrm>
              <a:off x="2750" y="2874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97</a:t>
              </a:r>
            </a:p>
          </p:txBody>
        </p:sp>
        <p:sp>
          <p:nvSpPr>
            <p:cNvPr id="46" name="AutoShape 41"/>
            <p:cNvSpPr>
              <a:spLocks noChangeArrowheads="1"/>
            </p:cNvSpPr>
            <p:nvPr/>
          </p:nvSpPr>
          <p:spPr bwMode="auto">
            <a:xfrm>
              <a:off x="3046" y="2874"/>
              <a:ext cx="35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117</a:t>
              </a:r>
            </a:p>
          </p:txBody>
        </p:sp>
        <p:sp>
          <p:nvSpPr>
            <p:cNvPr id="47" name="AutoShape 42"/>
            <p:cNvSpPr>
              <a:spLocks noChangeArrowheads="1"/>
            </p:cNvSpPr>
            <p:nvPr/>
          </p:nvSpPr>
          <p:spPr bwMode="auto">
            <a:xfrm>
              <a:off x="3430" y="2874"/>
              <a:ext cx="35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121</a:t>
              </a:r>
            </a:p>
          </p:txBody>
        </p:sp>
        <p:sp>
          <p:nvSpPr>
            <p:cNvPr id="48" name="AutoShape 43"/>
            <p:cNvSpPr>
              <a:spLocks noChangeArrowheads="1"/>
            </p:cNvSpPr>
            <p:nvPr/>
          </p:nvSpPr>
          <p:spPr bwMode="auto">
            <a:xfrm>
              <a:off x="3766" y="2874"/>
              <a:ext cx="35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134</a:t>
              </a:r>
            </a:p>
          </p:txBody>
        </p:sp>
        <p:sp>
          <p:nvSpPr>
            <p:cNvPr id="49" name="AutoShape 44"/>
            <p:cNvSpPr>
              <a:spLocks noChangeArrowheads="1"/>
            </p:cNvSpPr>
            <p:nvPr/>
          </p:nvSpPr>
          <p:spPr bwMode="auto">
            <a:xfrm>
              <a:off x="4134" y="2874"/>
              <a:ext cx="35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154</a:t>
              </a:r>
            </a:p>
          </p:txBody>
        </p:sp>
        <p:sp>
          <p:nvSpPr>
            <p:cNvPr id="50" name="AutoShape 45"/>
            <p:cNvSpPr>
              <a:spLocks noChangeArrowheads="1"/>
            </p:cNvSpPr>
            <p:nvPr/>
          </p:nvSpPr>
          <p:spPr bwMode="auto">
            <a:xfrm>
              <a:off x="4470" y="2874"/>
              <a:ext cx="35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162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41276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PROS &amp; CONS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tabLst>
                <a:tab pos="3160713" algn="ctr"/>
                <a:tab pos="5684838" algn="ctr"/>
              </a:tabLst>
            </a:pPr>
            <a:r>
              <a:rPr lang="en-US" dirty="0"/>
              <a:t>Better for short jobs (+)</a:t>
            </a:r>
          </a:p>
          <a:p>
            <a:pPr>
              <a:lnSpc>
                <a:spcPct val="150000"/>
              </a:lnSpc>
              <a:tabLst>
                <a:tab pos="3160713" algn="ctr"/>
                <a:tab pos="5684838" algn="ctr"/>
              </a:tabLst>
            </a:pPr>
            <a:r>
              <a:rPr lang="en-US" dirty="0"/>
              <a:t>Fair (+)</a:t>
            </a:r>
          </a:p>
          <a:p>
            <a:pPr>
              <a:lnSpc>
                <a:spcPct val="150000"/>
              </a:lnSpc>
              <a:tabLst>
                <a:tab pos="3160713" algn="ctr"/>
                <a:tab pos="5684838" algn="ctr"/>
              </a:tabLst>
            </a:pPr>
            <a:r>
              <a:rPr lang="en-US" dirty="0"/>
              <a:t>Context-switching time adds up for long jobs (-)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049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PRIORITY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task with higher priority is given preference for execution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6946E-AFD2-4EBA-A28B-FE4E80C8A0D6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291350"/>
              </p:ext>
            </p:extLst>
          </p:nvPr>
        </p:nvGraphicFramePr>
        <p:xfrm>
          <a:off x="1353455" y="2025410"/>
          <a:ext cx="6152223" cy="2494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1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9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1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5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81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Process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Priority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Burst Time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Waiting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Turn around</a:t>
                      </a:r>
                      <a:r>
                        <a:rPr lang="en-IN" baseline="0" dirty="0"/>
                        <a:t> time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P1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P2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P3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2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P4</a:t>
                      </a:r>
                      <a:endParaRPr lang="en-IN" b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Average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b="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1930379" y="4940585"/>
            <a:ext cx="5575299" cy="1128713"/>
            <a:chOff x="1287" y="2325"/>
            <a:chExt cx="3512" cy="711"/>
          </a:xfrm>
        </p:grpSpPr>
        <p:sp>
          <p:nvSpPr>
            <p:cNvPr id="10" name="AutoShape 5"/>
            <p:cNvSpPr>
              <a:spLocks noChangeArrowheads="1"/>
            </p:cNvSpPr>
            <p:nvPr/>
          </p:nvSpPr>
          <p:spPr bwMode="auto">
            <a:xfrm>
              <a:off x="1383" y="2325"/>
              <a:ext cx="3312" cy="384"/>
            </a:xfrm>
            <a:prstGeom prst="roundRect">
              <a:avLst>
                <a:gd name="adj" fmla="val 259"/>
              </a:avLst>
            </a:prstGeom>
            <a:solidFill>
              <a:srgbClr val="FFFF99"/>
            </a:solidFill>
            <a:ln w="93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endParaRPr lang="en-US"/>
            </a:p>
          </p:txBody>
        </p:sp>
        <p:sp>
          <p:nvSpPr>
            <p:cNvPr id="11" name="AutoShape 6"/>
            <p:cNvSpPr>
              <a:spLocks noChangeArrowheads="1"/>
            </p:cNvSpPr>
            <p:nvPr/>
          </p:nvSpPr>
          <p:spPr bwMode="auto">
            <a:xfrm>
              <a:off x="1815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12" name="AutoShape 7"/>
            <p:cNvSpPr>
              <a:spLocks noChangeArrowheads="1"/>
            </p:cNvSpPr>
            <p:nvPr/>
          </p:nvSpPr>
          <p:spPr bwMode="auto">
            <a:xfrm>
              <a:off x="2823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3</a:t>
              </a:r>
            </a:p>
          </p:txBody>
        </p:sp>
        <p:sp>
          <p:nvSpPr>
            <p:cNvPr id="13" name="AutoShape 8"/>
            <p:cNvSpPr>
              <a:spLocks noChangeArrowheads="1"/>
            </p:cNvSpPr>
            <p:nvPr/>
          </p:nvSpPr>
          <p:spPr bwMode="auto">
            <a:xfrm>
              <a:off x="3399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14" name="Line 9"/>
            <p:cNvSpPr>
              <a:spLocks noChangeShapeType="1"/>
            </p:cNvSpPr>
            <p:nvPr/>
          </p:nvSpPr>
          <p:spPr bwMode="auto">
            <a:xfrm>
              <a:off x="4695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Line 10"/>
            <p:cNvSpPr>
              <a:spLocks noChangeShapeType="1"/>
            </p:cNvSpPr>
            <p:nvPr/>
          </p:nvSpPr>
          <p:spPr bwMode="auto">
            <a:xfrm>
              <a:off x="1383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>
              <a:off x="3111" y="2325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Line 12"/>
            <p:cNvSpPr>
              <a:spLocks noChangeShapeType="1"/>
            </p:cNvSpPr>
            <p:nvPr/>
          </p:nvSpPr>
          <p:spPr bwMode="auto">
            <a:xfrm>
              <a:off x="2823" y="2325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2823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Line 14"/>
            <p:cNvSpPr>
              <a:spLocks noChangeShapeType="1"/>
            </p:cNvSpPr>
            <p:nvPr/>
          </p:nvSpPr>
          <p:spPr bwMode="auto">
            <a:xfrm>
              <a:off x="181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AutoShape 15"/>
            <p:cNvSpPr>
              <a:spLocks noChangeArrowheads="1"/>
            </p:cNvSpPr>
            <p:nvPr/>
          </p:nvSpPr>
          <p:spPr bwMode="auto">
            <a:xfrm>
              <a:off x="2727" y="2805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7</a:t>
              </a:r>
            </a:p>
          </p:txBody>
        </p:sp>
        <p:sp>
          <p:nvSpPr>
            <p:cNvPr id="21" name="AutoShape 16"/>
            <p:cNvSpPr>
              <a:spLocks noChangeArrowheads="1"/>
            </p:cNvSpPr>
            <p:nvPr/>
          </p:nvSpPr>
          <p:spPr bwMode="auto">
            <a:xfrm>
              <a:off x="1752" y="2809"/>
              <a:ext cx="195" cy="222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 dirty="0">
                  <a:solidFill>
                    <a:schemeClr val="tx1"/>
                  </a:solidFill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22" name="AutoShape 17"/>
            <p:cNvSpPr>
              <a:spLocks noChangeArrowheads="1"/>
            </p:cNvSpPr>
            <p:nvPr/>
          </p:nvSpPr>
          <p:spPr bwMode="auto">
            <a:xfrm>
              <a:off x="4523" y="2805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16</a:t>
              </a:r>
            </a:p>
          </p:txBody>
        </p:sp>
        <p:sp>
          <p:nvSpPr>
            <p:cNvPr id="23" name="AutoShape 18"/>
            <p:cNvSpPr>
              <a:spLocks noChangeArrowheads="1"/>
            </p:cNvSpPr>
            <p:nvPr/>
          </p:nvSpPr>
          <p:spPr bwMode="auto">
            <a:xfrm>
              <a:off x="1287" y="2805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0</a:t>
              </a:r>
            </a:p>
          </p:txBody>
        </p:sp>
        <p:sp>
          <p:nvSpPr>
            <p:cNvPr id="24" name="AutoShape 19"/>
            <p:cNvSpPr>
              <a:spLocks noChangeArrowheads="1"/>
            </p:cNvSpPr>
            <p:nvPr/>
          </p:nvSpPr>
          <p:spPr bwMode="auto">
            <a:xfrm>
              <a:off x="4119" y="2373"/>
              <a:ext cx="265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P</a:t>
              </a:r>
              <a:r>
                <a:rPr lang="en-GB" sz="1800" baseline="-25000">
                  <a:solidFill>
                    <a:schemeClr val="tx1"/>
                  </a:solidFill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25" name="Line 20"/>
            <p:cNvSpPr>
              <a:spLocks noChangeShapeType="1"/>
            </p:cNvSpPr>
            <p:nvPr/>
          </p:nvSpPr>
          <p:spPr bwMode="auto">
            <a:xfrm>
              <a:off x="3879" y="2325"/>
              <a:ext cx="1" cy="38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57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Line 22"/>
            <p:cNvSpPr>
              <a:spLocks noChangeShapeType="1"/>
            </p:cNvSpPr>
            <p:nvPr/>
          </p:nvSpPr>
          <p:spPr bwMode="auto">
            <a:xfrm>
              <a:off x="205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Line 23"/>
            <p:cNvSpPr>
              <a:spLocks noChangeShapeType="1"/>
            </p:cNvSpPr>
            <p:nvPr/>
          </p:nvSpPr>
          <p:spPr bwMode="auto">
            <a:xfrm>
              <a:off x="229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Line 24"/>
            <p:cNvSpPr>
              <a:spLocks noChangeShapeType="1"/>
            </p:cNvSpPr>
            <p:nvPr/>
          </p:nvSpPr>
          <p:spPr bwMode="auto">
            <a:xfrm>
              <a:off x="2487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Line 25"/>
            <p:cNvSpPr>
              <a:spLocks noChangeShapeType="1"/>
            </p:cNvSpPr>
            <p:nvPr/>
          </p:nvSpPr>
          <p:spPr bwMode="auto">
            <a:xfrm>
              <a:off x="2679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Line 26"/>
            <p:cNvSpPr>
              <a:spLocks noChangeShapeType="1"/>
            </p:cNvSpPr>
            <p:nvPr/>
          </p:nvSpPr>
          <p:spPr bwMode="auto">
            <a:xfrm>
              <a:off x="3111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AutoShape 27"/>
            <p:cNvSpPr>
              <a:spLocks noChangeArrowheads="1"/>
            </p:cNvSpPr>
            <p:nvPr/>
          </p:nvSpPr>
          <p:spPr bwMode="auto">
            <a:xfrm>
              <a:off x="3015" y="2805"/>
              <a:ext cx="196" cy="231"/>
            </a:xfrm>
            <a:prstGeom prst="roundRect">
              <a:avLst>
                <a:gd name="adj" fmla="val 509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8</a:t>
              </a:r>
            </a:p>
          </p:txBody>
        </p:sp>
        <p:sp>
          <p:nvSpPr>
            <p:cNvPr id="33" name="Line 28"/>
            <p:cNvSpPr>
              <a:spLocks noChangeShapeType="1"/>
            </p:cNvSpPr>
            <p:nvPr/>
          </p:nvSpPr>
          <p:spPr bwMode="auto">
            <a:xfrm>
              <a:off x="3351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Line 29"/>
            <p:cNvSpPr>
              <a:spLocks noChangeShapeType="1"/>
            </p:cNvSpPr>
            <p:nvPr/>
          </p:nvSpPr>
          <p:spPr bwMode="auto">
            <a:xfrm>
              <a:off x="3543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Line 30"/>
            <p:cNvSpPr>
              <a:spLocks noChangeShapeType="1"/>
            </p:cNvSpPr>
            <p:nvPr/>
          </p:nvSpPr>
          <p:spPr bwMode="auto">
            <a:xfrm>
              <a:off x="3735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Line 31"/>
            <p:cNvSpPr>
              <a:spLocks noChangeShapeType="1"/>
            </p:cNvSpPr>
            <p:nvPr/>
          </p:nvSpPr>
          <p:spPr bwMode="auto">
            <a:xfrm>
              <a:off x="3879" y="2709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AutoShape 32"/>
            <p:cNvSpPr>
              <a:spLocks noChangeArrowheads="1"/>
            </p:cNvSpPr>
            <p:nvPr/>
          </p:nvSpPr>
          <p:spPr bwMode="auto">
            <a:xfrm>
              <a:off x="3735" y="2805"/>
              <a:ext cx="276" cy="231"/>
            </a:xfrm>
            <a:prstGeom prst="roundRect">
              <a:avLst>
                <a:gd name="adj" fmla="val 431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1pPr>
              <a:lvl2pPr marL="742950" indent="-28575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2pPr>
              <a:lvl3pPr marL="11430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3pPr>
              <a:lvl4pPr marL="16002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4pPr>
              <a:lvl5pPr marL="2057400" indent="-228600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panose="02020603050405020304" pitchFamily="18" charset="0"/>
                  <a:cs typeface="Lucida Sans Unicode" panose="020B0602030504020204" pitchFamily="34" charset="0"/>
                </a:defRPr>
              </a:lvl9pPr>
            </a:lstStyle>
            <a:p>
              <a:pPr algn="ctr">
                <a:lnSpc>
                  <a:spcPct val="93000"/>
                </a:lnSpc>
                <a:spcBef>
                  <a:spcPts val="1125"/>
                </a:spcBef>
                <a:buClr>
                  <a:srgbClr val="000000"/>
                </a:buClr>
                <a:buSzPct val="100000"/>
                <a:buFont typeface="Helvetica" panose="020B0604020202020204" pitchFamily="34" charset="0"/>
                <a:buNone/>
              </a:pPr>
              <a:r>
                <a:rPr lang="en-GB" sz="1800">
                  <a:solidFill>
                    <a:schemeClr val="tx1"/>
                  </a:solidFill>
                  <a:latin typeface="Helvetica" panose="020B0604020202020204" pitchFamily="34" charset="0"/>
                </a:rPr>
                <a:t>12</a:t>
              </a:r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4119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>
              <a:off x="4311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4503" y="2638"/>
              <a:ext cx="1" cy="144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915482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Monotonic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Assumes, all the tasks run at regular interval i.e. tasks are periodic.</a:t>
            </a:r>
          </a:p>
          <a:p>
            <a:r>
              <a:rPr lang="en-US" dirty="0"/>
              <a:t>In RM scheduling, the priority is proportional to the frequency of execution.</a:t>
            </a:r>
          </a:p>
          <a:p>
            <a:r>
              <a:rPr lang="en-US" dirty="0"/>
              <a:t>If </a:t>
            </a:r>
            <a:r>
              <a:rPr lang="en-US" i="1" dirty="0" err="1"/>
              <a:t>i</a:t>
            </a:r>
            <a:r>
              <a:rPr lang="en-US" i="1" baseline="30000" dirty="0" err="1"/>
              <a:t>th</a:t>
            </a:r>
            <a:r>
              <a:rPr lang="en-US" dirty="0"/>
              <a:t> task has an execution time of </a:t>
            </a:r>
            <a:r>
              <a:rPr lang="en-US" i="1" dirty="0" err="1"/>
              <a:t>E</a:t>
            </a:r>
            <a:r>
              <a:rPr lang="en-US" i="1" baseline="-25000" dirty="0" err="1"/>
              <a:t>i</a:t>
            </a:r>
            <a:r>
              <a:rPr lang="en-US" baseline="-25000" dirty="0"/>
              <a:t> </a:t>
            </a:r>
            <a:r>
              <a:rPr lang="en-US" dirty="0"/>
              <a:t>and Period of </a:t>
            </a:r>
            <a:r>
              <a:rPr lang="en-US" i="1" dirty="0"/>
              <a:t>T</a:t>
            </a:r>
            <a:r>
              <a:rPr lang="en-US" i="1" baseline="-25000" dirty="0"/>
              <a:t>i</a:t>
            </a:r>
          </a:p>
          <a:p>
            <a:endParaRPr lang="en-US" i="1" baseline="-25000" dirty="0"/>
          </a:p>
          <a:p>
            <a:endParaRPr lang="en-US" i="1" baseline="-25000" dirty="0"/>
          </a:p>
          <a:p>
            <a:endParaRPr lang="en-US" i="1" baseline="-25000" dirty="0"/>
          </a:p>
          <a:p>
            <a:endParaRPr lang="en-US" i="1" baseline="-25000" dirty="0"/>
          </a:p>
          <a:p>
            <a:endParaRPr lang="en-US" i="1" baseline="-25000" dirty="0"/>
          </a:p>
          <a:p>
            <a:r>
              <a:rPr lang="en-US" dirty="0"/>
              <a:t> If </a:t>
            </a:r>
            <a:r>
              <a:rPr lang="en-US" i="1" dirty="0"/>
              <a:t>n</a:t>
            </a:r>
            <a:r>
              <a:rPr lang="en-US" dirty="0"/>
              <a:t> is the total number of tasks, then the given tasks are schedulable if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34BF-61B1-45CC-B63C-4379291F734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69602" y="4782283"/>
            <a:ext cx="2800350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25679" y="2943592"/>
            <a:ext cx="26574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J1(40, 120) </a:t>
            </a:r>
          </a:p>
          <a:p>
            <a:r>
              <a:rPr lang="en-US" dirty="0"/>
              <a:t>J2(80, 180)</a:t>
            </a:r>
          </a:p>
          <a:p>
            <a:r>
              <a:rPr lang="en-US" dirty="0"/>
              <a:t>J3(120,240)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Total CPU utilization :  </a:t>
            </a:r>
          </a:p>
          <a:p>
            <a:pPr>
              <a:buNone/>
            </a:pPr>
            <a:r>
              <a:rPr lang="en-US" dirty="0"/>
              <a:t>			</a:t>
            </a:r>
          </a:p>
          <a:p>
            <a:pPr>
              <a:buNone/>
            </a:pPr>
            <a:r>
              <a:rPr lang="en-US" dirty="0"/>
              <a:t>	Tasks are not schedulable.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834BF-61B1-45CC-B63C-4379291F7349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23418" y="2824529"/>
            <a:ext cx="2982792" cy="648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95305" y="2799252"/>
            <a:ext cx="1473811" cy="57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Half Frame 7"/>
          <p:cNvSpPr/>
          <p:nvPr/>
        </p:nvSpPr>
        <p:spPr>
          <a:xfrm rot="8163091">
            <a:off x="5663791" y="2864729"/>
            <a:ext cx="559615" cy="557041"/>
          </a:xfrm>
          <a:prstGeom prst="halfFrame">
            <a:avLst>
              <a:gd name="adj1" fmla="val 6387"/>
              <a:gd name="adj2" fmla="val 758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inal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BF3A326-E0F2-458B-ADC6-91E2B032FF78}" vid="{EC770326-6E95-4AAE-BA49-72FE5D79A09A}"/>
    </a:ext>
  </a:extLst>
</a:theme>
</file>

<file path=ppt/theme/theme3.xml><?xml version="1.0" encoding="utf-8"?>
<a:theme xmlns:a="http://schemas.openxmlformats.org/drawingml/2006/main" name="paragn_sit_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gn_sit_theme" id="{BD3231FE-5E21-4D11-A252-C1C8DC27964D}" vid="{B83526E4-3D51-4F0B-B9C2-A37A20B429E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t2</Template>
  <TotalTime>4781</TotalTime>
  <Words>1050</Words>
  <Application>Microsoft Office PowerPoint</Application>
  <PresentationFormat>On-screen Show (4:3)</PresentationFormat>
  <Paragraphs>398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Calibri Light</vt:lpstr>
      <vt:lpstr>Cambria</vt:lpstr>
      <vt:lpstr>Heltevica</vt:lpstr>
      <vt:lpstr>Helvetica</vt:lpstr>
      <vt:lpstr>Times New Roman</vt:lpstr>
      <vt:lpstr>Verdana</vt:lpstr>
      <vt:lpstr>2_Custom Design</vt:lpstr>
      <vt:lpstr>1_final</vt:lpstr>
      <vt:lpstr>paragn_sit_theme</vt:lpstr>
      <vt:lpstr>PowerPoint Presentation</vt:lpstr>
      <vt:lpstr>SCHEDULING CRITERIA</vt:lpstr>
      <vt:lpstr>OPTIMIZATION CRITERIA</vt:lpstr>
      <vt:lpstr>SINGLE PROCESSOR SCHEDULING ALGORITHMS</vt:lpstr>
      <vt:lpstr>PowerPoint Presentation</vt:lpstr>
      <vt:lpstr>FIRST-COME, FIRST-SERVED (FCFS)</vt:lpstr>
      <vt:lpstr>FCFS</vt:lpstr>
      <vt:lpstr>FCFS</vt:lpstr>
      <vt:lpstr>FCFS – PROS &amp; CONS</vt:lpstr>
      <vt:lpstr>SHORTEST JOB FIRST (SJF)</vt:lpstr>
      <vt:lpstr>NON-PREEMPTIVE SJF</vt:lpstr>
      <vt:lpstr>NON-PREEMPTIVE SJF</vt:lpstr>
      <vt:lpstr>PREEMPTIVE SJF</vt:lpstr>
      <vt:lpstr>ROUND ROBIN SCHEDULING</vt:lpstr>
      <vt:lpstr>ROUND ROBIN SCHEDULING</vt:lpstr>
      <vt:lpstr>PROS &amp; CONS</vt:lpstr>
      <vt:lpstr>PRIORITY SCHEDULING</vt:lpstr>
      <vt:lpstr>Rate Monotonic Scheduling</vt:lpstr>
      <vt:lpstr>RMS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SENSOR FUSION USING COMPLEMENTARY FILTER</dc:title>
  <dc:creator>Thinkcentre</dc:creator>
  <cp:lastModifiedBy>Shripad Deshpande</cp:lastModifiedBy>
  <cp:revision>636</cp:revision>
  <dcterms:created xsi:type="dcterms:W3CDTF">2015-10-13T04:50:56Z</dcterms:created>
  <dcterms:modified xsi:type="dcterms:W3CDTF">2025-05-03T12:41:38Z</dcterms:modified>
</cp:coreProperties>
</file>