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66" r:id="rId2"/>
    <p:sldId id="258" r:id="rId3"/>
    <p:sldId id="259" r:id="rId4"/>
    <p:sldId id="262" r:id="rId5"/>
    <p:sldId id="263" r:id="rId6"/>
    <p:sldId id="264" r:id="rId7"/>
    <p:sldId id="265" r:id="rId8"/>
    <p:sldId id="268" r:id="rId9"/>
    <p:sldId id="337" r:id="rId10"/>
    <p:sldId id="332" r:id="rId11"/>
    <p:sldId id="333" r:id="rId12"/>
    <p:sldId id="334" r:id="rId13"/>
    <p:sldId id="335" r:id="rId14"/>
    <p:sldId id="336" r:id="rId15"/>
    <p:sldId id="367" r:id="rId16"/>
    <p:sldId id="257" r:id="rId17"/>
    <p:sldId id="368" r:id="rId18"/>
    <p:sldId id="369" r:id="rId19"/>
    <p:sldId id="370" r:id="rId20"/>
    <p:sldId id="260" r:id="rId21"/>
    <p:sldId id="371" r:id="rId22"/>
    <p:sldId id="372" r:id="rId23"/>
    <p:sldId id="373" r:id="rId24"/>
    <p:sldId id="374"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650D78A-5224-4CB5-BB4D-D00426FBAAA4}" type="datetimeFigureOut">
              <a:rPr lang="en-US" smtClean="0"/>
              <a:pPr/>
              <a:t>5/18/2024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650D78A-5224-4CB5-BB4D-D00426FBAAA4}" type="datetimeFigureOut">
              <a:rPr lang="en-US" smtClean="0"/>
              <a:pPr/>
              <a:t>5/18/2024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50D78A-5224-4CB5-BB4D-D00426FBAAA4}" type="datetimeFigureOut">
              <a:rPr lang="en-US" smtClean="0"/>
              <a:pPr/>
              <a:t>5/18/2024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650D78A-5224-4CB5-BB4D-D00426FBAAA4}" type="datetimeFigureOut">
              <a:rPr lang="en-US" smtClean="0"/>
              <a:pPr/>
              <a:t>5/18/2024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650D78A-5224-4CB5-BB4D-D00426FBAAA4}" type="datetimeFigureOut">
              <a:rPr lang="en-US" smtClean="0"/>
              <a:pPr/>
              <a:t>5/18/2024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650D78A-5224-4CB5-BB4D-D00426FBAAA4}" type="datetimeFigureOut">
              <a:rPr lang="en-US" smtClean="0"/>
              <a:pPr/>
              <a:t>5/18/2024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50D78A-5224-4CB5-BB4D-D00426FBAAA4}" type="datetimeFigureOut">
              <a:rPr lang="en-US" smtClean="0"/>
              <a:pPr/>
              <a:t>5/18/2024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50D78A-5224-4CB5-BB4D-D00426FBAAA4}" type="datetimeFigureOut">
              <a:rPr lang="en-US" smtClean="0"/>
              <a:pPr/>
              <a:t>5/18/2024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50D78A-5224-4CB5-BB4D-D00426FBAAA4}" type="datetimeFigureOut">
              <a:rPr lang="en-US" smtClean="0"/>
              <a:pPr/>
              <a:t>5/18/2024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650D78A-5224-4CB5-BB4D-D00426FBAAA4}" type="datetimeFigureOut">
              <a:rPr lang="en-US" smtClean="0"/>
              <a:pPr/>
              <a:t>5/18/2024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650D78A-5224-4CB5-BB4D-D00426FBAAA4}" type="datetimeFigureOut">
              <a:rPr lang="en-US" smtClean="0"/>
              <a:pPr/>
              <a:t>5/18/2024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F332CE-0119-479D-996B-626D015DC57D}"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3D742D1-7BF0-48ED-ADAF-9E3A1836E61B}"/>
              </a:ext>
            </a:extLst>
          </p:cNvPr>
          <p:cNvSpPr/>
          <p:nvPr/>
        </p:nvSpPr>
        <p:spPr>
          <a:xfrm>
            <a:off x="0" y="4735808"/>
            <a:ext cx="9144000" cy="2122193"/>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3C5F9472-A0F2-4550-9734-62C795442E30}"/>
              </a:ext>
            </a:extLst>
          </p:cNvPr>
          <p:cNvSpPr>
            <a:spLocks noGrp="1"/>
          </p:cNvSpPr>
          <p:nvPr>
            <p:ph type="ctrTitle"/>
          </p:nvPr>
        </p:nvSpPr>
        <p:spPr>
          <a:xfrm>
            <a:off x="1142999" y="2657918"/>
            <a:ext cx="6858000" cy="1655478"/>
          </a:xfrm>
        </p:spPr>
        <p:txBody>
          <a:bodyPr anchor="ctr"/>
          <a:lstStyle>
            <a:lvl1pPr algn="ctr">
              <a:defRPr sz="6000" b="1">
                <a:solidFill>
                  <a:srgbClr val="002060"/>
                </a:solidFill>
                <a:latin typeface="Heltevica"/>
              </a:defRPr>
            </a:lvl1pPr>
          </a:lstStyle>
          <a:p>
            <a:r>
              <a:rPr lang="en-US"/>
              <a:t>Click to edit Master title style</a:t>
            </a:r>
            <a:endParaRPr lang="en-IN" dirty="0"/>
          </a:p>
        </p:txBody>
      </p:sp>
      <p:sp>
        <p:nvSpPr>
          <p:cNvPr id="3" name="Subtitle 2">
            <a:extLst>
              <a:ext uri="{FF2B5EF4-FFF2-40B4-BE49-F238E27FC236}">
                <a16:creationId xmlns:a16="http://schemas.microsoft.com/office/drawing/2014/main" id="{106664E1-9485-4079-B9A8-E082A5C72AAE}"/>
              </a:ext>
            </a:extLst>
          </p:cNvPr>
          <p:cNvSpPr>
            <a:spLocks noGrp="1"/>
          </p:cNvSpPr>
          <p:nvPr>
            <p:ph type="subTitle" idx="1" hasCustomPrompt="1"/>
          </p:nvPr>
        </p:nvSpPr>
        <p:spPr>
          <a:xfrm>
            <a:off x="1143000" y="4989529"/>
            <a:ext cx="6858000" cy="508721"/>
          </a:xfrm>
        </p:spPr>
        <p:txBody>
          <a:bodyPr anchor="ctr">
            <a:normAutofit/>
          </a:bodyPr>
          <a:lstStyle>
            <a:lvl1pPr marL="0" indent="0" algn="ctr">
              <a:buNone/>
              <a:defRPr sz="2800">
                <a:solidFill>
                  <a:schemeClr val="bg1"/>
                </a:solidFill>
                <a:latin typeface="Heltevic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 of Faculty</a:t>
            </a:r>
          </a:p>
        </p:txBody>
      </p:sp>
      <p:sp>
        <p:nvSpPr>
          <p:cNvPr id="6" name="Slide Number Placeholder 5">
            <a:extLst>
              <a:ext uri="{FF2B5EF4-FFF2-40B4-BE49-F238E27FC236}">
                <a16:creationId xmlns:a16="http://schemas.microsoft.com/office/drawing/2014/main" id="{D25D7214-C4CD-498C-9834-C885BB9C4D0B}"/>
              </a:ext>
            </a:extLst>
          </p:cNvPr>
          <p:cNvSpPr>
            <a:spLocks noGrp="1"/>
          </p:cNvSpPr>
          <p:nvPr>
            <p:ph type="sldNum" sz="quarter" idx="12"/>
          </p:nvPr>
        </p:nvSpPr>
        <p:spPr/>
        <p:txBody>
          <a:bodyPr/>
          <a:lstStyle/>
          <a:p>
            <a:fld id="{9F3004CF-1B37-45E7-B160-2B0ACE45549B}" type="slidenum">
              <a:rPr lang="en-US" smtClean="0"/>
              <a:pPr/>
              <a:t>‹#›</a:t>
            </a:fld>
            <a:endParaRPr lang="en-US"/>
          </a:p>
        </p:txBody>
      </p:sp>
      <p:sp>
        <p:nvSpPr>
          <p:cNvPr id="15" name="Text Placeholder 14">
            <a:extLst>
              <a:ext uri="{FF2B5EF4-FFF2-40B4-BE49-F238E27FC236}">
                <a16:creationId xmlns:a16="http://schemas.microsoft.com/office/drawing/2014/main" id="{11C1536E-590E-4BA0-BAD4-4BEA88F0BF3E}"/>
              </a:ext>
            </a:extLst>
          </p:cNvPr>
          <p:cNvSpPr>
            <a:spLocks noGrp="1"/>
          </p:cNvSpPr>
          <p:nvPr>
            <p:ph type="body" sz="quarter" idx="13" hasCustomPrompt="1"/>
          </p:nvPr>
        </p:nvSpPr>
        <p:spPr>
          <a:xfrm>
            <a:off x="1142999" y="1892448"/>
            <a:ext cx="6858000" cy="310144"/>
          </a:xfrm>
        </p:spPr>
        <p:txBody>
          <a:bodyPr>
            <a:noAutofit/>
          </a:bodyPr>
          <a:lstStyle>
            <a:lvl1pPr marL="0" indent="0" algn="ctr">
              <a:buNone/>
              <a:defRPr sz="2000"/>
            </a:lvl1pPr>
          </a:lstStyle>
          <a:p>
            <a:pPr lvl="0"/>
            <a:r>
              <a:rPr lang="en-US" dirty="0"/>
              <a:t>Name of the Course</a:t>
            </a:r>
          </a:p>
        </p:txBody>
      </p:sp>
      <p:sp>
        <p:nvSpPr>
          <p:cNvPr id="17" name="Text Placeholder 16">
            <a:extLst>
              <a:ext uri="{FF2B5EF4-FFF2-40B4-BE49-F238E27FC236}">
                <a16:creationId xmlns:a16="http://schemas.microsoft.com/office/drawing/2014/main" id="{4BAB6A75-82A7-4C99-B78D-F243936C3370}"/>
              </a:ext>
            </a:extLst>
          </p:cNvPr>
          <p:cNvSpPr>
            <a:spLocks noGrp="1"/>
          </p:cNvSpPr>
          <p:nvPr>
            <p:ph type="body" sz="quarter" idx="14" hasCustomPrompt="1"/>
          </p:nvPr>
        </p:nvSpPr>
        <p:spPr>
          <a:xfrm>
            <a:off x="1142999" y="2320790"/>
            <a:ext cx="6858000" cy="310145"/>
          </a:xfrm>
        </p:spPr>
        <p:txBody>
          <a:bodyPr>
            <a:normAutofit/>
          </a:bodyPr>
          <a:lstStyle>
            <a:lvl1pPr marL="0" indent="0" algn="ctr">
              <a:buNone/>
              <a:defRPr lang="en-US" sz="1600" kern="1200" dirty="0" smtClean="0">
                <a:solidFill>
                  <a:schemeClr val="tx1"/>
                </a:solidFill>
                <a:latin typeface="Heltevica"/>
                <a:ea typeface="+mn-ea"/>
                <a:cs typeface="+mn-cs"/>
              </a:defRPr>
            </a:lvl1pPr>
          </a:lstStyle>
          <a:p>
            <a:pPr lvl="0"/>
            <a:r>
              <a:rPr lang="en-US" dirty="0"/>
              <a:t>Topic No</a:t>
            </a:r>
          </a:p>
        </p:txBody>
      </p:sp>
    </p:spTree>
    <p:extLst>
      <p:ext uri="{BB962C8B-B14F-4D97-AF65-F5344CB8AC3E}">
        <p14:creationId xmlns:p14="http://schemas.microsoft.com/office/powerpoint/2010/main" val="1500377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50D78A-5224-4CB5-BB4D-D00426FBAAA4}" type="datetimeFigureOut">
              <a:rPr lang="en-US" smtClean="0"/>
              <a:pPr/>
              <a:t>5/18/2024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F332CE-0119-479D-996B-626D015DC57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lnSpcReduction="10000"/>
          </a:bodyPr>
          <a:lstStyle/>
          <a:p>
            <a:r>
              <a:rPr lang="en-US" dirty="0" err="1"/>
              <a:t>Shripad</a:t>
            </a:r>
            <a:r>
              <a:rPr lang="en-US" dirty="0"/>
              <a:t> V </a:t>
            </a:r>
            <a:r>
              <a:rPr lang="en-US" dirty="0" err="1"/>
              <a:t>Deshpande</a:t>
            </a:r>
            <a:endParaRPr lang="en-US" dirty="0"/>
          </a:p>
        </p:txBody>
      </p:sp>
      <p:sp>
        <p:nvSpPr>
          <p:cNvPr id="10" name="Title 3">
            <a:extLst>
              <a:ext uri="{FF2B5EF4-FFF2-40B4-BE49-F238E27FC236}">
                <a16:creationId xmlns:a16="http://schemas.microsoft.com/office/drawing/2014/main" id="{F6F0AE34-63F6-F533-D947-7471556424A9}"/>
              </a:ext>
            </a:extLst>
          </p:cNvPr>
          <p:cNvSpPr txBox="1">
            <a:spLocks/>
          </p:cNvSpPr>
          <p:nvPr/>
        </p:nvSpPr>
        <p:spPr>
          <a:xfrm>
            <a:off x="1219200" y="389986"/>
            <a:ext cx="6858000" cy="68718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1" kern="1200">
                <a:solidFill>
                  <a:srgbClr val="002060"/>
                </a:solidFill>
                <a:latin typeface="Heltevica"/>
                <a:ea typeface="+mj-ea"/>
                <a:cs typeface="+mj-cs"/>
              </a:defRPr>
            </a:lvl1pPr>
          </a:lstStyle>
          <a:p>
            <a:r>
              <a:rPr lang="en-US" sz="4000" dirty="0">
                <a:latin typeface="Times New Roman" panose="02020603050405020304" pitchFamily="18" charset="0"/>
                <a:cs typeface="Times New Roman" panose="02020603050405020304" pitchFamily="18" charset="0"/>
              </a:rPr>
              <a:t>Embedded Operating Systems</a:t>
            </a:r>
          </a:p>
        </p:txBody>
      </p:sp>
      <p:sp>
        <p:nvSpPr>
          <p:cNvPr id="11" name="Title 3">
            <a:extLst>
              <a:ext uri="{FF2B5EF4-FFF2-40B4-BE49-F238E27FC236}">
                <a16:creationId xmlns:a16="http://schemas.microsoft.com/office/drawing/2014/main" id="{8566400D-B781-CEB9-61BE-840AAD125B6D}"/>
              </a:ext>
            </a:extLst>
          </p:cNvPr>
          <p:cNvSpPr txBox="1">
            <a:spLocks/>
          </p:cNvSpPr>
          <p:nvPr/>
        </p:nvSpPr>
        <p:spPr>
          <a:xfrm>
            <a:off x="1066800" y="1757551"/>
            <a:ext cx="6858000" cy="75991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1" kern="1200">
                <a:solidFill>
                  <a:srgbClr val="002060"/>
                </a:solidFill>
                <a:latin typeface="Heltevica"/>
                <a:ea typeface="+mj-ea"/>
                <a:cs typeface="+mj-cs"/>
              </a:defRPr>
            </a:lvl1pPr>
          </a:lstStyle>
          <a:p>
            <a:r>
              <a:rPr lang="en-US" sz="2800" dirty="0">
                <a:solidFill>
                  <a:schemeClr val="accent2">
                    <a:lumMod val="75000"/>
                  </a:schemeClr>
                </a:solidFill>
                <a:latin typeface="Times New Roman" panose="02020603050405020304" pitchFamily="18" charset="0"/>
                <a:cs typeface="Times New Roman" panose="02020603050405020304" pitchFamily="18" charset="0"/>
              </a:rPr>
              <a:t>3.4 Mutual Exclusion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Synchronization</a:t>
            </a:r>
          </a:p>
        </p:txBody>
      </p:sp>
      <p:sp>
        <p:nvSpPr>
          <p:cNvPr id="3" name="Content Placeholder 2"/>
          <p:cNvSpPr>
            <a:spLocks noGrp="1"/>
          </p:cNvSpPr>
          <p:nvPr>
            <p:ph idx="1"/>
          </p:nvPr>
        </p:nvSpPr>
        <p:spPr>
          <a:xfrm>
            <a:off x="457200" y="1219200"/>
            <a:ext cx="8229600" cy="4906963"/>
          </a:xfrm>
        </p:spPr>
        <p:txBody>
          <a:bodyPr>
            <a:normAutofit fontScale="85000" lnSpcReduction="10000"/>
          </a:bodyPr>
          <a:lstStyle/>
          <a:p>
            <a:r>
              <a:rPr lang="en-US" dirty="0"/>
              <a:t>In multitasking environment, multiple processes run concurrently and share the system resources like memory, variables, I/</a:t>
            </a:r>
            <a:r>
              <a:rPr lang="en-US" dirty="0" err="1"/>
              <a:t>Os</a:t>
            </a:r>
            <a:r>
              <a:rPr lang="en-US" dirty="0"/>
              <a:t>. [An Example of Train A, B.]</a:t>
            </a:r>
          </a:p>
          <a:p>
            <a:r>
              <a:rPr lang="en-US" dirty="0"/>
              <a:t>If a task tries to write to a memory location which is read by another task, it will result into unexpected operations.</a:t>
            </a:r>
          </a:p>
          <a:p>
            <a:r>
              <a:rPr lang="en-US" dirty="0"/>
              <a:t>The act of making processes aware of the access of shared resources by each process to avoid conflicts is known as “Task Synchronization”.</a:t>
            </a:r>
          </a:p>
          <a:p>
            <a:r>
              <a:rPr lang="en-US" dirty="0"/>
              <a:t>If Task Synchronization is not there, several issues will come into picture.</a:t>
            </a:r>
          </a:p>
          <a:p>
            <a:r>
              <a:rPr lang="en-US" dirty="0"/>
              <a:t>These issues are (1) Racing (2) Deadlocks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US" dirty="0"/>
              <a:t>Racing</a:t>
            </a:r>
          </a:p>
        </p:txBody>
      </p:sp>
      <p:sp>
        <p:nvSpPr>
          <p:cNvPr id="3" name="Content Placeholder 2"/>
          <p:cNvSpPr>
            <a:spLocks noGrp="1"/>
          </p:cNvSpPr>
          <p:nvPr>
            <p:ph idx="1"/>
          </p:nvPr>
        </p:nvSpPr>
        <p:spPr>
          <a:xfrm>
            <a:off x="457200" y="1142984"/>
            <a:ext cx="8229600" cy="4525963"/>
          </a:xfrm>
        </p:spPr>
        <p:txBody>
          <a:bodyPr>
            <a:noAutofit/>
          </a:bodyPr>
          <a:lstStyle/>
          <a:p>
            <a:r>
              <a:rPr lang="en-US" sz="2400" dirty="0"/>
              <a:t>To understand the issues, you must be aware of atomic/non-atomic operations.</a:t>
            </a:r>
          </a:p>
          <a:p>
            <a:r>
              <a:rPr lang="en-US" sz="2400" dirty="0"/>
              <a:t>An atomic operation is one that can be performed in a single step, without the possibility of interruption.</a:t>
            </a:r>
          </a:p>
          <a:p>
            <a:r>
              <a:rPr lang="en-US" sz="2400" dirty="0"/>
              <a:t>For example an operation “</a:t>
            </a:r>
            <a:r>
              <a:rPr lang="en-US" sz="2400" dirty="0" err="1"/>
              <a:t>Var</a:t>
            </a:r>
            <a:r>
              <a:rPr lang="en-US" sz="2400" dirty="0"/>
              <a:t>++” in a C language is a non-atomic operation, since it requires memory read, increment and memory write kind of tasks.</a:t>
            </a:r>
          </a:p>
          <a:p>
            <a:r>
              <a:rPr lang="en-US" sz="2400" dirty="0"/>
              <a:t>Between Read and Write of variable “</a:t>
            </a:r>
            <a:r>
              <a:rPr lang="en-US" sz="2400" dirty="0" err="1"/>
              <a:t>Var</a:t>
            </a:r>
            <a:r>
              <a:rPr lang="en-US" sz="2400" dirty="0"/>
              <a:t>”, task switching can occur and the new task may access the same variable! – Undesirable results will be there!</a:t>
            </a:r>
          </a:p>
          <a:p>
            <a:r>
              <a:rPr lang="en-US" sz="2400" dirty="0"/>
              <a:t>This situation is referred as “Racing”.</a:t>
            </a:r>
          </a:p>
          <a:p>
            <a:r>
              <a:rPr lang="en-US" sz="2400" dirty="0"/>
              <a:t>Racing is the situation in which multiple processes compete (race) each other to access and manipulate shared data concurrently!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for race condition</a:t>
            </a:r>
          </a:p>
        </p:txBody>
      </p:sp>
      <p:sp>
        <p:nvSpPr>
          <p:cNvPr id="3" name="Content Placeholder 2"/>
          <p:cNvSpPr>
            <a:spLocks noGrp="1"/>
          </p:cNvSpPr>
          <p:nvPr>
            <p:ph idx="1"/>
          </p:nvPr>
        </p:nvSpPr>
        <p:spPr/>
        <p:txBody>
          <a:bodyPr>
            <a:normAutofit/>
          </a:bodyPr>
          <a:lstStyle/>
          <a:p>
            <a:r>
              <a:rPr lang="en-US" dirty="0"/>
              <a:t>The simplest solution : Disable the interrupts during the usage of a variable.</a:t>
            </a:r>
          </a:p>
          <a:p>
            <a:r>
              <a:rPr lang="en-US" dirty="0"/>
              <a:t>Interrupt disabled -&gt; No task switching -&gt; No corruption of data by other tasks.</a:t>
            </a:r>
          </a:p>
          <a:p>
            <a:r>
              <a:rPr lang="en-US" dirty="0"/>
              <a:t>But … this solution may increase the interrupt latency. Hence not desirable at all.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Mutual Exclusion</a:t>
            </a:r>
          </a:p>
        </p:txBody>
      </p:sp>
      <p:sp>
        <p:nvSpPr>
          <p:cNvPr id="3" name="Content Placeholder 2"/>
          <p:cNvSpPr>
            <a:spLocks noGrp="1"/>
          </p:cNvSpPr>
          <p:nvPr>
            <p:ph idx="1"/>
          </p:nvPr>
        </p:nvSpPr>
        <p:spPr>
          <a:xfrm>
            <a:off x="457200" y="1417638"/>
            <a:ext cx="8229600" cy="5135562"/>
          </a:xfrm>
        </p:spPr>
        <p:txBody>
          <a:bodyPr>
            <a:normAutofit lnSpcReduction="10000"/>
          </a:bodyPr>
          <a:lstStyle/>
          <a:p>
            <a:r>
              <a:rPr lang="en-US" dirty="0"/>
              <a:t>only one process can hold a resource at a time. Critical section of code also under this category.</a:t>
            </a:r>
          </a:p>
          <a:p>
            <a:r>
              <a:rPr lang="en-US" dirty="0"/>
              <a:t>semaphore is a technique for implementation of mutual exclusion for the shared resources. It’s a flag which is a system resource.</a:t>
            </a:r>
          </a:p>
          <a:p>
            <a:r>
              <a:rPr lang="en-US" dirty="0"/>
              <a:t>The process which wants to access the shared resource can first acquire this system object </a:t>
            </a:r>
            <a:r>
              <a:rPr lang="en-US" dirty="0">
                <a:solidFill>
                  <a:schemeClr val="accent2">
                    <a:lumMod val="75000"/>
                  </a:schemeClr>
                </a:solidFill>
              </a:rPr>
              <a:t>to indicate </a:t>
            </a:r>
            <a:r>
              <a:rPr lang="en-US" dirty="0"/>
              <a:t>all the other processes that the </a:t>
            </a:r>
            <a:r>
              <a:rPr lang="en-US" dirty="0">
                <a:solidFill>
                  <a:schemeClr val="accent2">
                    <a:lumMod val="75000"/>
                  </a:schemeClr>
                </a:solidFill>
              </a:rPr>
              <a:t>shared resource is currently acquired by it</a:t>
            </a:r>
            <a:r>
              <a:rPr lang="en-US"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Semaphore as an Event - Signaling or Notifying Variable</a:t>
            </a:r>
          </a:p>
        </p:txBody>
      </p:sp>
      <p:sp>
        <p:nvSpPr>
          <p:cNvPr id="3" name="Content Placeholder 2"/>
          <p:cNvSpPr>
            <a:spLocks noGrp="1"/>
          </p:cNvSpPr>
          <p:nvPr>
            <p:ph idx="1"/>
          </p:nvPr>
        </p:nvSpPr>
        <p:spPr>
          <a:xfrm>
            <a:off x="457200" y="1600200"/>
            <a:ext cx="8229600" cy="4876800"/>
          </a:xfrm>
        </p:spPr>
        <p:txBody>
          <a:bodyPr>
            <a:normAutofit fontScale="85000" lnSpcReduction="20000"/>
          </a:bodyPr>
          <a:lstStyle/>
          <a:p>
            <a:r>
              <a:rPr lang="en-US" dirty="0"/>
              <a:t>Let a binary Boolean variable ‘s’, represents the Semaphore. This Semaphore is used by OS for signaling or notifying of a certain action and for notifying the acceptance of the notice or signal.</a:t>
            </a:r>
          </a:p>
          <a:p>
            <a:r>
              <a:rPr lang="en-US" dirty="0"/>
              <a:t>Let ‘s’ increments from 0 to 1 for signaling or notifying occurrence of an event from a section of codes in a task or thread. When the event is taken note by a section in another task waiting for that event, </a:t>
            </a:r>
            <a:r>
              <a:rPr lang="en-US" u="sng" dirty="0">
                <a:solidFill>
                  <a:schemeClr val="accent2">
                    <a:lumMod val="75000"/>
                  </a:schemeClr>
                </a:solidFill>
              </a:rPr>
              <a:t>‘s’ decrements from 1 to 0 </a:t>
            </a:r>
            <a:r>
              <a:rPr lang="en-US" dirty="0"/>
              <a:t>and the waiting task can start it execution.</a:t>
            </a:r>
          </a:p>
          <a:p>
            <a:r>
              <a:rPr lang="en-US" dirty="0"/>
              <a:t>When any task wants to utilized shared resource, a semaphore associated with it must be examined first. If semaphore is ‘1’, it indicates that the resource is free, else the resource is occupied!</a:t>
            </a:r>
          </a:p>
        </p:txBody>
      </p:sp>
    </p:spTree>
    <p:extLst>
      <p:ext uri="{BB962C8B-B14F-4D97-AF65-F5344CB8AC3E}">
        <p14:creationId xmlns:p14="http://schemas.microsoft.com/office/powerpoint/2010/main" val="736886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Semaphores</a:t>
            </a:r>
          </a:p>
        </p:txBody>
      </p:sp>
      <p:sp>
        <p:nvSpPr>
          <p:cNvPr id="3" name="Content Placeholder 2"/>
          <p:cNvSpPr>
            <a:spLocks noGrp="1"/>
          </p:cNvSpPr>
          <p:nvPr>
            <p:ph idx="1"/>
          </p:nvPr>
        </p:nvSpPr>
        <p:spPr/>
        <p:txBody>
          <a:bodyPr>
            <a:normAutofit fontScale="85000" lnSpcReduction="10000"/>
          </a:bodyPr>
          <a:lstStyle/>
          <a:p>
            <a:r>
              <a:rPr lang="en-US" dirty="0"/>
              <a:t>The semaphore is of two types</a:t>
            </a:r>
          </a:p>
          <a:p>
            <a:pPr lvl="1">
              <a:buNone/>
            </a:pPr>
            <a:r>
              <a:rPr lang="en-US" dirty="0"/>
              <a:t>(1) Binary Semaphore (also known as </a:t>
            </a:r>
            <a:r>
              <a:rPr lang="en-US" dirty="0" err="1"/>
              <a:t>mutex</a:t>
            </a:r>
            <a:r>
              <a:rPr lang="en-US" dirty="0"/>
              <a:t>) </a:t>
            </a:r>
          </a:p>
          <a:p>
            <a:pPr lvl="1">
              <a:buNone/>
            </a:pPr>
            <a:r>
              <a:rPr lang="en-US" dirty="0"/>
              <a:t>(2) Counting Semaphore</a:t>
            </a:r>
          </a:p>
          <a:p>
            <a:r>
              <a:rPr lang="en-US" dirty="0"/>
              <a:t>Semaphore checking and setting must be done through atomic operation!!!</a:t>
            </a:r>
          </a:p>
          <a:p>
            <a:r>
              <a:rPr lang="en-US" dirty="0"/>
              <a:t>The instruction used should not be interruptible and block the system bus for the entire transaction so that no other process can be granted access between read and write accesses!!!</a:t>
            </a:r>
          </a:p>
          <a:p>
            <a:r>
              <a:rPr lang="en-US" dirty="0"/>
              <a:t>Swap and Exchange instructions are given by architectures for this purpose!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Semaphore Operations</a:t>
            </a:r>
          </a:p>
        </p:txBody>
      </p:sp>
      <p:sp>
        <p:nvSpPr>
          <p:cNvPr id="5" name="Content Placeholder 4"/>
          <p:cNvSpPr>
            <a:spLocks noGrp="1"/>
          </p:cNvSpPr>
          <p:nvPr>
            <p:ph idx="1"/>
          </p:nvPr>
        </p:nvSpPr>
        <p:spPr>
          <a:xfrm>
            <a:off x="457200" y="914400"/>
            <a:ext cx="8229600" cy="5657872"/>
          </a:xfrm>
        </p:spPr>
        <p:txBody>
          <a:bodyPr>
            <a:normAutofit fontScale="92500" lnSpcReduction="10000"/>
          </a:bodyPr>
          <a:lstStyle/>
          <a:p>
            <a:pPr algn="just"/>
            <a:r>
              <a:rPr lang="en-US" dirty="0"/>
              <a:t>Before accessing the semaphore, each task say for example task A needs to use OS function </a:t>
            </a:r>
            <a:r>
              <a:rPr lang="en-US" b="1" dirty="0" err="1">
                <a:solidFill>
                  <a:schemeClr val="accent2">
                    <a:lumMod val="50000"/>
                  </a:schemeClr>
                </a:solidFill>
              </a:rPr>
              <a:t>xSemaphoreTake</a:t>
            </a:r>
            <a:r>
              <a:rPr lang="en-US" b="1" dirty="0">
                <a:solidFill>
                  <a:schemeClr val="accent2">
                    <a:lumMod val="50000"/>
                  </a:schemeClr>
                </a:solidFill>
              </a:rPr>
              <a:t>(). </a:t>
            </a:r>
            <a:endParaRPr lang="en-US" dirty="0"/>
          </a:p>
          <a:p>
            <a:pPr lvl="1" algn="just"/>
            <a:r>
              <a:rPr lang="en-US" sz="3200" dirty="0"/>
              <a:t>If </a:t>
            </a:r>
            <a:r>
              <a:rPr lang="en-US" sz="3200" b="1" dirty="0">
                <a:solidFill>
                  <a:schemeClr val="accent2">
                    <a:lumMod val="50000"/>
                  </a:schemeClr>
                </a:solidFill>
              </a:rPr>
              <a:t>Semaphore = 0</a:t>
            </a:r>
            <a:r>
              <a:rPr lang="en-US" sz="3200" dirty="0"/>
              <a:t>, it indicates that the Semaphore (and hence the resource synchronized by the Semaphore) is already occupied and hence this task will have to wait until the Semaphore is released! </a:t>
            </a:r>
          </a:p>
          <a:p>
            <a:pPr lvl="1" algn="just"/>
            <a:r>
              <a:rPr lang="en-US" sz="3200" dirty="0"/>
              <a:t>If </a:t>
            </a:r>
            <a:r>
              <a:rPr lang="en-US" sz="3200" b="1" dirty="0">
                <a:solidFill>
                  <a:schemeClr val="accent2">
                    <a:lumMod val="50000"/>
                  </a:schemeClr>
                </a:solidFill>
              </a:rPr>
              <a:t>semaphore = 1</a:t>
            </a:r>
            <a:r>
              <a:rPr lang="en-US" sz="3200" dirty="0"/>
              <a:t>, then as a part of this function, OS returns the semaphore as accepted by decrementing the semaphore from 1 to 0. Now Task A gets the access to a resource.</a:t>
            </a:r>
            <a:r>
              <a:rPr lang="en-US"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US" dirty="0"/>
              <a:t>Semaphore Operations (contd.)</a:t>
            </a:r>
            <a:endParaRPr lang="en-IN" dirty="0"/>
          </a:p>
        </p:txBody>
      </p:sp>
      <p:sp>
        <p:nvSpPr>
          <p:cNvPr id="3" name="Content Placeholder 2"/>
          <p:cNvSpPr>
            <a:spLocks noGrp="1"/>
          </p:cNvSpPr>
          <p:nvPr>
            <p:ph idx="1"/>
          </p:nvPr>
        </p:nvSpPr>
        <p:spPr>
          <a:xfrm>
            <a:off x="457200" y="1000108"/>
            <a:ext cx="8229600" cy="5126055"/>
          </a:xfrm>
        </p:spPr>
        <p:txBody>
          <a:bodyPr>
            <a:normAutofit fontScale="92500" lnSpcReduction="20000"/>
          </a:bodyPr>
          <a:lstStyle/>
          <a:p>
            <a:pPr algn="just"/>
            <a:r>
              <a:rPr lang="en-US" dirty="0"/>
              <a:t>Task A after completion of access to a resource notifies to the OS about releasing the semaphore using an OS function </a:t>
            </a:r>
            <a:r>
              <a:rPr lang="en-US" b="1" dirty="0" err="1">
                <a:solidFill>
                  <a:schemeClr val="accent2">
                    <a:lumMod val="50000"/>
                  </a:schemeClr>
                </a:solidFill>
              </a:rPr>
              <a:t>xSemaphoreGive</a:t>
            </a:r>
            <a:r>
              <a:rPr lang="en-US" b="1" dirty="0">
                <a:solidFill>
                  <a:schemeClr val="accent2">
                    <a:lumMod val="50000"/>
                  </a:schemeClr>
                </a:solidFill>
              </a:rPr>
              <a:t>() </a:t>
            </a:r>
            <a:r>
              <a:rPr lang="en-US" dirty="0"/>
              <a:t>which releases the semaphore by incrementing it to from 0 to 1. This is very essential otherwise other tasks will be in waiting state for the Semaphore all the time.</a:t>
            </a:r>
          </a:p>
          <a:p>
            <a:pPr algn="just"/>
            <a:endParaRPr lang="en-US" dirty="0"/>
          </a:p>
          <a:p>
            <a:pPr algn="just"/>
            <a:r>
              <a:rPr lang="en-US" b="1" dirty="0">
                <a:solidFill>
                  <a:schemeClr val="accent2">
                    <a:lumMod val="50000"/>
                  </a:schemeClr>
                </a:solidFill>
              </a:rPr>
              <a:t>Take</a:t>
            </a:r>
            <a:r>
              <a:rPr lang="en-US" dirty="0">
                <a:solidFill>
                  <a:schemeClr val="accent2">
                    <a:lumMod val="75000"/>
                  </a:schemeClr>
                </a:solidFill>
              </a:rPr>
              <a:t> – Accept Semaphore &amp; Decremented from 1 to 0 (to notify OS about busy state of Semaphore), if Semaphore is occupied wait upon.</a:t>
            </a:r>
          </a:p>
          <a:p>
            <a:pPr algn="just"/>
            <a:r>
              <a:rPr lang="en-US" b="1" dirty="0">
                <a:solidFill>
                  <a:schemeClr val="accent2">
                    <a:lumMod val="50000"/>
                  </a:schemeClr>
                </a:solidFill>
              </a:rPr>
              <a:t>Give</a:t>
            </a:r>
            <a:r>
              <a:rPr lang="en-US" dirty="0">
                <a:solidFill>
                  <a:schemeClr val="accent2">
                    <a:lumMod val="75000"/>
                  </a:schemeClr>
                </a:solidFill>
              </a:rPr>
              <a:t> – Released – Incremented from 0 to 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idx="1"/>
          </p:nvPr>
        </p:nvSpPr>
        <p:spPr>
          <a:xfrm>
            <a:off x="457200" y="1285860"/>
            <a:ext cx="8229600" cy="4840303"/>
          </a:xfrm>
        </p:spPr>
        <p:txBody>
          <a:bodyPr>
            <a:normAutofit fontScale="85000" lnSpcReduction="20000"/>
          </a:bodyPr>
          <a:lstStyle/>
          <a:p>
            <a:pPr>
              <a:buNone/>
            </a:pPr>
            <a:r>
              <a:rPr lang="en-IN" dirty="0"/>
              <a:t>void task1(void *q)</a:t>
            </a:r>
          </a:p>
          <a:p>
            <a:pPr>
              <a:buNone/>
            </a:pPr>
            <a:r>
              <a:rPr lang="en-IN" dirty="0"/>
              <a:t>{ </a:t>
            </a:r>
          </a:p>
          <a:p>
            <a:pPr>
              <a:buNone/>
            </a:pPr>
            <a:r>
              <a:rPr lang="en-IN" dirty="0"/>
              <a:t>while(1) { </a:t>
            </a:r>
          </a:p>
          <a:p>
            <a:pPr>
              <a:buNone/>
            </a:pPr>
            <a:r>
              <a:rPr lang="en-IN" dirty="0"/>
              <a:t>	</a:t>
            </a:r>
            <a:r>
              <a:rPr lang="en-IN" dirty="0" err="1"/>
              <a:t>xSemaphoreTake</a:t>
            </a:r>
            <a:r>
              <a:rPr lang="en-IN" dirty="0"/>
              <a:t>(</a:t>
            </a:r>
            <a:r>
              <a:rPr lang="en-IN" dirty="0" err="1"/>
              <a:t>binarysem,portMAX_DELAY</a:t>
            </a:r>
            <a:r>
              <a:rPr lang="en-IN" dirty="0"/>
              <a:t>);</a:t>
            </a:r>
          </a:p>
          <a:p>
            <a:pPr>
              <a:buNone/>
            </a:pPr>
            <a:r>
              <a:rPr lang="en-IN" dirty="0"/>
              <a:t>     </a:t>
            </a:r>
            <a:r>
              <a:rPr lang="en-IN" dirty="0" err="1"/>
              <a:t>sendsserial</a:t>
            </a:r>
            <a:r>
              <a:rPr lang="en-IN" dirty="0"/>
              <a:t>("Task1 functioning");</a:t>
            </a:r>
          </a:p>
          <a:p>
            <a:pPr>
              <a:buNone/>
            </a:pPr>
            <a:r>
              <a:rPr lang="en-IN" dirty="0"/>
              <a:t>     </a:t>
            </a:r>
            <a:r>
              <a:rPr lang="en-IN" dirty="0" err="1"/>
              <a:t>sendsserial</a:t>
            </a:r>
            <a:r>
              <a:rPr lang="en-IN" dirty="0"/>
              <a:t>("\r\n");</a:t>
            </a:r>
          </a:p>
          <a:p>
            <a:pPr>
              <a:buNone/>
            </a:pPr>
            <a:r>
              <a:rPr lang="en-IN" dirty="0"/>
              <a:t>	 </a:t>
            </a:r>
            <a:r>
              <a:rPr lang="en-IN" dirty="0" err="1"/>
              <a:t>xSemaphoreGive</a:t>
            </a:r>
            <a:r>
              <a:rPr lang="en-IN" dirty="0"/>
              <a:t>(</a:t>
            </a:r>
            <a:r>
              <a:rPr lang="en-IN" dirty="0" err="1"/>
              <a:t>binarysem</a:t>
            </a:r>
            <a:r>
              <a:rPr lang="en-IN" dirty="0"/>
              <a:t>);</a:t>
            </a:r>
          </a:p>
          <a:p>
            <a:pPr>
              <a:buNone/>
            </a:pPr>
            <a:r>
              <a:rPr lang="en-IN" dirty="0"/>
              <a:t>	y++;</a:t>
            </a:r>
          </a:p>
          <a:p>
            <a:pPr>
              <a:buNone/>
            </a:pPr>
            <a:r>
              <a:rPr lang="en-IN" dirty="0" err="1"/>
              <a:t>vTaskDelay</a:t>
            </a:r>
            <a:r>
              <a:rPr lang="en-IN" dirty="0"/>
              <a:t>(5);</a:t>
            </a:r>
          </a:p>
          <a:p>
            <a:pPr>
              <a:buNone/>
            </a:pPr>
            <a:r>
              <a:rPr lang="en-IN" dirty="0"/>
              <a:t>}</a:t>
            </a:r>
          </a:p>
          <a:p>
            <a:pPr>
              <a:buNone/>
            </a:pPr>
            <a:r>
              <a:rPr lang="en-IN"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6">
                    <a:lumMod val="50000"/>
                  </a:schemeClr>
                </a:solidFill>
              </a:rPr>
              <a:t>Priority Inversion</a:t>
            </a:r>
          </a:p>
        </p:txBody>
      </p:sp>
      <p:sp>
        <p:nvSpPr>
          <p:cNvPr id="3" name="Content Placeholder 2"/>
          <p:cNvSpPr>
            <a:spLocks noGrp="1"/>
          </p:cNvSpPr>
          <p:nvPr>
            <p:ph idx="1"/>
          </p:nvPr>
        </p:nvSpPr>
        <p:spPr>
          <a:xfrm>
            <a:off x="304800" y="1214422"/>
            <a:ext cx="8610600" cy="4911741"/>
          </a:xfrm>
        </p:spPr>
        <p:txBody>
          <a:bodyPr>
            <a:normAutofit/>
          </a:bodyPr>
          <a:lstStyle/>
          <a:p>
            <a:pPr algn="just"/>
            <a:r>
              <a:rPr lang="en-US" dirty="0"/>
              <a:t>Priority inversion is the problem getting introduced due to lock based Task Synchronization implemented with Semaphore.</a:t>
            </a:r>
          </a:p>
          <a:p>
            <a:pPr algn="just"/>
            <a:r>
              <a:rPr lang="en-US" dirty="0"/>
              <a:t>It is a condition in which a high priority task needs to wait for a low priority task to release a resource which is shared between high and low priority tasks, and a medium priority task not requiring shared resource continue its execution by preempting the low priority task!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an0003.jpg"/>
          <p:cNvPicPr>
            <a:picLocks noGrp="1" noChangeAspect="1"/>
          </p:cNvPicPr>
          <p:nvPr>
            <p:ph idx="1"/>
          </p:nvPr>
        </p:nvPicPr>
        <p:blipFill rotWithShape="1">
          <a:blip r:embed="rId2" cstate="print"/>
          <a:srcRect r="7769"/>
          <a:stretch/>
        </p:blipFill>
        <p:spPr>
          <a:xfrm>
            <a:off x="533400" y="214290"/>
            <a:ext cx="8153400" cy="4288377"/>
          </a:xfrm>
        </p:spPr>
      </p:pic>
      <p:sp>
        <p:nvSpPr>
          <p:cNvPr id="5" name="TextBox 4"/>
          <p:cNvSpPr txBox="1"/>
          <p:nvPr/>
        </p:nvSpPr>
        <p:spPr>
          <a:xfrm>
            <a:off x="71406" y="5214950"/>
            <a:ext cx="2000263" cy="923330"/>
          </a:xfrm>
          <a:prstGeom prst="rect">
            <a:avLst/>
          </a:prstGeom>
          <a:solidFill>
            <a:schemeClr val="accent1">
              <a:alpha val="80000"/>
            </a:schemeClr>
          </a:solidFill>
        </p:spPr>
        <p:txBody>
          <a:bodyPr wrap="square" rtlCol="0">
            <a:spAutoFit/>
          </a:bodyPr>
          <a:lstStyle/>
          <a:p>
            <a:r>
              <a:rPr lang="en-IN" dirty="0"/>
              <a:t>Process C acquires shared variable using Semaphore</a:t>
            </a:r>
          </a:p>
        </p:txBody>
      </p:sp>
      <p:cxnSp>
        <p:nvCxnSpPr>
          <p:cNvPr id="7" name="Straight Arrow Connector 6"/>
          <p:cNvCxnSpPr>
            <a:stCxn id="5" idx="0"/>
          </p:cNvCxnSpPr>
          <p:nvPr/>
        </p:nvCxnSpPr>
        <p:spPr>
          <a:xfrm rot="5400000" flipH="1" flipV="1">
            <a:off x="821506" y="4321974"/>
            <a:ext cx="1143008" cy="6429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214546" y="5357826"/>
            <a:ext cx="2071702" cy="646331"/>
          </a:xfrm>
          <a:prstGeom prst="rect">
            <a:avLst/>
          </a:prstGeom>
          <a:solidFill>
            <a:srgbClr val="FFFF00"/>
          </a:solidFill>
        </p:spPr>
        <p:txBody>
          <a:bodyPr wrap="square" rtlCol="0">
            <a:spAutoFit/>
          </a:bodyPr>
          <a:lstStyle/>
          <a:p>
            <a:r>
              <a:rPr lang="en-IN" b="1" dirty="0">
                <a:solidFill>
                  <a:srgbClr val="FF0000"/>
                </a:solidFill>
              </a:rPr>
              <a:t>Process B </a:t>
            </a:r>
            <a:r>
              <a:rPr lang="en-IN" b="1" dirty="0" err="1">
                <a:solidFill>
                  <a:srgbClr val="FF0000"/>
                </a:solidFill>
              </a:rPr>
              <a:t>preempts</a:t>
            </a:r>
            <a:r>
              <a:rPr lang="en-IN" b="1" dirty="0">
                <a:solidFill>
                  <a:srgbClr val="FF0000"/>
                </a:solidFill>
              </a:rPr>
              <a:t> Process C </a:t>
            </a:r>
          </a:p>
        </p:txBody>
      </p:sp>
      <p:cxnSp>
        <p:nvCxnSpPr>
          <p:cNvPr id="11" name="Straight Arrow Connector 10"/>
          <p:cNvCxnSpPr>
            <a:stCxn id="9" idx="0"/>
          </p:cNvCxnSpPr>
          <p:nvPr/>
        </p:nvCxnSpPr>
        <p:spPr>
          <a:xfrm rot="16200000" flipV="1">
            <a:off x="1946654" y="4054082"/>
            <a:ext cx="1571636" cy="10358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429124" y="4714884"/>
            <a:ext cx="2071702" cy="2031325"/>
          </a:xfrm>
          <a:prstGeom prst="rect">
            <a:avLst/>
          </a:prstGeom>
          <a:solidFill>
            <a:srgbClr val="C00000">
              <a:alpha val="61000"/>
            </a:srgbClr>
          </a:solidFill>
        </p:spPr>
        <p:txBody>
          <a:bodyPr wrap="square" rtlCol="0">
            <a:spAutoFit/>
          </a:bodyPr>
          <a:lstStyle/>
          <a:p>
            <a:r>
              <a:rPr lang="en-IN" dirty="0"/>
              <a:t>Process A </a:t>
            </a:r>
            <a:r>
              <a:rPr lang="en-IN" dirty="0" err="1"/>
              <a:t>preempts</a:t>
            </a:r>
            <a:r>
              <a:rPr lang="en-IN" dirty="0"/>
              <a:t> Process B and tries to acquire shared variable using Semaphore &amp; then blocked immediately</a:t>
            </a:r>
          </a:p>
        </p:txBody>
      </p:sp>
      <p:cxnSp>
        <p:nvCxnSpPr>
          <p:cNvPr id="16" name="Straight Arrow Connector 15"/>
          <p:cNvCxnSpPr/>
          <p:nvPr/>
        </p:nvCxnSpPr>
        <p:spPr>
          <a:xfrm rot="16200000" flipV="1">
            <a:off x="3821902" y="3750472"/>
            <a:ext cx="1357322" cy="5715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The highest priority task A has to wait till lower priority task C gets a chance to execute and release the semaphore.</a:t>
            </a:r>
          </a:p>
          <a:p>
            <a:r>
              <a:rPr lang="en-US" dirty="0"/>
              <a:t>This produces unwanted delay in the execution of high priority task.</a:t>
            </a:r>
          </a:p>
          <a:p>
            <a:r>
              <a:rPr lang="en-US" dirty="0"/>
              <a:t>Boosting the priority of the low priority task to that of the high priority task (only for that duration!) which request for the resource currently occupied by the low priority task is called Priority Inheritance.</a:t>
            </a:r>
          </a:p>
          <a:p>
            <a:r>
              <a:rPr lang="en-US" dirty="0"/>
              <a:t>What is starvation?</a:t>
            </a:r>
          </a:p>
          <a:p>
            <a:r>
              <a:rPr lang="en-US" dirty="0"/>
              <a:t>Starvation getting introduced due to Priority inversion can be </a:t>
            </a:r>
            <a:r>
              <a:rPr lang="en-US"/>
              <a:t>solved by </a:t>
            </a:r>
            <a:r>
              <a:rPr lang="en-US" dirty="0"/>
              <a:t>“Priority Inheritance”.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14"/>
            <a:ext cx="8229600" cy="582594"/>
          </a:xfrm>
        </p:spPr>
        <p:txBody>
          <a:bodyPr>
            <a:normAutofit fontScale="90000"/>
          </a:bodyPr>
          <a:lstStyle/>
          <a:p>
            <a:r>
              <a:rPr lang="en-US" dirty="0">
                <a:solidFill>
                  <a:schemeClr val="accent6">
                    <a:lumMod val="50000"/>
                  </a:schemeClr>
                </a:solidFill>
              </a:rPr>
              <a:t>Priority Inheritance</a:t>
            </a:r>
          </a:p>
        </p:txBody>
      </p:sp>
      <p:pic>
        <p:nvPicPr>
          <p:cNvPr id="4" name="Content Placeholder 3" descr="Scan5 new.JPG"/>
          <p:cNvPicPr>
            <a:picLocks noGrp="1" noChangeAspect="1"/>
          </p:cNvPicPr>
          <p:nvPr>
            <p:ph idx="1"/>
          </p:nvPr>
        </p:nvPicPr>
        <p:blipFill rotWithShape="1">
          <a:blip r:embed="rId2" cstate="print"/>
          <a:srcRect t="4502" r="1904" b="3966"/>
          <a:stretch/>
        </p:blipFill>
        <p:spPr>
          <a:xfrm>
            <a:off x="642910" y="857232"/>
            <a:ext cx="7620000" cy="4648200"/>
          </a:xfrm>
        </p:spPr>
      </p:pic>
      <p:sp>
        <p:nvSpPr>
          <p:cNvPr id="5" name="TextBox 4"/>
          <p:cNvSpPr txBox="1"/>
          <p:nvPr/>
        </p:nvSpPr>
        <p:spPr>
          <a:xfrm>
            <a:off x="285720" y="5429264"/>
            <a:ext cx="8215370" cy="1477328"/>
          </a:xfrm>
          <a:prstGeom prst="rect">
            <a:avLst/>
          </a:prstGeom>
          <a:noFill/>
        </p:spPr>
        <p:txBody>
          <a:bodyPr wrap="square" rtlCol="0">
            <a:spAutoFit/>
          </a:bodyPr>
          <a:lstStyle/>
          <a:p>
            <a:r>
              <a:rPr lang="en-IN" dirty="0">
                <a:solidFill>
                  <a:schemeClr val="accent2">
                    <a:lumMod val="50000"/>
                  </a:schemeClr>
                </a:solidFill>
              </a:rPr>
              <a:t>As soon as Process A requests for Semaphore which is occupied by a low priority process C, RTOS will exchange the priority of Process C with Process A. Hence immediately Process C will execute and finish the job with Semaphore, so that Process A will not have to wait longer and get access of Semaphore once Process C has done its job.</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dirty="0"/>
              <a:t>Using semaphore in Linux</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8AF7D0-B530-437A-8244-231A0C0FDB3D}" type="slidenum">
              <a:rPr lang="en-IN" smtClean="0"/>
              <a:pPr/>
              <a:t>15</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lstStyle/>
          <a:p>
            <a:r>
              <a:rPr kumimoji="0" lang="en-US" altLang="en-US" sz="3200" b="0" i="0" u="none" strike="noStrike" cap="none" normalizeH="0" baseline="0" dirty="0">
                <a:ln>
                  <a:noFill/>
                </a:ln>
                <a:solidFill>
                  <a:srgbClr val="273239"/>
                </a:solidFill>
                <a:effectLst/>
                <a:latin typeface="urw-din"/>
              </a:rPr>
              <a:t>To use semaphores in Linux we use </a:t>
            </a:r>
            <a:r>
              <a:rPr kumimoji="0" lang="en-US" altLang="en-US" sz="3200" b="0" i="0" u="none" strike="noStrike" cap="none" normalizeH="0" baseline="0" dirty="0" err="1">
                <a:ln>
                  <a:noFill/>
                </a:ln>
                <a:solidFill>
                  <a:srgbClr val="273239"/>
                </a:solidFill>
                <a:effectLst/>
                <a:latin typeface="urw-din"/>
              </a:rPr>
              <a:t>pthread</a:t>
            </a:r>
            <a:r>
              <a:rPr kumimoji="0" lang="en-US" altLang="en-US" sz="3200" b="0" i="0" u="none" strike="noStrike" cap="none" normalizeH="0" baseline="0" dirty="0">
                <a:ln>
                  <a:noFill/>
                </a:ln>
                <a:solidFill>
                  <a:srgbClr val="273239"/>
                </a:solidFill>
                <a:effectLst/>
                <a:latin typeface="urw-din"/>
              </a:rPr>
              <a:t> functions.</a:t>
            </a:r>
          </a:p>
          <a:p>
            <a:r>
              <a:rPr lang="en-US" altLang="en-US" sz="3200" dirty="0">
                <a:solidFill>
                  <a:srgbClr val="273239"/>
                </a:solidFill>
                <a:latin typeface="urw-din"/>
              </a:rPr>
              <a:t>Include </a:t>
            </a:r>
            <a:r>
              <a:rPr lang="en-US" altLang="en-US" sz="3200" dirty="0" err="1">
                <a:solidFill>
                  <a:srgbClr val="273239"/>
                </a:solidFill>
                <a:latin typeface="urw-din"/>
              </a:rPr>
              <a:t>semaphore.h</a:t>
            </a:r>
            <a:endParaRPr lang="en-US" altLang="en-US" sz="3200" dirty="0">
              <a:solidFill>
                <a:srgbClr val="273239"/>
              </a:solidFill>
              <a:latin typeface="urw-din"/>
            </a:endParaRPr>
          </a:p>
          <a:p>
            <a:r>
              <a:rPr kumimoji="0" lang="en-US" altLang="en-US" sz="3200" b="0" i="0" u="none" strike="noStrike" cap="none" normalizeH="0" baseline="0" dirty="0">
                <a:ln>
                  <a:noFill/>
                </a:ln>
                <a:solidFill>
                  <a:srgbClr val="273239"/>
                </a:solidFill>
                <a:effectLst/>
                <a:latin typeface="urw-din"/>
              </a:rPr>
              <a:t>Second Compile the code by linking with options </a:t>
            </a:r>
          </a:p>
          <a:p>
            <a:pPr marL="0" indent="0">
              <a:buNone/>
            </a:pPr>
            <a:r>
              <a:rPr kumimoji="0" lang="en-US" altLang="en-US" sz="3200" b="0" i="0" u="none" strike="noStrike" cap="none" normalizeH="0" baseline="0" dirty="0">
                <a:ln>
                  <a:noFill/>
                </a:ln>
                <a:solidFill>
                  <a:srgbClr val="273239"/>
                </a:solidFill>
                <a:effectLst/>
                <a:latin typeface="urw-din"/>
              </a:rPr>
              <a:t>-</a:t>
            </a:r>
            <a:r>
              <a:rPr kumimoji="0" lang="en-US" altLang="en-US" sz="3200" b="0" i="0" u="none" strike="noStrike" cap="none" normalizeH="0" baseline="0" dirty="0" err="1">
                <a:ln>
                  <a:noFill/>
                </a:ln>
                <a:solidFill>
                  <a:srgbClr val="273239"/>
                </a:solidFill>
                <a:effectLst/>
                <a:latin typeface="urw-din"/>
              </a:rPr>
              <a:t>lpthread</a:t>
            </a:r>
            <a:r>
              <a:rPr kumimoji="0" lang="en-US" altLang="en-US" sz="3200" b="0" i="0" u="none" strike="noStrike" cap="none" normalizeH="0" baseline="0" dirty="0">
                <a:ln>
                  <a:noFill/>
                </a:ln>
                <a:solidFill>
                  <a:srgbClr val="273239"/>
                </a:solidFill>
                <a:effectLst/>
                <a:latin typeface="urw-din"/>
              </a:rPr>
              <a:t> –</a:t>
            </a:r>
            <a:r>
              <a:rPr kumimoji="0" lang="en-US" altLang="en-US" sz="3200" b="0" i="0" u="none" strike="noStrike" cap="none" normalizeH="0" baseline="0" dirty="0" err="1">
                <a:ln>
                  <a:noFill/>
                </a:ln>
                <a:solidFill>
                  <a:srgbClr val="273239"/>
                </a:solidFill>
                <a:effectLst/>
                <a:latin typeface="urw-din"/>
              </a:rPr>
              <a:t>lrt</a:t>
            </a:r>
            <a:endParaRPr kumimoji="0" lang="en-US" altLang="en-US" sz="3200" b="0" i="0" u="none" strike="noStrike" cap="none" normalizeH="0" baseline="0" dirty="0">
              <a:ln>
                <a:noFill/>
              </a:ln>
              <a:solidFill>
                <a:srgbClr val="273239"/>
              </a:solidFill>
              <a:effectLst/>
              <a:latin typeface="urw-din"/>
            </a:endParaRPr>
          </a:p>
          <a:p>
            <a:endParaRPr kumimoji="0" lang="en-US" altLang="en-US" sz="2400" b="0" i="0" u="none" strike="noStrike" cap="none" normalizeH="0" baseline="0" dirty="0">
              <a:ln>
                <a:noFill/>
              </a:ln>
              <a:solidFill>
                <a:srgbClr val="273239"/>
              </a:solidFill>
              <a:effectLst/>
              <a:latin typeface="urw-din"/>
            </a:endParaRPr>
          </a:p>
          <a:p>
            <a:pPr defTabSz="914400">
              <a:lnSpc>
                <a:spcPct val="100000"/>
              </a:lnSpc>
            </a:pP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3255386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dirty="0"/>
              <a:t>semaphore functions in Linux</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8AF7D0-B530-437A-8244-231A0C0FDB3D}" type="slidenum">
              <a:rPr lang="en-IN" smtClean="0"/>
              <a:pPr/>
              <a:t>16</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lnSpcReduction="10000"/>
          </a:bodyPr>
          <a:lstStyle/>
          <a:p>
            <a:pPr defTabSz="914400" eaLnBrk="0" fontAlgn="base" hangingPunct="0">
              <a:lnSpc>
                <a:spcPct val="100000"/>
              </a:lnSpc>
              <a:spcBef>
                <a:spcPct val="0"/>
              </a:spcBef>
              <a:spcAft>
                <a:spcPct val="0"/>
              </a:spcAft>
            </a:pPr>
            <a:r>
              <a:rPr lang="en-US" sz="2800" b="0" i="0" dirty="0">
                <a:solidFill>
                  <a:srgbClr val="273239"/>
                </a:solidFill>
                <a:effectLst/>
                <a:latin typeface="urw-din"/>
              </a:rPr>
              <a:t>To declare a semaphore, the data type is </a:t>
            </a:r>
            <a:r>
              <a:rPr lang="en-US" sz="2800" b="0" i="0" dirty="0" err="1">
                <a:solidFill>
                  <a:srgbClr val="FF0000"/>
                </a:solidFill>
                <a:effectLst/>
                <a:latin typeface="urw-din"/>
              </a:rPr>
              <a:t>sem_t</a:t>
            </a:r>
            <a:r>
              <a:rPr lang="en-US" sz="2800" b="0" i="0" dirty="0">
                <a:solidFill>
                  <a:srgbClr val="FF0000"/>
                </a:solidFill>
                <a:effectLst/>
                <a:latin typeface="urw-din"/>
              </a:rPr>
              <a:t>.</a:t>
            </a:r>
            <a:endParaRPr kumimoji="0" lang="en-US" altLang="en-US" sz="2800" b="0" i="0" u="none" strike="noStrike" cap="none" normalizeH="0" baseline="0" dirty="0">
              <a:ln>
                <a:noFill/>
              </a:ln>
              <a:solidFill>
                <a:srgbClr val="FF0000"/>
              </a:solidFill>
              <a:effectLst/>
              <a:latin typeface="urw-din"/>
            </a:endParaRPr>
          </a:p>
          <a:p>
            <a:pPr defTabSz="914400" eaLnBrk="0" fontAlgn="base" hangingPunct="0">
              <a:lnSpc>
                <a:spcPct val="100000"/>
              </a:lnSpc>
              <a:spcBef>
                <a:spcPct val="0"/>
              </a:spcBef>
              <a:spcAft>
                <a:spcPct val="0"/>
              </a:spcAft>
            </a:pPr>
            <a:r>
              <a:rPr kumimoji="0" lang="en-US" altLang="en-US" sz="2800" b="0" i="0" u="none" strike="noStrike" cap="none" normalizeH="0" baseline="0" dirty="0">
                <a:ln>
                  <a:noFill/>
                </a:ln>
                <a:solidFill>
                  <a:srgbClr val="273239"/>
                </a:solidFill>
                <a:effectLst/>
                <a:latin typeface="urw-din"/>
              </a:rPr>
              <a:t>A semaphore is </a:t>
            </a:r>
            <a:r>
              <a:rPr kumimoji="0" lang="en-US" altLang="en-US" sz="2800" b="0" i="0" u="none" strike="noStrike" cap="none" normalizeH="0" baseline="0" dirty="0" err="1">
                <a:ln>
                  <a:noFill/>
                </a:ln>
                <a:solidFill>
                  <a:srgbClr val="273239"/>
                </a:solidFill>
                <a:effectLst/>
                <a:latin typeface="urw-din"/>
              </a:rPr>
              <a:t>initialised</a:t>
            </a:r>
            <a:r>
              <a:rPr kumimoji="0" lang="en-US" altLang="en-US" sz="2800" b="0" i="0" u="none" strike="noStrike" cap="none" normalizeH="0" baseline="0" dirty="0">
                <a:ln>
                  <a:noFill/>
                </a:ln>
                <a:solidFill>
                  <a:srgbClr val="273239"/>
                </a:solidFill>
                <a:effectLst/>
                <a:latin typeface="urw-din"/>
              </a:rPr>
              <a:t> by using </a:t>
            </a:r>
            <a:r>
              <a:rPr kumimoji="0" lang="en-US" altLang="en-US" sz="2800" b="1" i="0" u="none" strike="noStrike" cap="none" normalizeH="0" baseline="0" dirty="0" err="1">
                <a:ln>
                  <a:noFill/>
                </a:ln>
                <a:solidFill>
                  <a:srgbClr val="273239"/>
                </a:solidFill>
                <a:effectLst/>
                <a:latin typeface="urw-din"/>
              </a:rPr>
              <a:t>sem_init</a:t>
            </a:r>
            <a:r>
              <a:rPr kumimoji="0" lang="en-US" altLang="en-US" sz="2800" b="0" i="0" u="none" strike="noStrike" cap="none" normalizeH="0" baseline="0" dirty="0">
                <a:ln>
                  <a:noFill/>
                </a:ln>
                <a:solidFill>
                  <a:srgbClr val="273239"/>
                </a:solidFill>
                <a:effectLst/>
                <a:latin typeface="urw-din"/>
              </a:rPr>
              <a:t>(for processes or threads) or </a:t>
            </a:r>
            <a:r>
              <a:rPr kumimoji="0" lang="en-US" altLang="en-US" sz="2800" b="1" i="0" u="none" strike="noStrike" cap="none" normalizeH="0" baseline="0" dirty="0" err="1">
                <a:ln>
                  <a:noFill/>
                </a:ln>
                <a:solidFill>
                  <a:srgbClr val="273239"/>
                </a:solidFill>
                <a:effectLst/>
                <a:latin typeface="urw-din"/>
              </a:rPr>
              <a:t>sem_open</a:t>
            </a:r>
            <a:r>
              <a:rPr kumimoji="0" lang="en-US" altLang="en-US" sz="2800" b="0" i="0" u="none" strike="noStrike" cap="none" normalizeH="0" baseline="0" dirty="0">
                <a:ln>
                  <a:noFill/>
                </a:ln>
                <a:solidFill>
                  <a:srgbClr val="273239"/>
                </a:solidFill>
                <a:effectLst/>
                <a:latin typeface="urw-din"/>
              </a:rPr>
              <a:t> (for IPC).</a:t>
            </a:r>
            <a:endParaRPr kumimoji="0" lang="en-US" altLang="en-US" sz="2800" b="0" i="0" u="none" strike="noStrike" cap="none" normalizeH="0" baseline="0" dirty="0">
              <a:ln>
                <a:noFill/>
              </a:ln>
              <a:solidFill>
                <a:srgbClr val="273239"/>
              </a:solidFill>
              <a:effectLst/>
              <a:latin typeface="Consolas" panose="020B0609020204030204" pitchFamily="49" charset="0"/>
            </a:endParaRPr>
          </a:p>
          <a:p>
            <a:pPr marL="0" indent="0" defTabSz="914400" eaLnBrk="0" fontAlgn="base" hangingPunct="0">
              <a:lnSpc>
                <a:spcPct val="100000"/>
              </a:lnSpc>
              <a:spcBef>
                <a:spcPct val="0"/>
              </a:spcBef>
              <a:spcAft>
                <a:spcPct val="0"/>
              </a:spcAft>
              <a:buNone/>
            </a:pPr>
            <a:r>
              <a:rPr kumimoji="0" lang="en-US" altLang="en-US" sz="2800" b="0" i="0" u="none" strike="noStrike" cap="none" normalizeH="0" baseline="0" dirty="0" err="1">
                <a:ln>
                  <a:noFill/>
                </a:ln>
                <a:solidFill>
                  <a:srgbClr val="FF0000"/>
                </a:solidFill>
                <a:effectLst/>
                <a:latin typeface="Consolas" panose="020B0609020204030204" pitchFamily="49" charset="0"/>
              </a:rPr>
              <a:t>sem_init</a:t>
            </a:r>
            <a:r>
              <a:rPr kumimoji="0" lang="en-US" altLang="en-US" sz="2800" b="0" i="0" u="none" strike="noStrike" cap="none" normalizeH="0" baseline="0" dirty="0">
                <a:ln>
                  <a:noFill/>
                </a:ln>
                <a:solidFill>
                  <a:srgbClr val="FF0000"/>
                </a:solidFill>
                <a:effectLst/>
                <a:latin typeface="Consolas" panose="020B0609020204030204" pitchFamily="49" charset="0"/>
              </a:rPr>
              <a:t>(</a:t>
            </a:r>
            <a:r>
              <a:rPr kumimoji="0" lang="en-US" altLang="en-US" sz="2800" b="0" i="0" u="none" strike="noStrike" cap="none" normalizeH="0" baseline="0" dirty="0" err="1">
                <a:ln>
                  <a:noFill/>
                </a:ln>
                <a:solidFill>
                  <a:srgbClr val="FF0000"/>
                </a:solidFill>
                <a:effectLst/>
                <a:latin typeface="Consolas" panose="020B0609020204030204" pitchFamily="49" charset="0"/>
              </a:rPr>
              <a:t>sem_t</a:t>
            </a:r>
            <a:r>
              <a:rPr kumimoji="0" lang="en-US" altLang="en-US" sz="2800" b="0" i="0" u="none" strike="noStrike" cap="none" normalizeH="0" baseline="0" dirty="0">
                <a:ln>
                  <a:noFill/>
                </a:ln>
                <a:solidFill>
                  <a:srgbClr val="FF0000"/>
                </a:solidFill>
                <a:effectLst/>
                <a:latin typeface="Consolas" panose="020B0609020204030204" pitchFamily="49" charset="0"/>
              </a:rPr>
              <a:t> *</a:t>
            </a:r>
            <a:r>
              <a:rPr kumimoji="0" lang="en-US" altLang="en-US" sz="2800" b="0" i="0" u="none" strike="noStrike" cap="none" normalizeH="0" baseline="0" dirty="0" err="1">
                <a:ln>
                  <a:noFill/>
                </a:ln>
                <a:solidFill>
                  <a:srgbClr val="FF0000"/>
                </a:solidFill>
                <a:effectLst/>
                <a:latin typeface="Consolas" panose="020B0609020204030204" pitchFamily="49" charset="0"/>
              </a:rPr>
              <a:t>sem</a:t>
            </a:r>
            <a:r>
              <a:rPr kumimoji="0" lang="en-US" altLang="en-US" sz="2800" b="0" i="0" u="none" strike="noStrike" cap="none" normalizeH="0" baseline="0" dirty="0">
                <a:ln>
                  <a:noFill/>
                </a:ln>
                <a:solidFill>
                  <a:srgbClr val="FF0000"/>
                </a:solidFill>
                <a:effectLst/>
                <a:latin typeface="Consolas" panose="020B0609020204030204" pitchFamily="49" charset="0"/>
              </a:rPr>
              <a:t>, int </a:t>
            </a:r>
            <a:r>
              <a:rPr kumimoji="0" lang="en-US" altLang="en-US" sz="2800" b="0" i="0" u="none" strike="noStrike" cap="none" normalizeH="0" baseline="0" dirty="0" err="1">
                <a:ln>
                  <a:noFill/>
                </a:ln>
                <a:solidFill>
                  <a:srgbClr val="FF0000"/>
                </a:solidFill>
                <a:effectLst/>
                <a:latin typeface="Consolas" panose="020B0609020204030204" pitchFamily="49" charset="0"/>
              </a:rPr>
              <a:t>pshared</a:t>
            </a:r>
            <a:r>
              <a:rPr kumimoji="0" lang="en-US" altLang="en-US" sz="2800" b="0" i="0" u="none" strike="noStrike" cap="none" normalizeH="0" baseline="0" dirty="0">
                <a:ln>
                  <a:noFill/>
                </a:ln>
                <a:solidFill>
                  <a:srgbClr val="FF0000"/>
                </a:solidFill>
                <a:effectLst/>
                <a:latin typeface="Consolas" panose="020B0609020204030204" pitchFamily="49" charset="0"/>
              </a:rPr>
              <a:t>, unsigned int value);</a:t>
            </a:r>
            <a:r>
              <a:rPr kumimoji="0" lang="en-US" altLang="en-US" sz="900" b="0" i="0" u="none" strike="noStrike" cap="none" normalizeH="0" baseline="0" dirty="0">
                <a:ln>
                  <a:noFill/>
                </a:ln>
                <a:solidFill>
                  <a:srgbClr val="FF0000"/>
                </a:solidFill>
                <a:effectLst/>
              </a:rPr>
              <a:t> </a:t>
            </a:r>
          </a:p>
          <a:p>
            <a:pPr marL="0" indent="0" defTabSz="914400" eaLnBrk="0" fontAlgn="base" hangingPunct="0">
              <a:lnSpc>
                <a:spcPct val="100000"/>
              </a:lnSpc>
              <a:spcBef>
                <a:spcPct val="0"/>
              </a:spcBef>
              <a:spcAft>
                <a:spcPct val="0"/>
              </a:spcAft>
              <a:buNone/>
            </a:pPr>
            <a:endParaRPr lang="en-US" altLang="en-US" sz="900" dirty="0">
              <a:solidFill>
                <a:srgbClr val="FF0000"/>
              </a:solidFill>
              <a:latin typeface="urw-din"/>
            </a:endParaRPr>
          </a:p>
          <a:p>
            <a:pPr lvl="1" fontAlgn="base"/>
            <a:r>
              <a:rPr lang="en-US" sz="2400" b="1" i="0" dirty="0" err="1">
                <a:solidFill>
                  <a:srgbClr val="273239"/>
                </a:solidFill>
                <a:effectLst/>
                <a:latin typeface="urw-din"/>
              </a:rPr>
              <a:t>sem</a:t>
            </a:r>
            <a:r>
              <a:rPr lang="en-US" sz="2400" b="0" i="0" dirty="0">
                <a:solidFill>
                  <a:srgbClr val="273239"/>
                </a:solidFill>
                <a:effectLst/>
                <a:latin typeface="urw-din"/>
              </a:rPr>
              <a:t> : Specifies the semaphore to be initialized.</a:t>
            </a:r>
          </a:p>
          <a:p>
            <a:pPr lvl="1" fontAlgn="base"/>
            <a:r>
              <a:rPr lang="en-US" sz="2400" b="1" i="0" dirty="0" err="1">
                <a:solidFill>
                  <a:srgbClr val="273239"/>
                </a:solidFill>
                <a:effectLst/>
                <a:latin typeface="urw-din"/>
              </a:rPr>
              <a:t>pshared</a:t>
            </a:r>
            <a:r>
              <a:rPr lang="en-US" sz="2400" b="0" i="0" dirty="0">
                <a:solidFill>
                  <a:srgbClr val="273239"/>
                </a:solidFill>
                <a:effectLst/>
                <a:latin typeface="urw-din"/>
              </a:rPr>
              <a:t> : This argument specifies whether or not the newly initialized semaphore is shared between processes or between threads. A non-zero value means the semaphore is shared between processes and a value of zero means it is shared between threads.</a:t>
            </a:r>
          </a:p>
          <a:p>
            <a:pPr lvl="1" fontAlgn="base"/>
            <a:r>
              <a:rPr lang="en-US" sz="2400" b="1" i="0" dirty="0">
                <a:solidFill>
                  <a:srgbClr val="273239"/>
                </a:solidFill>
                <a:effectLst/>
                <a:latin typeface="urw-din"/>
              </a:rPr>
              <a:t>value</a:t>
            </a:r>
            <a:r>
              <a:rPr lang="en-US" sz="2400" b="0" i="0" dirty="0">
                <a:solidFill>
                  <a:srgbClr val="273239"/>
                </a:solidFill>
                <a:effectLst/>
                <a:latin typeface="urw-din"/>
              </a:rPr>
              <a:t> : Specifies the value to assign to the newly initialized semaphore.</a:t>
            </a:r>
          </a:p>
          <a:p>
            <a:pPr marL="0" indent="0" defTabSz="914400" eaLnBrk="0" fontAlgn="base" hangingPunct="0">
              <a:lnSpc>
                <a:spcPct val="100000"/>
              </a:lnSpc>
              <a:spcBef>
                <a:spcPct val="0"/>
              </a:spcBef>
              <a:spcAft>
                <a:spcPct val="0"/>
              </a:spcAft>
              <a:buNone/>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defTabSz="914400">
              <a:lnSpc>
                <a:spcPct val="100000"/>
              </a:lnSpc>
            </a:pP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331172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B0CF-57FB-418A-B823-BB32D645F7B9}"/>
              </a:ext>
            </a:extLst>
          </p:cNvPr>
          <p:cNvSpPr>
            <a:spLocks noGrp="1"/>
          </p:cNvSpPr>
          <p:nvPr>
            <p:ph type="title"/>
          </p:nvPr>
        </p:nvSpPr>
        <p:spPr/>
        <p:txBody>
          <a:bodyPr/>
          <a:lstStyle/>
          <a:p>
            <a:r>
              <a:rPr lang="en-US" dirty="0"/>
              <a:t>semaphore functions in Linux</a:t>
            </a:r>
            <a:endParaRPr lang="en-IN" dirty="0"/>
          </a:p>
        </p:txBody>
      </p:sp>
      <p:sp>
        <p:nvSpPr>
          <p:cNvPr id="4" name="Slide Number Placeholder 3">
            <a:extLst>
              <a:ext uri="{FF2B5EF4-FFF2-40B4-BE49-F238E27FC236}">
                <a16:creationId xmlns:a16="http://schemas.microsoft.com/office/drawing/2014/main" id="{BA7A2276-3A42-4358-8A3E-EC0D4FDD0913}"/>
              </a:ext>
            </a:extLst>
          </p:cNvPr>
          <p:cNvSpPr>
            <a:spLocks noGrp="1"/>
          </p:cNvSpPr>
          <p:nvPr>
            <p:ph type="sldNum" sz="quarter" idx="4"/>
          </p:nvPr>
        </p:nvSpPr>
        <p:spPr>
          <a:xfrm>
            <a:off x="8686801" y="6309883"/>
            <a:ext cx="426026"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8AF7D0-B530-437A-8244-231A0C0FDB3D}" type="slidenum">
              <a:rPr lang="en-IN" smtClean="0"/>
              <a:pPr/>
              <a:t>17</a:t>
            </a:fld>
            <a:endParaRPr lang="en-IN"/>
          </a:p>
        </p:txBody>
      </p:sp>
      <p:sp>
        <p:nvSpPr>
          <p:cNvPr id="7" name="Content Placeholder 6">
            <a:extLst>
              <a:ext uri="{FF2B5EF4-FFF2-40B4-BE49-F238E27FC236}">
                <a16:creationId xmlns:a16="http://schemas.microsoft.com/office/drawing/2014/main" id="{A07955C5-92A3-4665-885C-017068C579C8}"/>
              </a:ext>
            </a:extLst>
          </p:cNvPr>
          <p:cNvSpPr>
            <a:spLocks noGrp="1"/>
          </p:cNvSpPr>
          <p:nvPr>
            <p:ph idx="1"/>
          </p:nvPr>
        </p:nvSpPr>
        <p:spPr>
          <a:xfrm>
            <a:off x="140277" y="1207008"/>
            <a:ext cx="8827077" cy="5327141"/>
          </a:xfrm>
        </p:spPr>
        <p:txBody>
          <a:bodyPr>
            <a:normAutofit/>
          </a:bodyPr>
          <a:lstStyle/>
          <a:p>
            <a:pPr defTabSz="914400">
              <a:lnSpc>
                <a:spcPct val="100000"/>
              </a:lnSpc>
            </a:pPr>
            <a:r>
              <a:rPr kumimoji="0" lang="en-US" altLang="en-US" sz="2800" b="0" i="0" u="none" strike="noStrike" cap="none" normalizeH="0" baseline="0" dirty="0">
                <a:ln>
                  <a:noFill/>
                </a:ln>
                <a:solidFill>
                  <a:srgbClr val="273239"/>
                </a:solidFill>
                <a:effectLst/>
                <a:latin typeface="urw-din"/>
              </a:rPr>
              <a:t>To lock a semaphore or wait we can use the </a:t>
            </a:r>
            <a:r>
              <a:rPr kumimoji="0" lang="en-US" altLang="en-US" sz="2800" b="1" i="0" u="none" strike="noStrike" cap="none" normalizeH="0" baseline="0" dirty="0" err="1">
                <a:ln>
                  <a:noFill/>
                </a:ln>
                <a:solidFill>
                  <a:srgbClr val="273239"/>
                </a:solidFill>
                <a:effectLst/>
                <a:latin typeface="urw-din"/>
              </a:rPr>
              <a:t>sem_wait</a:t>
            </a:r>
            <a:r>
              <a:rPr kumimoji="0" lang="en-US" altLang="en-US" sz="2800" b="0" i="0" u="none" strike="noStrike" cap="none" normalizeH="0" baseline="0" dirty="0">
                <a:ln>
                  <a:noFill/>
                </a:ln>
                <a:solidFill>
                  <a:srgbClr val="273239"/>
                </a:solidFill>
                <a:effectLst/>
                <a:latin typeface="urw-din"/>
              </a:rPr>
              <a:t> function:</a:t>
            </a:r>
          </a:p>
          <a:p>
            <a:pPr marL="0" indent="0" defTabSz="914400">
              <a:lnSpc>
                <a:spcPct val="100000"/>
              </a:lnSpc>
              <a:buNone/>
            </a:pPr>
            <a:r>
              <a:rPr kumimoji="0" lang="en-US" altLang="en-US" sz="2800" b="0" i="0" u="none" strike="noStrike" cap="none" normalizeH="0" baseline="0" dirty="0">
                <a:ln>
                  <a:noFill/>
                </a:ln>
                <a:solidFill>
                  <a:srgbClr val="FF0000"/>
                </a:solidFill>
                <a:effectLst/>
                <a:latin typeface="Consolas" panose="020B0609020204030204" pitchFamily="49" charset="0"/>
              </a:rPr>
              <a:t>int </a:t>
            </a:r>
            <a:r>
              <a:rPr kumimoji="0" lang="en-US" altLang="en-US" sz="2800" b="0" i="0" u="none" strike="noStrike" cap="none" normalizeH="0" baseline="0" dirty="0" err="1">
                <a:ln>
                  <a:noFill/>
                </a:ln>
                <a:solidFill>
                  <a:srgbClr val="FF0000"/>
                </a:solidFill>
                <a:effectLst/>
                <a:latin typeface="Consolas" panose="020B0609020204030204" pitchFamily="49" charset="0"/>
              </a:rPr>
              <a:t>sem_wait</a:t>
            </a:r>
            <a:r>
              <a:rPr kumimoji="0" lang="en-US" altLang="en-US" sz="2800" b="0" i="0" u="none" strike="noStrike" cap="none" normalizeH="0" baseline="0" dirty="0">
                <a:ln>
                  <a:noFill/>
                </a:ln>
                <a:solidFill>
                  <a:srgbClr val="FF0000"/>
                </a:solidFill>
                <a:effectLst/>
                <a:latin typeface="Consolas" panose="020B0609020204030204" pitchFamily="49" charset="0"/>
              </a:rPr>
              <a:t>(</a:t>
            </a:r>
            <a:r>
              <a:rPr kumimoji="0" lang="en-US" altLang="en-US" sz="2800" b="0" i="0" u="none" strike="noStrike" cap="none" normalizeH="0" baseline="0" dirty="0" err="1">
                <a:ln>
                  <a:noFill/>
                </a:ln>
                <a:solidFill>
                  <a:srgbClr val="FF0000"/>
                </a:solidFill>
                <a:effectLst/>
                <a:latin typeface="Consolas" panose="020B0609020204030204" pitchFamily="49" charset="0"/>
              </a:rPr>
              <a:t>sem_t</a:t>
            </a:r>
            <a:r>
              <a:rPr kumimoji="0" lang="en-US" altLang="en-US" sz="2800" b="0" i="0" u="none" strike="noStrike" cap="none" normalizeH="0" baseline="0" dirty="0">
                <a:ln>
                  <a:noFill/>
                </a:ln>
                <a:solidFill>
                  <a:srgbClr val="FF0000"/>
                </a:solidFill>
                <a:effectLst/>
                <a:latin typeface="Consolas" panose="020B0609020204030204" pitchFamily="49" charset="0"/>
              </a:rPr>
              <a:t> *</a:t>
            </a:r>
            <a:r>
              <a:rPr kumimoji="0" lang="en-US" altLang="en-US" sz="2800" b="0" i="0" u="none" strike="noStrike" cap="none" normalizeH="0" baseline="0" dirty="0" err="1">
                <a:ln>
                  <a:noFill/>
                </a:ln>
                <a:solidFill>
                  <a:srgbClr val="FF0000"/>
                </a:solidFill>
                <a:effectLst/>
                <a:latin typeface="Consolas" panose="020B0609020204030204" pitchFamily="49" charset="0"/>
              </a:rPr>
              <a:t>sem</a:t>
            </a:r>
            <a:r>
              <a:rPr kumimoji="0" lang="en-US" altLang="en-US" sz="2800" b="0" i="0" u="none" strike="noStrike" cap="none" normalizeH="0" baseline="0" dirty="0">
                <a:ln>
                  <a:noFill/>
                </a:ln>
                <a:solidFill>
                  <a:srgbClr val="FF0000"/>
                </a:solidFill>
                <a:effectLst/>
                <a:latin typeface="Consolas" panose="020B0609020204030204" pitchFamily="49" charset="0"/>
              </a:rPr>
              <a:t>);</a:t>
            </a:r>
          </a:p>
          <a:p>
            <a:pPr defTabSz="914400" eaLnBrk="0" fontAlgn="base" hangingPunct="0">
              <a:lnSpc>
                <a:spcPct val="100000"/>
              </a:lnSpc>
              <a:spcBef>
                <a:spcPct val="0"/>
              </a:spcBef>
              <a:spcAft>
                <a:spcPct val="0"/>
              </a:spcAft>
            </a:pPr>
            <a:r>
              <a:rPr kumimoji="0" lang="en-US" altLang="en-US" sz="2800" b="0" i="0" u="none" strike="noStrike" cap="none" normalizeH="0" baseline="0" dirty="0">
                <a:ln>
                  <a:noFill/>
                </a:ln>
                <a:solidFill>
                  <a:srgbClr val="273239"/>
                </a:solidFill>
                <a:effectLst/>
                <a:latin typeface="urw-din"/>
              </a:rPr>
              <a:t>To release or signal a semaphore, we use the </a:t>
            </a:r>
            <a:r>
              <a:rPr kumimoji="0" lang="en-US" altLang="en-US" sz="2800" b="1" i="0" u="none" strike="noStrike" cap="none" normalizeH="0" baseline="0" dirty="0" err="1">
                <a:ln>
                  <a:noFill/>
                </a:ln>
                <a:solidFill>
                  <a:srgbClr val="273239"/>
                </a:solidFill>
                <a:effectLst/>
                <a:latin typeface="urw-din"/>
              </a:rPr>
              <a:t>sem_post</a:t>
            </a:r>
            <a:r>
              <a:rPr kumimoji="0" lang="en-US" altLang="en-US" sz="2800" b="0" i="0" u="none" strike="noStrike" cap="none" normalizeH="0" baseline="0" dirty="0">
                <a:ln>
                  <a:noFill/>
                </a:ln>
                <a:solidFill>
                  <a:srgbClr val="273239"/>
                </a:solidFill>
                <a:effectLst/>
                <a:latin typeface="urw-din"/>
              </a:rPr>
              <a:t> function:</a:t>
            </a:r>
            <a:endParaRPr kumimoji="0" lang="en-US" altLang="en-US" sz="2800" b="0" i="0" u="none" strike="noStrike" cap="none" normalizeH="0" baseline="0" dirty="0">
              <a:ln>
                <a:noFill/>
              </a:ln>
              <a:solidFill>
                <a:srgbClr val="273239"/>
              </a:solidFill>
              <a:effectLst/>
              <a:latin typeface="Consolas" panose="020B0609020204030204" pitchFamily="49" charset="0"/>
            </a:endParaRPr>
          </a:p>
          <a:p>
            <a:pPr marL="0" indent="0" defTabSz="914400" eaLnBrk="0" fontAlgn="base" hangingPunct="0">
              <a:lnSpc>
                <a:spcPct val="100000"/>
              </a:lnSpc>
              <a:spcBef>
                <a:spcPct val="0"/>
              </a:spcBef>
              <a:spcAft>
                <a:spcPct val="0"/>
              </a:spcAft>
              <a:buNone/>
            </a:pPr>
            <a:r>
              <a:rPr kumimoji="0" lang="en-US" altLang="en-US" sz="2800" b="0" i="0" u="none" strike="noStrike" cap="none" normalizeH="0" baseline="0" dirty="0">
                <a:ln>
                  <a:noFill/>
                </a:ln>
                <a:solidFill>
                  <a:srgbClr val="FF0000"/>
                </a:solidFill>
                <a:effectLst/>
                <a:latin typeface="Consolas" panose="020B0609020204030204" pitchFamily="49" charset="0"/>
              </a:rPr>
              <a:t>int </a:t>
            </a:r>
            <a:r>
              <a:rPr kumimoji="0" lang="en-US" altLang="en-US" sz="2800" b="0" i="0" u="none" strike="noStrike" cap="none" normalizeH="0" baseline="0" dirty="0" err="1">
                <a:ln>
                  <a:noFill/>
                </a:ln>
                <a:solidFill>
                  <a:srgbClr val="FF0000"/>
                </a:solidFill>
                <a:effectLst/>
                <a:latin typeface="Consolas" panose="020B0609020204030204" pitchFamily="49" charset="0"/>
              </a:rPr>
              <a:t>sem_post</a:t>
            </a:r>
            <a:r>
              <a:rPr kumimoji="0" lang="en-US" altLang="en-US" sz="2800" b="0" i="0" u="none" strike="noStrike" cap="none" normalizeH="0" baseline="0" dirty="0">
                <a:ln>
                  <a:noFill/>
                </a:ln>
                <a:solidFill>
                  <a:srgbClr val="FF0000"/>
                </a:solidFill>
                <a:effectLst/>
                <a:latin typeface="Consolas" panose="020B0609020204030204" pitchFamily="49" charset="0"/>
              </a:rPr>
              <a:t>(</a:t>
            </a:r>
            <a:r>
              <a:rPr kumimoji="0" lang="en-US" altLang="en-US" sz="2800" b="0" i="0" u="none" strike="noStrike" cap="none" normalizeH="0" baseline="0" dirty="0" err="1">
                <a:ln>
                  <a:noFill/>
                </a:ln>
                <a:solidFill>
                  <a:srgbClr val="FF0000"/>
                </a:solidFill>
                <a:effectLst/>
                <a:latin typeface="Consolas" panose="020B0609020204030204" pitchFamily="49" charset="0"/>
              </a:rPr>
              <a:t>sem_t</a:t>
            </a:r>
            <a:r>
              <a:rPr kumimoji="0" lang="en-US" altLang="en-US" sz="2800" b="0" i="0" u="none" strike="noStrike" cap="none" normalizeH="0" baseline="0" dirty="0">
                <a:ln>
                  <a:noFill/>
                </a:ln>
                <a:solidFill>
                  <a:srgbClr val="FF0000"/>
                </a:solidFill>
                <a:effectLst/>
                <a:latin typeface="Consolas" panose="020B0609020204030204" pitchFamily="49" charset="0"/>
              </a:rPr>
              <a:t> *</a:t>
            </a:r>
            <a:r>
              <a:rPr kumimoji="0" lang="en-US" altLang="en-US" sz="2800" b="0" i="0" u="none" strike="noStrike" cap="none" normalizeH="0" baseline="0" dirty="0" err="1">
                <a:ln>
                  <a:noFill/>
                </a:ln>
                <a:solidFill>
                  <a:srgbClr val="FF0000"/>
                </a:solidFill>
                <a:effectLst/>
                <a:latin typeface="Consolas" panose="020B0609020204030204" pitchFamily="49" charset="0"/>
              </a:rPr>
              <a:t>sem</a:t>
            </a:r>
            <a:r>
              <a:rPr kumimoji="0" lang="en-US" altLang="en-US" sz="2800" b="0" i="0" u="none" strike="noStrike" cap="none" normalizeH="0" baseline="0" dirty="0">
                <a:ln>
                  <a:noFill/>
                </a:ln>
                <a:solidFill>
                  <a:srgbClr val="FF0000"/>
                </a:solidFill>
                <a:effectLst/>
                <a:latin typeface="Consolas" panose="020B0609020204030204" pitchFamily="49" charset="0"/>
              </a:rPr>
              <a:t>);</a:t>
            </a:r>
            <a:r>
              <a:rPr kumimoji="0" lang="en-US" altLang="en-US" sz="900" b="0" i="0" u="none" strike="noStrike" cap="none" normalizeH="0" baseline="0" dirty="0">
                <a:ln>
                  <a:noFill/>
                </a:ln>
                <a:solidFill>
                  <a:srgbClr val="FF0000"/>
                </a:solidFill>
                <a:effectLst/>
              </a:rPr>
              <a:t> </a:t>
            </a:r>
          </a:p>
          <a:p>
            <a:pPr marL="0" indent="0" defTabSz="914400" eaLnBrk="0" fontAlgn="base" hangingPunct="0">
              <a:lnSpc>
                <a:spcPct val="100000"/>
              </a:lnSpc>
              <a:spcBef>
                <a:spcPct val="0"/>
              </a:spcBef>
              <a:spcAft>
                <a:spcPct val="0"/>
              </a:spcAft>
              <a:buNone/>
            </a:pPr>
            <a:endParaRPr kumimoji="0" lang="en-US" altLang="en-US" sz="900" b="0" i="0" u="none" strike="noStrike" cap="none" normalizeH="0" baseline="0" dirty="0">
              <a:ln>
                <a:noFill/>
              </a:ln>
              <a:solidFill>
                <a:schemeClr val="tx1"/>
              </a:solidFill>
              <a:effectLst/>
            </a:endParaRPr>
          </a:p>
          <a:p>
            <a:pPr defTabSz="914400" eaLnBrk="0" fontAlgn="base" hangingPunct="0">
              <a:lnSpc>
                <a:spcPct val="100000"/>
              </a:lnSpc>
              <a:spcBef>
                <a:spcPct val="0"/>
              </a:spcBef>
              <a:spcAft>
                <a:spcPct val="0"/>
              </a:spcAft>
            </a:pPr>
            <a:r>
              <a:rPr lang="en-US" altLang="en-US" sz="2800" dirty="0">
                <a:solidFill>
                  <a:srgbClr val="273239"/>
                </a:solidFill>
                <a:latin typeface="urw-din"/>
              </a:rPr>
              <a:t>To destroy a semaphore, we can use </a:t>
            </a:r>
            <a:r>
              <a:rPr lang="en-US" altLang="en-US" sz="2800" b="1" dirty="0" err="1">
                <a:solidFill>
                  <a:srgbClr val="273239"/>
                </a:solidFill>
                <a:latin typeface="urw-din"/>
              </a:rPr>
              <a:t>sem_destroy</a:t>
            </a:r>
            <a:r>
              <a:rPr lang="en-US" altLang="en-US" sz="2800" dirty="0">
                <a:solidFill>
                  <a:srgbClr val="273239"/>
                </a:solidFill>
                <a:latin typeface="urw-din"/>
              </a:rPr>
              <a:t>.</a:t>
            </a:r>
          </a:p>
          <a:p>
            <a:pPr marL="0" indent="0" defTabSz="914400" eaLnBrk="0" fontAlgn="base" hangingPunct="0">
              <a:lnSpc>
                <a:spcPct val="100000"/>
              </a:lnSpc>
              <a:spcBef>
                <a:spcPct val="0"/>
              </a:spcBef>
              <a:spcAft>
                <a:spcPct val="0"/>
              </a:spcAft>
              <a:buNone/>
            </a:pPr>
            <a:r>
              <a:rPr lang="en-US" altLang="en-US" sz="2800" dirty="0" err="1">
                <a:solidFill>
                  <a:srgbClr val="FF0000"/>
                </a:solidFill>
                <a:latin typeface="urw-din"/>
              </a:rPr>
              <a:t>sem_destroy</a:t>
            </a:r>
            <a:r>
              <a:rPr lang="en-US" altLang="en-US" sz="2800" dirty="0">
                <a:solidFill>
                  <a:srgbClr val="FF0000"/>
                </a:solidFill>
                <a:latin typeface="urw-din"/>
              </a:rPr>
              <a:t>(</a:t>
            </a:r>
            <a:r>
              <a:rPr lang="en-US" altLang="en-US" sz="2800" dirty="0" err="1">
                <a:solidFill>
                  <a:srgbClr val="FF0000"/>
                </a:solidFill>
                <a:latin typeface="urw-din"/>
              </a:rPr>
              <a:t>sem_t</a:t>
            </a:r>
            <a:r>
              <a:rPr lang="en-US" altLang="en-US" sz="2800" dirty="0">
                <a:solidFill>
                  <a:srgbClr val="FF0000"/>
                </a:solidFill>
                <a:latin typeface="urw-din"/>
              </a:rPr>
              <a:t> *</a:t>
            </a:r>
            <a:r>
              <a:rPr lang="en-US" altLang="en-US" sz="2800" dirty="0" err="1">
                <a:solidFill>
                  <a:srgbClr val="FF0000"/>
                </a:solidFill>
                <a:latin typeface="urw-din"/>
              </a:rPr>
              <a:t>sem</a:t>
            </a:r>
            <a:r>
              <a:rPr lang="en-US" altLang="en-US" sz="2800" dirty="0">
                <a:solidFill>
                  <a:srgbClr val="FF0000"/>
                </a:solidFill>
                <a:latin typeface="urw-din"/>
              </a:rPr>
              <a:t>); </a:t>
            </a:r>
          </a:p>
          <a:p>
            <a:pPr marL="0" indent="0" defTabSz="914400" eaLnBrk="0" fontAlgn="base" hangingPunct="0">
              <a:lnSpc>
                <a:spcPct val="100000"/>
              </a:lnSpc>
              <a:spcBef>
                <a:spcPct val="0"/>
              </a:spcBef>
              <a:spcAft>
                <a:spcPct val="0"/>
              </a:spcAft>
              <a:buNone/>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defTabSz="914400">
              <a:lnSpc>
                <a:spcPct val="100000"/>
              </a:lnSpc>
            </a:pPr>
            <a:endParaRPr kumimoji="0" lang="en-US" altLang="en-US" sz="2400" b="0" i="0" u="none" strike="noStrike" cap="none" normalizeH="0" baseline="0" dirty="0">
              <a:ln>
                <a:noFill/>
              </a:ln>
              <a:solidFill>
                <a:srgbClr val="273239"/>
              </a:solidFill>
              <a:effectLst/>
              <a:latin typeface="urw-din"/>
            </a:endParaRPr>
          </a:p>
          <a:p>
            <a:endParaRPr lang="en-IN" dirty="0"/>
          </a:p>
        </p:txBody>
      </p:sp>
    </p:spTree>
    <p:extLst>
      <p:ext uri="{BB962C8B-B14F-4D97-AF65-F5344CB8AC3E}">
        <p14:creationId xmlns:p14="http://schemas.microsoft.com/office/powerpoint/2010/main" val="1320774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88DFC-BE3B-495D-B090-CC387A666271}"/>
              </a:ext>
            </a:extLst>
          </p:cNvPr>
          <p:cNvSpPr>
            <a:spLocks noGrp="1"/>
          </p:cNvSpPr>
          <p:nvPr>
            <p:ph type="title"/>
          </p:nvPr>
        </p:nvSpPr>
        <p:spPr>
          <a:xfrm>
            <a:off x="72736" y="2017"/>
            <a:ext cx="8827078" cy="933595"/>
          </a:xfrm>
        </p:spPr>
        <p:txBody>
          <a:bodyPr/>
          <a:lstStyle/>
          <a:p>
            <a:r>
              <a:rPr lang="en-US" dirty="0"/>
              <a:t>Sample code</a:t>
            </a:r>
            <a:endParaRPr lang="en-IN" dirty="0"/>
          </a:p>
        </p:txBody>
      </p:sp>
      <p:sp>
        <p:nvSpPr>
          <p:cNvPr id="3" name="Slide Number Placeholder 2">
            <a:extLst>
              <a:ext uri="{FF2B5EF4-FFF2-40B4-BE49-F238E27FC236}">
                <a16:creationId xmlns:a16="http://schemas.microsoft.com/office/drawing/2014/main" id="{030FA85A-6746-4128-896C-A99E9524F7FC}"/>
              </a:ext>
            </a:extLst>
          </p:cNvPr>
          <p:cNvSpPr>
            <a:spLocks noGrp="1"/>
          </p:cNvSpPr>
          <p:nvPr>
            <p:ph type="sldNum" sz="quarter" idx="12"/>
          </p:nvPr>
        </p:nvSpPr>
        <p:spPr/>
        <p:txBody>
          <a:bodyPr/>
          <a:lstStyle/>
          <a:p>
            <a:fld id="{C98AF7D0-B530-437A-8244-231A0C0FDB3D}" type="slidenum">
              <a:rPr lang="en-IN" smtClean="0"/>
              <a:t>18</a:t>
            </a:fld>
            <a:endParaRPr lang="en-IN"/>
          </a:p>
        </p:txBody>
      </p:sp>
      <p:sp>
        <p:nvSpPr>
          <p:cNvPr id="5" name="TextBox 4">
            <a:extLst>
              <a:ext uri="{FF2B5EF4-FFF2-40B4-BE49-F238E27FC236}">
                <a16:creationId xmlns:a16="http://schemas.microsoft.com/office/drawing/2014/main" id="{AD87AC77-1E8F-4B3E-B5A9-C8E56444BB10}"/>
              </a:ext>
            </a:extLst>
          </p:cNvPr>
          <p:cNvSpPr txBox="1"/>
          <p:nvPr/>
        </p:nvSpPr>
        <p:spPr>
          <a:xfrm>
            <a:off x="173831" y="1152522"/>
            <a:ext cx="4055269" cy="5339923"/>
          </a:xfrm>
          <a:prstGeom prst="rect">
            <a:avLst/>
          </a:prstGeom>
          <a:noFill/>
          <a:ln>
            <a:solidFill>
              <a:schemeClr val="accent1"/>
            </a:solidFill>
          </a:ln>
        </p:spPr>
        <p:txBody>
          <a:bodyPr wrap="square">
            <a:spAutoFit/>
          </a:bodyPr>
          <a:lstStyle/>
          <a:p>
            <a:r>
              <a:rPr lang="en-IN" dirty="0"/>
              <a:t>// C program to demonstrate working of Semaphores</a:t>
            </a:r>
          </a:p>
          <a:p>
            <a:r>
              <a:rPr lang="en-IN" dirty="0"/>
              <a:t>#include &lt;</a:t>
            </a:r>
            <a:r>
              <a:rPr lang="en-IN" dirty="0" err="1"/>
              <a:t>stdio.h</a:t>
            </a:r>
            <a:r>
              <a:rPr lang="en-IN" dirty="0"/>
              <a:t>&gt;</a:t>
            </a:r>
          </a:p>
          <a:p>
            <a:r>
              <a:rPr lang="en-IN" dirty="0"/>
              <a:t>#include &lt;</a:t>
            </a:r>
            <a:r>
              <a:rPr lang="en-IN" dirty="0" err="1"/>
              <a:t>pthread.h</a:t>
            </a:r>
            <a:r>
              <a:rPr lang="en-IN" dirty="0"/>
              <a:t>&gt;</a:t>
            </a:r>
          </a:p>
          <a:p>
            <a:r>
              <a:rPr lang="en-IN" dirty="0"/>
              <a:t>#include &lt;</a:t>
            </a:r>
            <a:r>
              <a:rPr lang="en-IN" dirty="0" err="1"/>
              <a:t>semaphore.h</a:t>
            </a:r>
            <a:r>
              <a:rPr lang="en-IN" dirty="0"/>
              <a:t>&gt;</a:t>
            </a:r>
          </a:p>
          <a:p>
            <a:r>
              <a:rPr lang="en-IN" dirty="0"/>
              <a:t>#include &lt;</a:t>
            </a:r>
            <a:r>
              <a:rPr lang="en-IN" dirty="0" err="1"/>
              <a:t>unistd.h</a:t>
            </a:r>
            <a:r>
              <a:rPr lang="en-IN" dirty="0"/>
              <a:t>&gt;</a:t>
            </a:r>
          </a:p>
          <a:p>
            <a:endParaRPr lang="en-IN" sz="1000" dirty="0"/>
          </a:p>
          <a:p>
            <a:r>
              <a:rPr lang="en-IN" dirty="0" err="1"/>
              <a:t>sem_t</a:t>
            </a:r>
            <a:r>
              <a:rPr lang="en-IN" dirty="0"/>
              <a:t> mutex;</a:t>
            </a:r>
          </a:p>
          <a:p>
            <a:endParaRPr lang="en-IN" sz="700" dirty="0"/>
          </a:p>
          <a:p>
            <a:r>
              <a:rPr lang="en-IN" dirty="0"/>
              <a:t>void* thread(void* </a:t>
            </a:r>
            <a:r>
              <a:rPr lang="en-IN" dirty="0" err="1"/>
              <a:t>arg</a:t>
            </a:r>
            <a:r>
              <a:rPr lang="en-IN" dirty="0"/>
              <a:t>)</a:t>
            </a:r>
          </a:p>
          <a:p>
            <a:r>
              <a:rPr lang="en-IN" dirty="0"/>
              <a:t>{</a:t>
            </a:r>
          </a:p>
          <a:p>
            <a:r>
              <a:rPr lang="en-IN" dirty="0"/>
              <a:t>	//wait</a:t>
            </a:r>
          </a:p>
          <a:p>
            <a:r>
              <a:rPr lang="en-IN" dirty="0"/>
              <a:t>	</a:t>
            </a:r>
            <a:r>
              <a:rPr lang="en-IN" dirty="0" err="1"/>
              <a:t>sem_wait</a:t>
            </a:r>
            <a:r>
              <a:rPr lang="en-IN" dirty="0"/>
              <a:t>(&amp;mutex);</a:t>
            </a:r>
          </a:p>
          <a:p>
            <a:r>
              <a:rPr lang="en-IN" dirty="0"/>
              <a:t>	</a:t>
            </a:r>
            <a:r>
              <a:rPr lang="en-IN" dirty="0" err="1"/>
              <a:t>printf</a:t>
            </a:r>
            <a:r>
              <a:rPr lang="en-IN" dirty="0"/>
              <a:t>("\</a:t>
            </a:r>
            <a:r>
              <a:rPr lang="en-IN" dirty="0" err="1"/>
              <a:t>nEntered</a:t>
            </a:r>
            <a:r>
              <a:rPr lang="en-IN" dirty="0"/>
              <a:t>..\n");</a:t>
            </a:r>
          </a:p>
          <a:p>
            <a:r>
              <a:rPr lang="en-IN" dirty="0"/>
              <a:t>	//critical section</a:t>
            </a:r>
          </a:p>
          <a:p>
            <a:r>
              <a:rPr lang="en-IN" dirty="0"/>
              <a:t>	sleep(4);</a:t>
            </a:r>
          </a:p>
          <a:p>
            <a:r>
              <a:rPr lang="en-IN" dirty="0"/>
              <a:t>	//signal</a:t>
            </a:r>
          </a:p>
          <a:p>
            <a:r>
              <a:rPr lang="en-IN" dirty="0"/>
              <a:t>	</a:t>
            </a:r>
            <a:r>
              <a:rPr lang="en-IN" dirty="0" err="1"/>
              <a:t>printf</a:t>
            </a:r>
            <a:r>
              <a:rPr lang="en-IN" dirty="0"/>
              <a:t>("\</a:t>
            </a:r>
            <a:r>
              <a:rPr lang="en-IN" dirty="0" err="1"/>
              <a:t>nJust</a:t>
            </a:r>
            <a:r>
              <a:rPr lang="en-IN" dirty="0"/>
              <a:t> Exiting...\n");</a:t>
            </a:r>
          </a:p>
          <a:p>
            <a:r>
              <a:rPr lang="en-IN" dirty="0"/>
              <a:t>	</a:t>
            </a:r>
            <a:r>
              <a:rPr lang="en-IN" dirty="0" err="1"/>
              <a:t>sem_post</a:t>
            </a:r>
            <a:r>
              <a:rPr lang="en-IN" dirty="0"/>
              <a:t>(&amp;mutex);</a:t>
            </a:r>
          </a:p>
          <a:p>
            <a:r>
              <a:rPr lang="en-IN" dirty="0"/>
              <a:t>}</a:t>
            </a:r>
          </a:p>
        </p:txBody>
      </p:sp>
      <p:sp>
        <p:nvSpPr>
          <p:cNvPr id="6" name="TextBox 5">
            <a:extLst>
              <a:ext uri="{FF2B5EF4-FFF2-40B4-BE49-F238E27FC236}">
                <a16:creationId xmlns:a16="http://schemas.microsoft.com/office/drawing/2014/main" id="{AED08A8A-66ED-49E6-97B1-ED2C0A5FFE8A}"/>
              </a:ext>
            </a:extLst>
          </p:cNvPr>
          <p:cNvSpPr txBox="1"/>
          <p:nvPr/>
        </p:nvSpPr>
        <p:spPr>
          <a:xfrm>
            <a:off x="4769643" y="1152522"/>
            <a:ext cx="4200526" cy="3970318"/>
          </a:xfrm>
          <a:prstGeom prst="rect">
            <a:avLst/>
          </a:prstGeom>
          <a:noFill/>
          <a:ln>
            <a:solidFill>
              <a:schemeClr val="accent1"/>
            </a:solidFill>
          </a:ln>
        </p:spPr>
        <p:txBody>
          <a:bodyPr wrap="square">
            <a:spAutoFit/>
          </a:bodyPr>
          <a:lstStyle/>
          <a:p>
            <a:r>
              <a:rPr lang="en-IN" dirty="0"/>
              <a:t>int main()</a:t>
            </a:r>
          </a:p>
          <a:p>
            <a:r>
              <a:rPr lang="en-IN" dirty="0"/>
              <a:t>{</a:t>
            </a:r>
          </a:p>
          <a:p>
            <a:r>
              <a:rPr lang="en-IN" dirty="0"/>
              <a:t>	</a:t>
            </a:r>
            <a:r>
              <a:rPr lang="en-IN" dirty="0" err="1"/>
              <a:t>sem_init</a:t>
            </a:r>
            <a:r>
              <a:rPr lang="en-IN" dirty="0"/>
              <a:t>(&amp;mutex, 0, 1);</a:t>
            </a:r>
          </a:p>
          <a:p>
            <a:r>
              <a:rPr lang="en-IN" dirty="0"/>
              <a:t>	</a:t>
            </a:r>
            <a:r>
              <a:rPr lang="en-IN" dirty="0" err="1"/>
              <a:t>pthread_t</a:t>
            </a:r>
            <a:r>
              <a:rPr lang="en-IN" dirty="0"/>
              <a:t> t1,t2;</a:t>
            </a:r>
          </a:p>
          <a:p>
            <a:r>
              <a:rPr lang="en-IN" dirty="0"/>
              <a:t>	</a:t>
            </a:r>
            <a:r>
              <a:rPr lang="en-IN" dirty="0" err="1"/>
              <a:t>pthread_create</a:t>
            </a:r>
            <a:r>
              <a:rPr lang="en-IN" dirty="0"/>
              <a:t>(&amp;t1,NULL,thread,NULL);</a:t>
            </a:r>
          </a:p>
          <a:p>
            <a:r>
              <a:rPr lang="en-IN" dirty="0"/>
              <a:t>	sleep(2);</a:t>
            </a:r>
          </a:p>
          <a:p>
            <a:r>
              <a:rPr lang="en-IN" dirty="0"/>
              <a:t>	</a:t>
            </a:r>
            <a:r>
              <a:rPr lang="en-IN" dirty="0" err="1"/>
              <a:t>pthread_create</a:t>
            </a:r>
            <a:r>
              <a:rPr lang="en-IN" dirty="0"/>
              <a:t>(&amp;t2,NULL,thread,NULL);</a:t>
            </a:r>
          </a:p>
          <a:p>
            <a:r>
              <a:rPr lang="en-IN" dirty="0"/>
              <a:t>	</a:t>
            </a:r>
            <a:r>
              <a:rPr lang="en-IN" dirty="0" err="1"/>
              <a:t>pthread_join</a:t>
            </a:r>
            <a:r>
              <a:rPr lang="en-IN" dirty="0"/>
              <a:t>(t1,NULL);</a:t>
            </a:r>
          </a:p>
          <a:p>
            <a:r>
              <a:rPr lang="en-IN" dirty="0"/>
              <a:t>	</a:t>
            </a:r>
            <a:r>
              <a:rPr lang="en-IN" dirty="0" err="1"/>
              <a:t>pthread_join</a:t>
            </a:r>
            <a:r>
              <a:rPr lang="en-IN" dirty="0"/>
              <a:t>(t2,NULL);</a:t>
            </a:r>
          </a:p>
          <a:p>
            <a:r>
              <a:rPr lang="en-IN" dirty="0"/>
              <a:t>	</a:t>
            </a:r>
            <a:r>
              <a:rPr lang="en-IN" dirty="0" err="1"/>
              <a:t>sem_destroy</a:t>
            </a:r>
            <a:r>
              <a:rPr lang="en-IN" dirty="0"/>
              <a:t>(&amp;mutex);</a:t>
            </a:r>
          </a:p>
          <a:p>
            <a:r>
              <a:rPr lang="en-IN" dirty="0"/>
              <a:t>	return 0;</a:t>
            </a:r>
          </a:p>
          <a:p>
            <a:r>
              <a:rPr lang="en-IN" dirty="0"/>
              <a:t>}</a:t>
            </a:r>
          </a:p>
        </p:txBody>
      </p:sp>
    </p:spTree>
    <p:extLst>
      <p:ext uri="{BB962C8B-B14F-4D97-AF65-F5344CB8AC3E}">
        <p14:creationId xmlns:p14="http://schemas.microsoft.com/office/powerpoint/2010/main" val="4033964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EFE05-AC55-4A63-A94D-738E9D405C66}"/>
              </a:ext>
            </a:extLst>
          </p:cNvPr>
          <p:cNvSpPr>
            <a:spLocks noGrp="1"/>
          </p:cNvSpPr>
          <p:nvPr>
            <p:ph type="title"/>
          </p:nvPr>
        </p:nvSpPr>
        <p:spPr/>
        <p:txBody>
          <a:bodyPr/>
          <a:lstStyle/>
          <a:p>
            <a:r>
              <a:rPr lang="en-US" dirty="0"/>
              <a:t>Code explanation</a:t>
            </a:r>
            <a:endParaRPr lang="en-IN" dirty="0"/>
          </a:p>
        </p:txBody>
      </p:sp>
      <p:sp>
        <p:nvSpPr>
          <p:cNvPr id="3" name="Slide Number Placeholder 2">
            <a:extLst>
              <a:ext uri="{FF2B5EF4-FFF2-40B4-BE49-F238E27FC236}">
                <a16:creationId xmlns:a16="http://schemas.microsoft.com/office/drawing/2014/main" id="{8EFE650E-DCD4-4948-ABF9-D58B84046C1E}"/>
              </a:ext>
            </a:extLst>
          </p:cNvPr>
          <p:cNvSpPr>
            <a:spLocks noGrp="1"/>
          </p:cNvSpPr>
          <p:nvPr>
            <p:ph type="sldNum" sz="quarter" idx="12"/>
          </p:nvPr>
        </p:nvSpPr>
        <p:spPr/>
        <p:txBody>
          <a:bodyPr/>
          <a:lstStyle/>
          <a:p>
            <a:fld id="{C98AF7D0-B530-437A-8244-231A0C0FDB3D}" type="slidenum">
              <a:rPr lang="en-IN" smtClean="0"/>
              <a:t>19</a:t>
            </a:fld>
            <a:endParaRPr lang="en-IN"/>
          </a:p>
        </p:txBody>
      </p:sp>
      <p:sp>
        <p:nvSpPr>
          <p:cNvPr id="4" name="Rectangle 1">
            <a:extLst>
              <a:ext uri="{FF2B5EF4-FFF2-40B4-BE49-F238E27FC236}">
                <a16:creationId xmlns:a16="http://schemas.microsoft.com/office/drawing/2014/main" id="{954D59C5-C50E-418D-AF58-F5729C456BD7}"/>
              </a:ext>
            </a:extLst>
          </p:cNvPr>
          <p:cNvSpPr>
            <a:spLocks noChangeArrowheads="1"/>
          </p:cNvSpPr>
          <p:nvPr/>
        </p:nvSpPr>
        <p:spPr bwMode="auto">
          <a:xfrm>
            <a:off x="245470" y="1163257"/>
            <a:ext cx="8721885" cy="5511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273239"/>
                </a:solidFill>
                <a:latin typeface="urw-din"/>
              </a:rPr>
              <a:t>2 threads are being created, one 2 seconds after the first one.</a:t>
            </a:r>
            <a:br>
              <a:rPr lang="en-US" altLang="en-US" sz="2800" dirty="0">
                <a:solidFill>
                  <a:srgbClr val="273239"/>
                </a:solidFill>
                <a:latin typeface="urw-din"/>
              </a:rPr>
            </a:br>
            <a:r>
              <a:rPr lang="en-US" altLang="en-US" sz="2800" dirty="0">
                <a:solidFill>
                  <a:srgbClr val="273239"/>
                </a:solidFill>
                <a:latin typeface="urw-din"/>
              </a:rPr>
              <a:t>But the first thread will sleep for 4 seconds after acquiring the lock.</a:t>
            </a:r>
            <a:br>
              <a:rPr lang="en-US" altLang="en-US" sz="2800" dirty="0">
                <a:solidFill>
                  <a:srgbClr val="273239"/>
                </a:solidFill>
                <a:latin typeface="urw-din"/>
              </a:rPr>
            </a:br>
            <a:r>
              <a:rPr lang="en-US" altLang="en-US" sz="2800" dirty="0">
                <a:solidFill>
                  <a:srgbClr val="273239"/>
                </a:solidFill>
                <a:latin typeface="urw-din"/>
              </a:rPr>
              <a:t>Thus the second thread will not enter immediately after it is called, it will enter 4 – 2 = 2 secs after it is called.</a:t>
            </a:r>
          </a:p>
          <a:p>
            <a:pPr marL="0" marR="0" lvl="0" indent="0" algn="l" defTabSz="914400" rtl="0" eaLnBrk="0" fontAlgn="base" latinLnBrk="0" hangingPunct="0">
              <a:lnSpc>
                <a:spcPct val="100000"/>
              </a:lnSpc>
              <a:spcBef>
                <a:spcPct val="0"/>
              </a:spcBef>
              <a:spcAft>
                <a:spcPct val="0"/>
              </a:spcAft>
              <a:buClrTx/>
              <a:buSzTx/>
              <a:buFontTx/>
              <a:buNone/>
              <a:tabLst/>
            </a:pPr>
            <a:br>
              <a:rPr lang="en-US" altLang="en-US" sz="2800" dirty="0">
                <a:solidFill>
                  <a:srgbClr val="273239"/>
                </a:solidFill>
                <a:latin typeface="urw-din"/>
              </a:rPr>
            </a:br>
            <a:r>
              <a:rPr lang="en-US" altLang="en-US" sz="2800" dirty="0">
                <a:solidFill>
                  <a:srgbClr val="273239"/>
                </a:solidFill>
                <a:latin typeface="urw-din"/>
              </a:rPr>
              <a:t>So the output is: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273239"/>
                </a:solidFill>
                <a:latin typeface="urw-din"/>
              </a:rPr>
              <a:t>Entered..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273239"/>
                </a:solidFill>
                <a:latin typeface="urw-din"/>
              </a:rPr>
              <a:t>Just Exiting...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273239"/>
                </a:solidFill>
                <a:latin typeface="urw-din"/>
              </a:rPr>
              <a:t>Entered..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273239"/>
                </a:solidFill>
                <a:latin typeface="urw-din"/>
              </a:rPr>
              <a:t>Just Exiting... </a:t>
            </a:r>
            <a:br>
              <a:rPr kumimoji="0" lang="en-US" altLang="en-US" sz="6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4377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a:t>
            </a:r>
          </a:p>
        </p:txBody>
      </p:sp>
      <p:sp>
        <p:nvSpPr>
          <p:cNvPr id="3" name="Content Placeholder 2"/>
          <p:cNvSpPr>
            <a:spLocks noGrp="1"/>
          </p:cNvSpPr>
          <p:nvPr>
            <p:ph idx="1"/>
          </p:nvPr>
        </p:nvSpPr>
        <p:spPr>
          <a:xfrm>
            <a:off x="457200" y="1428736"/>
            <a:ext cx="8229600" cy="4697427"/>
          </a:xfrm>
        </p:spPr>
        <p:txBody>
          <a:bodyPr/>
          <a:lstStyle/>
          <a:p>
            <a:r>
              <a:rPr lang="en-US" sz="2400" dirty="0"/>
              <a:t>Deadlock is the condition in which a process is waiting for resource held by another process which is waiting for a resource held by the first process.</a:t>
            </a:r>
          </a:p>
          <a:p>
            <a:r>
              <a:rPr lang="en-US" sz="2400" dirty="0"/>
              <a:t>Process A holds a resource ‘x’ and it wants a resource ‘y’ held by Process B. Process B is holding resource ‘y’ and it wants the resource ‘x’ which is currently held by Process A!</a:t>
            </a:r>
          </a:p>
          <a:p>
            <a:endParaRPr lang="en-US" dirty="0"/>
          </a:p>
          <a:p>
            <a:endParaRPr lang="en-US" dirty="0"/>
          </a:p>
        </p:txBody>
      </p:sp>
      <p:sp>
        <p:nvSpPr>
          <p:cNvPr id="4" name="Rectangle 3"/>
          <p:cNvSpPr/>
          <p:nvPr/>
        </p:nvSpPr>
        <p:spPr>
          <a:xfrm>
            <a:off x="2209800" y="4114800"/>
            <a:ext cx="1752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Process A</a:t>
            </a:r>
          </a:p>
        </p:txBody>
      </p:sp>
      <p:sp>
        <p:nvSpPr>
          <p:cNvPr id="5" name="Rectangle 4"/>
          <p:cNvSpPr/>
          <p:nvPr/>
        </p:nvSpPr>
        <p:spPr>
          <a:xfrm>
            <a:off x="4876800" y="4114800"/>
            <a:ext cx="1752600" cy="5334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Process B</a:t>
            </a:r>
          </a:p>
        </p:txBody>
      </p:sp>
      <p:sp>
        <p:nvSpPr>
          <p:cNvPr id="6" name="Oval 5"/>
          <p:cNvSpPr/>
          <p:nvPr/>
        </p:nvSpPr>
        <p:spPr>
          <a:xfrm>
            <a:off x="3962400" y="4953000"/>
            <a:ext cx="914400" cy="457200"/>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p>
        </p:txBody>
      </p:sp>
      <p:sp>
        <p:nvSpPr>
          <p:cNvPr id="7" name="Oval 6"/>
          <p:cNvSpPr/>
          <p:nvPr/>
        </p:nvSpPr>
        <p:spPr>
          <a:xfrm>
            <a:off x="3962400" y="5638800"/>
            <a:ext cx="914400" cy="457200"/>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p>
        </p:txBody>
      </p:sp>
      <p:cxnSp>
        <p:nvCxnSpPr>
          <p:cNvPr id="9" name="Straight Arrow Connector 8"/>
          <p:cNvCxnSpPr/>
          <p:nvPr/>
        </p:nvCxnSpPr>
        <p:spPr>
          <a:xfrm>
            <a:off x="3352800" y="4648200"/>
            <a:ext cx="6096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7" idx="6"/>
          </p:cNvCxnSpPr>
          <p:nvPr/>
        </p:nvCxnSpPr>
        <p:spPr>
          <a:xfrm rot="5400000">
            <a:off x="4648200" y="4876800"/>
            <a:ext cx="12192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4" idx="2"/>
            <a:endCxn id="7" idx="2"/>
          </p:cNvCxnSpPr>
          <p:nvPr/>
        </p:nvCxnSpPr>
        <p:spPr>
          <a:xfrm rot="16200000" flipH="1">
            <a:off x="2914650" y="4819650"/>
            <a:ext cx="1219200" cy="876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6" idx="6"/>
          </p:cNvCxnSpPr>
          <p:nvPr/>
        </p:nvCxnSpPr>
        <p:spPr>
          <a:xfrm rot="10800000" flipV="1">
            <a:off x="4876800" y="4648200"/>
            <a:ext cx="6096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733800" y="4648200"/>
            <a:ext cx="715260" cy="369332"/>
          </a:xfrm>
          <a:prstGeom prst="rect">
            <a:avLst/>
          </a:prstGeom>
          <a:noFill/>
        </p:spPr>
        <p:txBody>
          <a:bodyPr wrap="none" rtlCol="0">
            <a:spAutoFit/>
          </a:bodyPr>
          <a:lstStyle/>
          <a:p>
            <a:r>
              <a:rPr lang="en-US" dirty="0"/>
              <a:t>Holds</a:t>
            </a:r>
          </a:p>
        </p:txBody>
      </p:sp>
      <p:sp>
        <p:nvSpPr>
          <p:cNvPr id="18" name="TextBox 17"/>
          <p:cNvSpPr txBox="1"/>
          <p:nvPr/>
        </p:nvSpPr>
        <p:spPr>
          <a:xfrm>
            <a:off x="5029200" y="5638800"/>
            <a:ext cx="715260" cy="369332"/>
          </a:xfrm>
          <a:prstGeom prst="rect">
            <a:avLst/>
          </a:prstGeom>
          <a:noFill/>
        </p:spPr>
        <p:txBody>
          <a:bodyPr wrap="none" rtlCol="0">
            <a:spAutoFit/>
          </a:bodyPr>
          <a:lstStyle/>
          <a:p>
            <a:r>
              <a:rPr lang="en-US" dirty="0"/>
              <a:t>Holds</a:t>
            </a:r>
          </a:p>
        </p:txBody>
      </p:sp>
      <p:sp>
        <p:nvSpPr>
          <p:cNvPr id="19" name="TextBox 18"/>
          <p:cNvSpPr txBox="1"/>
          <p:nvPr/>
        </p:nvSpPr>
        <p:spPr>
          <a:xfrm>
            <a:off x="2667000" y="5257800"/>
            <a:ext cx="778868" cy="369332"/>
          </a:xfrm>
          <a:prstGeom prst="rect">
            <a:avLst/>
          </a:prstGeom>
          <a:noFill/>
        </p:spPr>
        <p:txBody>
          <a:bodyPr wrap="none" rtlCol="0">
            <a:spAutoFit/>
          </a:bodyPr>
          <a:lstStyle/>
          <a:p>
            <a:r>
              <a:rPr lang="en-US" dirty="0"/>
              <a:t>Wants</a:t>
            </a:r>
          </a:p>
        </p:txBody>
      </p:sp>
      <p:sp>
        <p:nvSpPr>
          <p:cNvPr id="20" name="TextBox 19"/>
          <p:cNvSpPr txBox="1"/>
          <p:nvPr/>
        </p:nvSpPr>
        <p:spPr>
          <a:xfrm>
            <a:off x="4572000" y="4648200"/>
            <a:ext cx="778868" cy="369332"/>
          </a:xfrm>
          <a:prstGeom prst="rect">
            <a:avLst/>
          </a:prstGeom>
          <a:noFill/>
        </p:spPr>
        <p:txBody>
          <a:bodyPr wrap="none" rtlCol="0">
            <a:spAutoFit/>
          </a:bodyPr>
          <a:lstStyle/>
          <a:p>
            <a:r>
              <a:rPr lang="en-US" dirty="0"/>
              <a:t>Wants</a:t>
            </a:r>
          </a:p>
        </p:txBody>
      </p:sp>
    </p:spTree>
    <p:extLst>
      <p:ext uri="{BB962C8B-B14F-4D97-AF65-F5344CB8AC3E}">
        <p14:creationId xmlns:p14="http://schemas.microsoft.com/office/powerpoint/2010/main" val="534814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99392"/>
            <a:ext cx="8229600" cy="1143000"/>
          </a:xfrm>
        </p:spPr>
        <p:txBody>
          <a:bodyPr/>
          <a:lstStyle/>
          <a:p>
            <a:r>
              <a:rPr lang="en-US" dirty="0"/>
              <a:t>Conditions for deadlock</a:t>
            </a:r>
          </a:p>
        </p:txBody>
      </p:sp>
      <p:sp>
        <p:nvSpPr>
          <p:cNvPr id="3" name="Content Placeholder 2"/>
          <p:cNvSpPr>
            <a:spLocks noGrp="1"/>
          </p:cNvSpPr>
          <p:nvPr>
            <p:ph idx="1"/>
          </p:nvPr>
        </p:nvSpPr>
        <p:spPr>
          <a:xfrm>
            <a:off x="457200" y="980728"/>
            <a:ext cx="8229600" cy="5616624"/>
          </a:xfrm>
        </p:spPr>
        <p:txBody>
          <a:bodyPr>
            <a:normAutofit lnSpcReduction="10000"/>
          </a:bodyPr>
          <a:lstStyle/>
          <a:p>
            <a:pPr>
              <a:spcBef>
                <a:spcPts val="700"/>
              </a:spcBef>
              <a:spcAft>
                <a:spcPts val="600"/>
              </a:spcAft>
            </a:pPr>
            <a:r>
              <a:rPr lang="en-IN" sz="2800" b="1" kern="100" dirty="0">
                <a:effectLst/>
                <a:latin typeface="Liberation Serif"/>
              </a:rPr>
              <a:t>Mutual Exclusion</a:t>
            </a:r>
          </a:p>
          <a:p>
            <a:pPr lvl="1">
              <a:lnSpc>
                <a:spcPct val="115000"/>
              </a:lnSpc>
              <a:spcAft>
                <a:spcPts val="700"/>
              </a:spcAft>
            </a:pPr>
            <a:r>
              <a:rPr lang="en-IN" sz="2000" kern="100" dirty="0">
                <a:effectLst/>
                <a:latin typeface="Liberation Serif"/>
                <a:ea typeface="Noto Serif CJK SC"/>
                <a:cs typeface="Lohit Devanagari"/>
              </a:rPr>
              <a:t>some resources can only be accessed by one process at a time. </a:t>
            </a:r>
          </a:p>
          <a:p>
            <a:pPr>
              <a:lnSpc>
                <a:spcPct val="115000"/>
              </a:lnSpc>
              <a:spcAft>
                <a:spcPts val="700"/>
              </a:spcAft>
            </a:pPr>
            <a:r>
              <a:rPr lang="en-IN" sz="2800" b="1" kern="100" dirty="0">
                <a:effectLst/>
                <a:latin typeface="Liberation Serif"/>
              </a:rPr>
              <a:t>Hold and Wait</a:t>
            </a:r>
          </a:p>
          <a:p>
            <a:pPr lvl="1">
              <a:lnSpc>
                <a:spcPct val="115000"/>
              </a:lnSpc>
              <a:spcAft>
                <a:spcPts val="700"/>
              </a:spcAft>
            </a:pPr>
            <a:r>
              <a:rPr lang="en-IN" sz="2000" kern="100" dirty="0">
                <a:effectLst/>
                <a:latin typeface="Liberation Serif"/>
                <a:ea typeface="Noto Serif CJK SC"/>
                <a:cs typeface="Lohit Devanagari"/>
              </a:rPr>
              <a:t>a process is holding at least one resource and is waiting to acquire additional resources. </a:t>
            </a:r>
          </a:p>
          <a:p>
            <a:pPr>
              <a:lnSpc>
                <a:spcPct val="115000"/>
              </a:lnSpc>
              <a:spcAft>
                <a:spcPts val="700"/>
              </a:spcAft>
            </a:pPr>
            <a:r>
              <a:rPr lang="en-IN" sz="2800" b="1" kern="100" dirty="0">
                <a:effectLst/>
                <a:latin typeface="Liberation Serif"/>
              </a:rPr>
              <a:t>No Pre-emption</a:t>
            </a:r>
          </a:p>
          <a:p>
            <a:pPr lvl="1">
              <a:lnSpc>
                <a:spcPct val="115000"/>
              </a:lnSpc>
              <a:spcAft>
                <a:spcPts val="700"/>
              </a:spcAft>
            </a:pPr>
            <a:r>
              <a:rPr lang="en-IN" sz="2000" kern="100" dirty="0">
                <a:effectLst/>
                <a:latin typeface="Liberation Serif"/>
                <a:ea typeface="Noto Serif CJK SC"/>
                <a:cs typeface="Lohit Devanagari"/>
              </a:rPr>
              <a:t>resources cannot be forcibly taken away from a process. </a:t>
            </a:r>
          </a:p>
          <a:p>
            <a:pPr>
              <a:lnSpc>
                <a:spcPct val="115000"/>
              </a:lnSpc>
              <a:spcAft>
                <a:spcPts val="700"/>
              </a:spcAft>
            </a:pPr>
            <a:r>
              <a:rPr lang="en-IN" sz="2800" b="1" kern="100" dirty="0">
                <a:effectLst/>
                <a:latin typeface="Liberation Serif"/>
              </a:rPr>
              <a:t>Circular Wait</a:t>
            </a:r>
          </a:p>
          <a:p>
            <a:pPr lvl="1">
              <a:lnSpc>
                <a:spcPct val="115000"/>
              </a:lnSpc>
              <a:spcAft>
                <a:spcPts val="700"/>
              </a:spcAft>
            </a:pPr>
            <a:r>
              <a:rPr lang="en-IN" sz="2000" kern="100" dirty="0">
                <a:effectLst/>
                <a:latin typeface="Liberation Serif"/>
                <a:ea typeface="Noto Serif CJK SC"/>
                <a:cs typeface="Lohit Devanagari"/>
              </a:rPr>
              <a:t>each process waits for a resource that another process holds in the set, creating a circular dependency</a:t>
            </a:r>
          </a:p>
          <a:p>
            <a:pPr marL="0" indent="0" algn="ctr">
              <a:lnSpc>
                <a:spcPct val="115000"/>
              </a:lnSpc>
              <a:spcAft>
                <a:spcPts val="700"/>
              </a:spcAft>
              <a:buNone/>
            </a:pPr>
            <a:r>
              <a:rPr lang="en-IN" sz="2800" b="1" kern="100" dirty="0">
                <a:latin typeface="Liberation Serif"/>
                <a:ea typeface="Noto Serif CJK SC"/>
                <a:cs typeface="Lohit Devanagari"/>
              </a:rPr>
              <a:t>Deadlock Avoidance – Break at least one condition</a:t>
            </a:r>
            <a:endParaRPr lang="en-IN" sz="2800" b="1" kern="100" dirty="0">
              <a:effectLst/>
              <a:latin typeface="Liberation Serif"/>
              <a:ea typeface="Noto Serif CJK SC"/>
              <a:cs typeface="Lohit Devanagari"/>
            </a:endParaRPr>
          </a:p>
        </p:txBody>
      </p:sp>
    </p:spTree>
    <p:extLst>
      <p:ext uri="{BB962C8B-B14F-4D97-AF65-F5344CB8AC3E}">
        <p14:creationId xmlns:p14="http://schemas.microsoft.com/office/powerpoint/2010/main" val="2756730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99392"/>
            <a:ext cx="8229600" cy="1143000"/>
          </a:xfrm>
        </p:spPr>
        <p:txBody>
          <a:bodyPr/>
          <a:lstStyle/>
          <a:p>
            <a:r>
              <a:rPr lang="en-IN" sz="4400" b="1" dirty="0">
                <a:effectLst/>
                <a:latin typeface="Liberation Serif"/>
                <a:ea typeface="Noto Serif CJK SC"/>
                <a:cs typeface="Lohit Devanagari"/>
              </a:rPr>
              <a:t>Methods for Deadlock Detection </a:t>
            </a:r>
            <a:endParaRPr lang="en-US" dirty="0"/>
          </a:p>
        </p:txBody>
      </p:sp>
      <p:sp>
        <p:nvSpPr>
          <p:cNvPr id="3" name="Content Placeholder 2"/>
          <p:cNvSpPr>
            <a:spLocks noGrp="1"/>
          </p:cNvSpPr>
          <p:nvPr>
            <p:ph idx="1"/>
          </p:nvPr>
        </p:nvSpPr>
        <p:spPr>
          <a:xfrm>
            <a:off x="251520" y="980728"/>
            <a:ext cx="4968552" cy="5616624"/>
          </a:xfrm>
        </p:spPr>
        <p:txBody>
          <a:bodyPr>
            <a:normAutofit lnSpcReduction="10000"/>
          </a:bodyPr>
          <a:lstStyle/>
          <a:p>
            <a:pPr>
              <a:lnSpc>
                <a:spcPct val="115000"/>
              </a:lnSpc>
              <a:spcAft>
                <a:spcPts val="700"/>
              </a:spcAft>
            </a:pPr>
            <a:r>
              <a:rPr lang="en-IN" sz="2400" b="1" kern="100" dirty="0">
                <a:latin typeface="Liberation Serif"/>
                <a:ea typeface="Noto Serif CJK SC"/>
                <a:cs typeface="Lohit Devanagari"/>
              </a:rPr>
              <a:t>R</a:t>
            </a:r>
            <a:r>
              <a:rPr lang="en-IN" sz="2400" b="1" kern="100" dirty="0">
                <a:effectLst/>
                <a:latin typeface="Liberation Serif"/>
                <a:ea typeface="Noto Serif CJK SC"/>
                <a:cs typeface="Lohit Devanagari"/>
              </a:rPr>
              <a:t>esource-allocation graph </a:t>
            </a:r>
          </a:p>
          <a:p>
            <a:pPr lvl="1">
              <a:lnSpc>
                <a:spcPct val="115000"/>
              </a:lnSpc>
              <a:spcAft>
                <a:spcPts val="700"/>
              </a:spcAft>
            </a:pPr>
            <a:r>
              <a:rPr lang="en-IN" sz="2000" kern="100" dirty="0">
                <a:latin typeface="Liberation Serif"/>
                <a:ea typeface="Noto Serif CJK SC"/>
                <a:cs typeface="Lohit Devanagari"/>
              </a:rPr>
              <a:t>G</a:t>
            </a:r>
            <a:r>
              <a:rPr lang="en-IN" sz="2000" kern="100" dirty="0">
                <a:effectLst/>
                <a:latin typeface="Liberation Serif"/>
                <a:ea typeface="Noto Serif CJK SC"/>
                <a:cs typeface="Lohit Devanagari"/>
              </a:rPr>
              <a:t>raphical representation of the resources and processes in the system.</a:t>
            </a:r>
          </a:p>
          <a:p>
            <a:pPr lvl="1">
              <a:lnSpc>
                <a:spcPct val="115000"/>
              </a:lnSpc>
              <a:spcAft>
                <a:spcPts val="700"/>
              </a:spcAft>
            </a:pPr>
            <a:r>
              <a:rPr lang="en-IN" sz="2000" kern="100" dirty="0">
                <a:effectLst/>
                <a:latin typeface="Liberation Serif"/>
                <a:ea typeface="Noto Serif CJK SC"/>
                <a:cs typeface="Lohit Devanagari"/>
              </a:rPr>
              <a:t>nodes representing processes and resources and edges representing resource requests and allocations. </a:t>
            </a:r>
          </a:p>
          <a:p>
            <a:pPr lvl="1">
              <a:lnSpc>
                <a:spcPct val="115000"/>
              </a:lnSpc>
              <a:spcAft>
                <a:spcPts val="700"/>
              </a:spcAft>
            </a:pPr>
            <a:r>
              <a:rPr lang="en-IN" sz="2000" kern="100" dirty="0">
                <a:latin typeface="Liberation Serif"/>
                <a:ea typeface="Noto Serif CJK SC"/>
                <a:cs typeface="Lohit Devanagari"/>
              </a:rPr>
              <a:t>For single-instanced resources, the occurrence of a cycle </a:t>
            </a:r>
            <a:r>
              <a:rPr lang="en-IN" sz="2000" kern="100" dirty="0">
                <a:effectLst/>
                <a:latin typeface="Liberation Serif"/>
                <a:ea typeface="Noto Serif CJK SC"/>
                <a:cs typeface="Lohit Devanagari"/>
              </a:rPr>
              <a:t>indicates a deadlock.</a:t>
            </a:r>
          </a:p>
          <a:p>
            <a:pPr lvl="1">
              <a:lnSpc>
                <a:spcPct val="115000"/>
              </a:lnSpc>
              <a:spcAft>
                <a:spcPts val="700"/>
              </a:spcAft>
            </a:pPr>
            <a:r>
              <a:rPr lang="en-IN" sz="2000" kern="100" dirty="0">
                <a:effectLst/>
                <a:latin typeface="Liberation Serif"/>
                <a:ea typeface="Noto Serif CJK SC"/>
                <a:cs typeface="Lohit Devanagari"/>
              </a:rPr>
              <a:t>For multiple instance resources, cycle may or may not indicate deadlock. (No cycle-&gt; definitely no deadlock, Cycle-&gt; may or may not be deadlock e.g. figure)</a:t>
            </a:r>
          </a:p>
        </p:txBody>
      </p:sp>
      <p:pic>
        <p:nvPicPr>
          <p:cNvPr id="5" name="Picture 4">
            <a:extLst>
              <a:ext uri="{FF2B5EF4-FFF2-40B4-BE49-F238E27FC236}">
                <a16:creationId xmlns:a16="http://schemas.microsoft.com/office/drawing/2014/main" id="{08990F58-EDEF-AA2B-AAE4-3FE0ABE4C20F}"/>
              </a:ext>
            </a:extLst>
          </p:cNvPr>
          <p:cNvPicPr>
            <a:picLocks noChangeAspect="1"/>
          </p:cNvPicPr>
          <p:nvPr/>
        </p:nvPicPr>
        <p:blipFill>
          <a:blip r:embed="rId2"/>
          <a:stretch>
            <a:fillRect/>
          </a:stretch>
        </p:blipFill>
        <p:spPr>
          <a:xfrm>
            <a:off x="5580112" y="1124744"/>
            <a:ext cx="2742589" cy="2881665"/>
          </a:xfrm>
          <a:prstGeom prst="rect">
            <a:avLst/>
          </a:prstGeom>
        </p:spPr>
      </p:pic>
      <p:graphicFrame>
        <p:nvGraphicFramePr>
          <p:cNvPr id="9" name="Table 8">
            <a:extLst>
              <a:ext uri="{FF2B5EF4-FFF2-40B4-BE49-F238E27FC236}">
                <a16:creationId xmlns:a16="http://schemas.microsoft.com/office/drawing/2014/main" id="{807C7A68-E109-3C44-24AB-4DC7C77B52F6}"/>
              </a:ext>
            </a:extLst>
          </p:cNvPr>
          <p:cNvGraphicFramePr>
            <a:graphicFrameLocks noGrp="1"/>
          </p:cNvGraphicFramePr>
          <p:nvPr/>
        </p:nvGraphicFramePr>
        <p:xfrm>
          <a:off x="5436096" y="4509120"/>
          <a:ext cx="3251200" cy="1584960"/>
        </p:xfrm>
        <a:graphic>
          <a:graphicData uri="http://schemas.openxmlformats.org/drawingml/2006/table">
            <a:tbl>
              <a:tblPr>
                <a:tableStyleId>{5C22544A-7EE6-4342-B048-85BDC9FD1C3A}</a:tableStyleId>
              </a:tblPr>
              <a:tblGrid>
                <a:gridCol w="812800">
                  <a:extLst>
                    <a:ext uri="{9D8B030D-6E8A-4147-A177-3AD203B41FA5}">
                      <a16:colId xmlns:a16="http://schemas.microsoft.com/office/drawing/2014/main" val="479614190"/>
                    </a:ext>
                  </a:extLst>
                </a:gridCol>
                <a:gridCol w="609600">
                  <a:extLst>
                    <a:ext uri="{9D8B030D-6E8A-4147-A177-3AD203B41FA5}">
                      <a16:colId xmlns:a16="http://schemas.microsoft.com/office/drawing/2014/main" val="2680956897"/>
                    </a:ext>
                  </a:extLst>
                </a:gridCol>
                <a:gridCol w="609600">
                  <a:extLst>
                    <a:ext uri="{9D8B030D-6E8A-4147-A177-3AD203B41FA5}">
                      <a16:colId xmlns:a16="http://schemas.microsoft.com/office/drawing/2014/main" val="3176711969"/>
                    </a:ext>
                  </a:extLst>
                </a:gridCol>
                <a:gridCol w="609600">
                  <a:extLst>
                    <a:ext uri="{9D8B030D-6E8A-4147-A177-3AD203B41FA5}">
                      <a16:colId xmlns:a16="http://schemas.microsoft.com/office/drawing/2014/main" val="3998447148"/>
                    </a:ext>
                  </a:extLst>
                </a:gridCol>
                <a:gridCol w="609600">
                  <a:extLst>
                    <a:ext uri="{9D8B030D-6E8A-4147-A177-3AD203B41FA5}">
                      <a16:colId xmlns:a16="http://schemas.microsoft.com/office/drawing/2014/main" val="956016982"/>
                    </a:ext>
                  </a:extLst>
                </a:gridCol>
              </a:tblGrid>
              <a:tr h="198120">
                <a:tc>
                  <a:txBody>
                    <a:bodyPr/>
                    <a:lstStyle/>
                    <a:p>
                      <a:pPr algn="l"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ctr" fontAlgn="ctr"/>
                      <a:r>
                        <a:rPr lang="en-IN" sz="1200" u="none" strike="noStrike">
                          <a:effectLst/>
                          <a:highlight>
                            <a:srgbClr val="FFFFFF"/>
                          </a:highlight>
                        </a:rPr>
                        <a:t>Allocation</a:t>
                      </a:r>
                      <a:endParaRPr lang="en-IN" sz="1200" b="1" i="0" u="none" strike="noStrike">
                        <a:solidFill>
                          <a:srgbClr val="303030"/>
                        </a:solidFill>
                        <a:effectLst/>
                        <a:highlight>
                          <a:srgbClr val="FFFFFF"/>
                        </a:highlight>
                        <a:latin typeface="Arial" panose="020B0604020202020204" pitchFamily="34" charset="0"/>
                      </a:endParaRPr>
                    </a:p>
                  </a:txBody>
                  <a:tcPr marL="7620" marR="7620" marT="7620" marB="0" anchor="ctr"/>
                </a:tc>
                <a:tc hMerge="1">
                  <a:txBody>
                    <a:bodyPr/>
                    <a:lstStyle/>
                    <a:p>
                      <a:endParaRPr lang="en-IN"/>
                    </a:p>
                  </a:txBody>
                  <a:tcPr/>
                </a:tc>
                <a:tc gridSpan="2">
                  <a:txBody>
                    <a:bodyPr/>
                    <a:lstStyle/>
                    <a:p>
                      <a:pPr algn="ctr" fontAlgn="ctr"/>
                      <a:r>
                        <a:rPr lang="en-IN" sz="1200" u="none" strike="noStrike">
                          <a:effectLst/>
                          <a:highlight>
                            <a:srgbClr val="FFFFFF"/>
                          </a:highlight>
                        </a:rPr>
                        <a:t>Need</a:t>
                      </a:r>
                      <a:endParaRPr lang="en-IN" sz="1200" b="1" i="0" u="none" strike="noStrike">
                        <a:solidFill>
                          <a:srgbClr val="303030"/>
                        </a:solidFill>
                        <a:effectLst/>
                        <a:highlight>
                          <a:srgbClr val="FFFFFF"/>
                        </a:highlight>
                        <a:latin typeface="Arial" panose="020B0604020202020204" pitchFamily="34" charset="0"/>
                      </a:endParaRPr>
                    </a:p>
                  </a:txBody>
                  <a:tcPr marL="7620" marR="7620" marT="7620" marB="0" anchor="ctr"/>
                </a:tc>
                <a:tc hMerge="1">
                  <a:txBody>
                    <a:bodyPr/>
                    <a:lstStyle/>
                    <a:p>
                      <a:endParaRPr lang="en-IN"/>
                    </a:p>
                  </a:txBody>
                  <a:tcPr/>
                </a:tc>
                <a:extLst>
                  <a:ext uri="{0D108BD9-81ED-4DB2-BD59-A6C34878D82A}">
                    <a16:rowId xmlns:a16="http://schemas.microsoft.com/office/drawing/2014/main" val="138658193"/>
                  </a:ext>
                </a:extLst>
              </a:tr>
              <a:tr h="198120">
                <a:tc>
                  <a:txBody>
                    <a:bodyPr/>
                    <a:lstStyle/>
                    <a:p>
                      <a:pPr algn="l"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ctr"/>
                      <a:r>
                        <a:rPr lang="en-IN" sz="1200" u="none" strike="noStrike">
                          <a:effectLst/>
                          <a:highlight>
                            <a:srgbClr val="FFFFFF"/>
                          </a:highlight>
                        </a:rPr>
                        <a:t>R1</a:t>
                      </a:r>
                      <a:endParaRPr lang="en-IN" sz="1200" b="1" i="0" u="none" strike="noStrike">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200" u="none" strike="noStrike" dirty="0">
                          <a:effectLst/>
                          <a:highlight>
                            <a:srgbClr val="FFFFFF"/>
                          </a:highlight>
                        </a:rPr>
                        <a:t>R2</a:t>
                      </a:r>
                      <a:endParaRPr lang="en-IN" sz="1200" b="1" i="0" u="none" strike="noStrike" dirty="0">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200" u="none" strike="noStrike">
                          <a:effectLst/>
                          <a:highlight>
                            <a:srgbClr val="FFFFFF"/>
                          </a:highlight>
                        </a:rPr>
                        <a:t>R1</a:t>
                      </a:r>
                      <a:endParaRPr lang="en-IN" sz="1200" b="1" i="0" u="none" strike="noStrike">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200" u="none" strike="noStrike">
                          <a:effectLst/>
                          <a:highlight>
                            <a:srgbClr val="FFFFFF"/>
                          </a:highlight>
                        </a:rPr>
                        <a:t>R2</a:t>
                      </a:r>
                      <a:endParaRPr lang="en-IN" sz="1200" b="1" i="0" u="none" strike="noStrike">
                        <a:solidFill>
                          <a:srgbClr val="303030"/>
                        </a:solidFill>
                        <a:effectLst/>
                        <a:highlight>
                          <a:srgbClr val="FFFFFF"/>
                        </a:highlight>
                        <a:latin typeface="Arial" panose="020B0604020202020204" pitchFamily="34" charset="0"/>
                      </a:endParaRPr>
                    </a:p>
                  </a:txBody>
                  <a:tcPr marL="7620" marR="7620" marT="7620" marB="0" anchor="ctr"/>
                </a:tc>
                <a:extLst>
                  <a:ext uri="{0D108BD9-81ED-4DB2-BD59-A6C34878D82A}">
                    <a16:rowId xmlns:a16="http://schemas.microsoft.com/office/drawing/2014/main" val="2296359011"/>
                  </a:ext>
                </a:extLst>
              </a:tr>
              <a:tr h="396240">
                <a:tc>
                  <a:txBody>
                    <a:bodyPr/>
                    <a:lstStyle/>
                    <a:p>
                      <a:pPr algn="ctr" fontAlgn="ctr"/>
                      <a:r>
                        <a:rPr lang="en-IN" sz="1200" u="none" strike="noStrike">
                          <a:effectLst/>
                          <a:highlight>
                            <a:srgbClr val="FFFFFF"/>
                          </a:highlight>
                        </a:rPr>
                        <a:t>Process P1</a:t>
                      </a:r>
                      <a:endParaRPr lang="en-IN" sz="1200" b="1" i="0" u="none" strike="noStrike">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600" u="none" strike="noStrike">
                          <a:effectLst/>
                          <a:highlight>
                            <a:srgbClr val="FFFFFF"/>
                          </a:highlight>
                        </a:rPr>
                        <a:t>1</a:t>
                      </a:r>
                      <a:endParaRPr lang="en-IN" sz="1600" b="0" i="0" u="none" strike="noStrike">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600" u="none" strike="noStrike">
                          <a:effectLst/>
                          <a:highlight>
                            <a:srgbClr val="FFFFFF"/>
                          </a:highlight>
                        </a:rPr>
                        <a:t>0</a:t>
                      </a:r>
                      <a:endParaRPr lang="en-IN" sz="1600" b="0" i="0" u="none" strike="noStrike">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600" u="none" strike="noStrike">
                          <a:effectLst/>
                          <a:highlight>
                            <a:srgbClr val="FFFFFF"/>
                          </a:highlight>
                        </a:rPr>
                        <a:t>0</a:t>
                      </a:r>
                      <a:endParaRPr lang="en-IN" sz="1600" b="0" i="0" u="none" strike="noStrike">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600" u="none" strike="noStrike">
                          <a:effectLst/>
                          <a:highlight>
                            <a:srgbClr val="FFFFFF"/>
                          </a:highlight>
                        </a:rPr>
                        <a:t>1</a:t>
                      </a:r>
                      <a:endParaRPr lang="en-IN" sz="1600" b="0" i="0" u="none" strike="noStrike">
                        <a:solidFill>
                          <a:srgbClr val="303030"/>
                        </a:solidFill>
                        <a:effectLst/>
                        <a:highlight>
                          <a:srgbClr val="FFFFFF"/>
                        </a:highlight>
                        <a:latin typeface="Arial" panose="020B0604020202020204" pitchFamily="34" charset="0"/>
                      </a:endParaRPr>
                    </a:p>
                  </a:txBody>
                  <a:tcPr marL="7620" marR="7620" marT="7620" marB="0" anchor="ctr"/>
                </a:tc>
                <a:extLst>
                  <a:ext uri="{0D108BD9-81ED-4DB2-BD59-A6C34878D82A}">
                    <a16:rowId xmlns:a16="http://schemas.microsoft.com/office/drawing/2014/main" val="2762534384"/>
                  </a:ext>
                </a:extLst>
              </a:tr>
              <a:tr h="396240">
                <a:tc>
                  <a:txBody>
                    <a:bodyPr/>
                    <a:lstStyle/>
                    <a:p>
                      <a:pPr algn="ctr" fontAlgn="ctr"/>
                      <a:r>
                        <a:rPr lang="en-IN" sz="1200" u="none" strike="noStrike">
                          <a:effectLst/>
                          <a:highlight>
                            <a:srgbClr val="FFFFFF"/>
                          </a:highlight>
                        </a:rPr>
                        <a:t>Process P2</a:t>
                      </a:r>
                      <a:endParaRPr lang="en-IN" sz="1200" b="1" i="0" u="none" strike="noStrike">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600" u="none" strike="noStrike">
                          <a:effectLst/>
                          <a:highlight>
                            <a:srgbClr val="FFFFFF"/>
                          </a:highlight>
                        </a:rPr>
                        <a:t>0</a:t>
                      </a:r>
                      <a:endParaRPr lang="en-IN" sz="1600" b="0" i="0" u="none" strike="noStrike">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600" u="none" strike="noStrike">
                          <a:effectLst/>
                          <a:highlight>
                            <a:srgbClr val="FFFFFF"/>
                          </a:highlight>
                        </a:rPr>
                        <a:t>1</a:t>
                      </a:r>
                      <a:endParaRPr lang="en-IN" sz="1600" b="0" i="0" u="none" strike="noStrike">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600" u="none" strike="noStrike">
                          <a:effectLst/>
                          <a:highlight>
                            <a:srgbClr val="FFFFFF"/>
                          </a:highlight>
                        </a:rPr>
                        <a:t>1</a:t>
                      </a:r>
                      <a:endParaRPr lang="en-IN" sz="1600" b="0" i="0" u="none" strike="noStrike">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600" u="none" strike="noStrike">
                          <a:effectLst/>
                          <a:highlight>
                            <a:srgbClr val="FFFFFF"/>
                          </a:highlight>
                        </a:rPr>
                        <a:t>0</a:t>
                      </a:r>
                      <a:endParaRPr lang="en-IN" sz="1600" b="0" i="0" u="none" strike="noStrike">
                        <a:solidFill>
                          <a:srgbClr val="303030"/>
                        </a:solidFill>
                        <a:effectLst/>
                        <a:highlight>
                          <a:srgbClr val="FFFFFF"/>
                        </a:highlight>
                        <a:latin typeface="Arial" panose="020B0604020202020204" pitchFamily="34" charset="0"/>
                      </a:endParaRPr>
                    </a:p>
                  </a:txBody>
                  <a:tcPr marL="7620" marR="7620" marT="7620" marB="0" anchor="ctr"/>
                </a:tc>
                <a:extLst>
                  <a:ext uri="{0D108BD9-81ED-4DB2-BD59-A6C34878D82A}">
                    <a16:rowId xmlns:a16="http://schemas.microsoft.com/office/drawing/2014/main" val="1865385102"/>
                  </a:ext>
                </a:extLst>
              </a:tr>
              <a:tr h="396240">
                <a:tc>
                  <a:txBody>
                    <a:bodyPr/>
                    <a:lstStyle/>
                    <a:p>
                      <a:pPr algn="ctr" fontAlgn="ctr"/>
                      <a:r>
                        <a:rPr lang="en-IN" sz="1200" u="none" strike="noStrike">
                          <a:effectLst/>
                          <a:highlight>
                            <a:srgbClr val="FFFFFF"/>
                          </a:highlight>
                        </a:rPr>
                        <a:t>Process P3</a:t>
                      </a:r>
                      <a:endParaRPr lang="en-IN" sz="1200" b="1" i="0" u="none" strike="noStrike">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600" u="none" strike="noStrike">
                          <a:effectLst/>
                          <a:highlight>
                            <a:srgbClr val="FFFFFF"/>
                          </a:highlight>
                        </a:rPr>
                        <a:t>0</a:t>
                      </a:r>
                      <a:endParaRPr lang="en-IN" sz="1600" b="0" i="0" u="none" strike="noStrike">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600" u="none" strike="noStrike">
                          <a:effectLst/>
                          <a:highlight>
                            <a:srgbClr val="FFFFFF"/>
                          </a:highlight>
                        </a:rPr>
                        <a:t>1</a:t>
                      </a:r>
                      <a:endParaRPr lang="en-IN" sz="1600" b="0" i="0" u="none" strike="noStrike">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600" u="none" strike="noStrike">
                          <a:effectLst/>
                          <a:highlight>
                            <a:srgbClr val="FFFFFF"/>
                          </a:highlight>
                        </a:rPr>
                        <a:t>0</a:t>
                      </a:r>
                      <a:endParaRPr lang="en-IN" sz="1600" b="0" i="0" u="none" strike="noStrike">
                        <a:solidFill>
                          <a:srgbClr val="303030"/>
                        </a:solidFill>
                        <a:effectLst/>
                        <a:highlight>
                          <a:srgbClr val="FFFFFF"/>
                        </a:highlight>
                        <a:latin typeface="Arial" panose="020B0604020202020204" pitchFamily="34" charset="0"/>
                      </a:endParaRPr>
                    </a:p>
                  </a:txBody>
                  <a:tcPr marL="7620" marR="7620" marT="7620" marB="0" anchor="ctr"/>
                </a:tc>
                <a:tc>
                  <a:txBody>
                    <a:bodyPr/>
                    <a:lstStyle/>
                    <a:p>
                      <a:pPr algn="ctr" fontAlgn="ctr"/>
                      <a:r>
                        <a:rPr lang="en-IN" sz="1600" u="none" strike="noStrike" dirty="0">
                          <a:effectLst/>
                          <a:highlight>
                            <a:srgbClr val="FFFFFF"/>
                          </a:highlight>
                        </a:rPr>
                        <a:t>0</a:t>
                      </a:r>
                      <a:endParaRPr lang="en-IN" sz="1600" b="0" i="0" u="none" strike="noStrike" dirty="0">
                        <a:solidFill>
                          <a:srgbClr val="303030"/>
                        </a:solidFill>
                        <a:effectLst/>
                        <a:highlight>
                          <a:srgbClr val="FFFFFF"/>
                        </a:highlight>
                        <a:latin typeface="Arial" panose="020B0604020202020204" pitchFamily="34" charset="0"/>
                      </a:endParaRPr>
                    </a:p>
                  </a:txBody>
                  <a:tcPr marL="7620" marR="7620" marT="7620" marB="0" anchor="ctr"/>
                </a:tc>
                <a:extLst>
                  <a:ext uri="{0D108BD9-81ED-4DB2-BD59-A6C34878D82A}">
                    <a16:rowId xmlns:a16="http://schemas.microsoft.com/office/drawing/2014/main" val="3994568522"/>
                  </a:ext>
                </a:extLst>
              </a:tr>
            </a:tbl>
          </a:graphicData>
        </a:graphic>
      </p:graphicFrame>
    </p:spTree>
    <p:extLst>
      <p:ext uri="{BB962C8B-B14F-4D97-AF65-F5344CB8AC3E}">
        <p14:creationId xmlns:p14="http://schemas.microsoft.com/office/powerpoint/2010/main" val="885677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99392"/>
            <a:ext cx="8229600" cy="1143000"/>
          </a:xfrm>
        </p:spPr>
        <p:txBody>
          <a:bodyPr>
            <a:noAutofit/>
          </a:bodyPr>
          <a:lstStyle/>
          <a:p>
            <a:r>
              <a:rPr lang="en-IN" sz="3200" b="1" dirty="0">
                <a:latin typeface="Liberation Serif"/>
              </a:rPr>
              <a:t>Deadlock Avoidance by Banker’s Algorithm</a:t>
            </a:r>
            <a:endParaRPr lang="en-US" sz="3200" dirty="0"/>
          </a:p>
        </p:txBody>
      </p:sp>
      <p:sp>
        <p:nvSpPr>
          <p:cNvPr id="3" name="Content Placeholder 2"/>
          <p:cNvSpPr>
            <a:spLocks noGrp="1"/>
          </p:cNvSpPr>
          <p:nvPr>
            <p:ph idx="1"/>
          </p:nvPr>
        </p:nvSpPr>
        <p:spPr>
          <a:xfrm>
            <a:off x="251520" y="980728"/>
            <a:ext cx="8568952" cy="5616624"/>
          </a:xfrm>
        </p:spPr>
        <p:txBody>
          <a:bodyPr>
            <a:normAutofit/>
          </a:bodyPr>
          <a:lstStyle/>
          <a:p>
            <a:pPr>
              <a:lnSpc>
                <a:spcPct val="115000"/>
              </a:lnSpc>
              <a:spcAft>
                <a:spcPts val="700"/>
              </a:spcAft>
            </a:pPr>
            <a:r>
              <a:rPr lang="en-IN" sz="2400" kern="100" dirty="0">
                <a:latin typeface="Liberation Serif"/>
                <a:ea typeface="Noto Serif CJK SC"/>
                <a:cs typeface="Lohit Devanagari"/>
              </a:rPr>
              <a:t>E</a:t>
            </a:r>
            <a:r>
              <a:rPr lang="en-IN" sz="2400" kern="100" dirty="0">
                <a:effectLst/>
                <a:latin typeface="Liberation Serif"/>
                <a:ea typeface="Noto Serif CJK SC"/>
                <a:cs typeface="Lohit Devanagari"/>
              </a:rPr>
              <a:t>nsures that a state is safe by simulating the execution of processes and checking if they can complete their execution without entering a deadlock state.</a:t>
            </a:r>
          </a:p>
          <a:p>
            <a:pPr>
              <a:lnSpc>
                <a:spcPct val="115000"/>
              </a:lnSpc>
              <a:spcAft>
                <a:spcPts val="700"/>
              </a:spcAft>
            </a:pPr>
            <a:r>
              <a:rPr lang="en-IN" sz="2400" kern="100" dirty="0">
                <a:effectLst/>
                <a:latin typeface="Liberation Serif"/>
                <a:ea typeface="Noto Serif CJK SC"/>
                <a:cs typeface="Lohit Devanagari"/>
              </a:rPr>
              <a:t>If a safe state cannot be reached, allocation is stopped and deadlock avoided.</a:t>
            </a:r>
          </a:p>
          <a:p>
            <a:pPr>
              <a:lnSpc>
                <a:spcPct val="115000"/>
              </a:lnSpc>
              <a:spcAft>
                <a:spcPts val="700"/>
              </a:spcAft>
            </a:pPr>
            <a:r>
              <a:rPr lang="en-IN" sz="2400" kern="100" dirty="0">
                <a:latin typeface="Liberation Serif"/>
                <a:ea typeface="Noto Serif CJK SC"/>
                <a:cs typeface="Lohit Devanagari"/>
              </a:rPr>
              <a:t>The algorithm works on four data structures –</a:t>
            </a:r>
          </a:p>
          <a:p>
            <a:pPr marL="742950" lvl="2" indent="-342900">
              <a:spcBef>
                <a:spcPts val="0"/>
              </a:spcBef>
            </a:pPr>
            <a:r>
              <a:rPr lang="en-IN" sz="2000" kern="100" dirty="0">
                <a:latin typeface="Liberation Serif"/>
              </a:rPr>
              <a:t>Available[R1] = no of instances of R1 presently available</a:t>
            </a:r>
          </a:p>
          <a:p>
            <a:pPr marL="742950" lvl="2" indent="-342900">
              <a:spcBef>
                <a:spcPts val="0"/>
              </a:spcBef>
            </a:pPr>
            <a:r>
              <a:rPr lang="en-IN" sz="2000" kern="100" dirty="0">
                <a:latin typeface="Liberation Serif"/>
              </a:rPr>
              <a:t>Max[P1][R1] = max no. of instances of R1 that P1 requires</a:t>
            </a:r>
          </a:p>
          <a:p>
            <a:pPr marL="742950" lvl="2" indent="-342900">
              <a:spcBef>
                <a:spcPts val="0"/>
              </a:spcBef>
            </a:pPr>
            <a:r>
              <a:rPr lang="en-IN" sz="2000" kern="100" dirty="0">
                <a:latin typeface="Liberation Serif"/>
              </a:rPr>
              <a:t>Allocation[P1][R1] = no of R1s presently allocated to P1</a:t>
            </a:r>
          </a:p>
          <a:p>
            <a:pPr marL="742950" lvl="2" indent="-342900">
              <a:spcBef>
                <a:spcPts val="0"/>
              </a:spcBef>
            </a:pPr>
            <a:r>
              <a:rPr lang="en-IN" sz="2000" kern="100" dirty="0">
                <a:latin typeface="Liberation Serif"/>
              </a:rPr>
              <a:t>Need[P1][R1] = no of R1s still needed by P1)</a:t>
            </a:r>
          </a:p>
          <a:p>
            <a:pPr>
              <a:lnSpc>
                <a:spcPct val="115000"/>
              </a:lnSpc>
              <a:spcAft>
                <a:spcPts val="700"/>
              </a:spcAft>
            </a:pPr>
            <a:r>
              <a:rPr lang="en-IN" sz="2400" kern="100" dirty="0">
                <a:latin typeface="Liberation Serif"/>
                <a:ea typeface="Noto Serif CJK SC"/>
                <a:cs typeface="Lohit Devanagari"/>
              </a:rPr>
              <a:t>For every resource request the algorithm is run to check if this allocation will lead to deadlock. If yes, then the allocation is </a:t>
            </a:r>
            <a:r>
              <a:rPr lang="en-IN" sz="2400" kern="100" dirty="0" err="1">
                <a:latin typeface="Liberation Serif"/>
                <a:ea typeface="Noto Serif CJK SC"/>
                <a:cs typeface="Lohit Devanagari"/>
              </a:rPr>
              <a:t>canceled</a:t>
            </a:r>
            <a:r>
              <a:rPr lang="en-IN" sz="2400" kern="100" dirty="0">
                <a:latin typeface="Liberation Serif"/>
                <a:ea typeface="Noto Serif CJK SC"/>
                <a:cs typeface="Lohit Devanagari"/>
              </a:rPr>
              <a:t>.</a:t>
            </a:r>
            <a:endParaRPr lang="en-IN" sz="2400" kern="100" dirty="0">
              <a:effectLst/>
              <a:latin typeface="Liberation Serif"/>
              <a:ea typeface="Noto Serif CJK SC"/>
              <a:cs typeface="Lohit Devanagari"/>
            </a:endParaRPr>
          </a:p>
        </p:txBody>
      </p:sp>
    </p:spTree>
    <p:extLst>
      <p:ext uri="{BB962C8B-B14F-4D97-AF65-F5344CB8AC3E}">
        <p14:creationId xmlns:p14="http://schemas.microsoft.com/office/powerpoint/2010/main" val="1477724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99392"/>
            <a:ext cx="8229600" cy="1143000"/>
          </a:xfrm>
        </p:spPr>
        <p:txBody>
          <a:bodyPr>
            <a:noAutofit/>
          </a:bodyPr>
          <a:lstStyle/>
          <a:p>
            <a:r>
              <a:rPr lang="en-IN" sz="3200" b="1" dirty="0">
                <a:latin typeface="Liberation Serif"/>
              </a:rPr>
              <a:t>Deadlock Recovery</a:t>
            </a:r>
            <a:endParaRPr lang="en-US" sz="3200" dirty="0"/>
          </a:p>
        </p:txBody>
      </p:sp>
      <p:sp>
        <p:nvSpPr>
          <p:cNvPr id="3" name="Content Placeholder 2"/>
          <p:cNvSpPr>
            <a:spLocks noGrp="1"/>
          </p:cNvSpPr>
          <p:nvPr>
            <p:ph idx="1"/>
          </p:nvPr>
        </p:nvSpPr>
        <p:spPr>
          <a:xfrm>
            <a:off x="251520" y="980728"/>
            <a:ext cx="8568952" cy="5616624"/>
          </a:xfrm>
        </p:spPr>
        <p:txBody>
          <a:bodyPr>
            <a:normAutofit fontScale="92500" lnSpcReduction="20000"/>
          </a:bodyPr>
          <a:lstStyle/>
          <a:p>
            <a:pPr>
              <a:lnSpc>
                <a:spcPct val="135000"/>
              </a:lnSpc>
              <a:spcAft>
                <a:spcPts val="700"/>
              </a:spcAft>
            </a:pPr>
            <a:r>
              <a:rPr lang="en-IN" sz="2400" kern="100" dirty="0">
                <a:latin typeface="Liberation Serif"/>
              </a:rPr>
              <a:t>Process Termination</a:t>
            </a:r>
          </a:p>
          <a:p>
            <a:pPr lvl="1">
              <a:lnSpc>
                <a:spcPct val="135000"/>
              </a:lnSpc>
              <a:spcAft>
                <a:spcPts val="700"/>
              </a:spcAft>
            </a:pPr>
            <a:r>
              <a:rPr lang="en-IN" sz="2000" kern="100" dirty="0">
                <a:latin typeface="Liberation Serif"/>
              </a:rPr>
              <a:t>May result in data loss or inconsistency, as the terminated processes may have made partial progress before the deadlock occurred.</a:t>
            </a:r>
          </a:p>
          <a:p>
            <a:pPr lvl="1">
              <a:lnSpc>
                <a:spcPct val="135000"/>
              </a:lnSpc>
              <a:spcAft>
                <a:spcPts val="700"/>
              </a:spcAft>
            </a:pPr>
            <a:r>
              <a:rPr lang="en-IN" sz="2000" kern="100" dirty="0">
                <a:latin typeface="Liberation Serif"/>
              </a:rPr>
              <a:t>Selection of a process for termination is based on - process's priority, the progress made by the process, and the resources consumed by the process.</a:t>
            </a:r>
          </a:p>
          <a:p>
            <a:pPr>
              <a:lnSpc>
                <a:spcPct val="135000"/>
              </a:lnSpc>
              <a:spcAft>
                <a:spcPts val="700"/>
              </a:spcAft>
            </a:pPr>
            <a:r>
              <a:rPr lang="en-IN" sz="2400" kern="100" dirty="0">
                <a:latin typeface="Liberation Serif"/>
              </a:rPr>
              <a:t>Resource </a:t>
            </a:r>
            <a:r>
              <a:rPr lang="en-IN" sz="2400" kern="100" dirty="0" err="1">
                <a:latin typeface="Liberation Serif"/>
              </a:rPr>
              <a:t>Preemption</a:t>
            </a:r>
            <a:endParaRPr lang="en-IN" sz="2400" kern="100" dirty="0">
              <a:latin typeface="Liberation Serif"/>
            </a:endParaRPr>
          </a:p>
          <a:p>
            <a:pPr lvl="1">
              <a:lnSpc>
                <a:spcPct val="135000"/>
              </a:lnSpc>
              <a:spcAft>
                <a:spcPts val="700"/>
              </a:spcAft>
            </a:pPr>
            <a:r>
              <a:rPr lang="en-IN" sz="2000" kern="100" dirty="0">
                <a:latin typeface="Liberation Serif"/>
              </a:rPr>
              <a:t>forcibly taking resources from one or more processes involved in the deadlock.</a:t>
            </a:r>
          </a:p>
          <a:p>
            <a:pPr lvl="1">
              <a:lnSpc>
                <a:spcPct val="135000"/>
              </a:lnSpc>
              <a:spcAft>
                <a:spcPts val="700"/>
              </a:spcAft>
            </a:pPr>
            <a:r>
              <a:rPr lang="en-IN" sz="2000" kern="100" dirty="0">
                <a:latin typeface="Liberation Serif"/>
              </a:rPr>
              <a:t>resource </a:t>
            </a:r>
            <a:r>
              <a:rPr lang="en-IN" sz="2000" kern="100" dirty="0" err="1">
                <a:latin typeface="Liberation Serif"/>
              </a:rPr>
              <a:t>preemption</a:t>
            </a:r>
            <a:r>
              <a:rPr lang="en-IN" sz="2000" kern="100" dirty="0">
                <a:latin typeface="Liberation Serif"/>
              </a:rPr>
              <a:t> and system roll back could be complex.</a:t>
            </a:r>
          </a:p>
          <a:p>
            <a:pPr lvl="1">
              <a:lnSpc>
                <a:spcPct val="135000"/>
              </a:lnSpc>
              <a:spcAft>
                <a:spcPts val="700"/>
              </a:spcAft>
            </a:pPr>
            <a:r>
              <a:rPr lang="en-IN" sz="2000" kern="100" dirty="0">
                <a:latin typeface="Liberation Serif"/>
              </a:rPr>
              <a:t>selection of which process to pre-empt involves </a:t>
            </a:r>
            <a:r>
              <a:rPr lang="en-IN" sz="2000" kern="100" dirty="0" err="1">
                <a:latin typeface="Liberation Serif"/>
              </a:rPr>
              <a:t>carefull</a:t>
            </a:r>
            <a:r>
              <a:rPr lang="en-IN" sz="2000" kern="100" dirty="0">
                <a:latin typeface="Liberation Serif"/>
              </a:rPr>
              <a:t> consideration to minimize the impact</a:t>
            </a:r>
          </a:p>
          <a:p>
            <a:pPr>
              <a:lnSpc>
                <a:spcPct val="135000"/>
              </a:lnSpc>
              <a:spcAft>
                <a:spcPts val="700"/>
              </a:spcAft>
            </a:pPr>
            <a:r>
              <a:rPr lang="en-IN" sz="2400" kern="100" dirty="0">
                <a:latin typeface="Liberation Serif"/>
              </a:rPr>
              <a:t>Deadlock recovery strategies may result in performance degradation or data loss. </a:t>
            </a:r>
          </a:p>
        </p:txBody>
      </p:sp>
    </p:spTree>
    <p:extLst>
      <p:ext uri="{BB962C8B-B14F-4D97-AF65-F5344CB8AC3E}">
        <p14:creationId xmlns:p14="http://schemas.microsoft.com/office/powerpoint/2010/main" val="41162816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1488</TotalTime>
  <Words>2094</Words>
  <Application>Microsoft Office PowerPoint</Application>
  <PresentationFormat>On-screen Show (4:3)</PresentationFormat>
  <Paragraphs>205</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Consolas</vt:lpstr>
      <vt:lpstr>Heltevica</vt:lpstr>
      <vt:lpstr>Liberation Serif</vt:lpstr>
      <vt:lpstr>Times New Roman</vt:lpstr>
      <vt:lpstr>urw-din</vt:lpstr>
      <vt:lpstr>Office Theme</vt:lpstr>
      <vt:lpstr>PowerPoint Presentation</vt:lpstr>
      <vt:lpstr>Task Synchronization</vt:lpstr>
      <vt:lpstr>Racing</vt:lpstr>
      <vt:lpstr>Solution for race condition</vt:lpstr>
      <vt:lpstr>Mutual Exclusion</vt:lpstr>
      <vt:lpstr>Semaphore as an Event - Signaling or Notifying Variable</vt:lpstr>
      <vt:lpstr>Types of Semaphores</vt:lpstr>
      <vt:lpstr>Semaphore Operations</vt:lpstr>
      <vt:lpstr>Semaphore Operations (contd.)</vt:lpstr>
      <vt:lpstr>Example</vt:lpstr>
      <vt:lpstr>Priority Inversion</vt:lpstr>
      <vt:lpstr>PowerPoint Presentation</vt:lpstr>
      <vt:lpstr>PowerPoint Presentation</vt:lpstr>
      <vt:lpstr>Priority Inheritance</vt:lpstr>
      <vt:lpstr>Using semaphore in Linux</vt:lpstr>
      <vt:lpstr>semaphore functions in Linux</vt:lpstr>
      <vt:lpstr>semaphore functions in Linux</vt:lpstr>
      <vt:lpstr>Sample code</vt:lpstr>
      <vt:lpstr>Code explanation</vt:lpstr>
      <vt:lpstr>Deadlock</vt:lpstr>
      <vt:lpstr>Conditions for deadlock</vt:lpstr>
      <vt:lpstr>Methods for Deadlock Detection </vt:lpstr>
      <vt:lpstr>Deadlock Avoidance by Banker’s Algorithm</vt:lpstr>
      <vt:lpstr>Deadlock Recovery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Synchronization</dc:title>
  <dc:creator>Bhaskar</dc:creator>
  <cp:lastModifiedBy>deshpande.shripad2@gmail.com</cp:lastModifiedBy>
  <cp:revision>23</cp:revision>
  <dcterms:created xsi:type="dcterms:W3CDTF">2019-03-18T01:07:42Z</dcterms:created>
  <dcterms:modified xsi:type="dcterms:W3CDTF">2024-05-18T17:09:37Z</dcterms:modified>
</cp:coreProperties>
</file>