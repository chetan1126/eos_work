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26"/>
  </p:notesMasterIdLst>
  <p:sldIdLst>
    <p:sldId id="3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9144000" cy="6858000"/>
  <p:embeddedFontLst>
    <p:embeddedFont>
      <p:font typeface="ADLVEH+Liberation Sans" panose="020B0604020202020204"/>
      <p:regular r:id="rId27"/>
    </p:embeddedFont>
    <p:embeddedFont>
      <p:font typeface="CMSBQV+Courier New Bold" panose="020B0604020202020204" charset="0"/>
      <p:regular r:id="rId28"/>
    </p:embeddedFont>
    <p:embeddedFont>
      <p:font typeface="FCDLIC+Calibri" panose="020B0604020202020204"/>
      <p:regular r:id="rId29"/>
    </p:embeddedFont>
    <p:embeddedFont>
      <p:font typeface="MVIMBM+Liberation Serif" panose="020B0604020202020204"/>
      <p:regular r:id="rId30"/>
    </p:embeddedFont>
    <p:embeddedFont>
      <p:font typeface="QRLRPG+Courier10PitchBT-Bold" panose="020B0604020202020204"/>
      <p:regular r:id="rId31"/>
    </p:embeddedFont>
    <p:embeddedFont>
      <p:font typeface="QWTUTB+Ubuntu" panose="020B0604020202020204"/>
      <p:regular r:id="rId32"/>
    </p:embeddedFont>
    <p:embeddedFont>
      <p:font typeface="REJGOG+Ubuntu Bold" panose="020B0604020202020204"/>
      <p:regular r:id="rId33"/>
    </p:embeddedFont>
    <p:embeddedFont>
      <p:font typeface="REOQKU+Ubuntu Italic" panose="020B0604020202020204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A1B2B-45E0-4412-97FF-A486A86EC533}" type="datetimeFigureOut">
              <a:rPr lang="en-IN" smtClean="0"/>
              <a:t>24-05-2024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81E07-F1BA-41C2-B243-EA278D0D23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177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81E07-F1BA-41C2-B243-EA278D0D2329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656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81E07-F1BA-41C2-B243-EA278D0D2329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54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45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562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62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03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481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43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73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08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81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52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172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85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8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29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1892448"/>
            <a:ext cx="6858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0"/>
            <a:ext cx="6858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347390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8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1219200" y="389986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1143000" y="2273438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 </a:t>
            </a:r>
            <a:r>
              <a:rPr lang="en-IN" sz="3200" dirty="0">
                <a:solidFill>
                  <a:srgbClr val="C00000"/>
                </a:solidFill>
                <a:latin typeface="MVIMBM+Liberation Serif"/>
                <a:cs typeface="MVIMBM+Liberation Serif"/>
              </a:rPr>
              <a:t>Linux Kernel Module Programming</a:t>
            </a:r>
          </a:p>
          <a:p>
            <a:endParaRPr lang="en-US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7799"/>
            <a:ext cx="339257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spc="-17" dirty="0">
                <a:latin typeface="QWTUTB+Ubuntu"/>
                <a:cs typeface="QWTUTB+Ubuntu"/>
              </a:rPr>
              <a:t>Kernel</a:t>
            </a:r>
            <a:r>
              <a:rPr sz="3600" dirty="0">
                <a:latin typeface="QWTUTB+Ubuntu"/>
                <a:cs typeface="QWTUTB+Ubuntu"/>
              </a:rPr>
              <a:t> Modules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3621"/>
            <a:ext cx="8208963" cy="383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6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52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Kernel </a:t>
            </a:r>
            <a:r>
              <a:rPr sz="2350" spc="15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are</a:t>
            </a:r>
            <a:r>
              <a:rPr sz="2350" spc="2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piece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of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code,</a:t>
            </a:r>
            <a:r>
              <a:rPr sz="2350" spc="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that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can</a:t>
            </a:r>
            <a:r>
              <a:rPr sz="2350" spc="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be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loaded</a:t>
            </a:r>
            <a:r>
              <a:rPr sz="2350" spc="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and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2640" y="1914037"/>
            <a:ext cx="4785238" cy="375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6"/>
              </a:lnSpc>
              <a:spcBef>
                <a:spcPts val="0"/>
              </a:spcBef>
              <a:spcAft>
                <a:spcPts val="0"/>
              </a:spcAft>
            </a:pP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unloaded</a:t>
            </a:r>
            <a:r>
              <a:rPr sz="2350" spc="16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from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on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7" dirty="0">
                <a:solidFill>
                  <a:srgbClr val="000000"/>
                </a:solidFill>
                <a:latin typeface="QWTUTB+Ubuntu"/>
                <a:cs typeface="QWTUTB+Ubuntu"/>
              </a:rPr>
              <a:t>demand.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2342451"/>
            <a:ext cx="8195418" cy="21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6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52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Kernel </a:t>
            </a:r>
            <a:r>
              <a:rPr sz="2350" spc="15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6" dirty="0">
                <a:solidFill>
                  <a:srgbClr val="000000"/>
                </a:solidFill>
                <a:latin typeface="QWTUTB+Ubuntu"/>
                <a:cs typeface="QWTUTB+Ubuntu"/>
              </a:rPr>
              <a:t>oﬀers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an</a:t>
            </a:r>
            <a:r>
              <a:rPr sz="2350" spc="2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easy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way</a:t>
            </a:r>
            <a:r>
              <a:rPr sz="2350" spc="2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-1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350" spc="3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extend</a:t>
            </a:r>
            <a:r>
              <a:rPr sz="2350" spc="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</a:p>
          <a:p>
            <a:pPr marL="254000" marR="0">
              <a:lnSpc>
                <a:spcPts val="2656"/>
              </a:lnSpc>
              <a:spcBef>
                <a:spcPts val="143"/>
              </a:spcBef>
              <a:spcAft>
                <a:spcPts val="0"/>
              </a:spcAft>
            </a:pPr>
            <a:r>
              <a:rPr sz="2350" spc="10" dirty="0">
                <a:solidFill>
                  <a:srgbClr val="000000"/>
                </a:solidFill>
                <a:latin typeface="QWTUTB+Ubuntu"/>
                <a:cs typeface="QWTUTB+Ubuntu"/>
              </a:rPr>
              <a:t>functionality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21" dirty="0">
                <a:solidFill>
                  <a:srgbClr val="000000"/>
                </a:solidFill>
                <a:latin typeface="QWTUTB+Ubuntu"/>
                <a:cs typeface="QWTUTB+Ubuntu"/>
              </a:rPr>
              <a:t>of</a:t>
            </a:r>
            <a:r>
              <a:rPr sz="235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base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kernel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without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having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-25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350" spc="5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0" dirty="0">
                <a:solidFill>
                  <a:srgbClr val="000000"/>
                </a:solidFill>
                <a:latin typeface="QWTUTB+Ubuntu"/>
                <a:cs typeface="QWTUTB+Ubuntu"/>
              </a:rPr>
              <a:t>rebuild</a:t>
            </a:r>
          </a:p>
          <a:p>
            <a:pPr marL="254000" marR="0">
              <a:lnSpc>
                <a:spcPts val="2656"/>
              </a:lnSpc>
              <a:spcBef>
                <a:spcPts val="193"/>
              </a:spcBef>
              <a:spcAft>
                <a:spcPts val="0"/>
              </a:spcAft>
            </a:pP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or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recompile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6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0" dirty="0">
                <a:solidFill>
                  <a:srgbClr val="000000"/>
                </a:solidFill>
                <a:latin typeface="QWTUTB+Ubuntu"/>
                <a:cs typeface="QWTUTB+Ubuntu"/>
              </a:rPr>
              <a:t>again.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Most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of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6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drivers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are</a:t>
            </a:r>
          </a:p>
          <a:p>
            <a:pPr marL="254000" marR="0">
              <a:lnSpc>
                <a:spcPts val="2656"/>
              </a:lnSpc>
              <a:spcBef>
                <a:spcPts val="143"/>
              </a:spcBef>
              <a:spcAft>
                <a:spcPts val="0"/>
              </a:spcAft>
            </a:pP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implemented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0" dirty="0">
                <a:solidFill>
                  <a:srgbClr val="000000"/>
                </a:solidFill>
                <a:latin typeface="QWTUTB+Ubuntu"/>
                <a:cs typeface="QWTUTB+Ubuntu"/>
              </a:rPr>
              <a:t>as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a</a:t>
            </a:r>
            <a:r>
              <a:rPr sz="2350" spc="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Linux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kernel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modules.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8" dirty="0">
                <a:solidFill>
                  <a:srgbClr val="000000"/>
                </a:solidFill>
                <a:latin typeface="QWTUTB+Ubuntu"/>
                <a:cs typeface="QWTUTB+Ubuntu"/>
              </a:rPr>
              <a:t>When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those</a:t>
            </a:r>
          </a:p>
          <a:p>
            <a:pPr marL="254000" marR="0">
              <a:lnSpc>
                <a:spcPts val="2656"/>
              </a:lnSpc>
              <a:spcBef>
                <a:spcPts val="203"/>
              </a:spcBef>
              <a:spcAft>
                <a:spcPts val="0"/>
              </a:spcAft>
            </a:pP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drivers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are</a:t>
            </a:r>
            <a:r>
              <a:rPr sz="2350" spc="2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5" dirty="0">
                <a:solidFill>
                  <a:srgbClr val="000000"/>
                </a:solidFill>
                <a:latin typeface="QWTUTB+Ubuntu"/>
                <a:cs typeface="QWTUTB+Ubuntu"/>
              </a:rPr>
              <a:t>not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6" dirty="0">
                <a:solidFill>
                  <a:srgbClr val="000000"/>
                </a:solidFill>
                <a:latin typeface="QWTUTB+Ubuntu"/>
                <a:cs typeface="QWTUTB+Ubuntu"/>
              </a:rPr>
              <a:t>needed,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23" dirty="0">
                <a:solidFill>
                  <a:srgbClr val="000000"/>
                </a:solidFill>
                <a:latin typeface="QWTUTB+Ubuntu"/>
                <a:cs typeface="QWTUTB+Ubuntu"/>
              </a:rPr>
              <a:t>we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can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unload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5" dirty="0">
                <a:solidFill>
                  <a:srgbClr val="000000"/>
                </a:solidFill>
                <a:latin typeface="QWTUTB+Ubuntu"/>
                <a:cs typeface="QWTUTB+Ubuntu"/>
              </a:rPr>
              <a:t>only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that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speciﬁc</a:t>
            </a:r>
          </a:p>
          <a:p>
            <a:pPr marL="254000" marR="0">
              <a:lnSpc>
                <a:spcPts val="2656"/>
              </a:lnSpc>
              <a:spcBef>
                <a:spcPts val="143"/>
              </a:spcBef>
              <a:spcAft>
                <a:spcPts val="0"/>
              </a:spcAft>
            </a:pPr>
            <a:r>
              <a:rPr sz="2350" spc="-16" dirty="0">
                <a:solidFill>
                  <a:srgbClr val="000000"/>
                </a:solidFill>
                <a:latin typeface="QWTUTB+Ubuntu"/>
                <a:cs typeface="QWTUTB+Ubuntu"/>
              </a:rPr>
              <a:t>driver,</a:t>
            </a:r>
            <a:r>
              <a:rPr sz="2350" spc="2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which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will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reduce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kernel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image</a:t>
            </a:r>
            <a:r>
              <a:rPr sz="2350" spc="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size.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8640" y="4590351"/>
            <a:ext cx="8241469" cy="110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56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52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kernel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will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-13" dirty="0">
                <a:solidFill>
                  <a:srgbClr val="000000"/>
                </a:solidFill>
                <a:latin typeface="QWTUTB+Ubuntu"/>
                <a:cs typeface="QWTUTB+Ubuntu"/>
              </a:rPr>
              <a:t>have</a:t>
            </a:r>
            <a:r>
              <a:rPr sz="2350" spc="3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a</a:t>
            </a:r>
            <a:r>
              <a:rPr sz="2350" spc="7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b="1" spc="-34" dirty="0">
                <a:solidFill>
                  <a:srgbClr val="0000FF"/>
                </a:solidFill>
                <a:latin typeface="REJGOG+Ubuntu Bold"/>
                <a:cs typeface="REJGOG+Ubuntu Bold"/>
              </a:rPr>
              <a:t>.ko</a:t>
            </a:r>
            <a:r>
              <a:rPr sz="2350" b="1" spc="32" dirty="0">
                <a:solidFill>
                  <a:srgbClr val="0000FF"/>
                </a:solidFill>
                <a:latin typeface="REJGOG+Ubuntu Bold"/>
                <a:cs typeface="REJGOG+Ubuntu Bold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extension.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20" dirty="0">
                <a:solidFill>
                  <a:srgbClr val="000000"/>
                </a:solidFill>
                <a:latin typeface="QWTUTB+Ubuntu"/>
                <a:cs typeface="QWTUTB+Ubuntu"/>
              </a:rPr>
              <a:t>On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a</a:t>
            </a:r>
          </a:p>
          <a:p>
            <a:pPr marL="254000" marR="0">
              <a:lnSpc>
                <a:spcPts val="2656"/>
              </a:lnSpc>
              <a:spcBef>
                <a:spcPts val="143"/>
              </a:spcBef>
              <a:spcAft>
                <a:spcPts val="0"/>
              </a:spcAft>
            </a:pP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normal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0" dirty="0">
                <a:solidFill>
                  <a:srgbClr val="000000"/>
                </a:solidFill>
                <a:latin typeface="QWTUTB+Ubuntu"/>
                <a:cs typeface="QWTUTB+Ubuntu"/>
              </a:rPr>
              <a:t>linux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system,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350" spc="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350" spc="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3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11" dirty="0">
                <a:solidFill>
                  <a:srgbClr val="000000"/>
                </a:solidFill>
                <a:latin typeface="QWTUTB+Ubuntu"/>
                <a:cs typeface="QWTUTB+Ubuntu"/>
              </a:rPr>
              <a:t>will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reside</a:t>
            </a:r>
            <a:r>
              <a:rPr sz="2350" spc="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inside</a:t>
            </a:r>
          </a:p>
          <a:p>
            <a:pPr marL="254000" marR="0">
              <a:lnSpc>
                <a:spcPts val="2656"/>
              </a:lnSpc>
              <a:spcBef>
                <a:spcPts val="193"/>
              </a:spcBef>
              <a:spcAft>
                <a:spcPts val="0"/>
              </a:spcAft>
            </a:pPr>
            <a:r>
              <a:rPr sz="2350" dirty="0">
                <a:solidFill>
                  <a:srgbClr val="FF0000"/>
                </a:solidFill>
                <a:latin typeface="QWTUTB+Ubuntu"/>
                <a:cs typeface="QWTUTB+Ubuntu"/>
              </a:rPr>
              <a:t>/lib/modules/&lt;kernel_version&gt;/kernel/</a:t>
            </a:r>
            <a:r>
              <a:rPr sz="2350" spc="64" dirty="0">
                <a:solidFill>
                  <a:srgbClr val="FF0000"/>
                </a:solidFill>
                <a:latin typeface="QWTUTB+Ubuntu"/>
                <a:cs typeface="QWTUTB+Ubuntu"/>
              </a:rPr>
              <a:t> </a:t>
            </a:r>
            <a:r>
              <a:rPr sz="2350" spc="12" dirty="0">
                <a:solidFill>
                  <a:srgbClr val="000000"/>
                </a:solidFill>
                <a:latin typeface="QWTUTB+Ubuntu"/>
                <a:cs typeface="QWTUTB+Ubuntu"/>
              </a:rPr>
              <a:t>directory.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7799"/>
            <a:ext cx="2246375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Examples: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8526"/>
            <a:ext cx="3549395" cy="1023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200" spc="691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200" spc="-11" dirty="0">
                <a:solidFill>
                  <a:srgbClr val="000000"/>
                </a:solidFill>
                <a:latin typeface="QWTUTB+Ubuntu"/>
                <a:cs typeface="QWTUTB+Ubuntu"/>
              </a:rPr>
              <a:t>Typical</a:t>
            </a:r>
            <a:r>
              <a:rPr sz="3200" spc="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modules:</a:t>
            </a:r>
          </a:p>
          <a:p>
            <a:pPr marL="457199" marR="0">
              <a:lnSpc>
                <a:spcPts val="3138"/>
              </a:lnSpc>
              <a:spcBef>
                <a:spcPts val="850"/>
              </a:spcBef>
              <a:spcAft>
                <a:spcPts val="0"/>
              </a:spcAft>
            </a:pPr>
            <a:r>
              <a:rPr sz="28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800" spc="-85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800" dirty="0">
                <a:solidFill>
                  <a:srgbClr val="000000"/>
                </a:solidFill>
                <a:latin typeface="QWTUTB+Ubuntu"/>
                <a:cs typeface="QWTUTB+Ubuntu"/>
              </a:rPr>
              <a:t>Device </a:t>
            </a:r>
            <a:r>
              <a:rPr sz="2800" spc="-12" dirty="0">
                <a:solidFill>
                  <a:srgbClr val="000000"/>
                </a:solidFill>
                <a:latin typeface="QWTUTB+Ubuntu"/>
                <a:cs typeface="QWTUTB+Ubuntu"/>
              </a:rPr>
              <a:t>drivers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5839" y="2640994"/>
            <a:ext cx="3415944" cy="964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800" spc="-85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800" dirty="0">
                <a:solidFill>
                  <a:srgbClr val="000000"/>
                </a:solidFill>
                <a:latin typeface="QWTUTB+Ubuntu"/>
                <a:cs typeface="QWTUTB+Ubuntu"/>
              </a:rPr>
              <a:t>File system </a:t>
            </a:r>
            <a:r>
              <a:rPr sz="2800" spc="-10" dirty="0">
                <a:solidFill>
                  <a:srgbClr val="000000"/>
                </a:solidFill>
                <a:latin typeface="QWTUTB+Ubuntu"/>
                <a:cs typeface="QWTUTB+Ubuntu"/>
              </a:rPr>
              <a:t>drivers</a:t>
            </a:r>
          </a:p>
          <a:p>
            <a:pPr marL="0" marR="0">
              <a:lnSpc>
                <a:spcPts val="3138"/>
              </a:lnSpc>
              <a:spcBef>
                <a:spcPts val="896"/>
              </a:spcBef>
              <a:spcAft>
                <a:spcPts val="0"/>
              </a:spcAft>
            </a:pPr>
            <a:r>
              <a:rPr sz="28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800" spc="-85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800" dirty="0">
                <a:solidFill>
                  <a:srgbClr val="000000"/>
                </a:solidFill>
                <a:latin typeface="QWTUTB+Ubuntu"/>
                <a:cs typeface="QWTUTB+Ubuntu"/>
              </a:rPr>
              <a:t>System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260162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Advantages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8353"/>
            <a:ext cx="8060339" cy="446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2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100" spc="-57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There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is no</a:t>
            </a:r>
            <a:r>
              <a:rPr sz="31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necessity </a:t>
            </a:r>
            <a:r>
              <a:rPr sz="3100" spc="-57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3100" spc="4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rebuild</a:t>
            </a:r>
            <a:r>
              <a:rPr sz="3100" spc="-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22" dirty="0">
                <a:solidFill>
                  <a:srgbClr val="000000"/>
                </a:solidFill>
                <a:latin typeface="QWTUTB+Ubuntu"/>
                <a:cs typeface="QWTUTB+Ubuntu"/>
              </a:rPr>
              <a:t>kernel,</a:t>
            </a:r>
          </a:p>
          <a:p>
            <a:pPr marL="240029" marR="0">
              <a:lnSpc>
                <a:spcPts val="3452"/>
              </a:lnSpc>
              <a:spcBef>
                <a:spcPts val="247"/>
              </a:spcBef>
              <a:spcAft>
                <a:spcPts val="0"/>
              </a:spcAft>
            </a:pP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when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a</a:t>
            </a:r>
            <a:r>
              <a:rPr sz="3100" spc="-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new </a:t>
            </a:r>
            <a:r>
              <a:rPr sz="3100" spc="-2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3100" spc="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option is </a:t>
            </a:r>
            <a:r>
              <a:rPr sz="3100" spc="-12" dirty="0">
                <a:solidFill>
                  <a:srgbClr val="000000"/>
                </a:solidFill>
                <a:latin typeface="QWTUTB+Ubuntu"/>
                <a:cs typeface="QWTUTB+Ubuntu"/>
              </a:rPr>
              <a:t>added.</a:t>
            </a:r>
          </a:p>
          <a:p>
            <a:pPr marL="0" marR="0">
              <a:lnSpc>
                <a:spcPts val="3452"/>
              </a:lnSpc>
              <a:spcBef>
                <a:spcPts val="679"/>
              </a:spcBef>
              <a:spcAft>
                <a:spcPts val="0"/>
              </a:spcAft>
            </a:pPr>
            <a:r>
              <a:rPr sz="31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100" spc="-57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help</a:t>
            </a:r>
            <a:r>
              <a:rPr sz="3100" spc="-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ﬁnd</a:t>
            </a:r>
            <a:r>
              <a:rPr sz="3100" spc="-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6" dirty="0">
                <a:solidFill>
                  <a:srgbClr val="000000"/>
                </a:solidFill>
                <a:latin typeface="QWTUTB+Ubuntu"/>
                <a:cs typeface="QWTUTB+Ubuntu"/>
              </a:rPr>
              <a:t>system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problems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(if</a:t>
            </a:r>
          </a:p>
          <a:p>
            <a:pPr marL="240029" marR="0">
              <a:lnSpc>
                <a:spcPts val="3452"/>
              </a:lnSpc>
              <a:spcBef>
                <a:spcPts val="207"/>
              </a:spcBef>
              <a:spcAft>
                <a:spcPts val="0"/>
              </a:spcAft>
            </a:pPr>
            <a:r>
              <a:rPr sz="3100" spc="-14" dirty="0">
                <a:solidFill>
                  <a:srgbClr val="000000"/>
                </a:solidFill>
                <a:latin typeface="QWTUTB+Ubuntu"/>
                <a:cs typeface="QWTUTB+Ubuntu"/>
              </a:rPr>
              <a:t>system</a:t>
            </a:r>
            <a:r>
              <a:rPr sz="3100" spc="-11" dirty="0">
                <a:solidFill>
                  <a:srgbClr val="000000"/>
                </a:solidFill>
                <a:latin typeface="QWTUTB+Ubuntu"/>
                <a:cs typeface="QWTUTB+Ubuntu"/>
              </a:rPr>
              <a:t> problem</a:t>
            </a:r>
            <a:r>
              <a:rPr sz="31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caused</a:t>
            </a:r>
            <a:r>
              <a:rPr sz="3100" spc="-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a</a:t>
            </a:r>
            <a:r>
              <a:rPr sz="3100" spc="-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module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just</a:t>
            </a:r>
            <a:r>
              <a:rPr sz="3100" spc="-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32" dirty="0">
                <a:solidFill>
                  <a:srgbClr val="000000"/>
                </a:solidFill>
                <a:latin typeface="QWTUTB+Ubuntu"/>
                <a:cs typeface="QWTUTB+Ubuntu"/>
              </a:rPr>
              <a:t>don't</a:t>
            </a:r>
          </a:p>
          <a:p>
            <a:pPr marL="240029" marR="0">
              <a:lnSpc>
                <a:spcPts val="3452"/>
              </a:lnSpc>
              <a:spcBef>
                <a:spcPts val="247"/>
              </a:spcBef>
              <a:spcAft>
                <a:spcPts val="0"/>
              </a:spcAft>
            </a:pP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load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it).</a:t>
            </a:r>
          </a:p>
          <a:p>
            <a:pPr marL="0" marR="0">
              <a:lnSpc>
                <a:spcPts val="3452"/>
              </a:lnSpc>
              <a:spcBef>
                <a:spcPts val="739"/>
              </a:spcBef>
              <a:spcAft>
                <a:spcPts val="0"/>
              </a:spcAft>
            </a:pPr>
            <a:r>
              <a:rPr sz="31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100" spc="-57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are</a:t>
            </a:r>
            <a:r>
              <a:rPr sz="3100" spc="-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much </a:t>
            </a:r>
            <a:r>
              <a:rPr sz="3100" spc="-15" dirty="0">
                <a:solidFill>
                  <a:srgbClr val="000000"/>
                </a:solidFill>
                <a:latin typeface="QWTUTB+Ubuntu"/>
                <a:cs typeface="QWTUTB+Ubuntu"/>
              </a:rPr>
              <a:t>faster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57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3100" spc="3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maintain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1" dirty="0">
                <a:solidFill>
                  <a:srgbClr val="000000"/>
                </a:solidFill>
                <a:latin typeface="QWTUTB+Ubuntu"/>
                <a:cs typeface="QWTUTB+Ubuntu"/>
              </a:rPr>
              <a:t>and</a:t>
            </a:r>
          </a:p>
          <a:p>
            <a:pPr marL="240029" marR="0">
              <a:lnSpc>
                <a:spcPts val="3452"/>
              </a:lnSpc>
              <a:spcBef>
                <a:spcPts val="207"/>
              </a:spcBef>
              <a:spcAft>
                <a:spcPts val="0"/>
              </a:spcAft>
            </a:pP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debug.</a:t>
            </a:r>
          </a:p>
          <a:p>
            <a:pPr marL="0" marR="0">
              <a:lnSpc>
                <a:spcPts val="3452"/>
              </a:lnSpc>
              <a:spcBef>
                <a:spcPts val="729"/>
              </a:spcBef>
              <a:spcAft>
                <a:spcPts val="0"/>
              </a:spcAft>
            </a:pPr>
            <a:r>
              <a:rPr sz="31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100" spc="-57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once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loaded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are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in </a:t>
            </a:r>
            <a:r>
              <a:rPr sz="3100" spc="-20" dirty="0">
                <a:solidFill>
                  <a:srgbClr val="000000"/>
                </a:solidFill>
                <a:latin typeface="QWTUTB+Ubuntu"/>
                <a:cs typeface="QWTUTB+Ubuntu"/>
              </a:rPr>
              <a:t>as</a:t>
            </a:r>
            <a:r>
              <a:rPr sz="3100" dirty="0">
                <a:solidFill>
                  <a:srgbClr val="000000"/>
                </a:solidFill>
                <a:latin typeface="QWTUTB+Ubuntu"/>
                <a:cs typeface="QWTUTB+Ubuntu"/>
              </a:rPr>
              <a:t> much fast</a:t>
            </a:r>
            <a:r>
              <a:rPr sz="31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100" spc="-10" dirty="0">
                <a:solidFill>
                  <a:srgbClr val="000000"/>
                </a:solidFill>
                <a:latin typeface="QWTUTB+Ubuntu"/>
                <a:cs typeface="QWTUTB+Ubuntu"/>
              </a:rPr>
              <a:t>as</a:t>
            </a:r>
          </a:p>
          <a:p>
            <a:pPr marL="240029" marR="0">
              <a:lnSpc>
                <a:spcPts val="3452"/>
              </a:lnSpc>
              <a:spcBef>
                <a:spcPts val="207"/>
              </a:spcBef>
              <a:spcAft>
                <a:spcPts val="0"/>
              </a:spcAft>
            </a:pPr>
            <a:r>
              <a:rPr sz="3100" spc="-22" dirty="0">
                <a:solidFill>
                  <a:srgbClr val="000000"/>
                </a:solidFill>
                <a:latin typeface="QWTUTB+Ubuntu"/>
                <a:cs typeface="QWTUTB+Ubuntu"/>
              </a:rPr>
              <a:t>kernel.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8054186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Utilities</a:t>
            </a:r>
            <a:r>
              <a:rPr sz="3600" spc="-11" dirty="0">
                <a:latin typeface="QWTUTB+Ubuntu"/>
                <a:cs typeface="QWTUTB+Ubuntu"/>
              </a:rPr>
              <a:t> </a:t>
            </a:r>
            <a:r>
              <a:rPr sz="3600" spc="-47" dirty="0">
                <a:latin typeface="QWTUTB+Ubuntu"/>
                <a:cs typeface="QWTUTB+Ubuntu"/>
              </a:rPr>
              <a:t>to</a:t>
            </a:r>
            <a:r>
              <a:rPr sz="3600" spc="43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manipulate </a:t>
            </a:r>
            <a:r>
              <a:rPr sz="3600" spc="-18" dirty="0">
                <a:latin typeface="QWTUTB+Ubuntu"/>
                <a:cs typeface="QWTUTB+Ubuntu"/>
              </a:rPr>
              <a:t>kernel</a:t>
            </a:r>
            <a:r>
              <a:rPr sz="3600" spc="14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modules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6388"/>
            <a:ext cx="268002" cy="2407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  <a:p>
            <a:pPr marL="0" marR="0">
              <a:lnSpc>
                <a:spcPts val="2904"/>
              </a:lnSpc>
              <a:spcBef>
                <a:spcPts val="1035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  <a:p>
            <a:pPr marL="0" marR="0">
              <a:lnSpc>
                <a:spcPts val="2904"/>
              </a:lnSpc>
              <a:spcBef>
                <a:spcPts val="1085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  <a:p>
            <a:pPr marL="0" marR="0">
              <a:lnSpc>
                <a:spcPts val="2904"/>
              </a:lnSpc>
              <a:spcBef>
                <a:spcPts val="1025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  <a:p>
            <a:pPr marL="0" marR="0">
              <a:lnSpc>
                <a:spcPts val="2904"/>
              </a:lnSpc>
              <a:spcBef>
                <a:spcPts val="1085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1539" y="1588192"/>
            <a:ext cx="1143161" cy="412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5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lsmod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1539" y="2088572"/>
            <a:ext cx="1539465" cy="1412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5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insmod</a:t>
            </a:r>
          </a:p>
          <a:p>
            <a:pPr marL="0" marR="0">
              <a:lnSpc>
                <a:spcPts val="2945"/>
              </a:lnSpc>
              <a:spcBef>
                <a:spcPts val="1044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modinfo</a:t>
            </a:r>
          </a:p>
          <a:p>
            <a:pPr marL="0" marR="0">
              <a:lnSpc>
                <a:spcPts val="2945"/>
              </a:lnSpc>
              <a:spcBef>
                <a:spcPts val="994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rmmod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39" y="3588442"/>
            <a:ext cx="1737618" cy="412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45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modprobe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1413814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lsmod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5132"/>
            <a:ext cx="5720555" cy="388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79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97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Lists modules that are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loaded already.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5680627"/>
            <a:ext cx="3119410" cy="360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200" spc="1099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200" dirty="0">
                <a:solidFill>
                  <a:srgbClr val="000000"/>
                </a:solidFill>
                <a:latin typeface="QWTUTB+Ubuntu"/>
                <a:cs typeface="QWTUTB+Ubuntu"/>
              </a:rPr>
              <a:t>Check the command: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12870" y="5716286"/>
            <a:ext cx="3023121" cy="356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503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cat</a:t>
            </a:r>
            <a:r>
              <a:rPr sz="2200" b="1" spc="787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/proc/modules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D63604-F154-90A8-AEF4-EBB1226F5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981376"/>
            <a:ext cx="6830378" cy="3686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190941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modinfo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33296"/>
            <a:ext cx="4399483" cy="3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Display module information.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C59CFB-86D0-B8D7-BF46-2182F484ED16}"/>
              </a:ext>
            </a:extLst>
          </p:cNvPr>
          <p:cNvSpPr/>
          <p:nvPr/>
        </p:nvSpPr>
        <p:spPr>
          <a:xfrm>
            <a:off x="20964" y="6072332"/>
            <a:ext cx="2123728" cy="5129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CD7C9-997D-CBF4-1CDE-327B3F890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6606"/>
            <a:ext cx="8164064" cy="3153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1667103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insmod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8526"/>
            <a:ext cx="5238394" cy="109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200" spc="691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Insert module </a:t>
            </a:r>
            <a:r>
              <a:rPr sz="3200" spc="-19" dirty="0">
                <a:solidFill>
                  <a:srgbClr val="000000"/>
                </a:solidFill>
                <a:latin typeface="QWTUTB+Ubuntu"/>
                <a:cs typeface="QWTUTB+Ubuntu"/>
              </a:rPr>
              <a:t>into</a:t>
            </a:r>
            <a:r>
              <a:rPr sz="3200" spc="2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spc="-15" dirty="0">
                <a:solidFill>
                  <a:srgbClr val="000000"/>
                </a:solidFill>
                <a:latin typeface="QWTUTB+Ubuntu"/>
                <a:cs typeface="QWTUTB+Ubuntu"/>
              </a:rPr>
              <a:t>kernel.</a:t>
            </a:r>
          </a:p>
          <a:p>
            <a:pPr marL="0" marR="0">
              <a:lnSpc>
                <a:spcPts val="3587"/>
              </a:lnSpc>
              <a:spcBef>
                <a:spcPts val="978"/>
              </a:spcBef>
              <a:spcAft>
                <a:spcPts val="0"/>
              </a:spcAft>
            </a:pPr>
            <a:r>
              <a:rPr sz="32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200" spc="691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Syntax: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5839" y="2719467"/>
            <a:ext cx="6046511" cy="467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4800" spc="469" baseline="562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lang="en-IN" sz="4800" spc="469" baseline="562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CMSBQV+Courier New Bold"/>
                <a:cs typeface="CMSBQV+Courier New Bold"/>
              </a:rPr>
              <a:t>insmod</a:t>
            </a:r>
            <a:r>
              <a:rPr sz="3200" b="1" spc="1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&lt;module_name&gt;.ko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1655216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rmmod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548526"/>
            <a:ext cx="8190078" cy="1486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200" spc="691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200" spc="-15" dirty="0">
                <a:solidFill>
                  <a:srgbClr val="000000"/>
                </a:solidFill>
                <a:latin typeface="QWTUTB+Ubuntu"/>
                <a:cs typeface="QWTUTB+Ubuntu"/>
              </a:rPr>
              <a:t>Removes</a:t>
            </a:r>
            <a:r>
              <a:rPr sz="3200" spc="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module from </a:t>
            </a:r>
            <a:r>
              <a:rPr sz="3200" spc="-15" dirty="0">
                <a:solidFill>
                  <a:srgbClr val="000000"/>
                </a:solidFill>
                <a:latin typeface="QWTUTB+Ubuntu"/>
                <a:cs typeface="QWTUTB+Ubuntu"/>
              </a:rPr>
              <a:t>kernel.</a:t>
            </a:r>
            <a:r>
              <a:rPr sz="3200" spc="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spc="-51" dirty="0">
                <a:solidFill>
                  <a:srgbClr val="000000"/>
                </a:solidFill>
                <a:latin typeface="QWTUTB+Ubuntu"/>
                <a:cs typeface="QWTUTB+Ubuntu"/>
              </a:rPr>
              <a:t>You</a:t>
            </a:r>
            <a:r>
              <a:rPr sz="3200" spc="5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cannot</a:t>
            </a:r>
          </a:p>
          <a:p>
            <a:pPr marL="342899" marR="0">
              <a:lnSpc>
                <a:spcPts val="3587"/>
              </a:lnSpc>
              <a:spcBef>
                <a:spcPts val="222"/>
              </a:spcBef>
              <a:spcAft>
                <a:spcPts val="0"/>
              </a:spcAft>
            </a:pPr>
            <a:r>
              <a:rPr sz="3200" spc="-18" dirty="0">
                <a:solidFill>
                  <a:srgbClr val="000000"/>
                </a:solidFill>
                <a:latin typeface="QWTUTB+Ubuntu"/>
                <a:cs typeface="QWTUTB+Ubuntu"/>
              </a:rPr>
              <a:t>remove</a:t>
            </a:r>
            <a:r>
              <a:rPr sz="3200" spc="2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a module which is already used </a:t>
            </a:r>
            <a:r>
              <a:rPr sz="3200" spc="-54" dirty="0">
                <a:solidFill>
                  <a:srgbClr val="000000"/>
                </a:solidFill>
                <a:latin typeface="QWTUTB+Ubuntu"/>
                <a:cs typeface="QWTUTB+Ubuntu"/>
              </a:rPr>
              <a:t>by</a:t>
            </a:r>
          </a:p>
          <a:p>
            <a:pPr marL="342899" marR="0">
              <a:lnSpc>
                <a:spcPts val="3587"/>
              </a:lnSpc>
              <a:spcBef>
                <a:spcPts val="272"/>
              </a:spcBef>
              <a:spcAft>
                <a:spcPts val="0"/>
              </a:spcAft>
            </a:pPr>
            <a:r>
              <a:rPr sz="3200" spc="-29" dirty="0">
                <a:solidFill>
                  <a:srgbClr val="000000"/>
                </a:solidFill>
                <a:latin typeface="QWTUTB+Ubuntu"/>
                <a:cs typeface="QWTUTB+Ubuntu"/>
              </a:rPr>
              <a:t>any</a:t>
            </a:r>
            <a:r>
              <a:rPr sz="3200" spc="2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program.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40" y="3122056"/>
            <a:ext cx="1828698" cy="504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87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3200" spc="691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3200" dirty="0">
                <a:solidFill>
                  <a:srgbClr val="000000"/>
                </a:solidFill>
                <a:latin typeface="QWTUTB+Ubuntu"/>
                <a:cs typeface="QWTUTB+Ubuntu"/>
              </a:rPr>
              <a:t>Syntax: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5839" y="3699906"/>
            <a:ext cx="5802670" cy="550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4800" spc="469" baseline="5625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32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rmmod</a:t>
            </a:r>
            <a:r>
              <a:rPr sz="3200" b="1" spc="1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&lt;module_name&gt;.ko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8640" y="379069"/>
            <a:ext cx="6627266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spc="-17" dirty="0">
                <a:latin typeface="QWTUTB+Ubuntu"/>
                <a:cs typeface="QWTUTB+Ubuntu"/>
              </a:rPr>
              <a:t>Kernel</a:t>
            </a:r>
            <a:r>
              <a:rPr sz="3600" spc="20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Module Implementation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118"/>
            <a:ext cx="7952586" cy="41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600" spc="1057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The </a:t>
            </a:r>
            <a:r>
              <a:rPr sz="2600" spc="-12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 considers only modules that </a:t>
            </a:r>
            <a:r>
              <a:rPr sz="2600" spc="-29" dirty="0">
                <a:solidFill>
                  <a:srgbClr val="000000"/>
                </a:solidFill>
                <a:latin typeface="QWTUTB+Ubuntu"/>
                <a:cs typeface="QWTUTB+Ubuntu"/>
              </a:rPr>
              <a:t>have</a:t>
            </a:r>
            <a:r>
              <a:rPr sz="2600" spc="2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been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1539" y="2055723"/>
            <a:ext cx="7315429" cy="805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loaded </a:t>
            </a:r>
            <a:r>
              <a:rPr sz="2600" spc="-16" dirty="0">
                <a:solidFill>
                  <a:srgbClr val="000000"/>
                </a:solidFill>
                <a:latin typeface="QWTUTB+Ubuntu"/>
                <a:cs typeface="QWTUTB+Ubuntu"/>
              </a:rPr>
              <a:t>into</a:t>
            </a:r>
            <a:r>
              <a:rPr sz="2600" spc="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spc="43" dirty="0">
                <a:solidFill>
                  <a:srgbClr val="000000"/>
                </a:solidFill>
                <a:latin typeface="QWTUTB+Ubuntu"/>
                <a:cs typeface="QWTUTB+Ubuntu"/>
              </a:rPr>
              <a:t>RAM</a:t>
            </a:r>
            <a:r>
              <a:rPr sz="2600" spc="-4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spc="-31" dirty="0">
                <a:solidFill>
                  <a:srgbClr val="000000"/>
                </a:solidFill>
                <a:latin typeface="QWTUTB+Ubuntu"/>
                <a:cs typeface="QWTUTB+Ubuntu"/>
              </a:rPr>
              <a:t>by</a:t>
            </a:r>
            <a:r>
              <a:rPr sz="2600" spc="36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600" spc="2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i="1" dirty="0">
                <a:solidFill>
                  <a:srgbClr val="000000"/>
                </a:solidFill>
                <a:latin typeface="REOQKU+Ubuntu Italic"/>
                <a:cs typeface="REOQKU+Ubuntu Italic"/>
              </a:rPr>
              <a:t>insmod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program and for</a:t>
            </a:r>
          </a:p>
          <a:p>
            <a:pPr marL="0" marR="0">
              <a:lnSpc>
                <a:spcPts val="2914"/>
              </a:lnSpc>
              <a:spcBef>
                <a:spcPts val="215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each of them</a:t>
            </a:r>
            <a:r>
              <a:rPr sz="2600" spc="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allocates</a:t>
            </a:r>
            <a:r>
              <a:rPr sz="2600" spc="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spc="11" dirty="0">
                <a:solidFill>
                  <a:srgbClr val="000000"/>
                </a:solidFill>
                <a:latin typeface="QWTUTB+Ubuntu"/>
                <a:cs typeface="QWTUTB+Ubuntu"/>
              </a:rPr>
              <a:t>memory</a:t>
            </a:r>
            <a:r>
              <a:rPr sz="26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area containing: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7110" y="2931958"/>
            <a:ext cx="2975457" cy="417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600" spc="7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A module object.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7110" y="3418368"/>
            <a:ext cx="7590994" cy="41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600" spc="7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Null</a:t>
            </a:r>
            <a:r>
              <a:rPr sz="26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terminated</a:t>
            </a:r>
            <a:r>
              <a:rPr sz="260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string</a:t>
            </a:r>
            <a:r>
              <a:rPr sz="2600" spc="-16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that represents module's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1590" y="3826103"/>
            <a:ext cx="1064742" cy="408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name.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7110" y="4303558"/>
            <a:ext cx="7401129" cy="41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600" spc="7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The </a:t>
            </a:r>
            <a:r>
              <a:rPr sz="2600" spc="-10" dirty="0">
                <a:solidFill>
                  <a:srgbClr val="000000"/>
                </a:solidFill>
                <a:latin typeface="QWTUTB+Ubuntu"/>
                <a:cs typeface="QWTUTB+Ubuntu"/>
              </a:rPr>
              <a:t>code</a:t>
            </a: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 that implements the functions of the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1590" y="4712563"/>
            <a:ext cx="1372819" cy="408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4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QWTUTB+Ubuntu"/>
                <a:cs typeface="QWTUTB+Ubuntu"/>
              </a:rPr>
              <a:t>module.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7340497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Linux </a:t>
            </a:r>
            <a:r>
              <a:rPr sz="3600" spc="-17" dirty="0">
                <a:latin typeface="QWTUTB+Ubuntu"/>
                <a:cs typeface="QWTUTB+Ubuntu"/>
              </a:rPr>
              <a:t>Kernel</a:t>
            </a:r>
            <a:r>
              <a:rPr sz="3600" spc="20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Module Programming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32691"/>
            <a:ext cx="4884653" cy="8320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39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113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27" dirty="0">
                <a:solidFill>
                  <a:srgbClr val="000000"/>
                </a:solidFill>
                <a:latin typeface="QWTUTB+Ubuntu"/>
                <a:cs typeface="QWTUTB+Ubuntu"/>
              </a:rPr>
              <a:t>Write</a:t>
            </a:r>
            <a:r>
              <a:rPr sz="2350" spc="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a </a:t>
            </a:r>
            <a:r>
              <a:rPr sz="23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hello_proc.c</a:t>
            </a:r>
            <a:r>
              <a:rPr sz="2350" b="1" spc="-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program</a:t>
            </a:r>
          </a:p>
          <a:p>
            <a:pPr marL="0" marR="0">
              <a:lnSpc>
                <a:spcPts val="2611"/>
              </a:lnSpc>
              <a:spcBef>
                <a:spcPts val="768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113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10" dirty="0">
                <a:solidFill>
                  <a:srgbClr val="000000"/>
                </a:solidFill>
                <a:latin typeface="QWTUTB+Ubuntu"/>
                <a:cs typeface="QWTUTB+Ubuntu"/>
              </a:rPr>
              <a:t>Create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a</a:t>
            </a:r>
            <a:r>
              <a:rPr sz="2350" spc="-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-19" dirty="0">
                <a:solidFill>
                  <a:srgbClr val="000000"/>
                </a:solidFill>
                <a:latin typeface="QWTUTB+Ubuntu"/>
                <a:cs typeface="QWTUTB+Ubuntu"/>
              </a:rPr>
              <a:t>Makeﬁle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910" y="2426771"/>
            <a:ext cx="7471192" cy="369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113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The program and </a:t>
            </a:r>
            <a:r>
              <a:rPr sz="2350" spc="-19" dirty="0">
                <a:solidFill>
                  <a:srgbClr val="000000"/>
                </a:solidFill>
                <a:latin typeface="QWTUTB+Ubuntu"/>
                <a:cs typeface="QWTUTB+Ubuntu"/>
              </a:rPr>
              <a:t>Makeﬁle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should be </a:t>
            </a:r>
            <a:r>
              <a:rPr sz="2350" spc="-30" dirty="0">
                <a:solidFill>
                  <a:srgbClr val="000000"/>
                </a:solidFill>
                <a:latin typeface="QWTUTB+Ubuntu"/>
                <a:cs typeface="QWTUTB+Ubuntu"/>
              </a:rPr>
              <a:t>kept</a:t>
            </a:r>
            <a:r>
              <a:rPr sz="2350" spc="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in</a:t>
            </a:r>
            <a:r>
              <a:rPr sz="2350" spc="-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a</a:t>
            </a:r>
            <a:r>
              <a:rPr sz="2350" spc="-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single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1380" y="2759511"/>
            <a:ext cx="1048711" cy="369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350" spc="-28" dirty="0">
                <a:solidFill>
                  <a:srgbClr val="000000"/>
                </a:solidFill>
                <a:latin typeface="QWTUTB+Ubuntu"/>
                <a:cs typeface="QWTUTB+Ubuntu"/>
              </a:rPr>
              <a:t>folder.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9910" y="3192581"/>
            <a:ext cx="7721239" cy="369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11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350" spc="113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Change directory </a:t>
            </a:r>
            <a:r>
              <a:rPr sz="2350" spc="-45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350" spc="3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this folder </a:t>
            </a:r>
            <a:r>
              <a:rPr sz="2350" spc="-10" dirty="0">
                <a:solidFill>
                  <a:srgbClr val="000000"/>
                </a:solidFill>
                <a:latin typeface="QWTUTB+Ubuntu"/>
                <a:cs typeface="QWTUTB+Ubuntu"/>
              </a:rPr>
              <a:t>and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-19" dirty="0">
                <a:solidFill>
                  <a:srgbClr val="000000"/>
                </a:solidFill>
                <a:latin typeface="QWTUTB+Ubuntu"/>
                <a:cs typeface="QWTUTB+Ubuntu"/>
              </a:rPr>
              <a:t>execute</a:t>
            </a:r>
            <a:r>
              <a:rPr sz="235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350" spc="-11" dirty="0">
                <a:solidFill>
                  <a:srgbClr val="000000"/>
                </a:solidFill>
                <a:latin typeface="QWTUTB+Ubuntu"/>
                <a:cs typeface="QWTUTB+Ubuntu"/>
              </a:rPr>
              <a:t>following: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3139" y="3612038"/>
            <a:ext cx="1141811" cy="388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58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350" spc="22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12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make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93139" y="4051458"/>
            <a:ext cx="3993495" cy="388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58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350" spc="22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12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insmod</a:t>
            </a:r>
            <a:r>
              <a:rPr sz="2350" spc="81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spc="-11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hello_proc.ko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93139" y="4489608"/>
            <a:ext cx="3189279" cy="6872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58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350" spc="22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11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dmesg</a:t>
            </a:r>
          </a:p>
          <a:p>
            <a:pPr marL="276860" marR="0">
              <a:lnSpc>
                <a:spcPts val="2329"/>
              </a:lnSpc>
              <a:spcBef>
                <a:spcPts val="22"/>
              </a:spcBef>
              <a:spcAft>
                <a:spcPts val="0"/>
              </a:spcAft>
            </a:pPr>
            <a:r>
              <a:rPr sz="2350" spc="-10" dirty="0">
                <a:solidFill>
                  <a:srgbClr val="000000"/>
                </a:solidFill>
                <a:latin typeface="FCDLIC+Calibri"/>
                <a:cs typeface="FCDLIC+Calibri"/>
              </a:rPr>
              <a:t>log</a:t>
            </a:r>
            <a:r>
              <a:rPr sz="2350" dirty="0">
                <a:solidFill>
                  <a:srgbClr val="000000"/>
                </a:solidFill>
                <a:latin typeface="FCDLIC+Calibri"/>
                <a:cs typeface="FCDLIC+Calibri"/>
              </a:rPr>
              <a:t> ﬁle </a:t>
            </a:r>
            <a:r>
              <a:rPr sz="2350" spc="-14" dirty="0">
                <a:solidFill>
                  <a:srgbClr val="000000"/>
                </a:solidFill>
                <a:latin typeface="FCDLIC+Calibri"/>
                <a:cs typeface="FCDLIC+Calibri"/>
              </a:rPr>
              <a:t>/var/log/syslog)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518410" y="4526597"/>
            <a:ext cx="5912434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30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000000"/>
                </a:solidFill>
                <a:latin typeface="FCDLIC+Calibri"/>
                <a:cs typeface="FCDLIC+Calibri"/>
              </a:rPr>
              <a:t>(see the </a:t>
            </a:r>
            <a:r>
              <a:rPr sz="2350" spc="-25" dirty="0">
                <a:solidFill>
                  <a:srgbClr val="000000"/>
                </a:solidFill>
                <a:latin typeface="FCDLIC+Calibri"/>
                <a:cs typeface="FCDLIC+Calibri"/>
              </a:rPr>
              <a:t>kernel</a:t>
            </a:r>
            <a:r>
              <a:rPr sz="2350" spc="20" dirty="0">
                <a:solidFill>
                  <a:srgbClr val="000000"/>
                </a:solidFill>
                <a:latin typeface="FCDLIC+Calibri"/>
                <a:cs typeface="FCDLIC+Calibri"/>
              </a:rPr>
              <a:t> </a:t>
            </a:r>
            <a:r>
              <a:rPr sz="2350" spc="-26" dirty="0">
                <a:solidFill>
                  <a:srgbClr val="000000"/>
                </a:solidFill>
                <a:latin typeface="FCDLIC+Calibri"/>
                <a:cs typeface="FCDLIC+Calibri"/>
              </a:rPr>
              <a:t>buﬀer</a:t>
            </a:r>
            <a:r>
              <a:rPr sz="2350" spc="13" dirty="0">
                <a:solidFill>
                  <a:srgbClr val="000000"/>
                </a:solidFill>
                <a:latin typeface="FCDLIC+Calibri"/>
                <a:cs typeface="FCDLIC+Calibri"/>
              </a:rPr>
              <a:t> </a:t>
            </a:r>
            <a:r>
              <a:rPr sz="2350" spc="-24" dirty="0">
                <a:solidFill>
                  <a:srgbClr val="000000"/>
                </a:solidFill>
                <a:latin typeface="FCDLIC+Calibri"/>
                <a:cs typeface="FCDLIC+Calibri"/>
              </a:rPr>
              <a:t>contents,</a:t>
            </a:r>
            <a:r>
              <a:rPr sz="2350" spc="13" dirty="0">
                <a:solidFill>
                  <a:srgbClr val="000000"/>
                </a:solidFill>
                <a:latin typeface="FCDLIC+Calibri"/>
                <a:cs typeface="FCDLIC+Calibri"/>
              </a:rPr>
              <a:t> </a:t>
            </a:r>
            <a:r>
              <a:rPr sz="2350" spc="-18" dirty="0">
                <a:solidFill>
                  <a:srgbClr val="000000"/>
                </a:solidFill>
                <a:latin typeface="FCDLIC+Calibri"/>
                <a:cs typeface="FCDLIC+Calibri"/>
              </a:rPr>
              <a:t>reads</a:t>
            </a:r>
            <a:r>
              <a:rPr sz="2350" dirty="0">
                <a:solidFill>
                  <a:srgbClr val="000000"/>
                </a:solidFill>
                <a:latin typeface="FCDLIC+Calibri"/>
                <a:cs typeface="FCDLIC+Calibri"/>
              </a:rPr>
              <a:t> the </a:t>
            </a:r>
            <a:r>
              <a:rPr sz="2350" spc="-25" dirty="0">
                <a:solidFill>
                  <a:srgbClr val="000000"/>
                </a:solidFill>
                <a:latin typeface="FCDLIC+Calibri"/>
                <a:cs typeface="FCDLIC+Calibri"/>
              </a:rPr>
              <a:t>kernel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93139" y="5226208"/>
            <a:ext cx="1320540" cy="388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58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350" spc="22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11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lsmod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93139" y="5665628"/>
            <a:ext cx="3993495" cy="388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758"/>
              </a:lnSpc>
              <a:spcBef>
                <a:spcPts val="0"/>
              </a:spcBef>
              <a:spcAft>
                <a:spcPts val="0"/>
              </a:spcAft>
            </a:pPr>
            <a:r>
              <a:rPr sz="235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350" spc="22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350" spc="-11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cat</a:t>
            </a:r>
            <a:r>
              <a:rPr sz="2350" spc="81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spc="-12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/proc/hello_proc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8199119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Files created</a:t>
            </a:r>
            <a:r>
              <a:rPr sz="3600" spc="11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after building</a:t>
            </a:r>
            <a:r>
              <a:rPr sz="3600" spc="-11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the module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34331"/>
            <a:ext cx="1517670" cy="330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000" spc="101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b="1" spc="1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hello.o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910" y="1900854"/>
            <a:ext cx="4648955" cy="707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354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000" spc="22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spc="16" dirty="0">
                <a:solidFill>
                  <a:srgbClr val="000000"/>
                </a:solidFill>
                <a:latin typeface="QWTUTB+Ubuntu"/>
                <a:cs typeface="QWTUTB+Ubuntu"/>
              </a:rPr>
              <a:t>Module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4" dirty="0">
                <a:solidFill>
                  <a:srgbClr val="000000"/>
                </a:solidFill>
                <a:latin typeface="QWTUTB+Ubuntu"/>
                <a:cs typeface="QWTUTB+Ubuntu"/>
              </a:rPr>
              <a:t>object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ﬁle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before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2" dirty="0">
                <a:solidFill>
                  <a:srgbClr val="000000"/>
                </a:solidFill>
                <a:latin typeface="QWTUTB+Ubuntu"/>
                <a:cs typeface="QWTUTB+Ubuntu"/>
              </a:rPr>
              <a:t>linking.</a:t>
            </a:r>
          </a:p>
          <a:p>
            <a:pPr marL="0" marR="0">
              <a:lnSpc>
                <a:spcPts val="2288"/>
              </a:lnSpc>
              <a:spcBef>
                <a:spcPts val="699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000" spc="101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b="1" spc="1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hello.mod.c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9910" y="2643041"/>
            <a:ext cx="4428586" cy="708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354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000" spc="22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Contains </a:t>
            </a:r>
            <a:r>
              <a:rPr sz="2000" spc="15" dirty="0">
                <a:solidFill>
                  <a:srgbClr val="000000"/>
                </a:solidFill>
                <a:latin typeface="QWTUTB+Ubuntu"/>
                <a:cs typeface="QWTUTB+Ubuntu"/>
              </a:rPr>
              <a:t>module’s</a:t>
            </a:r>
            <a:r>
              <a:rPr sz="20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4" dirty="0">
                <a:solidFill>
                  <a:srgbClr val="000000"/>
                </a:solidFill>
                <a:latin typeface="QWTUTB+Ubuntu"/>
                <a:cs typeface="QWTUTB+Ubuntu"/>
              </a:rPr>
              <a:t>information.</a:t>
            </a:r>
          </a:p>
          <a:p>
            <a:pPr marL="0" marR="0">
              <a:lnSpc>
                <a:spcPts val="2288"/>
              </a:lnSpc>
              <a:spcBef>
                <a:spcPts val="699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000" spc="101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b="1" spc="1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hello.mod.o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9910" y="3385484"/>
            <a:ext cx="5951151" cy="708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354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000" spc="22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After </a:t>
            </a:r>
            <a:r>
              <a:rPr sz="2000" spc="11" dirty="0">
                <a:solidFill>
                  <a:srgbClr val="000000"/>
                </a:solidFill>
                <a:latin typeface="QWTUTB+Ubuntu"/>
                <a:cs typeface="QWTUTB+Ubuntu"/>
              </a:rPr>
              <a:t>compilation</a:t>
            </a:r>
            <a:r>
              <a:rPr sz="2000" spc="1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and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1" dirty="0">
                <a:solidFill>
                  <a:srgbClr val="000000"/>
                </a:solidFill>
                <a:latin typeface="QWTUTB+Ubuntu"/>
                <a:cs typeface="QWTUTB+Ubuntu"/>
              </a:rPr>
              <a:t>linking</a:t>
            </a:r>
            <a:r>
              <a:rPr sz="2000" spc="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0" dirty="0">
                <a:solidFill>
                  <a:srgbClr val="000000"/>
                </a:solidFill>
                <a:latin typeface="QWTUTB+Ubuntu"/>
                <a:cs typeface="QWTUTB+Ubuntu"/>
              </a:rPr>
              <a:t>of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6" dirty="0">
                <a:solidFill>
                  <a:srgbClr val="000000"/>
                </a:solidFill>
                <a:latin typeface="QWTUTB+Ubuntu"/>
                <a:cs typeface="QWTUTB+Ubuntu"/>
              </a:rPr>
              <a:t>hello.mod.c.</a:t>
            </a:r>
          </a:p>
          <a:p>
            <a:pPr marL="0" marR="0">
              <a:lnSpc>
                <a:spcPts val="2288"/>
              </a:lnSpc>
              <a:spcBef>
                <a:spcPts val="709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000" spc="101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b="1" spc="1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modules.order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9910" y="4128434"/>
            <a:ext cx="6786958" cy="707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354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000" spc="22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spc="17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0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4" dirty="0">
                <a:solidFill>
                  <a:srgbClr val="000000"/>
                </a:solidFill>
                <a:latin typeface="QWTUTB+Ubuntu"/>
                <a:cs typeface="QWTUTB+Ubuntu"/>
              </a:rPr>
              <a:t>order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in</a:t>
            </a:r>
            <a:r>
              <a:rPr sz="2000" spc="2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which</a:t>
            </a:r>
            <a:r>
              <a:rPr sz="2000" spc="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two</a:t>
            </a:r>
            <a:r>
              <a:rPr sz="2000" spc="2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8" dirty="0">
                <a:solidFill>
                  <a:srgbClr val="000000"/>
                </a:solidFill>
                <a:latin typeface="QWTUTB+Ubuntu"/>
                <a:cs typeface="QWTUTB+Ubuntu"/>
              </a:rPr>
              <a:t>or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0" dirty="0">
                <a:solidFill>
                  <a:srgbClr val="000000"/>
                </a:solidFill>
                <a:latin typeface="QWTUTB+Ubuntu"/>
                <a:cs typeface="QWTUTB+Ubuntu"/>
              </a:rPr>
              <a:t>three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5" dirty="0">
                <a:solidFill>
                  <a:srgbClr val="000000"/>
                </a:solidFill>
                <a:latin typeface="QWTUTB+Ubuntu"/>
                <a:cs typeface="QWTUTB+Ubuntu"/>
              </a:rPr>
              <a:t>modules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6" dirty="0">
                <a:solidFill>
                  <a:srgbClr val="000000"/>
                </a:solidFill>
                <a:latin typeface="QWTUTB+Ubuntu"/>
                <a:cs typeface="QWTUTB+Ubuntu"/>
              </a:rPr>
              <a:t>get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linked.</a:t>
            </a:r>
          </a:p>
          <a:p>
            <a:pPr marL="0" marR="0">
              <a:lnSpc>
                <a:spcPts val="2288"/>
              </a:lnSpc>
              <a:spcBef>
                <a:spcPts val="699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000" spc="101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b="1" spc="1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Modules.symvers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3450" y="4871385"/>
            <a:ext cx="3024017" cy="3256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000" spc="22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spc="18" dirty="0">
                <a:solidFill>
                  <a:srgbClr val="000000"/>
                </a:solidFill>
                <a:latin typeface="QWTUTB+Ubuntu"/>
                <a:cs typeface="QWTUTB+Ubuntu"/>
              </a:rPr>
              <a:t>Symbol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versions </a:t>
            </a:r>
            <a:r>
              <a:rPr sz="2000" spc="11" dirty="0">
                <a:solidFill>
                  <a:srgbClr val="000000"/>
                </a:solidFill>
                <a:latin typeface="QWTUTB+Ubuntu"/>
                <a:cs typeface="QWTUTB+Ubuntu"/>
              </a:rPr>
              <a:t>if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any.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9910" y="5247811"/>
            <a:ext cx="1671337" cy="33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000" spc="1014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b="1" spc="1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hello.ko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3450" y="5613571"/>
            <a:ext cx="7803869" cy="326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64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–</a:t>
            </a:r>
            <a:r>
              <a:rPr sz="2000" spc="222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A</a:t>
            </a:r>
            <a:r>
              <a:rPr sz="2000" spc="2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8" dirty="0">
                <a:solidFill>
                  <a:srgbClr val="000000"/>
                </a:solidFill>
                <a:latin typeface="QWTUTB+Ubuntu"/>
                <a:cs typeface="QWTUTB+Ubuntu"/>
              </a:rPr>
              <a:t>module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kernel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4" dirty="0">
                <a:solidFill>
                  <a:srgbClr val="000000"/>
                </a:solidFill>
                <a:latin typeface="QWTUTB+Ubuntu"/>
                <a:cs typeface="QWTUTB+Ubuntu"/>
              </a:rPr>
              <a:t>object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ﬁle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after</a:t>
            </a:r>
            <a:r>
              <a:rPr sz="2000" spc="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1" dirty="0">
                <a:solidFill>
                  <a:srgbClr val="000000"/>
                </a:solidFill>
                <a:latin typeface="QWTUTB+Ubuntu"/>
                <a:cs typeface="QWTUTB+Ubuntu"/>
              </a:rPr>
              <a:t>linking</a:t>
            </a:r>
            <a:r>
              <a:rPr sz="20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000" spc="11" dirty="0">
                <a:solidFill>
                  <a:srgbClr val="000000"/>
                </a:solidFill>
                <a:latin typeface="QWTUTB+Ubuntu"/>
                <a:cs typeface="QWTUTB+Ubuntu"/>
              </a:rPr>
              <a:t>hello.o</a:t>
            </a:r>
            <a:r>
              <a:rPr sz="2000" spc="13" dirty="0">
                <a:solidFill>
                  <a:srgbClr val="000000"/>
                </a:solidFill>
                <a:latin typeface="QWTUTB+Ubuntu"/>
                <a:cs typeface="QWTUTB+Ubuntu"/>
              </a:rPr>
              <a:t> and</a:t>
            </a:r>
            <a:r>
              <a:rPr sz="2000" spc="14" dirty="0">
                <a:solidFill>
                  <a:srgbClr val="000000"/>
                </a:solidFill>
                <a:latin typeface="QWTUTB+Ubuntu"/>
                <a:cs typeface="QWTUTB+Ubuntu"/>
              </a:rPr>
              <a:t> hello.mod.o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3508704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Example: hello.c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5650" y="1345078"/>
            <a:ext cx="2892326" cy="1054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#include</a:t>
            </a:r>
            <a:r>
              <a:rPr sz="1450" b="1" spc="49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&lt;linux/module.h&gt;</a:t>
            </a:r>
          </a:p>
          <a:p>
            <a:pPr marL="0" marR="0">
              <a:lnSpc>
                <a:spcPts val="1631"/>
              </a:lnSpc>
              <a:spcBef>
                <a:spcPts val="538"/>
              </a:spcBef>
              <a:spcAft>
                <a:spcPts val="0"/>
              </a:spcAft>
            </a:pPr>
            <a:r>
              <a:rPr sz="145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#include</a:t>
            </a:r>
            <a:r>
              <a:rPr sz="1450" b="1" spc="49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&lt;linux/kernel.h&gt;</a:t>
            </a:r>
          </a:p>
          <a:p>
            <a:pPr marL="0" marR="0">
              <a:lnSpc>
                <a:spcPts val="1631"/>
              </a:lnSpc>
              <a:spcBef>
                <a:spcPts val="498"/>
              </a:spcBef>
              <a:spcAft>
                <a:spcPts val="0"/>
              </a:spcAft>
            </a:pPr>
            <a:r>
              <a:rPr sz="145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#include</a:t>
            </a:r>
            <a:r>
              <a:rPr sz="1450" b="1" spc="49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CC"/>
                </a:solidFill>
                <a:latin typeface="CMSBQV+Courier New Bold"/>
                <a:cs typeface="CMSBQV+Courier New Bold"/>
              </a:rPr>
              <a:t>&lt;linux/init.h&gt;</a:t>
            </a:r>
          </a:p>
          <a:p>
            <a:pPr marL="0" marR="0">
              <a:lnSpc>
                <a:spcPts val="1631"/>
              </a:lnSpc>
              <a:spcBef>
                <a:spcPts val="488"/>
              </a:spcBef>
              <a:spcAft>
                <a:spcPts val="0"/>
              </a:spcAft>
            </a:pP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MODULE_LICENSE("GPL");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37000" y="1345078"/>
            <a:ext cx="3879330" cy="51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//</a:t>
            </a:r>
            <a:r>
              <a:rPr sz="1450" b="1" spc="4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included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for</a:t>
            </a:r>
            <a:r>
              <a:rPr sz="1450" b="1" spc="5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spc="-10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all</a:t>
            </a:r>
            <a:r>
              <a:rPr sz="1450" b="1" spc="50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kernel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modules</a:t>
            </a:r>
          </a:p>
          <a:p>
            <a:pPr marL="0" marR="0">
              <a:lnSpc>
                <a:spcPts val="1631"/>
              </a:lnSpc>
              <a:spcBef>
                <a:spcPts val="538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//</a:t>
            </a:r>
            <a:r>
              <a:rPr sz="1450" b="1" spc="4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included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for</a:t>
            </a:r>
            <a:r>
              <a:rPr sz="1450" b="1" spc="5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KERN_INFO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37000" y="1884828"/>
            <a:ext cx="4537700" cy="24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//</a:t>
            </a:r>
            <a:r>
              <a:rPr sz="1450" b="1" spc="4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included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for</a:t>
            </a:r>
            <a:r>
              <a:rPr sz="1450" b="1" spc="5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__init</a:t>
            </a:r>
            <a:r>
              <a:rPr sz="1450" b="1" spc="49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and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__exit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macros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5650" y="2423308"/>
            <a:ext cx="5632783" cy="1054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MODULE_AUTHOR("</a:t>
            </a:r>
            <a:r>
              <a:rPr lang="en-IN"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My Name</a:t>
            </a: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");</a:t>
            </a:r>
          </a:p>
          <a:p>
            <a:pPr marL="0" marR="0">
              <a:lnSpc>
                <a:spcPts val="1631"/>
              </a:lnSpc>
              <a:spcBef>
                <a:spcPts val="548"/>
              </a:spcBef>
              <a:spcAft>
                <a:spcPts val="0"/>
              </a:spcAft>
            </a:pP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MODULE_DESCRIPTION("A</a:t>
            </a:r>
            <a:r>
              <a:rPr sz="1450" b="1" spc="502" dirty="0">
                <a:solidFill>
                  <a:srgbClr val="FF3333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Simple</a:t>
            </a:r>
            <a:r>
              <a:rPr sz="1450" b="1" spc="494" dirty="0">
                <a:solidFill>
                  <a:srgbClr val="FF3333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Hello</a:t>
            </a:r>
            <a:r>
              <a:rPr sz="1450" b="1" spc="501" dirty="0">
                <a:solidFill>
                  <a:srgbClr val="FF3333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World</a:t>
            </a:r>
            <a:r>
              <a:rPr sz="1450" b="1" spc="504" dirty="0">
                <a:solidFill>
                  <a:srgbClr val="FF3333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FF3333"/>
                </a:solidFill>
                <a:latin typeface="CMSBQV+Courier New Bold"/>
                <a:cs typeface="CMSBQV+Courier New Bold"/>
              </a:rPr>
              <a:t>module");</a:t>
            </a:r>
          </a:p>
          <a:p>
            <a:pPr marL="0" marR="0">
              <a:lnSpc>
                <a:spcPts val="1631"/>
              </a:lnSpc>
              <a:spcBef>
                <a:spcPts val="488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static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spc="-10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int</a:t>
            </a:r>
            <a:r>
              <a:rPr sz="1450" b="1" spc="506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__init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hello_init(void)</a:t>
            </a:r>
          </a:p>
          <a:p>
            <a:pPr marL="0" marR="0">
              <a:lnSpc>
                <a:spcPts val="1631"/>
              </a:lnSpc>
              <a:spcBef>
                <a:spcPts val="488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{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93800" y="3501539"/>
            <a:ext cx="3989606" cy="24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printk(KERN_INFO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"Hello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world!\n");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5650" y="3772048"/>
            <a:ext cx="7388768" cy="453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return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spc="-10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0;</a:t>
            </a:r>
            <a:r>
              <a:rPr sz="1450" b="1" spc="514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//</a:t>
            </a:r>
            <a:r>
              <a:rPr sz="1450" b="1" spc="4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Non­zero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return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means</a:t>
            </a:r>
            <a:r>
              <a:rPr sz="1450" b="1" spc="50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that</a:t>
            </a:r>
            <a:r>
              <a:rPr sz="1450" b="1" spc="5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the</a:t>
            </a:r>
            <a:r>
              <a:rPr sz="1450" b="1" spc="50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module</a:t>
            </a:r>
            <a:r>
              <a:rPr sz="1450" b="1" spc="50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couldn't</a:t>
            </a:r>
            <a:r>
              <a:rPr sz="1450" b="1" spc="5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be</a:t>
            </a:r>
          </a:p>
          <a:p>
            <a:pPr marL="0" marR="0">
              <a:lnSpc>
                <a:spcPts val="1631"/>
              </a:lnSpc>
              <a:spcBef>
                <a:spcPts val="58"/>
              </a:spcBef>
              <a:spcAft>
                <a:spcPts val="0"/>
              </a:spcAft>
            </a:pPr>
            <a:r>
              <a:rPr sz="145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loaded.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5650" y="4249569"/>
            <a:ext cx="262145" cy="24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55650" y="4520079"/>
            <a:ext cx="4318242" cy="24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static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void</a:t>
            </a:r>
            <a:r>
              <a:rPr sz="1450" b="1" spc="503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__exit</a:t>
            </a:r>
            <a:r>
              <a:rPr sz="1450" b="1" spc="494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hello_cleanup(void)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55650" y="4789319"/>
            <a:ext cx="262145" cy="24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{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55650" y="5058558"/>
            <a:ext cx="4099120" cy="515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printk(KERN_INFO</a:t>
            </a:r>
            <a:r>
              <a:rPr sz="1450" b="1" spc="50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"Good</a:t>
            </a:r>
            <a:r>
              <a:rPr sz="1450" b="1" spc="492" dirty="0">
                <a:solidFill>
                  <a:srgbClr val="661900"/>
                </a:solidFill>
                <a:latin typeface="Times New Roman"/>
                <a:cs typeface="Times New Roman"/>
              </a:rPr>
              <a:t> </a:t>
            </a: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Bye.\n");</a:t>
            </a:r>
          </a:p>
          <a:p>
            <a:pPr marL="0" marR="0">
              <a:lnSpc>
                <a:spcPts val="1631"/>
              </a:lnSpc>
              <a:spcBef>
                <a:spcPts val="548"/>
              </a:spcBef>
              <a:spcAft>
                <a:spcPts val="0"/>
              </a:spcAft>
            </a:pPr>
            <a:r>
              <a:rPr sz="1450" b="1" dirty="0">
                <a:solidFill>
                  <a:srgbClr val="661900"/>
                </a:solidFill>
                <a:latin typeface="CMSBQV+Courier New Bold"/>
                <a:cs typeface="CMSBQV+Courier New Bold"/>
              </a:rPr>
              <a:t>}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55650" y="5598308"/>
            <a:ext cx="3115537" cy="5145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3300"/>
                </a:solidFill>
                <a:latin typeface="CMSBQV+Courier New Bold"/>
                <a:cs typeface="CMSBQV+Courier New Bold"/>
              </a:rPr>
              <a:t>module_init(hello_init);</a:t>
            </a:r>
          </a:p>
          <a:p>
            <a:pPr marL="0" marR="0">
              <a:lnSpc>
                <a:spcPts val="1631"/>
              </a:lnSpc>
              <a:spcBef>
                <a:spcPts val="538"/>
              </a:spcBef>
              <a:spcAft>
                <a:spcPts val="0"/>
              </a:spcAft>
            </a:pPr>
            <a:r>
              <a:rPr sz="1450" b="1" dirty="0">
                <a:solidFill>
                  <a:srgbClr val="003300"/>
                </a:solidFill>
                <a:latin typeface="CMSBQV+Courier New Bold"/>
                <a:cs typeface="CMSBQV+Courier New Bold"/>
              </a:rPr>
              <a:t>module_exit(hello_cleanup);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1957882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spc="-16" dirty="0">
                <a:latin typeface="QWTUTB+Ubuntu"/>
                <a:cs typeface="QWTUTB+Ubuntu"/>
              </a:rPr>
              <a:t>Makeﬁle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7850" y="2029645"/>
            <a:ext cx="2346982" cy="674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obj­m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+=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MSBQV+Courier New Bold"/>
                <a:cs typeface="CMSBQV+Courier New Bold"/>
              </a:rPr>
              <a:t>hello.o</a:t>
            </a:r>
          </a:p>
          <a:p>
            <a:pPr marL="0" marR="0">
              <a:lnSpc>
                <a:spcPts val="2039"/>
              </a:lnSpc>
              <a:spcBef>
                <a:spcPts val="98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all: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7900" y="2771326"/>
            <a:ext cx="7421899" cy="57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make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­C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/lib/modules/$(shell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uname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­r)/build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M=$(PWD)</a:t>
            </a:r>
          </a:p>
          <a:p>
            <a:pPr marL="0" marR="0">
              <a:lnSpc>
                <a:spcPts val="2039"/>
              </a:lnSpc>
              <a:spcBef>
                <a:spcPts val="18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modules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7850" y="3424106"/>
            <a:ext cx="975493" cy="29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clean: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7900" y="3788596"/>
            <a:ext cx="7421899" cy="5726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make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­C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/lib/modules/$(shell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uname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­r)/build</a:t>
            </a:r>
            <a:r>
              <a:rPr sz="1800" b="1" spc="6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M=$(PWD)</a:t>
            </a:r>
          </a:p>
          <a:p>
            <a:pPr marL="0" marR="0">
              <a:lnSpc>
                <a:spcPts val="2039"/>
              </a:lnSpc>
              <a:spcBef>
                <a:spcPts val="180"/>
              </a:spcBef>
              <a:spcAft>
                <a:spcPts val="0"/>
              </a:spcAft>
            </a:pPr>
            <a:r>
              <a:rPr sz="1800" b="1" dirty="0">
                <a:solidFill>
                  <a:srgbClr val="000000"/>
                </a:solidFill>
                <a:latin typeface="CMSBQV+Courier New Bold"/>
                <a:cs typeface="CMSBQV+Courier New Bold"/>
              </a:rPr>
              <a:t>clean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4555694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spc="-11" dirty="0">
                <a:latin typeface="QWTUTB+Ubuntu"/>
                <a:cs typeface="QWTUTB+Ubuntu"/>
              </a:rPr>
              <a:t>Compile</a:t>
            </a:r>
            <a:r>
              <a:rPr sz="3600" dirty="0">
                <a:latin typeface="QWTUTB+Ubuntu"/>
                <a:cs typeface="QWTUTB+Ubuntu"/>
              </a:rPr>
              <a:t> the program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25910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570990"/>
            <a:ext cx="886358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make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831B4B-6CCA-4B21-E254-5844C4F88148}"/>
              </a:ext>
            </a:extLst>
          </p:cNvPr>
          <p:cNvSpPr/>
          <p:nvPr/>
        </p:nvSpPr>
        <p:spPr>
          <a:xfrm>
            <a:off x="20964" y="6072332"/>
            <a:ext cx="2123728" cy="5129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B43336-44CA-42FF-5B74-856F51A38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36" y="2115005"/>
            <a:ext cx="8259328" cy="38676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315666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File generated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E93CC7-740C-B00F-E273-DD984228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7" y="2490656"/>
            <a:ext cx="8497486" cy="18766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9910" y="1545252"/>
            <a:ext cx="25910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570990"/>
            <a:ext cx="2896209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insmod</a:t>
            </a:r>
            <a:r>
              <a:rPr sz="2400" spc="8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hello.ko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6F7B1-E8CE-B213-1D74-FB35B64E3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2595446"/>
            <a:ext cx="7897327" cy="16671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591129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Check the module in the list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25910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570990"/>
            <a:ext cx="1069848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lsmod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38140" y="5535994"/>
            <a:ext cx="1444253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ADLVEH+Liberation Sans"/>
                <a:cs typeface="ADLVEH+Liberation Sans"/>
              </a:rPr>
              <a:t>hello module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A61103-B0F8-E89C-473C-5AF7E869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39" y="2512758"/>
            <a:ext cx="8316486" cy="29245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5157826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Check </a:t>
            </a:r>
            <a:r>
              <a:rPr sz="3600" spc="-18" dirty="0">
                <a:latin typeface="QWTUTB+Ubuntu"/>
                <a:cs typeface="QWTUTB+Ubuntu"/>
              </a:rPr>
              <a:t>kernel</a:t>
            </a:r>
            <a:r>
              <a:rPr sz="3600" spc="14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ring</a:t>
            </a:r>
            <a:r>
              <a:rPr sz="3600" spc="-11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buﬀer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25910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570990"/>
            <a:ext cx="1069848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dmesg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249085-5ECB-10C4-7056-24015E267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41" y="1923870"/>
            <a:ext cx="8183117" cy="39915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5157826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Check </a:t>
            </a:r>
            <a:r>
              <a:rPr sz="3600" spc="-18" dirty="0">
                <a:latin typeface="QWTUTB+Ubuntu"/>
                <a:cs typeface="QWTUTB+Ubuntu"/>
              </a:rPr>
              <a:t>kernel</a:t>
            </a:r>
            <a:r>
              <a:rPr sz="3600" spc="14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ring</a:t>
            </a:r>
            <a:r>
              <a:rPr sz="3600" spc="-11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buﬀer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25910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570990"/>
            <a:ext cx="2896209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dmesg</a:t>
            </a:r>
            <a:r>
              <a:rPr sz="2400" spc="8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|</a:t>
            </a:r>
            <a:r>
              <a:rPr sz="2400" spc="8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tail</a:t>
            </a:r>
            <a:r>
              <a:rPr sz="2400" spc="8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­1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C4BEE-58B2-0AD3-173B-9DD472797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285" y="2495419"/>
            <a:ext cx="6125430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4707941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Removing the module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259109" cy="2254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  <a:p>
            <a:pPr marL="0" marR="0">
              <a:lnSpc>
                <a:spcPts val="2681"/>
              </a:lnSpc>
              <a:spcBef>
                <a:spcPts val="4708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  <a:p>
            <a:pPr marL="0" marR="0">
              <a:lnSpc>
                <a:spcPts val="2681"/>
              </a:lnSpc>
              <a:spcBef>
                <a:spcPts val="4698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570990"/>
            <a:ext cx="2713328" cy="13375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rmmod</a:t>
            </a:r>
            <a:r>
              <a:rPr sz="2400" spc="8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hello.ko</a:t>
            </a:r>
          </a:p>
          <a:p>
            <a:pPr marL="0" marR="0">
              <a:lnSpc>
                <a:spcPts val="2841"/>
              </a:lnSpc>
              <a:spcBef>
                <a:spcPts val="45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dmesg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07510" y="2509520"/>
            <a:ext cx="519379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2810" y="3446780"/>
            <a:ext cx="2896209" cy="398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4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dmesg</a:t>
            </a:r>
            <a:r>
              <a:rPr sz="2400" spc="8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|</a:t>
            </a:r>
            <a:r>
              <a:rPr sz="2400" spc="8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tail</a:t>
            </a:r>
            <a:r>
              <a:rPr sz="2400" spc="83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QRLRPG+Courier10PitchBT-Bold"/>
                <a:cs typeface="QRLRPG+Courier10PitchBT-Bold"/>
              </a:rPr>
              <a:t>­1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3361944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What is dmesg?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7552942" cy="1490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</a:t>
            </a:r>
            <a:r>
              <a:rPr sz="2400" dirty="0">
                <a:solidFill>
                  <a:srgbClr val="0000FF"/>
                </a:solidFill>
                <a:latin typeface="QWTUTB+Ubuntu"/>
                <a:cs typeface="QWTUTB+Ubuntu"/>
              </a:rPr>
              <a:t>dmesg</a:t>
            </a:r>
            <a:r>
              <a:rPr sz="2400" spc="12" dirty="0">
                <a:solidFill>
                  <a:srgbClr val="0000FF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command 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is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used </a:t>
            </a:r>
            <a:r>
              <a:rPr sz="2400" spc="-4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4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write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messages in Linux and other Unix-like operating</a:t>
            </a:r>
          </a:p>
          <a:p>
            <a:pPr marL="342900" marR="0">
              <a:lnSpc>
                <a:spcPts val="2690"/>
              </a:lnSpc>
              <a:spcBef>
                <a:spcPts val="20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systems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4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4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standard output (which </a:t>
            </a:r>
            <a:r>
              <a:rPr sz="2400" spc="-34" dirty="0">
                <a:solidFill>
                  <a:srgbClr val="000000"/>
                </a:solidFill>
                <a:latin typeface="QWTUTB+Ubuntu"/>
                <a:cs typeface="QWTUTB+Ubuntu"/>
              </a:rPr>
              <a:t>by</a:t>
            </a:r>
            <a:r>
              <a:rPr sz="2400" spc="26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default 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is</a:t>
            </a:r>
            <a:r>
              <a:rPr sz="2400" spc="-2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display screen).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910" y="3117512"/>
            <a:ext cx="8228788" cy="1857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FF"/>
                </a:solidFill>
                <a:latin typeface="QWTUTB+Ubuntu"/>
                <a:cs typeface="QWTUTB+Ubuntu"/>
              </a:rPr>
              <a:t>dmesg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obtains its data </a:t>
            </a:r>
            <a:r>
              <a:rPr sz="2400" spc="-34" dirty="0">
                <a:solidFill>
                  <a:srgbClr val="000000"/>
                </a:solidFill>
                <a:latin typeface="QWTUTB+Ubuntu"/>
                <a:cs typeface="QWTUTB+Ubuntu"/>
              </a:rPr>
              <a:t>by</a:t>
            </a:r>
            <a:r>
              <a:rPr sz="2400" spc="26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reading the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40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ring </a:t>
            </a:r>
            <a:r>
              <a:rPr sz="2400" spc="-21" dirty="0">
                <a:solidFill>
                  <a:srgbClr val="000000"/>
                </a:solidFill>
                <a:latin typeface="QWTUTB+Ubuntu"/>
                <a:cs typeface="QWTUTB+Ubuntu"/>
              </a:rPr>
              <a:t>buﬀer.</a:t>
            </a:r>
          </a:p>
          <a:p>
            <a:pPr marL="342900" marR="0">
              <a:lnSpc>
                <a:spcPts val="2690"/>
              </a:lnSpc>
              <a:spcBef>
                <a:spcPts val="20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 buﬀer is a portion of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 computer's memory</a:t>
            </a:r>
            <a:r>
              <a:rPr sz="2400" spc="-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that 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is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set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aside as</a:t>
            </a:r>
            <a:r>
              <a:rPr sz="2400" spc="-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 temporary</a:t>
            </a:r>
            <a:r>
              <a:rPr sz="2400" spc="-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holding place for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data that 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is</a:t>
            </a:r>
            <a:r>
              <a:rPr sz="2400" spc="-17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being</a:t>
            </a:r>
          </a:p>
          <a:p>
            <a:pPr marL="342900" marR="0">
              <a:lnSpc>
                <a:spcPts val="2690"/>
              </a:lnSpc>
              <a:spcBef>
                <a:spcPts val="20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sent </a:t>
            </a:r>
            <a:r>
              <a:rPr sz="2400" spc="-4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4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or received from</a:t>
            </a:r>
            <a:r>
              <a:rPr sz="2400" spc="-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an external device, such as a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hard disk 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drive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(HDD),</a:t>
            </a:r>
            <a:r>
              <a:rPr sz="2400" spc="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printer or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keyboard.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9910" y="5056802"/>
            <a:ext cx="8002221" cy="386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 ring buﬀer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is a buﬀer of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QWTUTB+Ubuntu"/>
                <a:cs typeface="QWTUTB+Ubuntu"/>
              </a:rPr>
              <a:t>ﬁxed</a:t>
            </a:r>
            <a:r>
              <a:rPr sz="2400" spc="16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QWTUTB+Ubuntu"/>
                <a:cs typeface="QWTUTB+Ubuntu"/>
              </a:rPr>
              <a:t>size</a:t>
            </a:r>
            <a:r>
              <a:rPr sz="2400" spc="2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for which </a:t>
            </a:r>
            <a:r>
              <a:rPr sz="2400" spc="-25" dirty="0">
                <a:solidFill>
                  <a:srgbClr val="000000"/>
                </a:solidFill>
                <a:latin typeface="QWTUTB+Ubuntu"/>
                <a:cs typeface="QWTUTB+Ubuntu"/>
              </a:rPr>
              <a:t>any</a:t>
            </a:r>
            <a:r>
              <a:rPr sz="2400" spc="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new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2810" y="5432196"/>
            <a:ext cx="6721754" cy="3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data added</a:t>
            </a:r>
            <a:r>
              <a:rPr sz="2400" spc="-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-3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2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it</a:t>
            </a:r>
            <a:r>
              <a:rPr sz="2400" spc="-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overwrites the oldest data in </a:t>
            </a:r>
            <a:r>
              <a:rPr sz="2400" spc="11" dirty="0">
                <a:solidFill>
                  <a:srgbClr val="000000"/>
                </a:solidFill>
                <a:latin typeface="QWTUTB+Ubuntu"/>
                <a:cs typeface="QWTUTB+Ubuntu"/>
              </a:rPr>
              <a:t>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3223413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What is</a:t>
            </a:r>
            <a:r>
              <a:rPr sz="3600" spc="-14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printk?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910" y="1545252"/>
            <a:ext cx="7406945" cy="38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40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 function, printk(</a:t>
            </a:r>
            <a:r>
              <a:rPr sz="2400" spc="-36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), </a:t>
            </a:r>
            <a:r>
              <a:rPr sz="2400" spc="-13" dirty="0">
                <a:solidFill>
                  <a:srgbClr val="000000"/>
                </a:solidFill>
                <a:latin typeface="QWTUTB+Ubuntu"/>
                <a:cs typeface="QWTUTB+Ubuntu"/>
              </a:rPr>
              <a:t>behaves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 almost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2810" y="1921916"/>
            <a:ext cx="6081674" cy="3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identically </a:t>
            </a:r>
            <a:r>
              <a:rPr sz="2400" spc="-4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4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C library</a:t>
            </a:r>
            <a:r>
              <a:rPr sz="2400" spc="-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printf(</a:t>
            </a:r>
            <a:r>
              <a:rPr sz="2400" spc="-36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) function.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9910" y="2382182"/>
            <a:ext cx="8109813" cy="11234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printk( ) </a:t>
            </a:r>
            <a:r>
              <a:rPr sz="2400" spc="10" dirty="0">
                <a:solidFill>
                  <a:srgbClr val="000000"/>
                </a:solidFill>
                <a:latin typeface="QWTUTB+Ubuntu"/>
                <a:cs typeface="QWTUTB+Ubuntu"/>
              </a:rPr>
              <a:t>is</a:t>
            </a:r>
            <a:r>
              <a:rPr sz="2400" spc="-2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simply</a:t>
            </a:r>
            <a:r>
              <a:rPr sz="2400" spc="-19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name of the 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kernel's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 formatted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 function. It</a:t>
            </a:r>
            <a:r>
              <a:rPr sz="2400" spc="-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is callable from just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about anywhere in</a:t>
            </a:r>
          </a:p>
          <a:p>
            <a:pPr marL="342900" marR="0">
              <a:lnSpc>
                <a:spcPts val="2690"/>
              </a:lnSpc>
              <a:spcBef>
                <a:spcPts val="20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40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at </a:t>
            </a:r>
            <a:r>
              <a:rPr sz="2400" spc="-25" dirty="0">
                <a:solidFill>
                  <a:srgbClr val="000000"/>
                </a:solidFill>
                <a:latin typeface="QWTUTB+Ubuntu"/>
                <a:cs typeface="QWTUTB+Ubuntu"/>
              </a:rPr>
              <a:t>any</a:t>
            </a:r>
            <a:r>
              <a:rPr sz="2400" spc="18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time.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9910" y="3586142"/>
            <a:ext cx="7748016" cy="38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major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diﬀerence between printk(</a:t>
            </a:r>
            <a:r>
              <a:rPr sz="2400" spc="-36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) and printf(</a:t>
            </a:r>
            <a:r>
              <a:rPr sz="2400" spc="-355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) is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92810" y="3961536"/>
            <a:ext cx="6837576" cy="3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capability of</a:t>
            </a:r>
            <a:r>
              <a:rPr sz="2400" spc="-1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former </a:t>
            </a:r>
            <a:r>
              <a:rPr sz="2400" spc="-3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3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specify</a:t>
            </a:r>
            <a:r>
              <a:rPr sz="2400" spc="-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 loglevel.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9910" y="4423072"/>
            <a:ext cx="8150046" cy="1490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6698CC"/>
                </a:solidFill>
                <a:latin typeface="ADLVEH+Liberation Sans"/>
                <a:cs typeface="ADLVEH+Liberation Sans"/>
              </a:rPr>
              <a:t>•</a:t>
            </a:r>
            <a:r>
              <a:rPr sz="2400" spc="1193" dirty="0">
                <a:solidFill>
                  <a:srgbClr val="6698CC"/>
                </a:solidFill>
                <a:latin typeface="ADLVEH+Liberation Sans"/>
                <a:cs typeface="ADLVEH+Liberation Sans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40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uses the loglevel </a:t>
            </a:r>
            <a:r>
              <a:rPr sz="2400" spc="-4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4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decide whether </a:t>
            </a:r>
            <a:r>
              <a:rPr sz="2400" spc="-4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4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message </a:t>
            </a:r>
            <a:r>
              <a:rPr sz="2400" spc="-36" dirty="0">
                <a:solidFill>
                  <a:srgbClr val="000000"/>
                </a:solidFill>
                <a:latin typeface="QWTUTB+Ubuntu"/>
                <a:cs typeface="QWTUTB+Ubuntu"/>
              </a:rPr>
              <a:t>to</a:t>
            </a:r>
            <a:r>
              <a:rPr sz="2400" spc="24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the console. The </a:t>
            </a:r>
            <a:r>
              <a:rPr sz="2400" spc="-15" dirty="0">
                <a:solidFill>
                  <a:srgbClr val="000000"/>
                </a:solidFill>
                <a:latin typeface="QWTUTB+Ubuntu"/>
                <a:cs typeface="QWTUTB+Ubuntu"/>
              </a:rPr>
              <a:t>kernel</a:t>
            </a:r>
            <a:r>
              <a:rPr sz="2400" spc="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displays</a:t>
            </a:r>
            <a:r>
              <a:rPr sz="2400" spc="-10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all</a:t>
            </a:r>
          </a:p>
          <a:p>
            <a:pPr marL="342900" marR="0">
              <a:lnSpc>
                <a:spcPts val="2690"/>
              </a:lnSpc>
              <a:spcBef>
                <a:spcPts val="20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messages with a loglevel below a speciﬁed value on the</a:t>
            </a:r>
          </a:p>
          <a:p>
            <a:pPr marL="342900" marR="0">
              <a:lnSpc>
                <a:spcPts val="2690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console.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9910" y="379069"/>
            <a:ext cx="3598773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35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latin typeface="QWTUTB+Ubuntu"/>
                <a:cs typeface="QWTUTB+Ubuntu"/>
              </a:rPr>
              <a:t>printk</a:t>
            </a:r>
            <a:r>
              <a:rPr sz="3600" spc="828" dirty="0">
                <a:latin typeface="QWTUTB+Ubuntu"/>
                <a:cs typeface="QWTUTB+Ubuntu"/>
              </a:rPr>
              <a:t> </a:t>
            </a:r>
            <a:r>
              <a:rPr sz="3600" dirty="0">
                <a:latin typeface="QWTUTB+Ubuntu"/>
                <a:cs typeface="QWTUTB+Ubuntu"/>
              </a:rPr>
              <a:t>: 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2810" y="1553616"/>
            <a:ext cx="6835140" cy="1318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9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printk(KERN_WARNING "This is a warning!\n");</a:t>
            </a:r>
          </a:p>
          <a:p>
            <a:pPr marL="0" marR="0">
              <a:lnSpc>
                <a:spcPts val="2690"/>
              </a:lnSpc>
              <a:spcBef>
                <a:spcPts val="99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printk(KERN_DEBUG "This is a debug notice!\n");</a:t>
            </a:r>
          </a:p>
          <a:p>
            <a:pPr marL="0" marR="0">
              <a:lnSpc>
                <a:spcPts val="2690"/>
              </a:lnSpc>
              <a:spcBef>
                <a:spcPts val="100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printk("I did</a:t>
            </a:r>
            <a:r>
              <a:rPr sz="2400" spc="-12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not</a:t>
            </a:r>
            <a:r>
              <a:rPr sz="2400" spc="-11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specify</a:t>
            </a:r>
            <a:r>
              <a:rPr sz="2400" spc="-13" dirty="0">
                <a:solidFill>
                  <a:srgbClr val="000000"/>
                </a:solidFill>
                <a:latin typeface="QWTUTB+Ubuntu"/>
                <a:cs typeface="QWTUTB+Ubuntu"/>
              </a:rPr>
              <a:t> </a:t>
            </a:r>
            <a:r>
              <a:rPr sz="2400" dirty="0">
                <a:solidFill>
                  <a:srgbClr val="000000"/>
                </a:solidFill>
                <a:latin typeface="QWTUTB+Ubuntu"/>
                <a:cs typeface="QWTUTB+Ubuntu"/>
              </a:rPr>
              <a:t>a loglevel!\n");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</TotalTime>
  <Words>1047</Words>
  <Application>Microsoft Office PowerPoint</Application>
  <PresentationFormat>On-screen Show (4:3)</PresentationFormat>
  <Paragraphs>176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Calibri Light</vt:lpstr>
      <vt:lpstr>MVIMBM+Liberation Serif</vt:lpstr>
      <vt:lpstr>ADLVEH+Liberation Sans</vt:lpstr>
      <vt:lpstr>REJGOG+Ubuntu Bold</vt:lpstr>
      <vt:lpstr>Arial</vt:lpstr>
      <vt:lpstr>CMSBQV+Courier New Bold</vt:lpstr>
      <vt:lpstr>QRLRPG+Courier10PitchBT-Bold</vt:lpstr>
      <vt:lpstr>QWTUTB+Ubuntu</vt:lpstr>
      <vt:lpstr>Times New Roman</vt:lpstr>
      <vt:lpstr>REOQKU+Ubuntu Italic</vt:lpstr>
      <vt:lpstr>Heltevica</vt:lpstr>
      <vt:lpstr>FCDLIC+Calibri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Shripad</dc:creator>
  <cp:lastModifiedBy>deshpande.shripad2@gmail.com</cp:lastModifiedBy>
  <cp:revision>5</cp:revision>
  <dcterms:modified xsi:type="dcterms:W3CDTF">2024-05-24T14:55:53Z</dcterms:modified>
</cp:coreProperties>
</file>