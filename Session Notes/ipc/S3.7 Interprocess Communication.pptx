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366" r:id="rId2"/>
    <p:sldId id="258" r:id="rId3"/>
    <p:sldId id="367" r:id="rId4"/>
    <p:sldId id="368" r:id="rId5"/>
    <p:sldId id="370" r:id="rId6"/>
    <p:sldId id="371" r:id="rId7"/>
    <p:sldId id="372" r:id="rId8"/>
    <p:sldId id="379" r:id="rId9"/>
    <p:sldId id="257" r:id="rId10"/>
    <p:sldId id="259" r:id="rId11"/>
    <p:sldId id="260" r:id="rId12"/>
    <p:sldId id="261" r:id="rId13"/>
    <p:sldId id="373" r:id="rId14"/>
    <p:sldId id="375" r:id="rId15"/>
    <p:sldId id="374" r:id="rId16"/>
    <p:sldId id="376" r:id="rId17"/>
    <p:sldId id="377" r:id="rId18"/>
    <p:sldId id="378" r:id="rId19"/>
    <p:sldId id="380" r:id="rId20"/>
    <p:sldId id="381" r:id="rId21"/>
    <p:sldId id="382" r:id="rId22"/>
    <p:sldId id="385" r:id="rId23"/>
    <p:sldId id="383" r:id="rId24"/>
    <p:sldId id="384" r:id="rId25"/>
    <p:sldId id="387" r:id="rId26"/>
    <p:sldId id="388" r:id="rId27"/>
    <p:sldId id="389" r:id="rId28"/>
    <p:sldId id="265" r:id="rId29"/>
    <p:sldId id="266" r:id="rId30"/>
    <p:sldId id="262" r:id="rId31"/>
    <p:sldId id="263" r:id="rId32"/>
    <p:sldId id="264" r:id="rId33"/>
    <p:sldId id="390" r:id="rId34"/>
    <p:sldId id="391" r:id="rId35"/>
    <p:sldId id="267" r:id="rId36"/>
    <p:sldId id="386" r:id="rId37"/>
    <p:sldId id="392" r:id="rId38"/>
    <p:sldId id="393" r:id="rId39"/>
    <p:sldId id="394" r:id="rId40"/>
    <p:sldId id="395" r:id="rId41"/>
    <p:sldId id="396" r:id="rId42"/>
    <p:sldId id="397" r:id="rId43"/>
    <p:sldId id="39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A88096-64AF-465D-A3B8-FC550B482AB1}" type="datetimeFigureOut">
              <a:rPr lang="en-IN" smtClean="0"/>
              <a:t>20-05-2024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675239-5997-44A9-A518-EFE0BDC4E387}" type="slidenum">
              <a:rPr lang="en-IN" smtClean="0"/>
              <a:t>‹#›</a:t>
            </a:fld>
            <a:endParaRPr lang="en-IN"/>
          </a:p>
        </p:txBody>
      </p:sp>
    </p:spTree>
    <p:extLst>
      <p:ext uri="{BB962C8B-B14F-4D97-AF65-F5344CB8AC3E}">
        <p14:creationId xmlns:p14="http://schemas.microsoft.com/office/powerpoint/2010/main" val="3542237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0D78A-5224-4CB5-BB4D-D00426FBAAA4}" type="datetimeFigureOut">
              <a:rPr lang="en-US" smtClean="0"/>
              <a:pPr/>
              <a:t>5/20/2024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650D78A-5224-4CB5-BB4D-D00426FBAAA4}" type="datetimeFigureOut">
              <a:rPr lang="en-US" smtClean="0"/>
              <a:pPr/>
              <a:t>5/20/2024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650D78A-5224-4CB5-BB4D-D00426FBAAA4}" type="datetimeFigureOut">
              <a:rPr lang="en-US" smtClean="0"/>
              <a:pPr/>
              <a:t>5/20/2024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650D78A-5224-4CB5-BB4D-D00426FBAAA4}" type="datetimeFigureOut">
              <a:rPr lang="en-US" smtClean="0"/>
              <a:pPr/>
              <a:t>5/20/2024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0D78A-5224-4CB5-BB4D-D00426FBAAA4}" type="datetimeFigureOut">
              <a:rPr lang="en-US" smtClean="0"/>
              <a:pPr/>
              <a:t>5/20/2024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0D78A-5224-4CB5-BB4D-D00426FBAAA4}" type="datetimeFigureOut">
              <a:rPr lang="en-US" smtClean="0"/>
              <a:pPr/>
              <a:t>5/20/2024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0D78A-5224-4CB5-BB4D-D00426FBAAA4}" type="datetimeFigureOut">
              <a:rPr lang="en-US" smtClean="0"/>
              <a:pPr/>
              <a:t>5/20/2024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08"/>
            <a:ext cx="9144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142999" y="2657918"/>
            <a:ext cx="6858000" cy="1655478"/>
          </a:xfrm>
        </p:spPr>
        <p:txBody>
          <a:bodyPr anchor="ctr"/>
          <a:lstStyle>
            <a:lvl1pPr algn="ctr">
              <a:defRPr sz="60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143000" y="4989529"/>
            <a:ext cx="6858000" cy="508721"/>
          </a:xfrm>
        </p:spPr>
        <p:txBody>
          <a:bodyPr anchor="ctr">
            <a:normAutofit/>
          </a:bodyPr>
          <a:lstStyle>
            <a:lvl1pPr marL="0" indent="0" algn="ctr">
              <a:buNone/>
              <a:defRPr sz="2800">
                <a:solidFill>
                  <a:schemeClr val="bg1"/>
                </a:solidFill>
                <a:latin typeface="Heltevic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142999" y="1892448"/>
            <a:ext cx="6858000" cy="310144"/>
          </a:xfrm>
        </p:spPr>
        <p:txBody>
          <a:bodyPr>
            <a:noAutofit/>
          </a:bodyPr>
          <a:lstStyle>
            <a:lvl1pPr marL="0" indent="0" algn="ctr">
              <a:buNone/>
              <a:defRPr sz="20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142999" y="2320790"/>
            <a:ext cx="6858000" cy="310145"/>
          </a:xfrm>
        </p:spPr>
        <p:txBody>
          <a:bodyPr>
            <a:normAutofit/>
          </a:bodyPr>
          <a:lstStyle>
            <a:lvl1pPr marL="0" indent="0" algn="ctr">
              <a:buNone/>
              <a:defRPr lang="en-US" sz="1600" kern="1200" dirty="0" smtClean="0">
                <a:solidFill>
                  <a:schemeClr val="tx1"/>
                </a:solidFill>
                <a:latin typeface="Heltevica"/>
                <a:ea typeface="+mn-ea"/>
                <a:cs typeface="+mn-cs"/>
              </a:defRPr>
            </a:lvl1pPr>
          </a:lstStyle>
          <a:p>
            <a:pPr lvl="0"/>
            <a:r>
              <a:rPr lang="en-US" dirty="0"/>
              <a:t>Topic No</a:t>
            </a:r>
          </a:p>
        </p:txBody>
      </p:sp>
    </p:spTree>
    <p:extLst>
      <p:ext uri="{BB962C8B-B14F-4D97-AF65-F5344CB8AC3E}">
        <p14:creationId xmlns:p14="http://schemas.microsoft.com/office/powerpoint/2010/main" val="150037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50D78A-5224-4CB5-BB4D-D00426FBAAA4}" type="datetimeFigureOut">
              <a:rPr lang="en-US" smtClean="0"/>
              <a:pPr/>
              <a:t>5/20/2024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F332CE-0119-479D-996B-626D015DC57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priority-inversion-what-the-heck/" TargetMode="External"/><Relationship Id="rId2" Type="http://schemas.openxmlformats.org/officeDocument/2006/relationships/hyperlink" Target="https://www.geeksforgeeks.org/mutual-exclusion-in-synchronizati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barrgroup.com/blog/mutexes-and-semaphores-demystified"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err="1"/>
              <a:t>Shripad</a:t>
            </a:r>
            <a:r>
              <a:rPr lang="en-US" dirty="0"/>
              <a:t> V </a:t>
            </a:r>
            <a:r>
              <a:rPr lang="en-US" dirty="0" err="1"/>
              <a:t>Deshpande</a:t>
            </a:r>
            <a:endParaRPr lang="en-US" dirty="0"/>
          </a:p>
        </p:txBody>
      </p:sp>
      <p:sp>
        <p:nvSpPr>
          <p:cNvPr id="10" name="Title 3">
            <a:extLst>
              <a:ext uri="{FF2B5EF4-FFF2-40B4-BE49-F238E27FC236}">
                <a16:creationId xmlns:a16="http://schemas.microsoft.com/office/drawing/2014/main" id="{F6F0AE34-63F6-F533-D947-7471556424A9}"/>
              </a:ext>
            </a:extLst>
          </p:cNvPr>
          <p:cNvSpPr txBox="1">
            <a:spLocks/>
          </p:cNvSpPr>
          <p:nvPr/>
        </p:nvSpPr>
        <p:spPr>
          <a:xfrm>
            <a:off x="1219200" y="389986"/>
            <a:ext cx="6858000" cy="6871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4000" dirty="0">
                <a:latin typeface="Times New Roman" panose="02020603050405020304" pitchFamily="18" charset="0"/>
                <a:cs typeface="Times New Roman" panose="02020603050405020304" pitchFamily="18" charset="0"/>
              </a:rPr>
              <a:t>Embedded Operating Systems</a:t>
            </a:r>
          </a:p>
        </p:txBody>
      </p:sp>
      <p:sp>
        <p:nvSpPr>
          <p:cNvPr id="11" name="Title 3">
            <a:extLst>
              <a:ext uri="{FF2B5EF4-FFF2-40B4-BE49-F238E27FC236}">
                <a16:creationId xmlns:a16="http://schemas.microsoft.com/office/drawing/2014/main" id="{8566400D-B781-CEB9-61BE-840AAD125B6D}"/>
              </a:ext>
            </a:extLst>
          </p:cNvPr>
          <p:cNvSpPr txBox="1">
            <a:spLocks/>
          </p:cNvSpPr>
          <p:nvPr/>
        </p:nvSpPr>
        <p:spPr>
          <a:xfrm>
            <a:off x="1066800" y="1757551"/>
            <a:ext cx="6858000" cy="75991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2800" dirty="0">
                <a:solidFill>
                  <a:schemeClr val="accent2">
                    <a:lumMod val="75000"/>
                  </a:schemeClr>
                </a:solidFill>
                <a:latin typeface="Times New Roman" panose="02020603050405020304" pitchFamily="18" charset="0"/>
                <a:cs typeface="Times New Roman" panose="02020603050405020304" pitchFamily="18" charset="0"/>
              </a:rPr>
              <a:t>5.6 Inter-process Communication (IPC)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What is IPC?</a:t>
            </a:r>
          </a:p>
        </p:txBody>
      </p:sp>
      <p:sp>
        <p:nvSpPr>
          <p:cNvPr id="3" name="Content Placeholder 2"/>
          <p:cNvSpPr>
            <a:spLocks noGrp="1"/>
          </p:cNvSpPr>
          <p:nvPr>
            <p:ph idx="1"/>
          </p:nvPr>
        </p:nvSpPr>
        <p:spPr>
          <a:xfrm>
            <a:off x="457200" y="1219200"/>
            <a:ext cx="8229600" cy="5234135"/>
          </a:xfrm>
        </p:spPr>
        <p:txBody>
          <a:bodyPr>
            <a:normAutofit/>
          </a:bodyPr>
          <a:lstStyle/>
          <a:p>
            <a:r>
              <a:rPr lang="en-US" dirty="0">
                <a:latin typeface="+mj-lt"/>
              </a:rPr>
              <a:t>The processes in Linux are isolated from each other. They do not share address spaces.</a:t>
            </a:r>
          </a:p>
          <a:p>
            <a:r>
              <a:rPr lang="en-US" dirty="0">
                <a:latin typeface="+mj-lt"/>
              </a:rPr>
              <a:t>For any data, message to be communicated between two processes, the Kernel must make special arrangement for this.</a:t>
            </a:r>
          </a:p>
          <a:p>
            <a:r>
              <a:rPr lang="en-US" dirty="0">
                <a:latin typeface="+mj-lt"/>
              </a:rPr>
              <a:t>This arrangement is called as Inter-process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IPC mechanisms</a:t>
            </a:r>
          </a:p>
        </p:txBody>
      </p:sp>
      <p:sp>
        <p:nvSpPr>
          <p:cNvPr id="3" name="Content Placeholder 2"/>
          <p:cNvSpPr>
            <a:spLocks noGrp="1"/>
          </p:cNvSpPr>
          <p:nvPr>
            <p:ph idx="1"/>
          </p:nvPr>
        </p:nvSpPr>
        <p:spPr>
          <a:xfrm>
            <a:off x="457200" y="1219200"/>
            <a:ext cx="8229600" cy="5234135"/>
          </a:xfrm>
        </p:spPr>
        <p:txBody>
          <a:bodyPr>
            <a:normAutofit/>
          </a:bodyPr>
          <a:lstStyle/>
          <a:p>
            <a:r>
              <a:rPr lang="fr-FR" dirty="0">
                <a:latin typeface="+mj-lt"/>
              </a:rPr>
              <a:t>Sémaphore – </a:t>
            </a:r>
            <a:r>
              <a:rPr lang="fr-FR" dirty="0" err="1">
                <a:latin typeface="+mj-lt"/>
              </a:rPr>
              <a:t>Task</a:t>
            </a:r>
            <a:r>
              <a:rPr lang="fr-FR" dirty="0">
                <a:latin typeface="+mj-lt"/>
              </a:rPr>
              <a:t> Synchronisation</a:t>
            </a:r>
          </a:p>
          <a:p>
            <a:r>
              <a:rPr lang="fr-FR" dirty="0">
                <a:latin typeface="+mj-lt"/>
              </a:rPr>
              <a:t>Mutex – Resource and </a:t>
            </a:r>
            <a:r>
              <a:rPr lang="fr-FR" dirty="0" err="1">
                <a:latin typeface="+mj-lt"/>
              </a:rPr>
              <a:t>Task</a:t>
            </a:r>
            <a:r>
              <a:rPr lang="fr-FR" dirty="0">
                <a:latin typeface="+mj-lt"/>
              </a:rPr>
              <a:t> Synchronisation</a:t>
            </a:r>
          </a:p>
          <a:p>
            <a:r>
              <a:rPr lang="fr-FR" dirty="0" err="1">
                <a:latin typeface="+mj-lt"/>
              </a:rPr>
              <a:t>Shared</a:t>
            </a:r>
            <a:r>
              <a:rPr lang="fr-FR" dirty="0">
                <a:latin typeface="+mj-lt"/>
              </a:rPr>
              <a:t> memory block -</a:t>
            </a:r>
          </a:p>
          <a:p>
            <a:r>
              <a:rPr lang="fr-FR" dirty="0">
                <a:latin typeface="+mj-lt"/>
              </a:rPr>
              <a:t>Pipes</a:t>
            </a:r>
          </a:p>
          <a:p>
            <a:r>
              <a:rPr lang="fr-FR" dirty="0">
                <a:latin typeface="+mj-lt"/>
              </a:rPr>
              <a:t>FIFO (</a:t>
            </a:r>
            <a:r>
              <a:rPr lang="fr-FR" dirty="0" err="1">
                <a:latin typeface="+mj-lt"/>
              </a:rPr>
              <a:t>Named</a:t>
            </a:r>
            <a:r>
              <a:rPr lang="fr-FR" dirty="0">
                <a:latin typeface="+mj-lt"/>
              </a:rPr>
              <a:t> Pipes)</a:t>
            </a:r>
          </a:p>
          <a:p>
            <a:r>
              <a:rPr lang="fr-FR" dirty="0">
                <a:latin typeface="+mj-lt"/>
              </a:rPr>
              <a:t>Message queue</a:t>
            </a:r>
          </a:p>
          <a:p>
            <a:r>
              <a:rPr lang="fr-FR" dirty="0" err="1">
                <a:latin typeface="+mj-lt"/>
              </a:rPr>
              <a:t>Signals</a:t>
            </a:r>
            <a:endParaRPr lang="fr-FR" dirty="0">
              <a:latin typeface="+mj-lt"/>
            </a:endParaRPr>
          </a:p>
          <a:p>
            <a:r>
              <a:rPr lang="fr-FR" dirty="0">
                <a:latin typeface="+mj-lt"/>
              </a:rPr>
              <a:t>Sockets</a:t>
            </a:r>
          </a:p>
          <a:p>
            <a:endParaRPr lang="en-US" dirty="0">
              <a:latin typeface="+mj-lt"/>
            </a:endParaRPr>
          </a:p>
        </p:txBody>
      </p:sp>
    </p:spTree>
    <p:extLst>
      <p:ext uri="{BB962C8B-B14F-4D97-AF65-F5344CB8AC3E}">
        <p14:creationId xmlns:p14="http://schemas.microsoft.com/office/powerpoint/2010/main" val="3030271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Semaphore</a:t>
            </a:r>
          </a:p>
        </p:txBody>
      </p:sp>
      <p:sp>
        <p:nvSpPr>
          <p:cNvPr id="3" name="Content Placeholder 2"/>
          <p:cNvSpPr>
            <a:spLocks noGrp="1"/>
          </p:cNvSpPr>
          <p:nvPr>
            <p:ph idx="1"/>
          </p:nvPr>
        </p:nvSpPr>
        <p:spPr>
          <a:xfrm>
            <a:off x="457200" y="1052736"/>
            <a:ext cx="8229600" cy="5450159"/>
          </a:xfrm>
        </p:spPr>
        <p:txBody>
          <a:bodyPr>
            <a:normAutofit fontScale="85000" lnSpcReduction="10000"/>
          </a:bodyPr>
          <a:lstStyle/>
          <a:p>
            <a:pPr algn="just" rtl="0" fontAlgn="base"/>
            <a:r>
              <a:rPr lang="en-US" b="0" i="0" dirty="0">
                <a:solidFill>
                  <a:srgbClr val="273239"/>
                </a:solidFill>
                <a:effectLst/>
                <a:highlight>
                  <a:srgbClr val="FFFFFF"/>
                </a:highlight>
                <a:latin typeface="Nunito" pitchFamily="2" charset="0"/>
              </a:rPr>
              <a:t>Semaphores are just normal variables used to coordinate the activities of multiple processes in a computer system. They are used to enforce mutual exclusion, avoid race conditions, and implement synchronization between processes.</a:t>
            </a:r>
          </a:p>
          <a:p>
            <a:pPr algn="just" rtl="0" fontAlgn="base"/>
            <a:r>
              <a:rPr lang="en-US" b="0" i="0" dirty="0">
                <a:solidFill>
                  <a:srgbClr val="273239"/>
                </a:solidFill>
                <a:effectLst/>
                <a:highlight>
                  <a:srgbClr val="FFFFFF"/>
                </a:highlight>
                <a:latin typeface="Nunito" pitchFamily="2" charset="0"/>
              </a:rPr>
              <a:t>The process of using Semaphores provides two operations: wait (P) and signal (V). The wait operation decrements the value of the semaphore, and the signal operation increments the value of the semaphore. When the value of the semaphore is zero, any process that performs a wait operation will be blocked until another process performs a signal operation.</a:t>
            </a:r>
          </a:p>
          <a:p>
            <a:endParaRPr lang="en-US" dirty="0">
              <a:latin typeface="+mj-lt"/>
            </a:endParaRPr>
          </a:p>
        </p:txBody>
      </p:sp>
    </p:spTree>
    <p:extLst>
      <p:ext uri="{BB962C8B-B14F-4D97-AF65-F5344CB8AC3E}">
        <p14:creationId xmlns:p14="http://schemas.microsoft.com/office/powerpoint/2010/main" val="210891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Semaphore</a:t>
            </a:r>
          </a:p>
        </p:txBody>
      </p:sp>
      <p:sp>
        <p:nvSpPr>
          <p:cNvPr id="3" name="Content Placeholder 2"/>
          <p:cNvSpPr>
            <a:spLocks noGrp="1"/>
          </p:cNvSpPr>
          <p:nvPr>
            <p:ph idx="1"/>
          </p:nvPr>
        </p:nvSpPr>
        <p:spPr>
          <a:xfrm>
            <a:off x="457200" y="1052736"/>
            <a:ext cx="8229600" cy="5450159"/>
          </a:xfrm>
        </p:spPr>
        <p:txBody>
          <a:bodyPr>
            <a:normAutofit fontScale="77500" lnSpcReduction="20000"/>
          </a:bodyPr>
          <a:lstStyle/>
          <a:p>
            <a:pPr algn="just" rtl="0" fontAlgn="base"/>
            <a:r>
              <a:rPr lang="en-US" b="0" i="0" dirty="0">
                <a:solidFill>
                  <a:srgbClr val="273239"/>
                </a:solidFill>
                <a:effectLst/>
                <a:highlight>
                  <a:srgbClr val="FFFFFF"/>
                </a:highlight>
                <a:latin typeface="Nunito" pitchFamily="2" charset="0"/>
              </a:rPr>
              <a:t>Semaphores are used to implement critical sections</a:t>
            </a:r>
          </a:p>
          <a:p>
            <a:pPr algn="just" rtl="0" fontAlgn="base"/>
            <a:r>
              <a:rPr lang="en-US" b="0" i="0" dirty="0">
                <a:solidFill>
                  <a:srgbClr val="273239"/>
                </a:solidFill>
                <a:effectLst/>
                <a:highlight>
                  <a:srgbClr val="FFFFFF"/>
                </a:highlight>
                <a:latin typeface="Nunito" pitchFamily="2" charset="0"/>
              </a:rPr>
              <a:t>A semaphore is a special kind of synchronization data that can be used only through specific synchronization primitives. When a process performs a wait operation on a semaphore, the operation checks whether the value of the semaphore is &gt;0. If so, it decrements the value of the semaphore and lets the process continue its execution; otherwise, it blocks the process on the semaphore. A signal operation on a semaphore activates a process blocked on the semaphore if any, or increments the value of the semaphore by 1. Due to these semantics, semaphores are also called counting semaphores. The initial value of a semaphore determines how many processes can get past the wait operation.</a:t>
            </a:r>
          </a:p>
          <a:p>
            <a:endParaRPr lang="en-US" dirty="0">
              <a:latin typeface="+mj-lt"/>
            </a:endParaRPr>
          </a:p>
        </p:txBody>
      </p:sp>
    </p:spTree>
    <p:extLst>
      <p:ext uri="{BB962C8B-B14F-4D97-AF65-F5344CB8AC3E}">
        <p14:creationId xmlns:p14="http://schemas.microsoft.com/office/powerpoint/2010/main" val="2481058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450159"/>
          </a:xfrm>
        </p:spPr>
        <p:txBody>
          <a:bodyPr>
            <a:normAutofit lnSpcReduction="10000"/>
          </a:bodyPr>
          <a:lstStyle/>
          <a:p>
            <a:pPr algn="just" rtl="0" fontAlgn="base"/>
            <a:r>
              <a:rPr lang="en-US" b="0" i="0" dirty="0">
                <a:solidFill>
                  <a:srgbClr val="273239"/>
                </a:solidFill>
                <a:effectLst/>
                <a:highlight>
                  <a:srgbClr val="FFFFFF"/>
                </a:highlight>
                <a:latin typeface="Nunito" pitchFamily="2" charset="0"/>
              </a:rPr>
              <a:t>Semaphores are of two types:</a:t>
            </a:r>
          </a:p>
          <a:p>
            <a:pPr algn="l" fontAlgn="base">
              <a:buFont typeface="+mj-lt"/>
              <a:buAutoNum type="arabicPeriod"/>
            </a:pPr>
            <a:r>
              <a:rPr lang="en-US" b="1" i="0" dirty="0">
                <a:solidFill>
                  <a:srgbClr val="273239"/>
                </a:solidFill>
                <a:effectLst/>
                <a:highlight>
                  <a:srgbClr val="FFFFFF"/>
                </a:highlight>
                <a:latin typeface="Nunito" pitchFamily="2" charset="0"/>
              </a:rPr>
              <a:t>Binary Semaphore –</a:t>
            </a:r>
            <a:r>
              <a:rPr lang="en-US" b="0" i="0" dirty="0">
                <a:solidFill>
                  <a:srgbClr val="273239"/>
                </a:solidFill>
                <a:effectLst/>
                <a:highlight>
                  <a:srgbClr val="FFFFFF"/>
                </a:highlight>
                <a:latin typeface="Nunito" pitchFamily="2" charset="0"/>
              </a:rPr>
              <a:t> </a:t>
            </a:r>
            <a:br>
              <a:rPr lang="en-US" b="0" i="0" dirty="0">
                <a:solidFill>
                  <a:srgbClr val="273239"/>
                </a:solidFill>
                <a:effectLst/>
                <a:highlight>
                  <a:srgbClr val="FFFFFF"/>
                </a:highlight>
                <a:latin typeface="Nunito" pitchFamily="2" charset="0"/>
              </a:rPr>
            </a:br>
            <a:r>
              <a:rPr lang="en-US" b="0" i="0" dirty="0">
                <a:solidFill>
                  <a:srgbClr val="273239"/>
                </a:solidFill>
                <a:effectLst/>
                <a:highlight>
                  <a:srgbClr val="FFFFFF"/>
                </a:highlight>
                <a:latin typeface="Nunito" pitchFamily="2" charset="0"/>
              </a:rPr>
              <a:t>This is also known as a mutex lock. It can have only two values – 0 and 1. Its value is initialized to 1. It is used to implement the solution of critical section problems with multiple processes.</a:t>
            </a:r>
          </a:p>
          <a:p>
            <a:pPr algn="l" fontAlgn="base">
              <a:buFont typeface="+mj-lt"/>
              <a:buAutoNum type="arabicPeriod" startAt="2"/>
            </a:pPr>
            <a:r>
              <a:rPr lang="en-US" b="1" i="0" dirty="0">
                <a:solidFill>
                  <a:srgbClr val="273239"/>
                </a:solidFill>
                <a:effectLst/>
                <a:highlight>
                  <a:srgbClr val="FFFFFF"/>
                </a:highlight>
                <a:latin typeface="Nunito" pitchFamily="2" charset="0"/>
              </a:rPr>
              <a:t>Counting Semaphore –</a:t>
            </a:r>
            <a:r>
              <a:rPr lang="en-US" b="0" i="0" dirty="0">
                <a:solidFill>
                  <a:srgbClr val="273239"/>
                </a:solidFill>
                <a:effectLst/>
                <a:highlight>
                  <a:srgbClr val="FFFFFF"/>
                </a:highlight>
                <a:latin typeface="Nunito" pitchFamily="2" charset="0"/>
              </a:rPr>
              <a:t> </a:t>
            </a:r>
            <a:br>
              <a:rPr lang="en-US" b="0" i="0" dirty="0">
                <a:solidFill>
                  <a:srgbClr val="273239"/>
                </a:solidFill>
                <a:effectLst/>
                <a:highlight>
                  <a:srgbClr val="FFFFFF"/>
                </a:highlight>
                <a:latin typeface="Nunito" pitchFamily="2" charset="0"/>
              </a:rPr>
            </a:br>
            <a:r>
              <a:rPr lang="en-US" b="0" i="0" dirty="0">
                <a:solidFill>
                  <a:srgbClr val="273239"/>
                </a:solidFill>
                <a:effectLst/>
                <a:highlight>
                  <a:srgbClr val="FFFFFF"/>
                </a:highlight>
                <a:latin typeface="Nunito" pitchFamily="2" charset="0"/>
              </a:rPr>
              <a:t>Its value can range over an unrestricted domain. It is used to control access to a resource that has multiple instances.</a:t>
            </a:r>
          </a:p>
          <a:p>
            <a:endParaRPr lang="en-US" dirty="0">
              <a:latin typeface="+mj-lt"/>
            </a:endParaRPr>
          </a:p>
        </p:txBody>
      </p:sp>
    </p:spTree>
    <p:extLst>
      <p:ext uri="{BB962C8B-B14F-4D97-AF65-F5344CB8AC3E}">
        <p14:creationId xmlns:p14="http://schemas.microsoft.com/office/powerpoint/2010/main" val="326237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Semaphore</a:t>
            </a:r>
          </a:p>
        </p:txBody>
      </p:sp>
      <p:sp>
        <p:nvSpPr>
          <p:cNvPr id="3" name="Content Placeholder 2"/>
          <p:cNvSpPr>
            <a:spLocks noGrp="1"/>
          </p:cNvSpPr>
          <p:nvPr>
            <p:ph idx="1"/>
          </p:nvPr>
        </p:nvSpPr>
        <p:spPr>
          <a:xfrm>
            <a:off x="457200" y="1052736"/>
            <a:ext cx="8229600" cy="5450159"/>
          </a:xfrm>
        </p:spPr>
        <p:txBody>
          <a:bodyPr>
            <a:normAutofit/>
          </a:bodyPr>
          <a:lstStyle/>
          <a:p>
            <a:pPr algn="just" fontAlgn="base"/>
            <a:r>
              <a:rPr lang="en-US" sz="2800" dirty="0">
                <a:solidFill>
                  <a:srgbClr val="273239"/>
                </a:solidFill>
                <a:highlight>
                  <a:srgbClr val="FFFFFF"/>
                </a:highlight>
                <a:latin typeface="Nunito" pitchFamily="2" charset="0"/>
              </a:rPr>
              <a:t>Advantages of Semaphores:</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A simple and effective mechanism for process synchronization</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Supports coordination between multiple processes</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Provides a flexible and robust way to manage shared resources.</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It can be used to implement critical sections in a program.</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It can be used to avoid race conditions.</a:t>
            </a:r>
          </a:p>
          <a:p>
            <a:pPr algn="just" fontAlgn="base"/>
            <a:r>
              <a:rPr lang="en-US" sz="2800" dirty="0">
                <a:solidFill>
                  <a:srgbClr val="273239"/>
                </a:solidFill>
                <a:highlight>
                  <a:srgbClr val="FFFFFF"/>
                </a:highlight>
                <a:latin typeface="Nunito" pitchFamily="2" charset="0"/>
              </a:rPr>
              <a:t>Disadvantages of Semaphores:</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Can lead to performance degradation due to overhead associated with wait and signal operations.</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Can result in deadlock if used incorrectly.</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It can cause performance issues in a program if not used properly.</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It can be difficult to debug and maintain.</a:t>
            </a:r>
          </a:p>
          <a:p>
            <a:pPr lvl="1" fontAlgn="base">
              <a:buFont typeface="Arial" panose="020B0604020202020204" pitchFamily="34" charset="0"/>
              <a:buChar char="•"/>
            </a:pPr>
            <a:r>
              <a:rPr lang="en-US" sz="1800" b="0" i="0" dirty="0">
                <a:solidFill>
                  <a:srgbClr val="273239"/>
                </a:solidFill>
                <a:effectLst/>
                <a:highlight>
                  <a:srgbClr val="FFFFFF"/>
                </a:highlight>
                <a:latin typeface="Nunito" pitchFamily="2" charset="0"/>
              </a:rPr>
              <a:t>It can be vulnerable to certain types of attacks, such as denial of service attacks.</a:t>
            </a:r>
          </a:p>
          <a:p>
            <a:endParaRPr lang="en-US" sz="1400" dirty="0">
              <a:latin typeface="+mj-lt"/>
            </a:endParaRPr>
          </a:p>
        </p:txBody>
      </p:sp>
    </p:spTree>
    <p:extLst>
      <p:ext uri="{BB962C8B-B14F-4D97-AF65-F5344CB8AC3E}">
        <p14:creationId xmlns:p14="http://schemas.microsoft.com/office/powerpoint/2010/main" val="1832697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Using semaphore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8</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lstStyle/>
          <a:p>
            <a:r>
              <a:rPr lang="en-US" sz="3200" b="0" i="0" dirty="0">
                <a:effectLst/>
                <a:latin typeface="urw-din"/>
              </a:rPr>
              <a:t>Semaphores</a:t>
            </a:r>
            <a:r>
              <a:rPr lang="en-US" sz="3200" b="0" i="0" dirty="0">
                <a:solidFill>
                  <a:srgbClr val="273239"/>
                </a:solidFill>
                <a:effectLst/>
                <a:latin typeface="urw-din"/>
              </a:rPr>
              <a:t> are very useful in process synchronization and multithreading.</a:t>
            </a:r>
          </a:p>
          <a:p>
            <a:r>
              <a:rPr kumimoji="0" lang="en-US" altLang="en-US" sz="3200" b="0" i="0" u="none" strike="noStrike" cap="none" normalizeH="0" baseline="0" dirty="0">
                <a:ln>
                  <a:noFill/>
                </a:ln>
                <a:solidFill>
                  <a:srgbClr val="273239"/>
                </a:solidFill>
                <a:effectLst/>
                <a:latin typeface="urw-din"/>
              </a:rPr>
              <a:t>To use semaphores in Linux we use </a:t>
            </a:r>
            <a:r>
              <a:rPr kumimoji="0" lang="en-US" altLang="en-US" sz="3200" b="0" i="0" u="none" strike="noStrike" cap="none" normalizeH="0" baseline="0" dirty="0" err="1">
                <a:ln>
                  <a:noFill/>
                </a:ln>
                <a:solidFill>
                  <a:srgbClr val="273239"/>
                </a:solidFill>
                <a:effectLst/>
                <a:latin typeface="urw-din"/>
              </a:rPr>
              <a:t>pthread</a:t>
            </a:r>
            <a:r>
              <a:rPr kumimoji="0" lang="en-US" altLang="en-US" sz="3200" b="0" i="0" u="none" strike="noStrike" cap="none" normalizeH="0" baseline="0" dirty="0">
                <a:ln>
                  <a:noFill/>
                </a:ln>
                <a:solidFill>
                  <a:srgbClr val="273239"/>
                </a:solidFill>
                <a:effectLst/>
                <a:latin typeface="urw-din"/>
              </a:rPr>
              <a:t> functions.</a:t>
            </a:r>
          </a:p>
          <a:p>
            <a:r>
              <a:rPr lang="en-US" altLang="en-US" sz="3200" dirty="0">
                <a:solidFill>
                  <a:srgbClr val="273239"/>
                </a:solidFill>
                <a:latin typeface="urw-din"/>
              </a:rPr>
              <a:t>Include </a:t>
            </a:r>
            <a:r>
              <a:rPr lang="en-US" altLang="en-US" sz="3200" dirty="0" err="1">
                <a:solidFill>
                  <a:srgbClr val="273239"/>
                </a:solidFill>
                <a:latin typeface="urw-din"/>
              </a:rPr>
              <a:t>semaphore.h</a:t>
            </a:r>
            <a:endParaRPr lang="en-US" altLang="en-US" sz="3200" dirty="0">
              <a:solidFill>
                <a:srgbClr val="273239"/>
              </a:solidFill>
              <a:latin typeface="urw-din"/>
            </a:endParaRPr>
          </a:p>
          <a:p>
            <a:r>
              <a:rPr kumimoji="0" lang="en-US" altLang="en-US" sz="3200" b="0" i="0" u="none" strike="noStrike" cap="none" normalizeH="0" baseline="0" dirty="0">
                <a:ln>
                  <a:noFill/>
                </a:ln>
                <a:solidFill>
                  <a:srgbClr val="273239"/>
                </a:solidFill>
                <a:effectLst/>
                <a:latin typeface="urw-din"/>
              </a:rPr>
              <a:t>Second Compile the code by linking with options </a:t>
            </a:r>
          </a:p>
          <a:p>
            <a:pPr marL="0" indent="0">
              <a:buNone/>
            </a:pPr>
            <a:r>
              <a:rPr kumimoji="0" lang="en-US" altLang="en-US" sz="3200" b="0" i="0" u="none" strike="noStrike" cap="none" normalizeH="0" baseline="0" dirty="0">
                <a:ln>
                  <a:noFill/>
                </a:ln>
                <a:solidFill>
                  <a:srgbClr val="273239"/>
                </a:solidFill>
                <a:effectLst/>
                <a:latin typeface="urw-din"/>
              </a:rPr>
              <a:t>-</a:t>
            </a:r>
            <a:r>
              <a:rPr kumimoji="0" lang="en-US" altLang="en-US" sz="3200" b="0" i="0" u="none" strike="noStrike" cap="none" normalizeH="0" baseline="0" dirty="0" err="1">
                <a:ln>
                  <a:noFill/>
                </a:ln>
                <a:solidFill>
                  <a:srgbClr val="273239"/>
                </a:solidFill>
                <a:effectLst/>
                <a:latin typeface="urw-din"/>
              </a:rPr>
              <a:t>lpthread</a:t>
            </a:r>
            <a:r>
              <a:rPr kumimoji="0" lang="en-US" altLang="en-US" sz="3200" b="0" i="0" u="none" strike="noStrike" cap="none" normalizeH="0" baseline="0" dirty="0">
                <a:ln>
                  <a:noFill/>
                </a:ln>
                <a:solidFill>
                  <a:srgbClr val="273239"/>
                </a:solidFill>
                <a:effectLst/>
                <a:latin typeface="urw-din"/>
              </a:rPr>
              <a:t> –</a:t>
            </a:r>
            <a:r>
              <a:rPr kumimoji="0" lang="en-US" altLang="en-US" sz="3200" b="0" i="0" u="none" strike="noStrike" cap="none" normalizeH="0" baseline="0" dirty="0" err="1">
                <a:ln>
                  <a:noFill/>
                </a:ln>
                <a:solidFill>
                  <a:srgbClr val="273239"/>
                </a:solidFill>
                <a:effectLst/>
                <a:latin typeface="urw-din"/>
              </a:rPr>
              <a:t>lrt</a:t>
            </a:r>
            <a:endParaRPr kumimoji="0" lang="en-US" altLang="en-US" sz="3200" b="0" i="0" u="none" strike="noStrike" cap="none" normalizeH="0" baseline="0" dirty="0">
              <a:ln>
                <a:noFill/>
              </a:ln>
              <a:solidFill>
                <a:srgbClr val="273239"/>
              </a:solidFill>
              <a:effectLst/>
              <a:latin typeface="urw-din"/>
            </a:endParaRPr>
          </a:p>
          <a:p>
            <a:endParaRPr kumimoji="0" lang="en-US" altLang="en-US" sz="2400" b="0" i="0" u="none" strike="noStrike" cap="none" normalizeH="0" baseline="0" dirty="0">
              <a:ln>
                <a:noFill/>
              </a:ln>
              <a:solidFill>
                <a:srgbClr val="273239"/>
              </a:solidFill>
              <a:effectLst/>
              <a:latin typeface="urw-din"/>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25538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semaphore functions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9</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lnSpcReduction="10000"/>
          </a:bodyPr>
          <a:lstStyle/>
          <a:p>
            <a:pPr defTabSz="914400" eaLnBrk="0" fontAlgn="base" hangingPunct="0">
              <a:lnSpc>
                <a:spcPct val="100000"/>
              </a:lnSpc>
              <a:spcBef>
                <a:spcPct val="0"/>
              </a:spcBef>
              <a:spcAft>
                <a:spcPct val="0"/>
              </a:spcAft>
            </a:pPr>
            <a:r>
              <a:rPr lang="en-US" sz="2800" b="0" i="0" dirty="0">
                <a:solidFill>
                  <a:srgbClr val="273239"/>
                </a:solidFill>
                <a:effectLst/>
                <a:latin typeface="urw-din"/>
              </a:rPr>
              <a:t>To declare a semaphore, the data type is </a:t>
            </a:r>
            <a:r>
              <a:rPr lang="en-US" sz="2800" b="0" i="0" dirty="0" err="1">
                <a:solidFill>
                  <a:srgbClr val="FF0000"/>
                </a:solidFill>
                <a:effectLst/>
                <a:latin typeface="urw-din"/>
              </a:rPr>
              <a:t>sem_t</a:t>
            </a:r>
            <a:r>
              <a:rPr lang="en-US" sz="2800" b="0" i="0" dirty="0">
                <a:solidFill>
                  <a:srgbClr val="FF0000"/>
                </a:solidFill>
                <a:effectLst/>
                <a:latin typeface="urw-din"/>
              </a:rPr>
              <a:t>.</a:t>
            </a:r>
            <a:endParaRPr kumimoji="0" lang="en-US" altLang="en-US" sz="2800" b="0" i="0" u="none" strike="noStrike" cap="none" normalizeH="0" baseline="0" dirty="0">
              <a:ln>
                <a:noFill/>
              </a:ln>
              <a:solidFill>
                <a:srgbClr val="FF0000"/>
              </a:solidFill>
              <a:effectLst/>
              <a:latin typeface="urw-din"/>
            </a:endParaRPr>
          </a:p>
          <a:p>
            <a:pPr defTabSz="914400" eaLnBrk="0" fontAlgn="base" hangingPunct="0">
              <a:lnSpc>
                <a:spcPct val="100000"/>
              </a:lnSpc>
              <a:spcBef>
                <a:spcPct val="0"/>
              </a:spcBef>
              <a:spcAft>
                <a:spcPct val="0"/>
              </a:spcAft>
            </a:pPr>
            <a:r>
              <a:rPr kumimoji="0" lang="en-US" altLang="en-US" sz="2800" b="0" i="0" u="none" strike="noStrike" cap="none" normalizeH="0" baseline="0" dirty="0">
                <a:ln>
                  <a:noFill/>
                </a:ln>
                <a:solidFill>
                  <a:srgbClr val="273239"/>
                </a:solidFill>
                <a:effectLst/>
                <a:latin typeface="urw-din"/>
              </a:rPr>
              <a:t>A semaphore is </a:t>
            </a:r>
            <a:r>
              <a:rPr kumimoji="0" lang="en-US" altLang="en-US" sz="2800" b="0" i="0" u="none" strike="noStrike" cap="none" normalizeH="0" baseline="0" dirty="0" err="1">
                <a:ln>
                  <a:noFill/>
                </a:ln>
                <a:solidFill>
                  <a:srgbClr val="273239"/>
                </a:solidFill>
                <a:effectLst/>
                <a:latin typeface="urw-din"/>
              </a:rPr>
              <a:t>initialised</a:t>
            </a:r>
            <a:r>
              <a:rPr kumimoji="0" lang="en-US" altLang="en-US" sz="2800" b="0" i="0" u="none" strike="noStrike" cap="none" normalizeH="0" baseline="0" dirty="0">
                <a:ln>
                  <a:noFill/>
                </a:ln>
                <a:solidFill>
                  <a:srgbClr val="273239"/>
                </a:solidFill>
                <a:effectLst/>
                <a:latin typeface="urw-din"/>
              </a:rPr>
              <a:t> by using </a:t>
            </a:r>
            <a:r>
              <a:rPr kumimoji="0" lang="en-US" altLang="en-US" sz="2800" b="1" i="0" u="none" strike="noStrike" cap="none" normalizeH="0" baseline="0" dirty="0" err="1">
                <a:ln>
                  <a:noFill/>
                </a:ln>
                <a:solidFill>
                  <a:srgbClr val="273239"/>
                </a:solidFill>
                <a:effectLst/>
                <a:latin typeface="urw-din"/>
              </a:rPr>
              <a:t>sem_init</a:t>
            </a:r>
            <a:r>
              <a:rPr kumimoji="0" lang="en-US" altLang="en-US" sz="2800" b="0" i="0" u="none" strike="noStrike" cap="none" normalizeH="0" baseline="0" dirty="0">
                <a:ln>
                  <a:noFill/>
                </a:ln>
                <a:solidFill>
                  <a:srgbClr val="273239"/>
                </a:solidFill>
                <a:effectLst/>
                <a:latin typeface="urw-din"/>
              </a:rPr>
              <a:t>(for processes or threads) or </a:t>
            </a:r>
            <a:r>
              <a:rPr kumimoji="0" lang="en-US" altLang="en-US" sz="2800" b="1" i="0" u="none" strike="noStrike" cap="none" normalizeH="0" baseline="0" dirty="0" err="1">
                <a:ln>
                  <a:noFill/>
                </a:ln>
                <a:solidFill>
                  <a:srgbClr val="273239"/>
                </a:solidFill>
                <a:effectLst/>
                <a:latin typeface="urw-din"/>
              </a:rPr>
              <a:t>sem_open</a:t>
            </a:r>
            <a:r>
              <a:rPr kumimoji="0" lang="en-US" altLang="en-US" sz="2800" b="0" i="0" u="none" strike="noStrike" cap="none" normalizeH="0" baseline="0" dirty="0">
                <a:ln>
                  <a:noFill/>
                </a:ln>
                <a:solidFill>
                  <a:srgbClr val="273239"/>
                </a:solidFill>
                <a:effectLst/>
                <a:latin typeface="urw-din"/>
              </a:rPr>
              <a:t> (for IPC).</a:t>
            </a:r>
            <a:endParaRPr kumimoji="0" lang="en-US" altLang="en-US" sz="2800" b="0" i="0" u="none" strike="noStrike" cap="none" normalizeH="0" baseline="0" dirty="0">
              <a:ln>
                <a:noFill/>
              </a:ln>
              <a:solidFill>
                <a:srgbClr val="273239"/>
              </a:solidFill>
              <a:effectLst/>
              <a:latin typeface="Consolas" panose="020B0609020204030204" pitchFamily="49" charset="0"/>
            </a:endParaRPr>
          </a:p>
          <a:p>
            <a:pPr marL="0" indent="0" defTabSz="914400" eaLnBrk="0" fontAlgn="base" hangingPunct="0">
              <a:lnSpc>
                <a:spcPct val="100000"/>
              </a:lnSpc>
              <a:spcBef>
                <a:spcPct val="0"/>
              </a:spcBef>
              <a:spcAft>
                <a:spcPct val="0"/>
              </a:spcAft>
              <a:buNone/>
            </a:pPr>
            <a:r>
              <a:rPr kumimoji="0" lang="en-US" altLang="en-US" sz="2800" b="0" i="0" u="none" strike="noStrike" cap="none" normalizeH="0" baseline="0" dirty="0" err="1">
                <a:ln>
                  <a:noFill/>
                </a:ln>
                <a:solidFill>
                  <a:srgbClr val="FF0000"/>
                </a:solidFill>
                <a:effectLst/>
                <a:latin typeface="Consolas" panose="020B0609020204030204" pitchFamily="49" charset="0"/>
              </a:rPr>
              <a:t>sem_init</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2800" b="0" i="0" u="none" strike="noStrike" cap="none" normalizeH="0" baseline="0" dirty="0" err="1">
                <a:ln>
                  <a:noFill/>
                </a:ln>
                <a:solidFill>
                  <a:srgbClr val="FF0000"/>
                </a:solidFill>
                <a:effectLst/>
                <a:latin typeface="Consolas" panose="020B0609020204030204" pitchFamily="49" charset="0"/>
              </a:rPr>
              <a:t>sem_t</a:t>
            </a:r>
            <a:r>
              <a:rPr kumimoji="0" lang="en-US" altLang="en-US" sz="2800" b="0" i="0" u="none" strike="noStrike" cap="none" normalizeH="0" baseline="0" dirty="0">
                <a:ln>
                  <a:noFill/>
                </a:ln>
                <a:solidFill>
                  <a:srgbClr val="FF0000"/>
                </a:solidFill>
                <a:effectLst/>
                <a:latin typeface="Consolas" panose="020B0609020204030204" pitchFamily="49" charset="0"/>
              </a:rPr>
              <a:t> *</a:t>
            </a:r>
            <a:r>
              <a:rPr kumimoji="0" lang="en-US" altLang="en-US" sz="2800" b="0" i="0" u="none" strike="noStrike" cap="none" normalizeH="0" baseline="0" dirty="0" err="1">
                <a:ln>
                  <a:noFill/>
                </a:ln>
                <a:solidFill>
                  <a:srgbClr val="FF0000"/>
                </a:solidFill>
                <a:effectLst/>
                <a:latin typeface="Consolas" panose="020B0609020204030204" pitchFamily="49" charset="0"/>
              </a:rPr>
              <a:t>sem</a:t>
            </a:r>
            <a:r>
              <a:rPr kumimoji="0" lang="en-US" altLang="en-US" sz="2800" b="0" i="0" u="none" strike="noStrike" cap="none" normalizeH="0" baseline="0" dirty="0">
                <a:ln>
                  <a:noFill/>
                </a:ln>
                <a:solidFill>
                  <a:srgbClr val="FF0000"/>
                </a:solidFill>
                <a:effectLst/>
                <a:latin typeface="Consolas" panose="020B0609020204030204" pitchFamily="49" charset="0"/>
              </a:rPr>
              <a:t>, int </a:t>
            </a:r>
            <a:r>
              <a:rPr kumimoji="0" lang="en-US" altLang="en-US" sz="2800" b="0" i="0" u="none" strike="noStrike" cap="none" normalizeH="0" baseline="0" dirty="0" err="1">
                <a:ln>
                  <a:noFill/>
                </a:ln>
                <a:solidFill>
                  <a:srgbClr val="FF0000"/>
                </a:solidFill>
                <a:effectLst/>
                <a:latin typeface="Consolas" panose="020B0609020204030204" pitchFamily="49" charset="0"/>
              </a:rPr>
              <a:t>pshared</a:t>
            </a:r>
            <a:r>
              <a:rPr kumimoji="0" lang="en-US" altLang="en-US" sz="2800" b="0" i="0" u="none" strike="noStrike" cap="none" normalizeH="0" baseline="0" dirty="0">
                <a:ln>
                  <a:noFill/>
                </a:ln>
                <a:solidFill>
                  <a:srgbClr val="FF0000"/>
                </a:solidFill>
                <a:effectLst/>
                <a:latin typeface="Consolas" panose="020B0609020204030204" pitchFamily="49" charset="0"/>
              </a:rPr>
              <a:t>, unsigned int value);</a:t>
            </a:r>
            <a:r>
              <a:rPr kumimoji="0" lang="en-US" altLang="en-US" sz="900" b="0" i="0" u="none" strike="noStrike" cap="none" normalizeH="0" baseline="0" dirty="0">
                <a:ln>
                  <a:noFill/>
                </a:ln>
                <a:solidFill>
                  <a:srgbClr val="FF0000"/>
                </a:solidFill>
                <a:effectLst/>
              </a:rPr>
              <a:t> </a:t>
            </a:r>
          </a:p>
          <a:p>
            <a:pPr marL="0" indent="0" defTabSz="914400" eaLnBrk="0" fontAlgn="base" hangingPunct="0">
              <a:lnSpc>
                <a:spcPct val="100000"/>
              </a:lnSpc>
              <a:spcBef>
                <a:spcPct val="0"/>
              </a:spcBef>
              <a:spcAft>
                <a:spcPct val="0"/>
              </a:spcAft>
              <a:buNone/>
            </a:pPr>
            <a:endParaRPr lang="en-US" altLang="en-US" sz="900" dirty="0">
              <a:solidFill>
                <a:srgbClr val="FF0000"/>
              </a:solidFill>
              <a:latin typeface="urw-din"/>
            </a:endParaRPr>
          </a:p>
          <a:p>
            <a:pPr lvl="1" fontAlgn="base"/>
            <a:r>
              <a:rPr lang="en-US" sz="2400" b="1" i="0" dirty="0" err="1">
                <a:solidFill>
                  <a:srgbClr val="273239"/>
                </a:solidFill>
                <a:effectLst/>
                <a:latin typeface="urw-din"/>
              </a:rPr>
              <a:t>sem</a:t>
            </a:r>
            <a:r>
              <a:rPr lang="en-US" sz="2400" b="0" i="0" dirty="0">
                <a:solidFill>
                  <a:srgbClr val="273239"/>
                </a:solidFill>
                <a:effectLst/>
                <a:latin typeface="urw-din"/>
              </a:rPr>
              <a:t> : Specifies the semaphore to be initialized.</a:t>
            </a:r>
          </a:p>
          <a:p>
            <a:pPr lvl="1" fontAlgn="base"/>
            <a:r>
              <a:rPr lang="en-US" sz="2400" b="1" i="0" dirty="0" err="1">
                <a:solidFill>
                  <a:srgbClr val="273239"/>
                </a:solidFill>
                <a:effectLst/>
                <a:latin typeface="urw-din"/>
              </a:rPr>
              <a:t>pshared</a:t>
            </a:r>
            <a:r>
              <a:rPr lang="en-US" sz="2400" b="0" i="0" dirty="0">
                <a:solidFill>
                  <a:srgbClr val="273239"/>
                </a:solidFill>
                <a:effectLst/>
                <a:latin typeface="urw-din"/>
              </a:rPr>
              <a:t> : This argument specifies whether or not the newly initialized semaphore is shared between processes or between threads. A non-zero value means the semaphore is shared between processes and a value of zero means it is shared between threads.</a:t>
            </a:r>
          </a:p>
          <a:p>
            <a:pPr lvl="1" fontAlgn="base"/>
            <a:r>
              <a:rPr lang="en-US" sz="2400" b="1" i="0" dirty="0">
                <a:solidFill>
                  <a:srgbClr val="273239"/>
                </a:solidFill>
                <a:effectLst/>
                <a:latin typeface="urw-din"/>
              </a:rPr>
              <a:t>value</a:t>
            </a:r>
            <a:r>
              <a:rPr lang="en-US" sz="2400" b="0" i="0" dirty="0">
                <a:solidFill>
                  <a:srgbClr val="273239"/>
                </a:solidFill>
                <a:effectLst/>
                <a:latin typeface="urw-din"/>
              </a:rPr>
              <a:t> : Specifies the value to assign to the newly initialized semaphore.</a:t>
            </a:r>
          </a:p>
          <a:p>
            <a:pPr marL="0" indent="0" defTabSz="914400" eaLnBrk="0" fontAlgn="base" hangingPunct="0">
              <a:lnSpc>
                <a:spcPct val="100000"/>
              </a:lnSpc>
              <a:spcBef>
                <a:spcPct val="0"/>
              </a:spcBef>
              <a:spcAft>
                <a:spcPct val="0"/>
              </a:spcAft>
              <a:buNone/>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31172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semaphore functions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10</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defTabSz="914400">
              <a:lnSpc>
                <a:spcPct val="100000"/>
              </a:lnSpc>
            </a:pPr>
            <a:r>
              <a:rPr kumimoji="0" lang="en-US" altLang="en-US" sz="2800" b="0" i="0" u="none" strike="noStrike" cap="none" normalizeH="0" baseline="0" dirty="0">
                <a:ln>
                  <a:noFill/>
                </a:ln>
                <a:solidFill>
                  <a:srgbClr val="273239"/>
                </a:solidFill>
                <a:effectLst/>
                <a:latin typeface="urw-din"/>
              </a:rPr>
              <a:t>To lock a semaphore or wait we can use the </a:t>
            </a:r>
            <a:r>
              <a:rPr kumimoji="0" lang="en-US" altLang="en-US" sz="2800" b="1" i="0" u="none" strike="noStrike" cap="none" normalizeH="0" baseline="0" dirty="0" err="1">
                <a:ln>
                  <a:noFill/>
                </a:ln>
                <a:solidFill>
                  <a:srgbClr val="273239"/>
                </a:solidFill>
                <a:effectLst/>
                <a:latin typeface="urw-din"/>
              </a:rPr>
              <a:t>sem_wait</a:t>
            </a:r>
            <a:r>
              <a:rPr kumimoji="0" lang="en-US" altLang="en-US" sz="2800" b="0" i="0" u="none" strike="noStrike" cap="none" normalizeH="0" baseline="0" dirty="0">
                <a:ln>
                  <a:noFill/>
                </a:ln>
                <a:solidFill>
                  <a:srgbClr val="273239"/>
                </a:solidFill>
                <a:effectLst/>
                <a:latin typeface="urw-din"/>
              </a:rPr>
              <a:t> function:</a:t>
            </a:r>
          </a:p>
          <a:p>
            <a:pPr marL="0" indent="0" defTabSz="914400">
              <a:lnSpc>
                <a:spcPct val="100000"/>
              </a:lnSpc>
              <a:buNone/>
            </a:pPr>
            <a:r>
              <a:rPr kumimoji="0" lang="en-US" altLang="en-US" sz="2800" b="0" i="0" u="none" strike="noStrike" cap="none" normalizeH="0" baseline="0" dirty="0">
                <a:ln>
                  <a:noFill/>
                </a:ln>
                <a:solidFill>
                  <a:srgbClr val="FF0000"/>
                </a:solidFill>
                <a:effectLst/>
                <a:latin typeface="Consolas" panose="020B0609020204030204" pitchFamily="49" charset="0"/>
              </a:rPr>
              <a:t>int </a:t>
            </a:r>
            <a:r>
              <a:rPr kumimoji="0" lang="en-US" altLang="en-US" sz="2800" b="0" i="0" u="none" strike="noStrike" cap="none" normalizeH="0" baseline="0" dirty="0" err="1">
                <a:ln>
                  <a:noFill/>
                </a:ln>
                <a:solidFill>
                  <a:srgbClr val="FF0000"/>
                </a:solidFill>
                <a:effectLst/>
                <a:latin typeface="Consolas" panose="020B0609020204030204" pitchFamily="49" charset="0"/>
              </a:rPr>
              <a:t>sem_wait</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2800" b="0" i="0" u="none" strike="noStrike" cap="none" normalizeH="0" baseline="0" dirty="0" err="1">
                <a:ln>
                  <a:noFill/>
                </a:ln>
                <a:solidFill>
                  <a:srgbClr val="FF0000"/>
                </a:solidFill>
                <a:effectLst/>
                <a:latin typeface="Consolas" panose="020B0609020204030204" pitchFamily="49" charset="0"/>
              </a:rPr>
              <a:t>sem_t</a:t>
            </a:r>
            <a:r>
              <a:rPr kumimoji="0" lang="en-US" altLang="en-US" sz="2800" b="0" i="0" u="none" strike="noStrike" cap="none" normalizeH="0" baseline="0" dirty="0">
                <a:ln>
                  <a:noFill/>
                </a:ln>
                <a:solidFill>
                  <a:srgbClr val="FF0000"/>
                </a:solidFill>
                <a:effectLst/>
                <a:latin typeface="Consolas" panose="020B0609020204030204" pitchFamily="49" charset="0"/>
              </a:rPr>
              <a:t> *</a:t>
            </a:r>
            <a:r>
              <a:rPr kumimoji="0" lang="en-US" altLang="en-US" sz="2800" b="0" i="0" u="none" strike="noStrike" cap="none" normalizeH="0" baseline="0" dirty="0" err="1">
                <a:ln>
                  <a:noFill/>
                </a:ln>
                <a:solidFill>
                  <a:srgbClr val="FF0000"/>
                </a:solidFill>
                <a:effectLst/>
                <a:latin typeface="Consolas" panose="020B0609020204030204" pitchFamily="49" charset="0"/>
              </a:rPr>
              <a:t>sem</a:t>
            </a:r>
            <a:r>
              <a:rPr kumimoji="0" lang="en-US" altLang="en-US" sz="2800" b="0" i="0" u="none" strike="noStrike" cap="none" normalizeH="0" baseline="0" dirty="0">
                <a:ln>
                  <a:noFill/>
                </a:ln>
                <a:solidFill>
                  <a:srgbClr val="FF0000"/>
                </a:solidFill>
                <a:effectLst/>
                <a:latin typeface="Consolas" panose="020B0609020204030204" pitchFamily="49" charset="0"/>
              </a:rPr>
              <a:t>);</a:t>
            </a:r>
          </a:p>
          <a:p>
            <a:pPr defTabSz="914400" eaLnBrk="0" fontAlgn="base" hangingPunct="0">
              <a:lnSpc>
                <a:spcPct val="100000"/>
              </a:lnSpc>
              <a:spcBef>
                <a:spcPct val="0"/>
              </a:spcBef>
              <a:spcAft>
                <a:spcPct val="0"/>
              </a:spcAft>
            </a:pPr>
            <a:r>
              <a:rPr kumimoji="0" lang="en-US" altLang="en-US" sz="2800" b="0" i="0" u="none" strike="noStrike" cap="none" normalizeH="0" baseline="0" dirty="0">
                <a:ln>
                  <a:noFill/>
                </a:ln>
                <a:solidFill>
                  <a:srgbClr val="273239"/>
                </a:solidFill>
                <a:effectLst/>
                <a:latin typeface="urw-din"/>
              </a:rPr>
              <a:t>To release or signal a semaphore, we use the </a:t>
            </a:r>
            <a:r>
              <a:rPr kumimoji="0" lang="en-US" altLang="en-US" sz="2800" b="1" i="0" u="none" strike="noStrike" cap="none" normalizeH="0" baseline="0" dirty="0" err="1">
                <a:ln>
                  <a:noFill/>
                </a:ln>
                <a:solidFill>
                  <a:srgbClr val="273239"/>
                </a:solidFill>
                <a:effectLst/>
                <a:latin typeface="urw-din"/>
              </a:rPr>
              <a:t>sem_post</a:t>
            </a:r>
            <a:r>
              <a:rPr kumimoji="0" lang="en-US" altLang="en-US" sz="2800" b="0" i="0" u="none" strike="noStrike" cap="none" normalizeH="0" baseline="0" dirty="0">
                <a:ln>
                  <a:noFill/>
                </a:ln>
                <a:solidFill>
                  <a:srgbClr val="273239"/>
                </a:solidFill>
                <a:effectLst/>
                <a:latin typeface="urw-din"/>
              </a:rPr>
              <a:t> function:</a:t>
            </a:r>
            <a:endParaRPr kumimoji="0" lang="en-US" altLang="en-US" sz="2800" b="0" i="0" u="none" strike="noStrike" cap="none" normalizeH="0" baseline="0" dirty="0">
              <a:ln>
                <a:noFill/>
              </a:ln>
              <a:solidFill>
                <a:srgbClr val="273239"/>
              </a:solidFill>
              <a:effectLst/>
              <a:latin typeface="Consolas" panose="020B0609020204030204" pitchFamily="49" charset="0"/>
            </a:endParaRPr>
          </a:p>
          <a:p>
            <a:pPr marL="0" indent="0" defTabSz="914400" eaLnBrk="0" fontAlgn="base" hangingPunct="0">
              <a:lnSpc>
                <a:spcPct val="100000"/>
              </a:lnSpc>
              <a:spcBef>
                <a:spcPct val="0"/>
              </a:spcBef>
              <a:spcAft>
                <a:spcPct val="0"/>
              </a:spcAft>
              <a:buNone/>
            </a:pPr>
            <a:r>
              <a:rPr kumimoji="0" lang="en-US" altLang="en-US" sz="2800" b="0" i="0" u="none" strike="noStrike" cap="none" normalizeH="0" baseline="0" dirty="0">
                <a:ln>
                  <a:noFill/>
                </a:ln>
                <a:solidFill>
                  <a:srgbClr val="FF0000"/>
                </a:solidFill>
                <a:effectLst/>
                <a:latin typeface="Consolas" panose="020B0609020204030204" pitchFamily="49" charset="0"/>
              </a:rPr>
              <a:t>int </a:t>
            </a:r>
            <a:r>
              <a:rPr kumimoji="0" lang="en-US" altLang="en-US" sz="2800" b="0" i="0" u="none" strike="noStrike" cap="none" normalizeH="0" baseline="0" dirty="0" err="1">
                <a:ln>
                  <a:noFill/>
                </a:ln>
                <a:solidFill>
                  <a:srgbClr val="FF0000"/>
                </a:solidFill>
                <a:effectLst/>
                <a:latin typeface="Consolas" panose="020B0609020204030204" pitchFamily="49" charset="0"/>
              </a:rPr>
              <a:t>sem_post</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2800" b="0" i="0" u="none" strike="noStrike" cap="none" normalizeH="0" baseline="0" dirty="0" err="1">
                <a:ln>
                  <a:noFill/>
                </a:ln>
                <a:solidFill>
                  <a:srgbClr val="FF0000"/>
                </a:solidFill>
                <a:effectLst/>
                <a:latin typeface="Consolas" panose="020B0609020204030204" pitchFamily="49" charset="0"/>
              </a:rPr>
              <a:t>sem_t</a:t>
            </a:r>
            <a:r>
              <a:rPr kumimoji="0" lang="en-US" altLang="en-US" sz="2800" b="0" i="0" u="none" strike="noStrike" cap="none" normalizeH="0" baseline="0" dirty="0">
                <a:ln>
                  <a:noFill/>
                </a:ln>
                <a:solidFill>
                  <a:srgbClr val="FF0000"/>
                </a:solidFill>
                <a:effectLst/>
                <a:latin typeface="Consolas" panose="020B0609020204030204" pitchFamily="49" charset="0"/>
              </a:rPr>
              <a:t> *</a:t>
            </a:r>
            <a:r>
              <a:rPr kumimoji="0" lang="en-US" altLang="en-US" sz="2800" b="0" i="0" u="none" strike="noStrike" cap="none" normalizeH="0" baseline="0" dirty="0" err="1">
                <a:ln>
                  <a:noFill/>
                </a:ln>
                <a:solidFill>
                  <a:srgbClr val="FF0000"/>
                </a:solidFill>
                <a:effectLst/>
                <a:latin typeface="Consolas" panose="020B0609020204030204" pitchFamily="49" charset="0"/>
              </a:rPr>
              <a:t>sem</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900" b="0" i="0" u="none" strike="noStrike" cap="none" normalizeH="0" baseline="0" dirty="0">
                <a:ln>
                  <a:noFill/>
                </a:ln>
                <a:solidFill>
                  <a:srgbClr val="FF0000"/>
                </a:solidFill>
                <a:effectLst/>
              </a:rPr>
              <a:t> </a:t>
            </a:r>
          </a:p>
          <a:p>
            <a:pPr marL="0" indent="0" defTabSz="914400" eaLnBrk="0" fontAlgn="base" hangingPunct="0">
              <a:lnSpc>
                <a:spcPct val="100000"/>
              </a:lnSpc>
              <a:spcBef>
                <a:spcPct val="0"/>
              </a:spcBef>
              <a:spcAft>
                <a:spcPct val="0"/>
              </a:spcAft>
              <a:buNone/>
            </a:pPr>
            <a:endParaRPr kumimoji="0" lang="en-US" altLang="en-US" sz="900" b="0" i="0" u="none" strike="noStrike" cap="none" normalizeH="0" baseline="0" dirty="0">
              <a:ln>
                <a:noFill/>
              </a:ln>
              <a:solidFill>
                <a:schemeClr val="tx1"/>
              </a:solidFill>
              <a:effectLst/>
            </a:endParaRPr>
          </a:p>
          <a:p>
            <a:pPr defTabSz="914400" eaLnBrk="0" fontAlgn="base" hangingPunct="0">
              <a:lnSpc>
                <a:spcPct val="100000"/>
              </a:lnSpc>
              <a:spcBef>
                <a:spcPct val="0"/>
              </a:spcBef>
              <a:spcAft>
                <a:spcPct val="0"/>
              </a:spcAft>
            </a:pPr>
            <a:r>
              <a:rPr lang="en-US" altLang="en-US" sz="2800" dirty="0">
                <a:solidFill>
                  <a:srgbClr val="273239"/>
                </a:solidFill>
                <a:latin typeface="urw-din"/>
              </a:rPr>
              <a:t>To destroy a semaphore, we can use </a:t>
            </a:r>
            <a:r>
              <a:rPr lang="en-US" altLang="en-US" sz="2800" b="1" dirty="0" err="1">
                <a:solidFill>
                  <a:srgbClr val="273239"/>
                </a:solidFill>
                <a:latin typeface="urw-din"/>
              </a:rPr>
              <a:t>sem_destroy</a:t>
            </a:r>
            <a:r>
              <a:rPr lang="en-US" altLang="en-US" sz="2800" dirty="0">
                <a:solidFill>
                  <a:srgbClr val="273239"/>
                </a:solidFill>
                <a:latin typeface="urw-din"/>
              </a:rPr>
              <a:t>.</a:t>
            </a:r>
          </a:p>
          <a:p>
            <a:pPr marL="0" indent="0" defTabSz="914400" eaLnBrk="0" fontAlgn="base" hangingPunct="0">
              <a:lnSpc>
                <a:spcPct val="100000"/>
              </a:lnSpc>
              <a:spcBef>
                <a:spcPct val="0"/>
              </a:spcBef>
              <a:spcAft>
                <a:spcPct val="0"/>
              </a:spcAft>
              <a:buNone/>
            </a:pPr>
            <a:r>
              <a:rPr lang="en-US" altLang="en-US" sz="2800" dirty="0" err="1">
                <a:solidFill>
                  <a:srgbClr val="FF0000"/>
                </a:solidFill>
                <a:latin typeface="urw-din"/>
              </a:rPr>
              <a:t>sem_destroy</a:t>
            </a:r>
            <a:r>
              <a:rPr lang="en-US" altLang="en-US" sz="2800" dirty="0">
                <a:solidFill>
                  <a:srgbClr val="FF0000"/>
                </a:solidFill>
                <a:latin typeface="urw-din"/>
              </a:rPr>
              <a:t>(</a:t>
            </a:r>
            <a:r>
              <a:rPr lang="en-US" altLang="en-US" sz="2800" dirty="0" err="1">
                <a:solidFill>
                  <a:srgbClr val="FF0000"/>
                </a:solidFill>
                <a:latin typeface="urw-din"/>
              </a:rPr>
              <a:t>sem_t</a:t>
            </a:r>
            <a:r>
              <a:rPr lang="en-US" altLang="en-US" sz="2800" dirty="0">
                <a:solidFill>
                  <a:srgbClr val="FF0000"/>
                </a:solidFill>
                <a:latin typeface="urw-din"/>
              </a:rPr>
              <a:t> *</a:t>
            </a:r>
            <a:r>
              <a:rPr lang="en-US" altLang="en-US" sz="2800" dirty="0" err="1">
                <a:solidFill>
                  <a:srgbClr val="FF0000"/>
                </a:solidFill>
                <a:latin typeface="urw-din"/>
              </a:rPr>
              <a:t>sem</a:t>
            </a:r>
            <a:r>
              <a:rPr lang="en-US" altLang="en-US" sz="2800" dirty="0">
                <a:solidFill>
                  <a:srgbClr val="FF0000"/>
                </a:solidFill>
                <a:latin typeface="urw-din"/>
              </a:rPr>
              <a:t>); </a:t>
            </a:r>
          </a:p>
          <a:p>
            <a:pPr marL="0" indent="0" defTabSz="914400" eaLnBrk="0" fontAlgn="base" hangingPunct="0">
              <a:lnSpc>
                <a:spcPct val="100000"/>
              </a:lnSpc>
              <a:spcBef>
                <a:spcPct val="0"/>
              </a:spcBef>
              <a:spcAft>
                <a:spcPct val="0"/>
              </a:spcAft>
              <a:buNone/>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1320774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8DFC-BE3B-495D-B090-CC387A666271}"/>
              </a:ext>
            </a:extLst>
          </p:cNvPr>
          <p:cNvSpPr>
            <a:spLocks noGrp="1"/>
          </p:cNvSpPr>
          <p:nvPr>
            <p:ph type="title"/>
          </p:nvPr>
        </p:nvSpPr>
        <p:spPr>
          <a:xfrm>
            <a:off x="72736" y="2017"/>
            <a:ext cx="8827078" cy="933595"/>
          </a:xfrm>
        </p:spPr>
        <p:txBody>
          <a:bodyPr/>
          <a:lstStyle/>
          <a:p>
            <a:r>
              <a:rPr lang="en-US" dirty="0"/>
              <a:t>Sample code</a:t>
            </a:r>
            <a:endParaRPr lang="en-IN" dirty="0"/>
          </a:p>
        </p:txBody>
      </p:sp>
      <p:sp>
        <p:nvSpPr>
          <p:cNvPr id="3" name="Slide Number Placeholder 2">
            <a:extLst>
              <a:ext uri="{FF2B5EF4-FFF2-40B4-BE49-F238E27FC236}">
                <a16:creationId xmlns:a16="http://schemas.microsoft.com/office/drawing/2014/main" id="{030FA85A-6746-4128-896C-A99E9524F7FC}"/>
              </a:ext>
            </a:extLst>
          </p:cNvPr>
          <p:cNvSpPr>
            <a:spLocks noGrp="1"/>
          </p:cNvSpPr>
          <p:nvPr>
            <p:ph type="sldNum" sz="quarter" idx="12"/>
          </p:nvPr>
        </p:nvSpPr>
        <p:spPr/>
        <p:txBody>
          <a:bodyPr/>
          <a:lstStyle/>
          <a:p>
            <a:fld id="{C98AF7D0-B530-437A-8244-231A0C0FDB3D}" type="slidenum">
              <a:rPr lang="en-IN" smtClean="0"/>
              <a:t>11</a:t>
            </a:fld>
            <a:endParaRPr lang="en-IN"/>
          </a:p>
        </p:txBody>
      </p:sp>
      <p:sp>
        <p:nvSpPr>
          <p:cNvPr id="5" name="TextBox 4">
            <a:extLst>
              <a:ext uri="{FF2B5EF4-FFF2-40B4-BE49-F238E27FC236}">
                <a16:creationId xmlns:a16="http://schemas.microsoft.com/office/drawing/2014/main" id="{AD87AC77-1E8F-4B3E-B5A9-C8E56444BB10}"/>
              </a:ext>
            </a:extLst>
          </p:cNvPr>
          <p:cNvSpPr txBox="1"/>
          <p:nvPr/>
        </p:nvSpPr>
        <p:spPr>
          <a:xfrm>
            <a:off x="173831" y="1152522"/>
            <a:ext cx="4055269" cy="5339923"/>
          </a:xfrm>
          <a:prstGeom prst="rect">
            <a:avLst/>
          </a:prstGeom>
          <a:noFill/>
          <a:ln>
            <a:solidFill>
              <a:schemeClr val="accent1"/>
            </a:solidFill>
          </a:ln>
        </p:spPr>
        <p:txBody>
          <a:bodyPr wrap="square">
            <a:spAutoFit/>
          </a:bodyPr>
          <a:lstStyle/>
          <a:p>
            <a:r>
              <a:rPr lang="en-IN" dirty="0"/>
              <a:t>// C program to demonstrate working of Semaphores</a:t>
            </a:r>
          </a:p>
          <a:p>
            <a:r>
              <a:rPr lang="en-IN" dirty="0"/>
              <a:t>#include &lt;</a:t>
            </a:r>
            <a:r>
              <a:rPr lang="en-IN" dirty="0" err="1"/>
              <a:t>stdio.h</a:t>
            </a:r>
            <a:r>
              <a:rPr lang="en-IN" dirty="0"/>
              <a:t>&gt;</a:t>
            </a:r>
          </a:p>
          <a:p>
            <a:r>
              <a:rPr lang="en-IN" dirty="0"/>
              <a:t>#include &lt;</a:t>
            </a:r>
            <a:r>
              <a:rPr lang="en-IN" dirty="0" err="1"/>
              <a:t>pthread.h</a:t>
            </a:r>
            <a:r>
              <a:rPr lang="en-IN" dirty="0"/>
              <a:t>&gt;</a:t>
            </a:r>
          </a:p>
          <a:p>
            <a:r>
              <a:rPr lang="en-IN" dirty="0"/>
              <a:t>#include &lt;</a:t>
            </a:r>
            <a:r>
              <a:rPr lang="en-IN" dirty="0" err="1"/>
              <a:t>semaphore.h</a:t>
            </a:r>
            <a:r>
              <a:rPr lang="en-IN" dirty="0"/>
              <a:t>&gt;</a:t>
            </a:r>
          </a:p>
          <a:p>
            <a:r>
              <a:rPr lang="en-IN" dirty="0"/>
              <a:t>#include &lt;</a:t>
            </a:r>
            <a:r>
              <a:rPr lang="en-IN" dirty="0" err="1"/>
              <a:t>unistd.h</a:t>
            </a:r>
            <a:r>
              <a:rPr lang="en-IN" dirty="0"/>
              <a:t>&gt;</a:t>
            </a:r>
          </a:p>
          <a:p>
            <a:endParaRPr lang="en-IN" sz="1000" dirty="0"/>
          </a:p>
          <a:p>
            <a:r>
              <a:rPr lang="en-IN" dirty="0" err="1"/>
              <a:t>sem_t</a:t>
            </a:r>
            <a:r>
              <a:rPr lang="en-IN" dirty="0"/>
              <a:t> mutex;</a:t>
            </a:r>
          </a:p>
          <a:p>
            <a:endParaRPr lang="en-IN" sz="700" dirty="0"/>
          </a:p>
          <a:p>
            <a:r>
              <a:rPr lang="en-IN" dirty="0"/>
              <a:t>void* thread(void* </a:t>
            </a:r>
            <a:r>
              <a:rPr lang="en-IN" dirty="0" err="1"/>
              <a:t>arg</a:t>
            </a:r>
            <a:r>
              <a:rPr lang="en-IN" dirty="0"/>
              <a:t>)</a:t>
            </a:r>
          </a:p>
          <a:p>
            <a:r>
              <a:rPr lang="en-IN" dirty="0"/>
              <a:t>{</a:t>
            </a:r>
          </a:p>
          <a:p>
            <a:r>
              <a:rPr lang="en-IN" dirty="0"/>
              <a:t>	//wait</a:t>
            </a:r>
          </a:p>
          <a:p>
            <a:r>
              <a:rPr lang="en-IN" dirty="0"/>
              <a:t>	</a:t>
            </a:r>
            <a:r>
              <a:rPr lang="en-IN" dirty="0" err="1"/>
              <a:t>sem_wait</a:t>
            </a:r>
            <a:r>
              <a:rPr lang="en-IN" dirty="0"/>
              <a:t>(&amp;mutex);</a:t>
            </a:r>
          </a:p>
          <a:p>
            <a:r>
              <a:rPr lang="en-IN" dirty="0"/>
              <a:t>	</a:t>
            </a:r>
            <a:r>
              <a:rPr lang="en-IN" dirty="0" err="1"/>
              <a:t>printf</a:t>
            </a:r>
            <a:r>
              <a:rPr lang="en-IN" dirty="0"/>
              <a:t>("\</a:t>
            </a:r>
            <a:r>
              <a:rPr lang="en-IN" dirty="0" err="1"/>
              <a:t>nEntered</a:t>
            </a:r>
            <a:r>
              <a:rPr lang="en-IN" dirty="0"/>
              <a:t>..\n");</a:t>
            </a:r>
          </a:p>
          <a:p>
            <a:r>
              <a:rPr lang="en-IN" dirty="0"/>
              <a:t>	//critical section</a:t>
            </a:r>
          </a:p>
          <a:p>
            <a:r>
              <a:rPr lang="en-IN" dirty="0"/>
              <a:t>	sleep(4);</a:t>
            </a:r>
          </a:p>
          <a:p>
            <a:r>
              <a:rPr lang="en-IN" dirty="0"/>
              <a:t>	//signal</a:t>
            </a:r>
          </a:p>
          <a:p>
            <a:r>
              <a:rPr lang="en-IN" dirty="0"/>
              <a:t>	</a:t>
            </a:r>
            <a:r>
              <a:rPr lang="en-IN" dirty="0" err="1"/>
              <a:t>printf</a:t>
            </a:r>
            <a:r>
              <a:rPr lang="en-IN" dirty="0"/>
              <a:t>("\</a:t>
            </a:r>
            <a:r>
              <a:rPr lang="en-IN" dirty="0" err="1"/>
              <a:t>nJust</a:t>
            </a:r>
            <a:r>
              <a:rPr lang="en-IN" dirty="0"/>
              <a:t> Exiting...\n");</a:t>
            </a:r>
          </a:p>
          <a:p>
            <a:r>
              <a:rPr lang="en-IN" dirty="0"/>
              <a:t>	</a:t>
            </a:r>
            <a:r>
              <a:rPr lang="en-IN" dirty="0" err="1"/>
              <a:t>sem_post</a:t>
            </a:r>
            <a:r>
              <a:rPr lang="en-IN" dirty="0"/>
              <a:t>(&amp;mutex);</a:t>
            </a:r>
          </a:p>
          <a:p>
            <a:r>
              <a:rPr lang="en-IN" dirty="0"/>
              <a:t>}</a:t>
            </a:r>
          </a:p>
        </p:txBody>
      </p:sp>
      <p:sp>
        <p:nvSpPr>
          <p:cNvPr id="6" name="TextBox 5">
            <a:extLst>
              <a:ext uri="{FF2B5EF4-FFF2-40B4-BE49-F238E27FC236}">
                <a16:creationId xmlns:a16="http://schemas.microsoft.com/office/drawing/2014/main" id="{AED08A8A-66ED-49E6-97B1-ED2C0A5FFE8A}"/>
              </a:ext>
            </a:extLst>
          </p:cNvPr>
          <p:cNvSpPr txBox="1"/>
          <p:nvPr/>
        </p:nvSpPr>
        <p:spPr>
          <a:xfrm>
            <a:off x="4769643" y="1152522"/>
            <a:ext cx="4200526" cy="3970318"/>
          </a:xfrm>
          <a:prstGeom prst="rect">
            <a:avLst/>
          </a:prstGeom>
          <a:noFill/>
          <a:ln>
            <a:solidFill>
              <a:schemeClr val="accent1"/>
            </a:solidFill>
          </a:ln>
        </p:spPr>
        <p:txBody>
          <a:bodyPr wrap="square">
            <a:spAutoFit/>
          </a:bodyPr>
          <a:lstStyle/>
          <a:p>
            <a:r>
              <a:rPr lang="en-IN" dirty="0"/>
              <a:t>int main()</a:t>
            </a:r>
          </a:p>
          <a:p>
            <a:r>
              <a:rPr lang="en-IN" dirty="0"/>
              <a:t>{</a:t>
            </a:r>
          </a:p>
          <a:p>
            <a:r>
              <a:rPr lang="en-IN" dirty="0"/>
              <a:t>	</a:t>
            </a:r>
            <a:r>
              <a:rPr lang="en-IN" dirty="0" err="1"/>
              <a:t>sem_init</a:t>
            </a:r>
            <a:r>
              <a:rPr lang="en-IN" dirty="0"/>
              <a:t>(&amp;mutex, 0, 1);</a:t>
            </a:r>
          </a:p>
          <a:p>
            <a:r>
              <a:rPr lang="en-IN" dirty="0"/>
              <a:t>	</a:t>
            </a:r>
            <a:r>
              <a:rPr lang="en-IN" dirty="0" err="1"/>
              <a:t>pthread_t</a:t>
            </a:r>
            <a:r>
              <a:rPr lang="en-IN" dirty="0"/>
              <a:t> t1,t2;</a:t>
            </a:r>
          </a:p>
          <a:p>
            <a:r>
              <a:rPr lang="en-IN" dirty="0"/>
              <a:t>	</a:t>
            </a:r>
            <a:r>
              <a:rPr lang="en-IN" dirty="0" err="1"/>
              <a:t>pthread_create</a:t>
            </a:r>
            <a:r>
              <a:rPr lang="en-IN" dirty="0"/>
              <a:t>(&amp;t1,NULL,thread,NULL);</a:t>
            </a:r>
          </a:p>
          <a:p>
            <a:r>
              <a:rPr lang="en-IN" dirty="0"/>
              <a:t>	sleep(2);</a:t>
            </a:r>
          </a:p>
          <a:p>
            <a:r>
              <a:rPr lang="en-IN" dirty="0"/>
              <a:t>	</a:t>
            </a:r>
            <a:r>
              <a:rPr lang="en-IN" dirty="0" err="1"/>
              <a:t>pthread_create</a:t>
            </a:r>
            <a:r>
              <a:rPr lang="en-IN" dirty="0"/>
              <a:t>(&amp;t2,NULL,thread,NULL);</a:t>
            </a:r>
          </a:p>
          <a:p>
            <a:r>
              <a:rPr lang="en-IN" dirty="0"/>
              <a:t>	</a:t>
            </a:r>
            <a:r>
              <a:rPr lang="en-IN" dirty="0" err="1"/>
              <a:t>pthread_join</a:t>
            </a:r>
            <a:r>
              <a:rPr lang="en-IN" dirty="0"/>
              <a:t>(t1,NULL);</a:t>
            </a:r>
          </a:p>
          <a:p>
            <a:r>
              <a:rPr lang="en-IN" dirty="0"/>
              <a:t>	</a:t>
            </a:r>
            <a:r>
              <a:rPr lang="en-IN" dirty="0" err="1"/>
              <a:t>pthread_join</a:t>
            </a:r>
            <a:r>
              <a:rPr lang="en-IN" dirty="0"/>
              <a:t>(t2,NULL);</a:t>
            </a:r>
          </a:p>
          <a:p>
            <a:r>
              <a:rPr lang="en-IN" dirty="0"/>
              <a:t>	</a:t>
            </a:r>
            <a:r>
              <a:rPr lang="en-IN" dirty="0" err="1"/>
              <a:t>sem_destroy</a:t>
            </a:r>
            <a:r>
              <a:rPr lang="en-IN" dirty="0"/>
              <a:t>(&amp;mutex);</a:t>
            </a:r>
          </a:p>
          <a:p>
            <a:r>
              <a:rPr lang="en-IN" dirty="0"/>
              <a:t>	return 0;</a:t>
            </a:r>
          </a:p>
          <a:p>
            <a:r>
              <a:rPr lang="en-IN" dirty="0"/>
              <a:t>}</a:t>
            </a:r>
          </a:p>
        </p:txBody>
      </p:sp>
    </p:spTree>
    <p:extLst>
      <p:ext uri="{BB962C8B-B14F-4D97-AF65-F5344CB8AC3E}">
        <p14:creationId xmlns:p14="http://schemas.microsoft.com/office/powerpoint/2010/main" val="4033964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E05-AC55-4A63-A94D-738E9D405C66}"/>
              </a:ext>
            </a:extLst>
          </p:cNvPr>
          <p:cNvSpPr>
            <a:spLocks noGrp="1"/>
          </p:cNvSpPr>
          <p:nvPr>
            <p:ph type="title"/>
          </p:nvPr>
        </p:nvSpPr>
        <p:spPr/>
        <p:txBody>
          <a:bodyPr/>
          <a:lstStyle/>
          <a:p>
            <a:r>
              <a:rPr lang="en-US" dirty="0"/>
              <a:t>Code explanation</a:t>
            </a:r>
            <a:endParaRPr lang="en-IN" dirty="0"/>
          </a:p>
        </p:txBody>
      </p:sp>
      <p:sp>
        <p:nvSpPr>
          <p:cNvPr id="3" name="Slide Number Placeholder 2">
            <a:extLst>
              <a:ext uri="{FF2B5EF4-FFF2-40B4-BE49-F238E27FC236}">
                <a16:creationId xmlns:a16="http://schemas.microsoft.com/office/drawing/2014/main" id="{8EFE650E-DCD4-4948-ABF9-D58B84046C1E}"/>
              </a:ext>
            </a:extLst>
          </p:cNvPr>
          <p:cNvSpPr>
            <a:spLocks noGrp="1"/>
          </p:cNvSpPr>
          <p:nvPr>
            <p:ph type="sldNum" sz="quarter" idx="12"/>
          </p:nvPr>
        </p:nvSpPr>
        <p:spPr/>
        <p:txBody>
          <a:bodyPr/>
          <a:lstStyle/>
          <a:p>
            <a:fld id="{C98AF7D0-B530-437A-8244-231A0C0FDB3D}" type="slidenum">
              <a:rPr lang="en-IN" smtClean="0"/>
              <a:t>12</a:t>
            </a:fld>
            <a:endParaRPr lang="en-IN"/>
          </a:p>
        </p:txBody>
      </p:sp>
      <p:sp>
        <p:nvSpPr>
          <p:cNvPr id="4" name="Rectangle 1">
            <a:extLst>
              <a:ext uri="{FF2B5EF4-FFF2-40B4-BE49-F238E27FC236}">
                <a16:creationId xmlns:a16="http://schemas.microsoft.com/office/drawing/2014/main" id="{954D59C5-C50E-418D-AF58-F5729C456BD7}"/>
              </a:ext>
            </a:extLst>
          </p:cNvPr>
          <p:cNvSpPr>
            <a:spLocks noChangeArrowheads="1"/>
          </p:cNvSpPr>
          <p:nvPr/>
        </p:nvSpPr>
        <p:spPr bwMode="auto">
          <a:xfrm>
            <a:off x="245470" y="1163257"/>
            <a:ext cx="8721885" cy="551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2 threads are being created, one 2 seconds after the first one.</a:t>
            </a:r>
            <a:br>
              <a:rPr lang="en-US" altLang="en-US" sz="2800" dirty="0">
                <a:solidFill>
                  <a:srgbClr val="273239"/>
                </a:solidFill>
                <a:latin typeface="urw-din"/>
              </a:rPr>
            </a:br>
            <a:r>
              <a:rPr lang="en-US" altLang="en-US" sz="2800" dirty="0">
                <a:solidFill>
                  <a:srgbClr val="273239"/>
                </a:solidFill>
                <a:latin typeface="urw-din"/>
              </a:rPr>
              <a:t>But the first thread will sleep for 4 seconds after acquiring the lock.</a:t>
            </a:r>
            <a:br>
              <a:rPr lang="en-US" altLang="en-US" sz="2800" dirty="0">
                <a:solidFill>
                  <a:srgbClr val="273239"/>
                </a:solidFill>
                <a:latin typeface="urw-din"/>
              </a:rPr>
            </a:br>
            <a:r>
              <a:rPr lang="en-US" altLang="en-US" sz="2800" dirty="0">
                <a:solidFill>
                  <a:srgbClr val="273239"/>
                </a:solidFill>
                <a:latin typeface="urw-din"/>
              </a:rPr>
              <a:t>Thus the second thread will not enter immediately after it is called, it will enter 4 – 2 = 2 secs after it is called.</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sz="2800" dirty="0">
                <a:solidFill>
                  <a:srgbClr val="273239"/>
                </a:solidFill>
                <a:latin typeface="urw-din"/>
              </a:rPr>
            </a:br>
            <a:r>
              <a:rPr lang="en-US" altLang="en-US" sz="2800" dirty="0">
                <a:solidFill>
                  <a:srgbClr val="273239"/>
                </a:solidFill>
                <a:latin typeface="urw-din"/>
              </a:rPr>
              <a:t>So the output is: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Entered..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Just Exiting...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Entered..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Just Exiting... </a:t>
            </a:r>
            <a:br>
              <a:rPr kumimoji="0" lang="en-US" altLang="en-US" sz="6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4377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Mutex</a:t>
            </a:r>
          </a:p>
        </p:txBody>
      </p:sp>
      <p:pic>
        <p:nvPicPr>
          <p:cNvPr id="7" name="Picture 6">
            <a:extLst>
              <a:ext uri="{FF2B5EF4-FFF2-40B4-BE49-F238E27FC236}">
                <a16:creationId xmlns:a16="http://schemas.microsoft.com/office/drawing/2014/main" id="{3261CAA7-BEF0-A129-AE2C-B11984429607}"/>
              </a:ext>
            </a:extLst>
          </p:cNvPr>
          <p:cNvPicPr>
            <a:picLocks noChangeAspect="1"/>
          </p:cNvPicPr>
          <p:nvPr/>
        </p:nvPicPr>
        <p:blipFill>
          <a:blip r:embed="rId2"/>
          <a:stretch>
            <a:fillRect/>
          </a:stretch>
        </p:blipFill>
        <p:spPr>
          <a:xfrm>
            <a:off x="89947" y="1052736"/>
            <a:ext cx="9030960" cy="5068007"/>
          </a:xfrm>
          <a:prstGeom prst="rect">
            <a:avLst/>
          </a:prstGeom>
        </p:spPr>
      </p:pic>
    </p:spTree>
    <p:extLst>
      <p:ext uri="{BB962C8B-B14F-4D97-AF65-F5344CB8AC3E}">
        <p14:creationId xmlns:p14="http://schemas.microsoft.com/office/powerpoint/2010/main" val="1650068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Mutex</a:t>
            </a:r>
          </a:p>
        </p:txBody>
      </p:sp>
      <p:sp>
        <p:nvSpPr>
          <p:cNvPr id="3" name="Content Placeholder 2"/>
          <p:cNvSpPr>
            <a:spLocks noGrp="1"/>
          </p:cNvSpPr>
          <p:nvPr>
            <p:ph idx="1"/>
          </p:nvPr>
        </p:nvSpPr>
        <p:spPr>
          <a:xfrm>
            <a:off x="457200" y="1052736"/>
            <a:ext cx="8229600" cy="5450159"/>
          </a:xfrm>
        </p:spPr>
        <p:txBody>
          <a:bodyPr>
            <a:normAutofit fontScale="85000" lnSpcReduction="10000"/>
          </a:bodyPr>
          <a:lstStyle/>
          <a:p>
            <a:pPr algn="just" rtl="0" fontAlgn="base"/>
            <a:r>
              <a:rPr lang="en-US" b="0" i="0" dirty="0">
                <a:solidFill>
                  <a:srgbClr val="273239"/>
                </a:solidFill>
                <a:effectLst/>
                <a:highlight>
                  <a:srgbClr val="FFFFFF"/>
                </a:highlight>
                <a:latin typeface="Nunito" pitchFamily="2" charset="0"/>
              </a:rPr>
              <a:t>Mutex is a specific kind of binary semaphore that is used to provide a locking mechanism. It stands for </a:t>
            </a:r>
            <a:r>
              <a:rPr lang="en-US" b="0" i="0" u="sng" dirty="0">
                <a:solidFill>
                  <a:srgbClr val="273239"/>
                </a:solidFill>
                <a:effectLst/>
                <a:highlight>
                  <a:srgbClr val="FFFFFF"/>
                </a:highlight>
                <a:latin typeface="Nunito" pitchFamily="2" charset="0"/>
                <a:hlinkClick r:id="rId2"/>
              </a:rPr>
              <a:t>Mutual Exclusion</a:t>
            </a:r>
            <a:r>
              <a:rPr lang="en-US" b="0" i="0" dirty="0">
                <a:solidFill>
                  <a:srgbClr val="273239"/>
                </a:solidFill>
                <a:effectLst/>
                <a:highlight>
                  <a:srgbClr val="FFFFFF"/>
                </a:highlight>
                <a:latin typeface="Nunito" pitchFamily="2" charset="0"/>
              </a:rPr>
              <a:t> Object. Mutex is mainly used to provide mutual exclusion to a specific portion of the code so that the process can execute and work with a particular section of the code at a particular time. </a:t>
            </a:r>
          </a:p>
          <a:p>
            <a:pPr algn="just" rtl="0" fontAlgn="base"/>
            <a:r>
              <a:rPr lang="en-US" b="0" i="0" dirty="0">
                <a:solidFill>
                  <a:srgbClr val="273239"/>
                </a:solidFill>
                <a:effectLst/>
                <a:highlight>
                  <a:srgbClr val="FFFFFF"/>
                </a:highlight>
                <a:latin typeface="Nunito" pitchFamily="2" charset="0"/>
              </a:rPr>
              <a:t>Mutex uses a priority inheritance mechanism to avoid </a:t>
            </a:r>
            <a:r>
              <a:rPr lang="en-US" b="0" i="0" u="sng" dirty="0">
                <a:solidFill>
                  <a:srgbClr val="273239"/>
                </a:solidFill>
                <a:effectLst/>
                <a:highlight>
                  <a:srgbClr val="FFFFFF"/>
                </a:highlight>
                <a:latin typeface="Nunito" pitchFamily="2" charset="0"/>
                <a:hlinkClick r:id="rId3"/>
              </a:rPr>
              <a:t>priority inversion</a:t>
            </a:r>
            <a:r>
              <a:rPr lang="en-US" b="0" i="0" dirty="0">
                <a:solidFill>
                  <a:srgbClr val="273239"/>
                </a:solidFill>
                <a:effectLst/>
                <a:highlight>
                  <a:srgbClr val="FFFFFF"/>
                </a:highlight>
                <a:latin typeface="Nunito" pitchFamily="2" charset="0"/>
              </a:rPr>
              <a:t> issues. The priority inheritance mechanism keeps higher-priority processes in the blocked state for the minimum possible time. However, this cannot avoid the priority inversion problem, but it can reduce its effect up to an extent. </a:t>
            </a:r>
          </a:p>
          <a:p>
            <a:endParaRPr lang="en-US" dirty="0">
              <a:latin typeface="+mj-lt"/>
            </a:endParaRPr>
          </a:p>
        </p:txBody>
      </p:sp>
    </p:spTree>
    <p:extLst>
      <p:ext uri="{BB962C8B-B14F-4D97-AF65-F5344CB8AC3E}">
        <p14:creationId xmlns:p14="http://schemas.microsoft.com/office/powerpoint/2010/main" val="1985205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Operations on Mutex </a:t>
            </a:r>
          </a:p>
        </p:txBody>
      </p:sp>
      <p:pic>
        <p:nvPicPr>
          <p:cNvPr id="7" name="Picture 6">
            <a:extLst>
              <a:ext uri="{FF2B5EF4-FFF2-40B4-BE49-F238E27FC236}">
                <a16:creationId xmlns:a16="http://schemas.microsoft.com/office/drawing/2014/main" id="{0BA284B8-55B3-305E-F03A-C62A00E30E2F}"/>
              </a:ext>
            </a:extLst>
          </p:cNvPr>
          <p:cNvPicPr>
            <a:picLocks noChangeAspect="1"/>
          </p:cNvPicPr>
          <p:nvPr/>
        </p:nvPicPr>
        <p:blipFill>
          <a:blip r:embed="rId2"/>
          <a:stretch>
            <a:fillRect/>
          </a:stretch>
        </p:blipFill>
        <p:spPr>
          <a:xfrm>
            <a:off x="107504" y="1157842"/>
            <a:ext cx="9036496" cy="5112672"/>
          </a:xfrm>
          <a:prstGeom prst="rect">
            <a:avLst/>
          </a:prstGeom>
        </p:spPr>
      </p:pic>
    </p:spTree>
    <p:extLst>
      <p:ext uri="{BB962C8B-B14F-4D97-AF65-F5344CB8AC3E}">
        <p14:creationId xmlns:p14="http://schemas.microsoft.com/office/powerpoint/2010/main" val="2883802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noAutofit/>
          </a:bodyPr>
          <a:lstStyle/>
          <a:p>
            <a:r>
              <a:rPr lang="en-US" sz="2800" dirty="0"/>
              <a:t>Difference between Mutex and Binary Semaphore</a:t>
            </a:r>
          </a:p>
        </p:txBody>
      </p:sp>
      <p:sp>
        <p:nvSpPr>
          <p:cNvPr id="3" name="Content Placeholder 2"/>
          <p:cNvSpPr>
            <a:spLocks noGrp="1"/>
          </p:cNvSpPr>
          <p:nvPr>
            <p:ph idx="1"/>
          </p:nvPr>
        </p:nvSpPr>
        <p:spPr>
          <a:xfrm>
            <a:off x="457200" y="1052736"/>
            <a:ext cx="8229600" cy="5450159"/>
          </a:xfrm>
        </p:spPr>
        <p:txBody>
          <a:bodyPr>
            <a:normAutofit lnSpcReduction="10000"/>
          </a:bodyPr>
          <a:lstStyle/>
          <a:p>
            <a:r>
              <a:rPr lang="en-US" b="0" i="0" dirty="0">
                <a:solidFill>
                  <a:srgbClr val="333333"/>
                </a:solidFill>
                <a:effectLst/>
                <a:highlight>
                  <a:srgbClr val="FFFFFF"/>
                </a:highlight>
                <a:latin typeface="inter-regular"/>
              </a:rPr>
              <a:t>The mutex is a locking mechanism, while the </a:t>
            </a:r>
            <a:r>
              <a:rPr lang="en-US" b="0" i="0" dirty="0">
                <a:solidFill>
                  <a:srgbClr val="333333"/>
                </a:solidFill>
                <a:effectLst/>
                <a:latin typeface="inter-regular"/>
              </a:rPr>
              <a:t>semaphore is a signaling mechanism.</a:t>
            </a:r>
          </a:p>
          <a:p>
            <a:r>
              <a:rPr lang="en-US" b="0" i="0" dirty="0">
                <a:solidFill>
                  <a:srgbClr val="333333"/>
                </a:solidFill>
                <a:effectLst/>
                <a:latin typeface="inter-regular"/>
              </a:rPr>
              <a:t>A mutex is an object, Semaphore is an integer variable.</a:t>
            </a:r>
          </a:p>
          <a:p>
            <a:r>
              <a:rPr lang="en-US" dirty="0">
                <a:solidFill>
                  <a:srgbClr val="333333"/>
                </a:solidFill>
                <a:latin typeface="inter-regular"/>
              </a:rPr>
              <a:t>Mutex can be acquired multiple times by the same process but must be released as many times by the same process. Semaphore can not be used like this.</a:t>
            </a:r>
          </a:p>
          <a:p>
            <a:r>
              <a:rPr lang="en-US" dirty="0">
                <a:solidFill>
                  <a:srgbClr val="333333"/>
                </a:solidFill>
                <a:latin typeface="inter-regular"/>
              </a:rPr>
              <a:t>Refer : </a:t>
            </a:r>
            <a:r>
              <a:rPr lang="en-US" dirty="0">
                <a:solidFill>
                  <a:srgbClr val="333333"/>
                </a:solidFill>
                <a:latin typeface="inter-regular"/>
                <a:hlinkClick r:id="rId2"/>
              </a:rPr>
              <a:t>https://barrgroup.com/blog/mutexes-and-semaphores-demystified</a:t>
            </a:r>
            <a:r>
              <a:rPr lang="en-US" dirty="0">
                <a:solidFill>
                  <a:srgbClr val="333333"/>
                </a:solidFill>
                <a:latin typeface="inter-regular"/>
              </a:rPr>
              <a:t> for a good explanation.</a:t>
            </a:r>
            <a:endParaRPr lang="en-US" dirty="0">
              <a:latin typeface="+mj-lt"/>
            </a:endParaRPr>
          </a:p>
        </p:txBody>
      </p:sp>
    </p:spTree>
    <p:extLst>
      <p:ext uri="{BB962C8B-B14F-4D97-AF65-F5344CB8AC3E}">
        <p14:creationId xmlns:p14="http://schemas.microsoft.com/office/powerpoint/2010/main" val="1776096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5996-6D3F-7E17-C70B-A23F16B97F02}"/>
              </a:ext>
            </a:extLst>
          </p:cNvPr>
          <p:cNvSpPr>
            <a:spLocks noGrp="1"/>
          </p:cNvSpPr>
          <p:nvPr>
            <p:ph type="title"/>
          </p:nvPr>
        </p:nvSpPr>
        <p:spPr/>
        <p:txBody>
          <a:bodyPr/>
          <a:lstStyle/>
          <a:p>
            <a:r>
              <a:rPr lang="en-IN" dirty="0"/>
              <a:t>Typical Code for Mutex</a:t>
            </a:r>
          </a:p>
        </p:txBody>
      </p:sp>
      <p:sp>
        <p:nvSpPr>
          <p:cNvPr id="3" name="Content Placeholder 2">
            <a:extLst>
              <a:ext uri="{FF2B5EF4-FFF2-40B4-BE49-F238E27FC236}">
                <a16:creationId xmlns:a16="http://schemas.microsoft.com/office/drawing/2014/main" id="{B3DB5C2B-BEB7-D94A-1940-478E75B02D5A}"/>
              </a:ext>
            </a:extLst>
          </p:cNvPr>
          <p:cNvSpPr>
            <a:spLocks noGrp="1"/>
          </p:cNvSpPr>
          <p:nvPr>
            <p:ph idx="1"/>
          </p:nvPr>
        </p:nvSpPr>
        <p:spPr>
          <a:xfrm>
            <a:off x="251520" y="1417638"/>
            <a:ext cx="4608512" cy="5165724"/>
          </a:xfrm>
        </p:spPr>
        <p:txBody>
          <a:bodyPr>
            <a:noAutofit/>
          </a:bodyPr>
          <a:lstStyle/>
          <a:p>
            <a:pPr marL="0" indent="0">
              <a:buNone/>
            </a:pPr>
            <a:r>
              <a:rPr lang="en-IN" sz="1400" dirty="0"/>
              <a:t>#include&lt;stdio.h&gt;</a:t>
            </a:r>
          </a:p>
          <a:p>
            <a:pPr marL="0" indent="0">
              <a:buNone/>
            </a:pPr>
            <a:r>
              <a:rPr lang="en-IN" sz="1400" dirty="0"/>
              <a:t>#include&lt;pthread.h&gt;</a:t>
            </a:r>
          </a:p>
          <a:p>
            <a:pPr marL="0" indent="0">
              <a:buNone/>
            </a:pPr>
            <a:r>
              <a:rPr lang="en-IN" sz="1400" dirty="0"/>
              <a:t>#include&lt;semaphore.h&gt;</a:t>
            </a:r>
          </a:p>
          <a:p>
            <a:pPr marL="0" indent="0">
              <a:buNone/>
            </a:pPr>
            <a:r>
              <a:rPr lang="en-IN" sz="1400" dirty="0" err="1"/>
              <a:t>pthread_mutex_t</a:t>
            </a:r>
            <a:r>
              <a:rPr lang="en-IN" sz="1400" dirty="0"/>
              <a:t> mutex1;</a:t>
            </a:r>
          </a:p>
          <a:p>
            <a:pPr marL="0" indent="0">
              <a:buNone/>
            </a:pPr>
            <a:r>
              <a:rPr lang="en-IN" sz="1400" dirty="0"/>
              <a:t>void *thread_fun1()</a:t>
            </a:r>
          </a:p>
          <a:p>
            <a:pPr marL="0" indent="0">
              <a:buNone/>
            </a:pPr>
            <a:r>
              <a:rPr lang="en-IN" sz="1400" dirty="0"/>
              <a:t>{</a:t>
            </a:r>
          </a:p>
          <a:p>
            <a:pPr marL="400050" lvl="1" indent="0">
              <a:buNone/>
            </a:pPr>
            <a:r>
              <a:rPr lang="en-IN" sz="1600" dirty="0" err="1"/>
              <a:t>pthread_mutex_lock</a:t>
            </a:r>
            <a:r>
              <a:rPr lang="en-IN" sz="1600" dirty="0"/>
              <a:t>(&amp;mutex1);</a:t>
            </a:r>
          </a:p>
          <a:p>
            <a:pPr marL="400050" lvl="1" indent="0">
              <a:buNone/>
            </a:pPr>
            <a:r>
              <a:rPr lang="en-IN" sz="1600" dirty="0"/>
              <a:t>&lt;&lt;program to get a string from user&gt;&gt;</a:t>
            </a:r>
          </a:p>
          <a:p>
            <a:pPr marL="400050" lvl="1" indent="0">
              <a:buNone/>
            </a:pPr>
            <a:r>
              <a:rPr lang="en-IN" sz="1600" dirty="0" err="1"/>
              <a:t>pthread_mutex_unlock</a:t>
            </a:r>
            <a:r>
              <a:rPr lang="en-IN" sz="1600" dirty="0"/>
              <a:t>(&amp;mutex1);</a:t>
            </a:r>
          </a:p>
          <a:p>
            <a:pPr marL="400050" lvl="1" indent="0">
              <a:buNone/>
            </a:pPr>
            <a:r>
              <a:rPr lang="en-IN" sz="1600" dirty="0"/>
              <a:t>sleep(1);</a:t>
            </a:r>
          </a:p>
          <a:p>
            <a:pPr marL="0" indent="0">
              <a:buNone/>
            </a:pPr>
            <a:r>
              <a:rPr lang="en-IN" sz="1400" dirty="0"/>
              <a:t>}</a:t>
            </a:r>
          </a:p>
          <a:p>
            <a:pPr marL="0" indent="0">
              <a:buNone/>
            </a:pPr>
            <a:r>
              <a:rPr lang="en-IN" sz="1400" dirty="0"/>
              <a:t>void *thread_fun2()</a:t>
            </a:r>
          </a:p>
          <a:p>
            <a:pPr marL="0" indent="0">
              <a:buNone/>
            </a:pPr>
            <a:r>
              <a:rPr lang="en-IN" sz="1400" dirty="0"/>
              <a:t>{</a:t>
            </a:r>
          </a:p>
          <a:p>
            <a:pPr marL="400050" lvl="1" indent="0">
              <a:buNone/>
            </a:pPr>
            <a:r>
              <a:rPr lang="en-IN" sz="1600" dirty="0" err="1"/>
              <a:t>pthread_mutex_lock</a:t>
            </a:r>
            <a:r>
              <a:rPr lang="en-IN" sz="1600" dirty="0"/>
              <a:t>(&amp;mutex1);</a:t>
            </a:r>
          </a:p>
          <a:p>
            <a:pPr marL="400050" lvl="1" indent="0">
              <a:buNone/>
            </a:pPr>
            <a:r>
              <a:rPr lang="en-IN" sz="1600" dirty="0"/>
              <a:t>&lt;&lt;program to count the number of characters present in user entered string&gt;&gt;</a:t>
            </a:r>
          </a:p>
          <a:p>
            <a:pPr marL="400050" lvl="1" indent="0">
              <a:buNone/>
            </a:pPr>
            <a:r>
              <a:rPr lang="en-IN" sz="1600" dirty="0" err="1"/>
              <a:t>pthread_mutex_unlock</a:t>
            </a:r>
            <a:r>
              <a:rPr lang="en-IN" sz="1600" dirty="0"/>
              <a:t>(&amp;mutex1);</a:t>
            </a:r>
          </a:p>
          <a:p>
            <a:pPr marL="0" indent="0">
              <a:buNone/>
            </a:pPr>
            <a:r>
              <a:rPr lang="en-IN" sz="1100" dirty="0"/>
              <a:t>}</a:t>
            </a:r>
          </a:p>
        </p:txBody>
      </p:sp>
      <p:sp>
        <p:nvSpPr>
          <p:cNvPr id="4" name="Content Placeholder 2">
            <a:extLst>
              <a:ext uri="{FF2B5EF4-FFF2-40B4-BE49-F238E27FC236}">
                <a16:creationId xmlns:a16="http://schemas.microsoft.com/office/drawing/2014/main" id="{F714A5E5-BA82-7F0C-E28A-1B33C3CC29BB}"/>
              </a:ext>
            </a:extLst>
          </p:cNvPr>
          <p:cNvSpPr txBox="1">
            <a:spLocks/>
          </p:cNvSpPr>
          <p:nvPr/>
        </p:nvSpPr>
        <p:spPr>
          <a:xfrm>
            <a:off x="4658677" y="1417637"/>
            <a:ext cx="4402832"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000" dirty="0"/>
              <a:t>void main()</a:t>
            </a:r>
          </a:p>
          <a:p>
            <a:pPr marL="0" indent="0">
              <a:buNone/>
            </a:pPr>
            <a:r>
              <a:rPr lang="en-IN" sz="2000" dirty="0"/>
              <a:t>{</a:t>
            </a:r>
          </a:p>
          <a:p>
            <a:pPr marL="400050" lvl="1" indent="0">
              <a:buNone/>
            </a:pPr>
            <a:r>
              <a:rPr lang="en-IN" sz="2000" dirty="0" err="1"/>
              <a:t>pthread_t</a:t>
            </a:r>
            <a:r>
              <a:rPr lang="en-IN" sz="2000" dirty="0"/>
              <a:t> mythread1,mythread2;</a:t>
            </a:r>
          </a:p>
          <a:p>
            <a:pPr marL="400050" lvl="1" indent="0">
              <a:buNone/>
            </a:pPr>
            <a:r>
              <a:rPr lang="en-IN" sz="2000" dirty="0" err="1"/>
              <a:t>pthread_mutex_init</a:t>
            </a:r>
            <a:r>
              <a:rPr lang="en-IN" sz="2000" dirty="0"/>
              <a:t>(&amp;mutex1, NULL);</a:t>
            </a:r>
          </a:p>
          <a:p>
            <a:pPr marL="400050" lvl="1" indent="0">
              <a:buNone/>
            </a:pPr>
            <a:r>
              <a:rPr lang="en-IN" sz="2000" dirty="0" err="1"/>
              <a:t>pthread_create</a:t>
            </a:r>
            <a:r>
              <a:rPr lang="en-IN" sz="2000" dirty="0"/>
              <a:t>(&amp;mythread1, NULL, thread_fun1, NULL);</a:t>
            </a:r>
          </a:p>
          <a:p>
            <a:pPr marL="400050" lvl="1" indent="0">
              <a:buNone/>
            </a:pPr>
            <a:r>
              <a:rPr lang="en-IN" sz="2000" dirty="0" err="1"/>
              <a:t>pthread_create</a:t>
            </a:r>
            <a:r>
              <a:rPr lang="en-IN" sz="2000" dirty="0"/>
              <a:t>(&amp;mythread2, NULL, thread_fun2, NULL);</a:t>
            </a:r>
          </a:p>
          <a:p>
            <a:pPr marL="400050" lvl="1" indent="0">
              <a:buNone/>
            </a:pPr>
            <a:r>
              <a:rPr lang="en-IN" sz="2000" dirty="0" err="1"/>
              <a:t>pthread_join</a:t>
            </a:r>
            <a:r>
              <a:rPr lang="en-IN" sz="2000" dirty="0"/>
              <a:t>(mythread1,NULL);</a:t>
            </a:r>
          </a:p>
          <a:p>
            <a:pPr marL="400050" lvl="1" indent="0">
              <a:buNone/>
            </a:pPr>
            <a:r>
              <a:rPr lang="en-IN" sz="2000" dirty="0" err="1"/>
              <a:t>pthread_join</a:t>
            </a:r>
            <a:r>
              <a:rPr lang="en-IN" sz="2000" dirty="0"/>
              <a:t>(mythread2,NULL);</a:t>
            </a:r>
          </a:p>
          <a:p>
            <a:pPr marL="400050" lvl="1" indent="0">
              <a:buNone/>
            </a:pPr>
            <a:r>
              <a:rPr lang="en-IN" sz="2000" dirty="0" err="1"/>
              <a:t>pthread_exit</a:t>
            </a:r>
            <a:r>
              <a:rPr lang="en-IN" sz="2000" dirty="0"/>
              <a:t>(NULL);</a:t>
            </a:r>
          </a:p>
          <a:p>
            <a:pPr marL="0" indent="0">
              <a:buNone/>
            </a:pPr>
            <a:r>
              <a:rPr lang="en-IN" sz="2000" dirty="0"/>
              <a:t>}</a:t>
            </a:r>
          </a:p>
        </p:txBody>
      </p:sp>
    </p:spTree>
    <p:extLst>
      <p:ext uri="{BB962C8B-B14F-4D97-AF65-F5344CB8AC3E}">
        <p14:creationId xmlns:p14="http://schemas.microsoft.com/office/powerpoint/2010/main" val="1744523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924A3-1A38-BB62-690A-4313EB410A4D}"/>
              </a:ext>
            </a:extLst>
          </p:cNvPr>
          <p:cNvSpPr>
            <a:spLocks noGrp="1"/>
          </p:cNvSpPr>
          <p:nvPr>
            <p:ph type="title"/>
          </p:nvPr>
        </p:nvSpPr>
        <p:spPr>
          <a:xfrm>
            <a:off x="457200" y="14842"/>
            <a:ext cx="8229600" cy="1143000"/>
          </a:xfrm>
        </p:spPr>
        <p:txBody>
          <a:bodyPr/>
          <a:lstStyle/>
          <a:p>
            <a:r>
              <a:rPr lang="en-IN" dirty="0"/>
              <a:t>Pipe</a:t>
            </a:r>
          </a:p>
        </p:txBody>
      </p:sp>
      <p:sp>
        <p:nvSpPr>
          <p:cNvPr id="3" name="Content Placeholder 2">
            <a:extLst>
              <a:ext uri="{FF2B5EF4-FFF2-40B4-BE49-F238E27FC236}">
                <a16:creationId xmlns:a16="http://schemas.microsoft.com/office/drawing/2014/main" id="{33B511BB-662D-FC7C-473D-3B72F0E15728}"/>
              </a:ext>
            </a:extLst>
          </p:cNvPr>
          <p:cNvSpPr>
            <a:spLocks noGrp="1"/>
          </p:cNvSpPr>
          <p:nvPr>
            <p:ph idx="1"/>
          </p:nvPr>
        </p:nvSpPr>
        <p:spPr>
          <a:xfrm>
            <a:off x="457200" y="980728"/>
            <a:ext cx="8229600" cy="5616624"/>
          </a:xfrm>
        </p:spPr>
        <p:txBody>
          <a:bodyPr>
            <a:normAutofit fontScale="85000" lnSpcReduction="10000"/>
          </a:bodyPr>
          <a:lstStyle/>
          <a:p>
            <a:pPr fontAlgn="base">
              <a:lnSpc>
                <a:spcPct val="107000"/>
              </a:lnSpc>
              <a:spcAft>
                <a:spcPts val="750"/>
              </a:spcAft>
            </a:pPr>
            <a:r>
              <a:rPr lang="en-IN" sz="2400" dirty="0">
                <a:effectLst/>
                <a:latin typeface="+mj-lt"/>
                <a:ea typeface="Times New Roman" panose="02020603050405020304" pitchFamily="18" charset="0"/>
                <a:cs typeface="Times New Roman" panose="02020603050405020304" pitchFamily="18" charset="0"/>
              </a:rPr>
              <a:t>Conceptually, a pipe is a connection between two processes, such that the standard output from one process becomes the standard input of the other process. In UNIX Operating System, Pipes are useful for communication between related processes(inter-process communication).</a:t>
            </a:r>
            <a:endParaRPr lang="en-IN" sz="2400" dirty="0">
              <a:effectLst/>
              <a:latin typeface="+mj-lt"/>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400"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Pipe is one-way communication only </a:t>
            </a:r>
            <a:r>
              <a:rPr lang="en-IN" sz="2400" spc="10" dirty="0" err="1">
                <a:solidFill>
                  <a:srgbClr val="273239"/>
                </a:solidFill>
                <a:effectLst/>
                <a:highlight>
                  <a:srgbClr val="FFFFFF"/>
                </a:highlight>
                <a:latin typeface="+mj-lt"/>
                <a:ea typeface="Times New Roman" panose="02020603050405020304" pitchFamily="18" charset="0"/>
                <a:cs typeface="Times New Roman" panose="02020603050405020304" pitchFamily="18" charset="0"/>
              </a:rPr>
              <a:t>i.e</a:t>
            </a:r>
            <a:r>
              <a:rPr lang="en-IN" sz="2400"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 we can use a pipe such that One process write to the pipe, and the other process reads from the pipe. It opens a pipe, which is an area of main memory that is treated as a </a:t>
            </a:r>
            <a:r>
              <a:rPr lang="en-IN" sz="2400" b="1" i="1"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“virtual file”</a:t>
            </a:r>
            <a:r>
              <a:rPr lang="en-IN" sz="2400"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a:t>
            </a:r>
            <a:endParaRPr lang="en-IN" sz="2400" dirty="0">
              <a:effectLst/>
              <a:highlight>
                <a:srgbClr val="FFFFFF"/>
              </a:highlight>
              <a:latin typeface="+mj-lt"/>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400"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The pipe can be used by the creating process, as well as all its child processes, for reading and writing. One process can write to this “virtual file” or pipe and another related process can read from it.</a:t>
            </a:r>
            <a:endParaRPr lang="en-IN" sz="2400" dirty="0">
              <a:effectLst/>
              <a:highlight>
                <a:srgbClr val="FFFFFF"/>
              </a:highlight>
              <a:latin typeface="+mj-lt"/>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400"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If a process tries to read before something is written to the pipe, the process is suspended until something is written.</a:t>
            </a:r>
            <a:endParaRPr lang="en-IN" sz="2400" dirty="0">
              <a:effectLst/>
              <a:highlight>
                <a:srgbClr val="FFFFFF"/>
              </a:highlight>
              <a:latin typeface="+mj-lt"/>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400" spc="10" dirty="0">
                <a:solidFill>
                  <a:srgbClr val="273239"/>
                </a:solidFill>
                <a:effectLst/>
                <a:highlight>
                  <a:srgbClr val="FFFFFF"/>
                </a:highlight>
                <a:latin typeface="+mj-lt"/>
                <a:ea typeface="Times New Roman" panose="02020603050405020304" pitchFamily="18" charset="0"/>
                <a:cs typeface="Times New Roman" panose="02020603050405020304" pitchFamily="18" charset="0"/>
              </a:rPr>
              <a:t>The pipe system call finds the first two available positions in the process’s open file table and allocates them for the read and write ends of the pipe.</a:t>
            </a:r>
            <a:endParaRPr lang="en-IN" sz="2400" dirty="0">
              <a:effectLst/>
              <a:highlight>
                <a:srgbClr val="FFFFFF"/>
              </a:highlight>
              <a:latin typeface="+mj-l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81759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88733-4AA7-7238-2504-1296B4FE817B}"/>
              </a:ext>
            </a:extLst>
          </p:cNvPr>
          <p:cNvSpPr>
            <a:spLocks noGrp="1"/>
          </p:cNvSpPr>
          <p:nvPr>
            <p:ph type="title"/>
          </p:nvPr>
        </p:nvSpPr>
        <p:spPr/>
        <p:txBody>
          <a:bodyPr/>
          <a:lstStyle/>
          <a:p>
            <a:r>
              <a:rPr lang="en-IN" dirty="0"/>
              <a:t>How pipe works</a:t>
            </a:r>
          </a:p>
        </p:txBody>
      </p:sp>
      <p:pic>
        <p:nvPicPr>
          <p:cNvPr id="4" name="Content Placeholder 3">
            <a:extLst>
              <a:ext uri="{FF2B5EF4-FFF2-40B4-BE49-F238E27FC236}">
                <a16:creationId xmlns:a16="http://schemas.microsoft.com/office/drawing/2014/main" id="{1BCB3233-C636-9076-D744-A5D71C73338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5696" y="1435416"/>
            <a:ext cx="5986230" cy="3649768"/>
          </a:xfrm>
          <a:prstGeom prst="rect">
            <a:avLst/>
          </a:prstGeom>
          <a:noFill/>
          <a:ln>
            <a:noFill/>
          </a:ln>
        </p:spPr>
      </p:pic>
    </p:spTree>
    <p:extLst>
      <p:ext uri="{BB962C8B-B14F-4D97-AF65-F5344CB8AC3E}">
        <p14:creationId xmlns:p14="http://schemas.microsoft.com/office/powerpoint/2010/main" val="1960180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924A3-1A38-BB62-690A-4313EB410A4D}"/>
              </a:ext>
            </a:extLst>
          </p:cNvPr>
          <p:cNvSpPr>
            <a:spLocks noGrp="1"/>
          </p:cNvSpPr>
          <p:nvPr>
            <p:ph type="title"/>
          </p:nvPr>
        </p:nvSpPr>
        <p:spPr>
          <a:xfrm>
            <a:off x="457200" y="14842"/>
            <a:ext cx="8229600" cy="1143000"/>
          </a:xfrm>
        </p:spPr>
        <p:txBody>
          <a:bodyPr/>
          <a:lstStyle/>
          <a:p>
            <a:r>
              <a:rPr lang="en-IN" dirty="0"/>
              <a:t>Pipe implementation</a:t>
            </a:r>
          </a:p>
        </p:txBody>
      </p:sp>
      <p:sp>
        <p:nvSpPr>
          <p:cNvPr id="3" name="Content Placeholder 2">
            <a:extLst>
              <a:ext uri="{FF2B5EF4-FFF2-40B4-BE49-F238E27FC236}">
                <a16:creationId xmlns:a16="http://schemas.microsoft.com/office/drawing/2014/main" id="{33B511BB-662D-FC7C-473D-3B72F0E15728}"/>
              </a:ext>
            </a:extLst>
          </p:cNvPr>
          <p:cNvSpPr>
            <a:spLocks noGrp="1"/>
          </p:cNvSpPr>
          <p:nvPr>
            <p:ph idx="1"/>
          </p:nvPr>
        </p:nvSpPr>
        <p:spPr>
          <a:xfrm>
            <a:off x="457200" y="980728"/>
            <a:ext cx="8229600" cy="5256584"/>
          </a:xfrm>
        </p:spPr>
        <p:txBody>
          <a:bodyPr>
            <a:normAutofit fontScale="40000" lnSpcReduction="20000"/>
          </a:bodyPr>
          <a:lstStyle/>
          <a:p>
            <a:pPr marL="0" indent="0">
              <a:lnSpc>
                <a:spcPct val="107000"/>
              </a:lnSpc>
              <a:spcAft>
                <a:spcPts val="800"/>
              </a:spcAft>
              <a:buNone/>
            </a:pPr>
            <a:r>
              <a:rPr lang="en-IN" sz="1800"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r>
              <a:rPr lang="en-IN" sz="4300" b="1"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Syntax in C language:</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int pipe(int </a:t>
            </a:r>
            <a:r>
              <a:rPr lang="en-IN" sz="4300" b="1" spc="10" dirty="0" err="1">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fds</a:t>
            </a: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[2]);</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 </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Parameters :</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b="1" spc="10" dirty="0" err="1">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fd</a:t>
            </a: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[0]</a:t>
            </a: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 will be the </a:t>
            </a:r>
            <a:r>
              <a:rPr lang="en-IN" sz="4300" spc="10" dirty="0" err="1">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fd</a:t>
            </a: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(file descriptor) for the </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read end of pipe.</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b="1" spc="10" dirty="0" err="1">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fd</a:t>
            </a: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[1]</a:t>
            </a: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 will be the </a:t>
            </a:r>
            <a:r>
              <a:rPr lang="en-IN" sz="4300" spc="10" dirty="0" err="1">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fd</a:t>
            </a: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 for the write end of pipe.</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Returns :</a:t>
            </a: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 0 on Success.</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4300" b="1"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-1</a:t>
            </a:r>
            <a:r>
              <a:rPr lang="en-IN" sz="4300" spc="10" dirty="0">
                <a:solidFill>
                  <a:srgbClr val="273239"/>
                </a:solidFill>
                <a:effectLst/>
                <a:highlight>
                  <a:srgbClr val="FFFFFF"/>
                </a:highlight>
                <a:latin typeface="Consolas" panose="020B0609020204030204" pitchFamily="49" charset="0"/>
                <a:ea typeface="Times New Roman" panose="02020603050405020304" pitchFamily="18" charset="0"/>
                <a:cs typeface="Courier New" panose="02070309020205020404" pitchFamily="49" charset="0"/>
              </a:rPr>
              <a:t> on error.</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r>
              <a:rPr lang="en-IN" sz="4300"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Pipes behave </a:t>
            </a:r>
            <a:r>
              <a:rPr lang="en-IN" sz="4300" b="1"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FIFO</a:t>
            </a:r>
            <a:r>
              <a:rPr lang="en-IN" sz="4300"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(First in First out), Pipe behave like a </a:t>
            </a:r>
            <a:r>
              <a:rPr lang="en-IN" sz="4300" b="1"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queue</a:t>
            </a:r>
            <a:r>
              <a:rPr lang="en-IN" sz="4300"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 data structure. Size of read and write don’t have to match here. We can write </a:t>
            </a:r>
            <a:r>
              <a:rPr lang="en-IN" sz="4300" b="1"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512</a:t>
            </a:r>
            <a:r>
              <a:rPr lang="en-IN" sz="4300" spc="10" dirty="0">
                <a:solidFill>
                  <a:srgbClr val="273239"/>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 bytes at a time but we can read only 1 byte at a time in a pipe.</a:t>
            </a:r>
            <a:endParaRPr lang="en-IN" sz="4500" spc="10" dirty="0">
              <a:solidFill>
                <a:srgbClr val="273239"/>
              </a:solidFill>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7000"/>
              </a:lnSpc>
              <a:spcAft>
                <a:spcPts val="800"/>
              </a:spcAft>
              <a:buNone/>
            </a:pPr>
            <a:r>
              <a:rPr lang="en-IN" sz="4500" spc="10" dirty="0">
                <a:solidFill>
                  <a:srgbClr val="273239"/>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Code in </a:t>
            </a:r>
            <a:r>
              <a:rPr lang="en-IN" sz="4500" spc="10" dirty="0">
                <a:solidFill>
                  <a:srgbClr val="273239"/>
                </a:solidFill>
                <a:highlight>
                  <a:srgbClr val="FFFFFF"/>
                </a:highlight>
                <a:latin typeface="Calibri" panose="020F0502020204030204" pitchFamily="34" charset="0"/>
                <a:ea typeface="Calibri" panose="020F0502020204030204" pitchFamily="34" charset="0"/>
                <a:cs typeface="Times New Roman" panose="02020603050405020304" pitchFamily="18" charset="0"/>
              </a:rPr>
              <a:t>the file “</a:t>
            </a:r>
            <a:r>
              <a:rPr lang="en-IN" sz="4500" spc="10" dirty="0" err="1">
                <a:solidFill>
                  <a:srgbClr val="273239"/>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pipe.c</a:t>
            </a:r>
            <a:r>
              <a:rPr lang="en-IN" sz="4500" spc="10" dirty="0">
                <a:solidFill>
                  <a:srgbClr val="273239"/>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a:t>
            </a:r>
            <a:endParaRPr lang="en-IN" sz="43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95182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8445-1FEB-F2A0-C709-AFC6D41F56B3}"/>
              </a:ext>
            </a:extLst>
          </p:cNvPr>
          <p:cNvSpPr>
            <a:spLocks noGrp="1"/>
          </p:cNvSpPr>
          <p:nvPr>
            <p:ph type="title"/>
          </p:nvPr>
        </p:nvSpPr>
        <p:spPr>
          <a:xfrm>
            <a:off x="459811" y="160337"/>
            <a:ext cx="8229600" cy="1143000"/>
          </a:xfrm>
        </p:spPr>
        <p:txBody>
          <a:bodyPr/>
          <a:lstStyle/>
          <a:p>
            <a:r>
              <a:rPr lang="en-IN" dirty="0"/>
              <a:t>FIFO : Named pipes</a:t>
            </a:r>
          </a:p>
        </p:txBody>
      </p:sp>
      <p:sp>
        <p:nvSpPr>
          <p:cNvPr id="3" name="Content Placeholder 2">
            <a:extLst>
              <a:ext uri="{FF2B5EF4-FFF2-40B4-BE49-F238E27FC236}">
                <a16:creationId xmlns:a16="http://schemas.microsoft.com/office/drawing/2014/main" id="{33483441-A094-F43B-9FB0-C6467559B28D}"/>
              </a:ext>
            </a:extLst>
          </p:cNvPr>
          <p:cNvSpPr>
            <a:spLocks noGrp="1"/>
          </p:cNvSpPr>
          <p:nvPr>
            <p:ph idx="1"/>
          </p:nvPr>
        </p:nvSpPr>
        <p:spPr>
          <a:xfrm>
            <a:off x="453732" y="1277135"/>
            <a:ext cx="8229600" cy="5420528"/>
          </a:xfrm>
        </p:spPr>
        <p:txBody>
          <a:bodyPr>
            <a:normAutofit fontScale="92500" lnSpcReduction="10000"/>
          </a:bodyPr>
          <a:lstStyle/>
          <a:p>
            <a:r>
              <a:rPr lang="en-US" sz="2400" b="0" i="0" dirty="0">
                <a:effectLst/>
                <a:latin typeface="Google Sans"/>
              </a:rPr>
              <a:t>A traditional pipe is "unnamed" and lasts only as long as the process.</a:t>
            </a:r>
            <a:r>
              <a:rPr lang="en-US" sz="2400" b="0" i="0" dirty="0">
                <a:effectLst/>
                <a:highlight>
                  <a:srgbClr val="FFFFFF"/>
                </a:highlight>
                <a:latin typeface="Google Sans"/>
              </a:rPr>
              <a:t> </a:t>
            </a:r>
            <a:r>
              <a:rPr lang="en-US" sz="2400" b="0" i="0" dirty="0">
                <a:effectLst/>
                <a:latin typeface="Google Sans"/>
              </a:rPr>
              <a:t>A named pipe, however, can last as long as the system is up, beyond the life of the process</a:t>
            </a:r>
            <a:r>
              <a:rPr lang="en-US" sz="2400" b="0" i="0" dirty="0">
                <a:effectLst/>
                <a:highlight>
                  <a:srgbClr val="FFFFFF"/>
                </a:highlight>
                <a:latin typeface="Google Sans"/>
              </a:rPr>
              <a:t>.</a:t>
            </a:r>
          </a:p>
          <a:p>
            <a:r>
              <a:rPr lang="en-US" sz="2400" dirty="0">
                <a:latin typeface="Google Sans"/>
              </a:rPr>
              <a:t>It can be deleted if no longer used. Usually, a named pipe appears as a file, and generally, processes attach to it for IPC.</a:t>
            </a:r>
          </a:p>
          <a:p>
            <a:pPr fontAlgn="base"/>
            <a:r>
              <a:rPr lang="en-US" sz="2400" dirty="0">
                <a:latin typeface="Google Sans"/>
              </a:rPr>
              <a:t>An unnamed pipe is only used for communication between a child and its parent process, while a named pipe can be used for communication between two unnamed processes as well. Processes of different ancestry can share data through a named pipe.</a:t>
            </a:r>
          </a:p>
          <a:p>
            <a:pPr fontAlgn="base"/>
            <a:r>
              <a:rPr lang="en-US" sz="2400" dirty="0">
                <a:latin typeface="Google Sans"/>
              </a:rPr>
              <a:t>A named pipe exists in the file system. After input-output has been performed by the sharing processes, the pipe still exists in the file system independently of the process and can be used for communication between some other processes. On the other hand, an unnamed pipe vanishes as soon as it is closed, or one of the process (parent or child) completes execution.</a:t>
            </a:r>
          </a:p>
        </p:txBody>
      </p:sp>
    </p:spTree>
    <p:extLst>
      <p:ext uri="{BB962C8B-B14F-4D97-AF65-F5344CB8AC3E}">
        <p14:creationId xmlns:p14="http://schemas.microsoft.com/office/powerpoint/2010/main" val="430146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8445-1FEB-F2A0-C709-AFC6D41F56B3}"/>
              </a:ext>
            </a:extLst>
          </p:cNvPr>
          <p:cNvSpPr>
            <a:spLocks noGrp="1"/>
          </p:cNvSpPr>
          <p:nvPr>
            <p:ph type="title"/>
          </p:nvPr>
        </p:nvSpPr>
        <p:spPr>
          <a:xfrm>
            <a:off x="459811" y="160337"/>
            <a:ext cx="8229600" cy="1143000"/>
          </a:xfrm>
        </p:spPr>
        <p:txBody>
          <a:bodyPr/>
          <a:lstStyle/>
          <a:p>
            <a:r>
              <a:rPr lang="en-IN" dirty="0"/>
              <a:t>FIFO : Named pipes</a:t>
            </a:r>
          </a:p>
        </p:txBody>
      </p:sp>
      <p:sp>
        <p:nvSpPr>
          <p:cNvPr id="3" name="Content Placeholder 2">
            <a:extLst>
              <a:ext uri="{FF2B5EF4-FFF2-40B4-BE49-F238E27FC236}">
                <a16:creationId xmlns:a16="http://schemas.microsoft.com/office/drawing/2014/main" id="{33483441-A094-F43B-9FB0-C6467559B28D}"/>
              </a:ext>
            </a:extLst>
          </p:cNvPr>
          <p:cNvSpPr>
            <a:spLocks noGrp="1"/>
          </p:cNvSpPr>
          <p:nvPr>
            <p:ph idx="1"/>
          </p:nvPr>
        </p:nvSpPr>
        <p:spPr>
          <a:xfrm>
            <a:off x="453732" y="1277135"/>
            <a:ext cx="8229600" cy="5420528"/>
          </a:xfrm>
        </p:spPr>
        <p:txBody>
          <a:bodyPr>
            <a:normAutofit fontScale="85000" lnSpcReduction="10000"/>
          </a:bodyPr>
          <a:lstStyle/>
          <a:p>
            <a:pPr marL="0" indent="0">
              <a:buNone/>
            </a:pPr>
            <a:r>
              <a:rPr lang="en-US" sz="2400" dirty="0">
                <a:latin typeface="Google Sans"/>
              </a:rPr>
              <a:t>Creating a FIFO file: In order to create a FIFO file, a function calls i.e. </a:t>
            </a:r>
            <a:r>
              <a:rPr lang="en-US" sz="2400" dirty="0" err="1">
                <a:latin typeface="Google Sans"/>
              </a:rPr>
              <a:t>mkfifo</a:t>
            </a:r>
            <a:r>
              <a:rPr lang="en-US" sz="2400" dirty="0">
                <a:latin typeface="Google Sans"/>
              </a:rPr>
              <a:t>() is used.</a:t>
            </a:r>
          </a:p>
          <a:p>
            <a:pPr marL="0" indent="0">
              <a:buNone/>
            </a:pPr>
            <a:endParaRPr lang="en-US" sz="2400" dirty="0">
              <a:latin typeface="Google Sans"/>
            </a:endParaRPr>
          </a:p>
          <a:p>
            <a:pPr marL="0" indent="0">
              <a:buNone/>
            </a:pPr>
            <a:r>
              <a:rPr lang="en-US" sz="2400" i="1" dirty="0">
                <a:latin typeface="Google Sans"/>
              </a:rPr>
              <a:t>int </a:t>
            </a:r>
            <a:r>
              <a:rPr lang="en-US" sz="2400" i="1" dirty="0" err="1">
                <a:latin typeface="Google Sans"/>
              </a:rPr>
              <a:t>mkfifo</a:t>
            </a:r>
            <a:r>
              <a:rPr lang="en-US" sz="2400" i="1" dirty="0">
                <a:latin typeface="Google Sans"/>
              </a:rPr>
              <a:t>(const char *pathname, </a:t>
            </a:r>
            <a:r>
              <a:rPr lang="en-US" sz="2400" i="1" dirty="0" err="1">
                <a:latin typeface="Google Sans"/>
              </a:rPr>
              <a:t>mode_t</a:t>
            </a:r>
            <a:r>
              <a:rPr lang="en-US" sz="2400" i="1" dirty="0">
                <a:latin typeface="Google Sans"/>
              </a:rPr>
              <a:t> mode);</a:t>
            </a:r>
          </a:p>
          <a:p>
            <a:pPr marL="0" indent="0">
              <a:buNone/>
            </a:pPr>
            <a:endParaRPr lang="en-US" sz="2400" i="1" dirty="0">
              <a:latin typeface="Google Sans"/>
            </a:endParaRPr>
          </a:p>
          <a:p>
            <a:pPr marL="0" indent="0">
              <a:buNone/>
            </a:pPr>
            <a:r>
              <a:rPr lang="en-US" sz="2400" dirty="0" err="1">
                <a:latin typeface="Google Sans"/>
              </a:rPr>
              <a:t>mkfifo</a:t>
            </a:r>
            <a:r>
              <a:rPr lang="en-US" sz="2400" dirty="0">
                <a:latin typeface="Google Sans"/>
              </a:rPr>
              <a:t>() makes a FIFO special file with name pathname. </a:t>
            </a:r>
          </a:p>
          <a:p>
            <a:pPr marL="0" indent="0">
              <a:buNone/>
            </a:pPr>
            <a:r>
              <a:rPr lang="en-US" sz="2400" dirty="0">
                <a:latin typeface="Google Sans"/>
              </a:rPr>
              <a:t>Here mode specifies the FIFO’s permissions. It is modified by the process’s</a:t>
            </a:r>
          </a:p>
          <a:p>
            <a:pPr marL="0" indent="0">
              <a:buNone/>
            </a:pPr>
            <a:r>
              <a:rPr lang="en-US" sz="2400" dirty="0" err="1">
                <a:latin typeface="Google Sans"/>
              </a:rPr>
              <a:t>umask</a:t>
            </a:r>
            <a:r>
              <a:rPr lang="en-US" sz="2400" dirty="0">
                <a:latin typeface="Google Sans"/>
              </a:rPr>
              <a:t> in the usual way: the permissions of the created file are (mode &amp;amp;</a:t>
            </a:r>
          </a:p>
          <a:p>
            <a:pPr marL="0" indent="0">
              <a:buNone/>
            </a:pPr>
            <a:r>
              <a:rPr lang="en-US" sz="2400" dirty="0">
                <a:latin typeface="Google Sans"/>
              </a:rPr>
              <a:t>~</a:t>
            </a:r>
            <a:r>
              <a:rPr lang="en-US" sz="2400" dirty="0" err="1">
                <a:latin typeface="Google Sans"/>
              </a:rPr>
              <a:t>umask</a:t>
            </a:r>
            <a:r>
              <a:rPr lang="en-US" sz="2400" dirty="0">
                <a:latin typeface="Google Sans"/>
              </a:rPr>
              <a:t>).</a:t>
            </a:r>
          </a:p>
          <a:p>
            <a:pPr marL="0" indent="0">
              <a:buNone/>
            </a:pPr>
            <a:endParaRPr lang="en-US" sz="2400" dirty="0">
              <a:latin typeface="Google Sans"/>
            </a:endParaRPr>
          </a:p>
          <a:p>
            <a:pPr marL="0" indent="0">
              <a:buNone/>
            </a:pPr>
            <a:r>
              <a:rPr lang="en-US" sz="2400" dirty="0">
                <a:latin typeface="Google Sans"/>
              </a:rPr>
              <a:t>Using FIFO: As named pipe(FIFO) is a kind of file, we can use all the</a:t>
            </a:r>
          </a:p>
          <a:p>
            <a:pPr marL="0" indent="0">
              <a:buNone/>
            </a:pPr>
            <a:r>
              <a:rPr lang="en-US" sz="2400" dirty="0">
                <a:latin typeface="Google Sans"/>
              </a:rPr>
              <a:t>system calls associated with it i.e. open, read, write, close.</a:t>
            </a:r>
          </a:p>
          <a:p>
            <a:pPr marL="0" indent="0">
              <a:buNone/>
            </a:pPr>
            <a:r>
              <a:rPr lang="en-US" sz="2400" dirty="0">
                <a:latin typeface="Google Sans"/>
              </a:rPr>
              <a:t>Example Programs to illustrate the named pipe: There are two programs</a:t>
            </a:r>
          </a:p>
          <a:p>
            <a:pPr marL="0" indent="0">
              <a:buNone/>
            </a:pPr>
            <a:r>
              <a:rPr lang="en-US" sz="2400" dirty="0">
                <a:latin typeface="Google Sans"/>
              </a:rPr>
              <a:t>that use the same FIFO. Program 1 writes first, then reads. The program 2</a:t>
            </a:r>
          </a:p>
          <a:p>
            <a:pPr marL="0" indent="0">
              <a:buNone/>
            </a:pPr>
            <a:r>
              <a:rPr lang="en-US" sz="2400" dirty="0">
                <a:latin typeface="Google Sans"/>
              </a:rPr>
              <a:t>reads first, then writes. They both keep doing it until terminated.</a:t>
            </a:r>
          </a:p>
        </p:txBody>
      </p:sp>
    </p:spTree>
    <p:extLst>
      <p:ext uri="{BB962C8B-B14F-4D97-AF65-F5344CB8AC3E}">
        <p14:creationId xmlns:p14="http://schemas.microsoft.com/office/powerpoint/2010/main" val="2123576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8445-1FEB-F2A0-C709-AFC6D41F56B3}"/>
              </a:ext>
            </a:extLst>
          </p:cNvPr>
          <p:cNvSpPr>
            <a:spLocks noGrp="1"/>
          </p:cNvSpPr>
          <p:nvPr>
            <p:ph type="title"/>
          </p:nvPr>
        </p:nvSpPr>
        <p:spPr>
          <a:xfrm>
            <a:off x="459811" y="160337"/>
            <a:ext cx="8229600" cy="1143000"/>
          </a:xfrm>
        </p:spPr>
        <p:txBody>
          <a:bodyPr/>
          <a:lstStyle/>
          <a:p>
            <a:r>
              <a:rPr lang="en-IN" dirty="0"/>
              <a:t>Named pipes - code</a:t>
            </a:r>
          </a:p>
        </p:txBody>
      </p:sp>
      <p:sp>
        <p:nvSpPr>
          <p:cNvPr id="5" name="Content Placeholder 4">
            <a:extLst>
              <a:ext uri="{FF2B5EF4-FFF2-40B4-BE49-F238E27FC236}">
                <a16:creationId xmlns:a16="http://schemas.microsoft.com/office/drawing/2014/main" id="{2F2C9E64-6F7B-5644-5E61-765C5D592161}"/>
              </a:ext>
            </a:extLst>
          </p:cNvPr>
          <p:cNvSpPr>
            <a:spLocks noGrp="1"/>
          </p:cNvSpPr>
          <p:nvPr>
            <p:ph idx="1"/>
          </p:nvPr>
        </p:nvSpPr>
        <p:spPr>
          <a:xfrm>
            <a:off x="454588" y="1166018"/>
            <a:ext cx="3973395" cy="5431334"/>
          </a:xfrm>
        </p:spPr>
        <p:txBody>
          <a:bodyPr>
            <a:normAutofit fontScale="32500" lnSpcReduction="20000"/>
          </a:bodyPr>
          <a:lstStyle/>
          <a:p>
            <a:pPr marL="0" indent="0">
              <a:buNone/>
            </a:pPr>
            <a:r>
              <a:rPr lang="en-IN" sz="4300" dirty="0"/>
              <a:t>#include &lt;</a:t>
            </a:r>
            <a:r>
              <a:rPr lang="en-IN" sz="4300" dirty="0" err="1"/>
              <a:t>stdio.h</a:t>
            </a:r>
            <a:r>
              <a:rPr lang="en-IN" sz="4300" dirty="0"/>
              <a:t>&gt;</a:t>
            </a:r>
          </a:p>
          <a:p>
            <a:pPr marL="0" indent="0">
              <a:buNone/>
            </a:pPr>
            <a:r>
              <a:rPr lang="en-IN" sz="4300" dirty="0"/>
              <a:t>#include &lt;</a:t>
            </a:r>
            <a:r>
              <a:rPr lang="en-IN" sz="4300" dirty="0" err="1"/>
              <a:t>string.h</a:t>
            </a:r>
            <a:r>
              <a:rPr lang="en-IN" sz="4300" dirty="0"/>
              <a:t>&gt;</a:t>
            </a:r>
          </a:p>
          <a:p>
            <a:pPr marL="0" indent="0">
              <a:buNone/>
            </a:pPr>
            <a:r>
              <a:rPr lang="en-IN" sz="4300" dirty="0"/>
              <a:t>#include &lt;</a:t>
            </a:r>
            <a:r>
              <a:rPr lang="en-IN" sz="4300" dirty="0" err="1"/>
              <a:t>fcntl.h</a:t>
            </a:r>
            <a:r>
              <a:rPr lang="en-IN" sz="4300" dirty="0"/>
              <a:t>&gt;</a:t>
            </a:r>
          </a:p>
          <a:p>
            <a:pPr marL="0" indent="0">
              <a:buNone/>
            </a:pPr>
            <a:r>
              <a:rPr lang="en-IN" sz="4300" dirty="0"/>
              <a:t>#include &lt;sys/</a:t>
            </a:r>
            <a:r>
              <a:rPr lang="en-IN" sz="4300" dirty="0" err="1"/>
              <a:t>stat.h</a:t>
            </a:r>
            <a:r>
              <a:rPr lang="en-IN" sz="4300" dirty="0"/>
              <a:t>&gt;</a:t>
            </a:r>
          </a:p>
          <a:p>
            <a:pPr marL="0" indent="0">
              <a:buNone/>
            </a:pPr>
            <a:r>
              <a:rPr lang="en-IN" sz="4300" dirty="0"/>
              <a:t>#include &lt;sys/</a:t>
            </a:r>
            <a:r>
              <a:rPr lang="en-IN" sz="4300" dirty="0" err="1"/>
              <a:t>types.h</a:t>
            </a:r>
            <a:r>
              <a:rPr lang="en-IN" sz="4300" dirty="0"/>
              <a:t>&gt;</a:t>
            </a:r>
          </a:p>
          <a:p>
            <a:pPr marL="0" indent="0">
              <a:buNone/>
            </a:pPr>
            <a:r>
              <a:rPr lang="en-IN" sz="4300" dirty="0"/>
              <a:t>#include &lt;</a:t>
            </a:r>
            <a:r>
              <a:rPr lang="en-IN" sz="4300" dirty="0" err="1"/>
              <a:t>unistd.h</a:t>
            </a:r>
            <a:r>
              <a:rPr lang="en-IN" sz="4300" dirty="0"/>
              <a:t>&gt;</a:t>
            </a:r>
          </a:p>
          <a:p>
            <a:pPr marL="0" indent="0">
              <a:buNone/>
            </a:pPr>
            <a:r>
              <a:rPr lang="en-IN" sz="4300" dirty="0"/>
              <a:t> </a:t>
            </a:r>
          </a:p>
          <a:p>
            <a:pPr marL="0" indent="0">
              <a:buNone/>
            </a:pPr>
            <a:r>
              <a:rPr lang="en-IN" sz="4300" dirty="0"/>
              <a:t>int main()</a:t>
            </a:r>
          </a:p>
          <a:p>
            <a:pPr marL="0" indent="0">
              <a:buNone/>
            </a:pPr>
            <a:r>
              <a:rPr lang="en-IN" sz="4300" dirty="0"/>
              <a:t>{</a:t>
            </a:r>
          </a:p>
          <a:p>
            <a:pPr marL="0" indent="0">
              <a:buNone/>
            </a:pPr>
            <a:r>
              <a:rPr lang="en-IN" sz="4300" dirty="0"/>
              <a:t>    int </a:t>
            </a:r>
            <a:r>
              <a:rPr lang="en-IN" sz="4300" dirty="0" err="1"/>
              <a:t>fd</a:t>
            </a:r>
            <a:r>
              <a:rPr lang="en-IN" sz="4300" dirty="0"/>
              <a:t>;</a:t>
            </a:r>
          </a:p>
          <a:p>
            <a:pPr marL="0" indent="0">
              <a:buNone/>
            </a:pPr>
            <a:r>
              <a:rPr lang="en-IN" sz="4300" dirty="0"/>
              <a:t> </a:t>
            </a:r>
          </a:p>
          <a:p>
            <a:pPr marL="0" indent="0">
              <a:buNone/>
            </a:pPr>
            <a:r>
              <a:rPr lang="en-IN" sz="4300" dirty="0"/>
              <a:t>    // FIFO file path</a:t>
            </a:r>
          </a:p>
          <a:p>
            <a:pPr marL="0" indent="0">
              <a:buNone/>
            </a:pPr>
            <a:r>
              <a:rPr lang="en-IN" sz="4300" dirty="0"/>
              <a:t>    char * </a:t>
            </a:r>
            <a:r>
              <a:rPr lang="en-IN" sz="4300" dirty="0" err="1"/>
              <a:t>myfifo</a:t>
            </a:r>
            <a:r>
              <a:rPr lang="en-IN" sz="4300" dirty="0"/>
              <a:t> = "/</a:t>
            </a:r>
            <a:r>
              <a:rPr lang="en-IN" sz="4300" dirty="0" err="1"/>
              <a:t>tmp</a:t>
            </a:r>
            <a:r>
              <a:rPr lang="en-IN" sz="4300" dirty="0"/>
              <a:t>/</a:t>
            </a:r>
            <a:r>
              <a:rPr lang="en-IN" sz="4300" dirty="0" err="1"/>
              <a:t>myfifo</a:t>
            </a:r>
            <a:r>
              <a:rPr lang="en-IN" sz="4300" dirty="0"/>
              <a:t>";</a:t>
            </a:r>
          </a:p>
          <a:p>
            <a:pPr marL="0" indent="0">
              <a:buNone/>
            </a:pPr>
            <a:r>
              <a:rPr lang="en-IN" sz="4300" dirty="0"/>
              <a:t> </a:t>
            </a:r>
          </a:p>
          <a:p>
            <a:pPr marL="0" indent="0">
              <a:buNone/>
            </a:pPr>
            <a:r>
              <a:rPr lang="en-IN" sz="4300" dirty="0"/>
              <a:t>    // Creating the named file(FIFO)</a:t>
            </a:r>
          </a:p>
          <a:p>
            <a:pPr marL="0" indent="0">
              <a:buNone/>
            </a:pPr>
            <a:r>
              <a:rPr lang="en-IN" sz="4300" dirty="0"/>
              <a:t>    // </a:t>
            </a:r>
            <a:r>
              <a:rPr lang="en-IN" sz="4300" dirty="0" err="1"/>
              <a:t>mkfifo</a:t>
            </a:r>
            <a:r>
              <a:rPr lang="en-IN" sz="4300" dirty="0"/>
              <a:t>(&lt;pathname&gt;, &lt;permission&gt;)</a:t>
            </a:r>
          </a:p>
          <a:p>
            <a:pPr marL="0" indent="0">
              <a:buNone/>
            </a:pPr>
            <a:r>
              <a:rPr lang="en-IN" sz="4300" dirty="0"/>
              <a:t>    </a:t>
            </a:r>
            <a:r>
              <a:rPr lang="en-IN" sz="4300" dirty="0" err="1"/>
              <a:t>mkfifo</a:t>
            </a:r>
            <a:r>
              <a:rPr lang="en-IN" sz="4300" dirty="0"/>
              <a:t>(</a:t>
            </a:r>
            <a:r>
              <a:rPr lang="en-IN" sz="4300" dirty="0" err="1"/>
              <a:t>myfifo</a:t>
            </a:r>
            <a:r>
              <a:rPr lang="en-IN" sz="4300" dirty="0"/>
              <a:t>, 0666);</a:t>
            </a:r>
          </a:p>
          <a:p>
            <a:pPr marL="0" indent="0">
              <a:buNone/>
            </a:pPr>
            <a:r>
              <a:rPr lang="en-IN" sz="4300" dirty="0"/>
              <a:t> </a:t>
            </a:r>
          </a:p>
          <a:p>
            <a:pPr marL="0" indent="0">
              <a:buNone/>
            </a:pPr>
            <a:r>
              <a:rPr lang="en-IN" sz="4300" dirty="0"/>
              <a:t>    char arr1[80], arr2[80];</a:t>
            </a:r>
          </a:p>
          <a:p>
            <a:pPr marL="0" indent="0">
              <a:buNone/>
            </a:pPr>
            <a:r>
              <a:rPr lang="en-IN" sz="4300" dirty="0"/>
              <a:t>    while (1)</a:t>
            </a:r>
          </a:p>
          <a:p>
            <a:pPr marL="0" indent="0">
              <a:buNone/>
            </a:pPr>
            <a:r>
              <a:rPr lang="en-IN" sz="4300" dirty="0"/>
              <a:t>    {</a:t>
            </a:r>
          </a:p>
          <a:p>
            <a:pPr marL="0" indent="0">
              <a:buNone/>
            </a:pPr>
            <a:r>
              <a:rPr lang="en-IN" sz="4300" dirty="0"/>
              <a:t>        // Open FIFO for write only</a:t>
            </a:r>
          </a:p>
          <a:p>
            <a:pPr marL="0" indent="0">
              <a:buNone/>
            </a:pPr>
            <a:r>
              <a:rPr lang="en-IN" sz="4300" dirty="0"/>
              <a:t>        </a:t>
            </a:r>
            <a:r>
              <a:rPr lang="en-IN" sz="4300" dirty="0" err="1"/>
              <a:t>fd</a:t>
            </a:r>
            <a:r>
              <a:rPr lang="en-IN" sz="4300" dirty="0"/>
              <a:t> = open(</a:t>
            </a:r>
            <a:r>
              <a:rPr lang="en-IN" sz="4300" dirty="0" err="1"/>
              <a:t>myfifo</a:t>
            </a:r>
            <a:r>
              <a:rPr lang="en-IN" sz="4300" dirty="0"/>
              <a:t>, O_WRONLY);</a:t>
            </a:r>
          </a:p>
          <a:p>
            <a:pPr marL="0" indent="0">
              <a:buNone/>
            </a:pPr>
            <a:r>
              <a:rPr lang="en-IN" dirty="0"/>
              <a:t> </a:t>
            </a:r>
          </a:p>
          <a:p>
            <a:endParaRPr lang="en-IN" dirty="0"/>
          </a:p>
        </p:txBody>
      </p:sp>
      <p:sp>
        <p:nvSpPr>
          <p:cNvPr id="6" name="Content Placeholder 4">
            <a:extLst>
              <a:ext uri="{FF2B5EF4-FFF2-40B4-BE49-F238E27FC236}">
                <a16:creationId xmlns:a16="http://schemas.microsoft.com/office/drawing/2014/main" id="{4B8F6A88-0AD8-52AC-1733-8FBF3E80657E}"/>
              </a:ext>
            </a:extLst>
          </p:cNvPr>
          <p:cNvSpPr txBox="1">
            <a:spLocks/>
          </p:cNvSpPr>
          <p:nvPr/>
        </p:nvSpPr>
        <p:spPr>
          <a:xfrm>
            <a:off x="4825333" y="1303337"/>
            <a:ext cx="3466728" cy="5294015"/>
          </a:xfrm>
          <a:prstGeom prst="rect">
            <a:avLst/>
          </a:prstGeom>
        </p:spPr>
        <p:txBody>
          <a:bodyPr vert="horz" lIns="91440" tIns="45720" rIns="91440" bIns="45720" rtlCol="0">
            <a:normAutofit fontScale="3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4300" dirty="0"/>
              <a:t> </a:t>
            </a:r>
          </a:p>
          <a:p>
            <a:pPr marL="0" indent="0">
              <a:buNone/>
            </a:pPr>
            <a:r>
              <a:rPr lang="en-IN" sz="4300" dirty="0"/>
              <a:t>        // Take an input arr2ing from user.</a:t>
            </a:r>
          </a:p>
          <a:p>
            <a:pPr marL="0" indent="0">
              <a:buNone/>
            </a:pPr>
            <a:r>
              <a:rPr lang="en-IN" sz="4300" dirty="0"/>
              <a:t>        // 80 is maximum length</a:t>
            </a:r>
          </a:p>
          <a:p>
            <a:pPr marL="0" indent="0">
              <a:buNone/>
            </a:pPr>
            <a:r>
              <a:rPr lang="en-IN" sz="4300" dirty="0"/>
              <a:t>        </a:t>
            </a:r>
            <a:r>
              <a:rPr lang="en-IN" sz="4300" dirty="0" err="1"/>
              <a:t>fgets</a:t>
            </a:r>
            <a:r>
              <a:rPr lang="en-IN" sz="4300" dirty="0"/>
              <a:t>(arr2, 80, stdin);</a:t>
            </a:r>
          </a:p>
          <a:p>
            <a:pPr marL="0" indent="0">
              <a:buNone/>
            </a:pPr>
            <a:r>
              <a:rPr lang="en-IN" sz="4300" dirty="0"/>
              <a:t> </a:t>
            </a:r>
          </a:p>
          <a:p>
            <a:pPr marL="0" indent="0">
              <a:buNone/>
            </a:pPr>
            <a:r>
              <a:rPr lang="en-IN" sz="4300" dirty="0"/>
              <a:t>        // Write the input arr2ing on FIFO</a:t>
            </a:r>
          </a:p>
          <a:p>
            <a:pPr marL="0" indent="0">
              <a:buNone/>
            </a:pPr>
            <a:r>
              <a:rPr lang="en-IN" sz="4300" dirty="0"/>
              <a:t>        // and close it</a:t>
            </a:r>
          </a:p>
          <a:p>
            <a:pPr marL="0" indent="0">
              <a:buNone/>
            </a:pPr>
            <a:r>
              <a:rPr lang="en-IN" sz="4300" dirty="0"/>
              <a:t>        write(</a:t>
            </a:r>
            <a:r>
              <a:rPr lang="en-IN" sz="4300" dirty="0" err="1"/>
              <a:t>fd</a:t>
            </a:r>
            <a:r>
              <a:rPr lang="en-IN" sz="4300" dirty="0"/>
              <a:t>, arr2, </a:t>
            </a:r>
            <a:r>
              <a:rPr lang="en-IN" sz="4300" dirty="0" err="1"/>
              <a:t>strlen</a:t>
            </a:r>
            <a:r>
              <a:rPr lang="en-IN" sz="4300" dirty="0"/>
              <a:t>(arr2)+1);</a:t>
            </a:r>
          </a:p>
          <a:p>
            <a:pPr marL="0" indent="0">
              <a:buNone/>
            </a:pPr>
            <a:r>
              <a:rPr lang="en-IN" sz="4300" dirty="0"/>
              <a:t>        close(</a:t>
            </a:r>
            <a:r>
              <a:rPr lang="en-IN" sz="4300" dirty="0" err="1"/>
              <a:t>fd</a:t>
            </a:r>
            <a:r>
              <a:rPr lang="en-IN" sz="4300" dirty="0"/>
              <a:t>);</a:t>
            </a:r>
          </a:p>
          <a:p>
            <a:pPr marL="0" indent="0">
              <a:buNone/>
            </a:pPr>
            <a:r>
              <a:rPr lang="en-IN" sz="4300" dirty="0"/>
              <a:t> </a:t>
            </a:r>
          </a:p>
          <a:p>
            <a:pPr marL="0" indent="0">
              <a:buNone/>
            </a:pPr>
            <a:r>
              <a:rPr lang="en-IN" sz="4300" dirty="0"/>
              <a:t>        // Open FIFO for Read only</a:t>
            </a:r>
          </a:p>
          <a:p>
            <a:pPr marL="0" indent="0">
              <a:buNone/>
            </a:pPr>
            <a:r>
              <a:rPr lang="en-IN" sz="4300" dirty="0"/>
              <a:t>        </a:t>
            </a:r>
            <a:r>
              <a:rPr lang="en-IN" sz="4300" dirty="0" err="1"/>
              <a:t>fd</a:t>
            </a:r>
            <a:r>
              <a:rPr lang="en-IN" sz="4300" dirty="0"/>
              <a:t> = open(</a:t>
            </a:r>
            <a:r>
              <a:rPr lang="en-IN" sz="4300" dirty="0" err="1"/>
              <a:t>myfifo</a:t>
            </a:r>
            <a:r>
              <a:rPr lang="en-IN" sz="4300" dirty="0"/>
              <a:t>, O_RDONLY);</a:t>
            </a:r>
          </a:p>
          <a:p>
            <a:pPr marL="0" indent="0">
              <a:buNone/>
            </a:pPr>
            <a:r>
              <a:rPr lang="en-IN" sz="4300" dirty="0"/>
              <a:t> </a:t>
            </a:r>
          </a:p>
          <a:p>
            <a:pPr marL="0" indent="0">
              <a:buNone/>
            </a:pPr>
            <a:r>
              <a:rPr lang="en-IN" sz="4300" dirty="0"/>
              <a:t>        // Read from FIFO</a:t>
            </a:r>
          </a:p>
          <a:p>
            <a:pPr marL="0" indent="0">
              <a:buNone/>
            </a:pPr>
            <a:r>
              <a:rPr lang="en-IN" sz="4300" dirty="0"/>
              <a:t>        read(</a:t>
            </a:r>
            <a:r>
              <a:rPr lang="en-IN" sz="4300" dirty="0" err="1"/>
              <a:t>fd</a:t>
            </a:r>
            <a:r>
              <a:rPr lang="en-IN" sz="4300" dirty="0"/>
              <a:t>, arr1, </a:t>
            </a:r>
            <a:r>
              <a:rPr lang="en-IN" sz="4300" dirty="0" err="1"/>
              <a:t>sizeof</a:t>
            </a:r>
            <a:r>
              <a:rPr lang="en-IN" sz="4300" dirty="0"/>
              <a:t>(arr1));</a:t>
            </a:r>
          </a:p>
          <a:p>
            <a:pPr marL="0" indent="0">
              <a:buNone/>
            </a:pPr>
            <a:r>
              <a:rPr lang="en-IN" sz="4300" dirty="0"/>
              <a:t> </a:t>
            </a:r>
          </a:p>
          <a:p>
            <a:pPr marL="0" indent="0">
              <a:buNone/>
            </a:pPr>
            <a:r>
              <a:rPr lang="en-IN" sz="4300" dirty="0"/>
              <a:t>        // Print the read message</a:t>
            </a:r>
          </a:p>
          <a:p>
            <a:pPr marL="0" indent="0">
              <a:buNone/>
            </a:pPr>
            <a:r>
              <a:rPr lang="en-IN" sz="4300" dirty="0"/>
              <a:t>        </a:t>
            </a:r>
            <a:r>
              <a:rPr lang="en-IN" sz="4300" dirty="0" err="1"/>
              <a:t>printf</a:t>
            </a:r>
            <a:r>
              <a:rPr lang="en-IN" sz="4300" dirty="0"/>
              <a:t>("User2: %s\n", arr1);</a:t>
            </a:r>
          </a:p>
          <a:p>
            <a:pPr marL="0" indent="0">
              <a:buNone/>
            </a:pPr>
            <a:r>
              <a:rPr lang="en-IN" sz="4300" dirty="0"/>
              <a:t>        close(</a:t>
            </a:r>
            <a:r>
              <a:rPr lang="en-IN" sz="4300" dirty="0" err="1"/>
              <a:t>fd</a:t>
            </a:r>
            <a:r>
              <a:rPr lang="en-IN" sz="4300" dirty="0"/>
              <a:t>);</a:t>
            </a:r>
          </a:p>
          <a:p>
            <a:pPr marL="0" indent="0">
              <a:buNone/>
            </a:pPr>
            <a:r>
              <a:rPr lang="en-IN" sz="4300" dirty="0"/>
              <a:t>    }</a:t>
            </a:r>
          </a:p>
          <a:p>
            <a:pPr marL="0" indent="0">
              <a:buNone/>
            </a:pPr>
            <a:r>
              <a:rPr lang="en-IN" sz="4300" dirty="0"/>
              <a:t>    return 0;</a:t>
            </a:r>
          </a:p>
          <a:p>
            <a:pPr marL="0" indent="0">
              <a:buNone/>
            </a:pPr>
            <a:r>
              <a:rPr lang="en-IN" sz="4300" dirty="0"/>
              <a:t>}</a:t>
            </a:r>
          </a:p>
          <a:p>
            <a:endParaRPr lang="en-IN" dirty="0"/>
          </a:p>
        </p:txBody>
      </p:sp>
    </p:spTree>
    <p:extLst>
      <p:ext uri="{BB962C8B-B14F-4D97-AF65-F5344CB8AC3E}">
        <p14:creationId xmlns:p14="http://schemas.microsoft.com/office/powerpoint/2010/main" val="3736326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8445-1FEB-F2A0-C709-AFC6D41F56B3}"/>
              </a:ext>
            </a:extLst>
          </p:cNvPr>
          <p:cNvSpPr>
            <a:spLocks noGrp="1"/>
          </p:cNvSpPr>
          <p:nvPr>
            <p:ph type="title"/>
          </p:nvPr>
        </p:nvSpPr>
        <p:spPr>
          <a:xfrm>
            <a:off x="459811" y="160337"/>
            <a:ext cx="8229600" cy="1143000"/>
          </a:xfrm>
        </p:spPr>
        <p:txBody>
          <a:bodyPr/>
          <a:lstStyle/>
          <a:p>
            <a:r>
              <a:rPr lang="en-IN" dirty="0"/>
              <a:t>Named pipes - code</a:t>
            </a:r>
          </a:p>
        </p:txBody>
      </p:sp>
      <p:sp>
        <p:nvSpPr>
          <p:cNvPr id="5" name="Content Placeholder 4">
            <a:extLst>
              <a:ext uri="{FF2B5EF4-FFF2-40B4-BE49-F238E27FC236}">
                <a16:creationId xmlns:a16="http://schemas.microsoft.com/office/drawing/2014/main" id="{2F2C9E64-6F7B-5644-5E61-765C5D592161}"/>
              </a:ext>
            </a:extLst>
          </p:cNvPr>
          <p:cNvSpPr>
            <a:spLocks noGrp="1"/>
          </p:cNvSpPr>
          <p:nvPr>
            <p:ph idx="1"/>
          </p:nvPr>
        </p:nvSpPr>
        <p:spPr>
          <a:xfrm>
            <a:off x="454588" y="1166018"/>
            <a:ext cx="3973395" cy="5431334"/>
          </a:xfrm>
        </p:spPr>
        <p:txBody>
          <a:bodyPr>
            <a:normAutofit fontScale="25000" lnSpcReduction="20000"/>
          </a:bodyPr>
          <a:lstStyle/>
          <a:p>
            <a:pPr marL="0" indent="0">
              <a:buNone/>
            </a:pPr>
            <a:r>
              <a:rPr lang="en-IN" sz="4800" dirty="0"/>
              <a:t>Program 2(Reads First)</a:t>
            </a:r>
          </a:p>
          <a:p>
            <a:pPr marL="0" indent="0">
              <a:buNone/>
            </a:pPr>
            <a:endParaRPr lang="en-IN" sz="4800" dirty="0"/>
          </a:p>
          <a:p>
            <a:pPr marL="0" indent="0">
              <a:buNone/>
            </a:pPr>
            <a:endParaRPr lang="en-IN" sz="4800" dirty="0"/>
          </a:p>
          <a:p>
            <a:pPr marL="0" indent="0">
              <a:buNone/>
            </a:pPr>
            <a:r>
              <a:rPr lang="en-IN" sz="4800" dirty="0"/>
              <a:t>// C program to implement one side of FIFO</a:t>
            </a:r>
          </a:p>
          <a:p>
            <a:pPr marL="0" indent="0">
              <a:buNone/>
            </a:pPr>
            <a:r>
              <a:rPr lang="en-IN" sz="4800" dirty="0"/>
              <a:t>// This side reads first, then reads</a:t>
            </a:r>
          </a:p>
          <a:p>
            <a:pPr marL="0" indent="0">
              <a:buNone/>
            </a:pPr>
            <a:r>
              <a:rPr lang="en-IN" sz="4800" dirty="0"/>
              <a:t>#include &lt;</a:t>
            </a:r>
            <a:r>
              <a:rPr lang="en-IN" sz="4800" dirty="0" err="1"/>
              <a:t>stdio.h</a:t>
            </a:r>
            <a:r>
              <a:rPr lang="en-IN" sz="4800" dirty="0"/>
              <a:t>&gt;</a:t>
            </a:r>
          </a:p>
          <a:p>
            <a:pPr marL="0" indent="0">
              <a:buNone/>
            </a:pPr>
            <a:r>
              <a:rPr lang="en-IN" sz="4800" dirty="0"/>
              <a:t>#include &lt;</a:t>
            </a:r>
            <a:r>
              <a:rPr lang="en-IN" sz="4800" dirty="0" err="1"/>
              <a:t>string.h</a:t>
            </a:r>
            <a:r>
              <a:rPr lang="en-IN" sz="4800" dirty="0"/>
              <a:t>&gt;</a:t>
            </a:r>
          </a:p>
          <a:p>
            <a:pPr marL="0" indent="0">
              <a:buNone/>
            </a:pPr>
            <a:r>
              <a:rPr lang="en-IN" sz="4800" dirty="0"/>
              <a:t>#include &lt;</a:t>
            </a:r>
            <a:r>
              <a:rPr lang="en-IN" sz="4800" dirty="0" err="1"/>
              <a:t>fcntl.h</a:t>
            </a:r>
            <a:r>
              <a:rPr lang="en-IN" sz="4800" dirty="0"/>
              <a:t>&gt;</a:t>
            </a:r>
          </a:p>
          <a:p>
            <a:pPr marL="0" indent="0">
              <a:buNone/>
            </a:pPr>
            <a:r>
              <a:rPr lang="en-IN" sz="4800" dirty="0"/>
              <a:t>#include &lt;sys/</a:t>
            </a:r>
            <a:r>
              <a:rPr lang="en-IN" sz="4800" dirty="0" err="1"/>
              <a:t>stat.h</a:t>
            </a:r>
            <a:r>
              <a:rPr lang="en-IN" sz="4800" dirty="0"/>
              <a:t>&gt;</a:t>
            </a:r>
          </a:p>
          <a:p>
            <a:pPr marL="0" indent="0">
              <a:buNone/>
            </a:pPr>
            <a:r>
              <a:rPr lang="en-IN" sz="4800" dirty="0"/>
              <a:t>#include &lt;sys/</a:t>
            </a:r>
            <a:r>
              <a:rPr lang="en-IN" sz="4800" dirty="0" err="1"/>
              <a:t>types.h</a:t>
            </a:r>
            <a:r>
              <a:rPr lang="en-IN" sz="4800" dirty="0"/>
              <a:t>&gt;</a:t>
            </a:r>
          </a:p>
          <a:p>
            <a:pPr marL="0" indent="0">
              <a:buNone/>
            </a:pPr>
            <a:r>
              <a:rPr lang="en-IN" sz="4800" dirty="0"/>
              <a:t>#include &lt;</a:t>
            </a:r>
            <a:r>
              <a:rPr lang="en-IN" sz="4800" dirty="0" err="1"/>
              <a:t>unistd.h</a:t>
            </a:r>
            <a:r>
              <a:rPr lang="en-IN" sz="4800" dirty="0"/>
              <a:t>&gt;</a:t>
            </a:r>
          </a:p>
          <a:p>
            <a:pPr marL="0" indent="0">
              <a:buNone/>
            </a:pPr>
            <a:r>
              <a:rPr lang="en-IN" sz="4800" dirty="0"/>
              <a:t> </a:t>
            </a:r>
          </a:p>
          <a:p>
            <a:pPr marL="0" indent="0">
              <a:buNone/>
            </a:pPr>
            <a:r>
              <a:rPr lang="en-IN" sz="4800" dirty="0"/>
              <a:t>int main()</a:t>
            </a:r>
          </a:p>
          <a:p>
            <a:pPr marL="0" indent="0">
              <a:buNone/>
            </a:pPr>
            <a:r>
              <a:rPr lang="en-IN" sz="4800" dirty="0"/>
              <a:t>{</a:t>
            </a:r>
          </a:p>
          <a:p>
            <a:pPr marL="0" indent="0">
              <a:buNone/>
            </a:pPr>
            <a:r>
              <a:rPr lang="en-IN" sz="4800" dirty="0"/>
              <a:t>    int fd1;</a:t>
            </a:r>
          </a:p>
          <a:p>
            <a:pPr marL="0" indent="0">
              <a:buNone/>
            </a:pPr>
            <a:r>
              <a:rPr lang="en-IN" sz="4800" dirty="0"/>
              <a:t> </a:t>
            </a:r>
          </a:p>
          <a:p>
            <a:pPr marL="0" indent="0">
              <a:buNone/>
            </a:pPr>
            <a:r>
              <a:rPr lang="en-IN" sz="4800" dirty="0"/>
              <a:t>    // FIFO file path</a:t>
            </a:r>
          </a:p>
          <a:p>
            <a:pPr marL="0" indent="0">
              <a:buNone/>
            </a:pPr>
            <a:r>
              <a:rPr lang="en-IN" sz="4800" dirty="0"/>
              <a:t>    char * </a:t>
            </a:r>
            <a:r>
              <a:rPr lang="en-IN" sz="4800" dirty="0" err="1"/>
              <a:t>myfifo</a:t>
            </a:r>
            <a:r>
              <a:rPr lang="en-IN" sz="4800" dirty="0"/>
              <a:t> = "/</a:t>
            </a:r>
            <a:r>
              <a:rPr lang="en-IN" sz="4800" dirty="0" err="1"/>
              <a:t>tmp</a:t>
            </a:r>
            <a:r>
              <a:rPr lang="en-IN" sz="4800" dirty="0"/>
              <a:t>/</a:t>
            </a:r>
            <a:r>
              <a:rPr lang="en-IN" sz="4800" dirty="0" err="1"/>
              <a:t>myfifo</a:t>
            </a:r>
            <a:r>
              <a:rPr lang="en-IN" sz="4800" dirty="0"/>
              <a:t>";</a:t>
            </a:r>
          </a:p>
          <a:p>
            <a:pPr marL="0" indent="0">
              <a:buNone/>
            </a:pPr>
            <a:r>
              <a:rPr lang="en-IN" sz="4800" dirty="0"/>
              <a:t> </a:t>
            </a:r>
          </a:p>
          <a:p>
            <a:pPr marL="0" indent="0">
              <a:buNone/>
            </a:pPr>
            <a:r>
              <a:rPr lang="en-IN" sz="4800" dirty="0"/>
              <a:t>    // Creating the named file(FIFO)</a:t>
            </a:r>
          </a:p>
          <a:p>
            <a:pPr marL="0" indent="0">
              <a:buNone/>
            </a:pPr>
            <a:r>
              <a:rPr lang="en-IN" sz="4800" dirty="0"/>
              <a:t>    // </a:t>
            </a:r>
            <a:r>
              <a:rPr lang="en-IN" sz="4800" dirty="0" err="1"/>
              <a:t>mkfifo</a:t>
            </a:r>
            <a:r>
              <a:rPr lang="en-IN" sz="4800" dirty="0"/>
              <a:t>(&lt;pathname&gt;,&lt;permission&gt;)</a:t>
            </a:r>
          </a:p>
          <a:p>
            <a:pPr marL="0" indent="0">
              <a:buNone/>
            </a:pPr>
            <a:r>
              <a:rPr lang="en-IN" sz="4800" dirty="0"/>
              <a:t>    </a:t>
            </a:r>
            <a:r>
              <a:rPr lang="en-IN" sz="4800" dirty="0" err="1"/>
              <a:t>mkfifo</a:t>
            </a:r>
            <a:r>
              <a:rPr lang="en-IN" sz="4800" dirty="0"/>
              <a:t>(</a:t>
            </a:r>
            <a:r>
              <a:rPr lang="en-IN" sz="4800" dirty="0" err="1"/>
              <a:t>myfifo</a:t>
            </a:r>
            <a:r>
              <a:rPr lang="en-IN" sz="4800" dirty="0"/>
              <a:t>, 0666);</a:t>
            </a:r>
          </a:p>
          <a:p>
            <a:pPr marL="0" indent="0">
              <a:buNone/>
            </a:pPr>
            <a:r>
              <a:rPr lang="en-IN" sz="4800" dirty="0"/>
              <a:t> </a:t>
            </a:r>
          </a:p>
          <a:p>
            <a:pPr marL="0" indent="0">
              <a:buNone/>
            </a:pPr>
            <a:r>
              <a:rPr lang="en-IN" sz="4800" dirty="0"/>
              <a:t>    char str1[80], str2[80];</a:t>
            </a:r>
          </a:p>
          <a:p>
            <a:pPr marL="0" indent="0">
              <a:buNone/>
            </a:pPr>
            <a:r>
              <a:rPr lang="en-IN" sz="4800" dirty="0"/>
              <a:t>    while (1)</a:t>
            </a:r>
          </a:p>
          <a:p>
            <a:pPr marL="0" indent="0">
              <a:buNone/>
            </a:pPr>
            <a:r>
              <a:rPr lang="en-IN" sz="4800" dirty="0"/>
              <a:t>    {</a:t>
            </a:r>
          </a:p>
          <a:p>
            <a:pPr marL="0" indent="0">
              <a:buNone/>
            </a:pPr>
            <a:r>
              <a:rPr lang="en-IN" sz="4800" dirty="0"/>
              <a:t>        // First open in read only and read</a:t>
            </a:r>
          </a:p>
          <a:p>
            <a:pPr marL="0" indent="0">
              <a:buNone/>
            </a:pPr>
            <a:r>
              <a:rPr lang="en-IN" sz="4800" dirty="0"/>
              <a:t>        fd1 = open(</a:t>
            </a:r>
            <a:r>
              <a:rPr lang="en-IN" sz="4800" dirty="0" err="1"/>
              <a:t>myfifo,O_RDONLY</a:t>
            </a:r>
            <a:r>
              <a:rPr lang="en-IN" sz="4800" dirty="0"/>
              <a:t>);</a:t>
            </a:r>
          </a:p>
          <a:p>
            <a:pPr marL="0" indent="0">
              <a:buNone/>
            </a:pPr>
            <a:r>
              <a:rPr lang="en-IN" sz="4800" dirty="0"/>
              <a:t>        read(fd1, str1, 80);</a:t>
            </a:r>
          </a:p>
          <a:p>
            <a:pPr marL="0" indent="0">
              <a:buNone/>
            </a:pPr>
            <a:r>
              <a:rPr lang="en-IN" sz="3600" dirty="0"/>
              <a:t> </a:t>
            </a:r>
          </a:p>
          <a:p>
            <a:endParaRPr lang="en-IN" dirty="0"/>
          </a:p>
        </p:txBody>
      </p:sp>
      <p:sp>
        <p:nvSpPr>
          <p:cNvPr id="6" name="Content Placeholder 4">
            <a:extLst>
              <a:ext uri="{FF2B5EF4-FFF2-40B4-BE49-F238E27FC236}">
                <a16:creationId xmlns:a16="http://schemas.microsoft.com/office/drawing/2014/main" id="{4B8F6A88-0AD8-52AC-1733-8FBF3E80657E}"/>
              </a:ext>
            </a:extLst>
          </p:cNvPr>
          <p:cNvSpPr txBox="1">
            <a:spLocks/>
          </p:cNvSpPr>
          <p:nvPr/>
        </p:nvSpPr>
        <p:spPr>
          <a:xfrm>
            <a:off x="4825333" y="1303337"/>
            <a:ext cx="3466728" cy="529401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1600" dirty="0"/>
              <a:t> // Print the read string and close</a:t>
            </a:r>
          </a:p>
          <a:p>
            <a:pPr marL="0" indent="0">
              <a:buNone/>
            </a:pPr>
            <a:r>
              <a:rPr lang="en-IN" sz="1600" dirty="0"/>
              <a:t>        </a:t>
            </a:r>
            <a:r>
              <a:rPr lang="en-IN" sz="1600" dirty="0" err="1"/>
              <a:t>printf</a:t>
            </a:r>
            <a:r>
              <a:rPr lang="en-IN" sz="1600" dirty="0"/>
              <a:t>("User1: %s\n", str1);</a:t>
            </a:r>
          </a:p>
          <a:p>
            <a:pPr marL="0" indent="0">
              <a:buNone/>
            </a:pPr>
            <a:r>
              <a:rPr lang="en-IN" sz="1600" dirty="0"/>
              <a:t>        close(fd1);</a:t>
            </a:r>
          </a:p>
          <a:p>
            <a:pPr marL="0" indent="0">
              <a:buNone/>
            </a:pPr>
            <a:r>
              <a:rPr lang="en-IN" sz="1600" dirty="0"/>
              <a:t> </a:t>
            </a:r>
          </a:p>
          <a:p>
            <a:pPr marL="0" indent="0">
              <a:buNone/>
            </a:pPr>
            <a:r>
              <a:rPr lang="en-IN" sz="1600" dirty="0"/>
              <a:t>        // Now open in write mode and write</a:t>
            </a:r>
          </a:p>
          <a:p>
            <a:pPr marL="0" indent="0">
              <a:buNone/>
            </a:pPr>
            <a:r>
              <a:rPr lang="en-IN" sz="1600" dirty="0"/>
              <a:t>        // string taken from user.</a:t>
            </a:r>
          </a:p>
          <a:p>
            <a:pPr marL="0" indent="0">
              <a:buNone/>
            </a:pPr>
            <a:r>
              <a:rPr lang="en-IN" sz="1600" dirty="0"/>
              <a:t>        fd1 = open(</a:t>
            </a:r>
            <a:r>
              <a:rPr lang="en-IN" sz="1600" dirty="0" err="1"/>
              <a:t>myfifo,O_WRONLY</a:t>
            </a:r>
            <a:r>
              <a:rPr lang="en-IN" sz="1600" dirty="0"/>
              <a:t>);</a:t>
            </a:r>
          </a:p>
          <a:p>
            <a:pPr marL="0" indent="0">
              <a:buNone/>
            </a:pPr>
            <a:r>
              <a:rPr lang="en-IN" sz="1600" dirty="0"/>
              <a:t>        </a:t>
            </a:r>
            <a:r>
              <a:rPr lang="en-IN" sz="1600" dirty="0" err="1"/>
              <a:t>fgets</a:t>
            </a:r>
            <a:r>
              <a:rPr lang="en-IN" sz="1600" dirty="0"/>
              <a:t>(str2, 80, stdin);</a:t>
            </a:r>
          </a:p>
          <a:p>
            <a:pPr marL="0" indent="0">
              <a:buNone/>
            </a:pPr>
            <a:r>
              <a:rPr lang="en-IN" sz="1600" dirty="0"/>
              <a:t>        write(fd1, str2, </a:t>
            </a:r>
            <a:r>
              <a:rPr lang="en-IN" sz="1600" dirty="0" err="1"/>
              <a:t>strlen</a:t>
            </a:r>
            <a:r>
              <a:rPr lang="en-IN" sz="1600" dirty="0"/>
              <a:t>(str2)+1);</a:t>
            </a:r>
          </a:p>
          <a:p>
            <a:pPr marL="0" indent="0">
              <a:buNone/>
            </a:pPr>
            <a:r>
              <a:rPr lang="en-IN" sz="1600" dirty="0"/>
              <a:t>        close(fd1);</a:t>
            </a:r>
          </a:p>
          <a:p>
            <a:pPr marL="0" indent="0">
              <a:buNone/>
            </a:pPr>
            <a:r>
              <a:rPr lang="en-IN" sz="1600" dirty="0"/>
              <a:t>    }</a:t>
            </a:r>
          </a:p>
          <a:p>
            <a:pPr marL="0" indent="0">
              <a:buNone/>
            </a:pPr>
            <a:r>
              <a:rPr lang="en-IN" sz="1600" dirty="0"/>
              <a:t>    return 0;</a:t>
            </a:r>
          </a:p>
          <a:p>
            <a:pPr marL="0" indent="0">
              <a:buNone/>
            </a:pPr>
            <a:r>
              <a:rPr lang="en-IN" sz="1600" dirty="0"/>
              <a:t>}</a:t>
            </a:r>
            <a:endParaRPr lang="en-IN" sz="1200" dirty="0"/>
          </a:p>
        </p:txBody>
      </p:sp>
    </p:spTree>
    <p:extLst>
      <p:ext uri="{BB962C8B-B14F-4D97-AF65-F5344CB8AC3E}">
        <p14:creationId xmlns:p14="http://schemas.microsoft.com/office/powerpoint/2010/main" val="4234867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Using Shared memory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25</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fontScale="92500" lnSpcReduction="10000"/>
          </a:bodyPr>
          <a:lstStyle/>
          <a:p>
            <a:r>
              <a:rPr lang="en-US" altLang="en-US" sz="3200" dirty="0"/>
              <a:t>Normally, the Unix kernel prohibits one process from accessing (reading, writing) memory belonging to another process</a:t>
            </a:r>
          </a:p>
          <a:p>
            <a:r>
              <a:rPr lang="en-US" altLang="en-US" sz="3200" dirty="0"/>
              <a:t>Sometimes, however, this restriction is inconvenient</a:t>
            </a:r>
          </a:p>
          <a:p>
            <a:r>
              <a:rPr lang="en-US" altLang="en-US" sz="3200" dirty="0"/>
              <a:t>At such times, System V IPC Shared Memory can be created to specifically allow on process to read and/or write to memory created by another process</a:t>
            </a:r>
          </a:p>
          <a:p>
            <a:pPr>
              <a:lnSpc>
                <a:spcPct val="100000"/>
              </a:lnSpc>
            </a:pPr>
            <a:r>
              <a:rPr lang="en-US" sz="3200" dirty="0"/>
              <a:t>It allows two unrelated processes to access the same logical memory. </a:t>
            </a:r>
          </a:p>
          <a:p>
            <a:pPr>
              <a:lnSpc>
                <a:spcPct val="100000"/>
              </a:lnSpc>
            </a:pPr>
            <a:r>
              <a:rPr lang="en-US" sz="3200" dirty="0"/>
              <a:t>Shared memory is a very efficient way of transferring data between two running processes. </a:t>
            </a:r>
            <a:endParaRPr lang="en-US" altLang="en-US" sz="3200" dirty="0"/>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1583262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Advantages of Shared Memory</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26</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pPr>
            <a:r>
              <a:rPr lang="en-US" altLang="en-US" sz="3600" dirty="0"/>
              <a:t>Random Access</a:t>
            </a:r>
          </a:p>
          <a:p>
            <a:pPr lvl="1">
              <a:lnSpc>
                <a:spcPct val="80000"/>
              </a:lnSpc>
            </a:pPr>
            <a:r>
              <a:rPr lang="en-US" altLang="en-US" sz="2800" dirty="0"/>
              <a:t>you can update a small piece in the middle of a data structure, rather than the entire structure</a:t>
            </a:r>
          </a:p>
          <a:p>
            <a:pPr>
              <a:lnSpc>
                <a:spcPct val="80000"/>
              </a:lnSpc>
            </a:pPr>
            <a:r>
              <a:rPr lang="en-US" altLang="en-US" sz="3600" dirty="0"/>
              <a:t>Efficiency</a:t>
            </a:r>
          </a:p>
          <a:p>
            <a:pPr lvl="1">
              <a:lnSpc>
                <a:spcPct val="80000"/>
              </a:lnSpc>
            </a:pPr>
            <a:r>
              <a:rPr lang="en-US" altLang="en-US" sz="2800" dirty="0"/>
              <a:t>unlike message queues and pipes, which copy data from the process </a:t>
            </a:r>
            <a:r>
              <a:rPr lang="en-US" altLang="en-US" sz="2800" i="1" dirty="0"/>
              <a:t>into</a:t>
            </a:r>
            <a:r>
              <a:rPr lang="en-US" altLang="en-US" sz="2800" dirty="0"/>
              <a:t> memory within the kernel, shared memory is directly accessed</a:t>
            </a:r>
          </a:p>
          <a:p>
            <a:pPr lvl="1">
              <a:lnSpc>
                <a:spcPct val="80000"/>
              </a:lnSpc>
            </a:pPr>
            <a:r>
              <a:rPr lang="en-US" altLang="en-US" sz="2800" dirty="0"/>
              <a:t>Shared memory resides in the user process memory, and is then shared among other processes</a:t>
            </a:r>
          </a:p>
          <a:p>
            <a:pPr marL="0" indent="0" defTabSz="914400" eaLnBrk="0" fontAlgn="base" hangingPunct="0">
              <a:lnSpc>
                <a:spcPct val="100000"/>
              </a:lnSpc>
              <a:spcBef>
                <a:spcPct val="0"/>
              </a:spcBef>
              <a:spcAft>
                <a:spcPct val="0"/>
              </a:spcAft>
              <a:buNone/>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933308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Disadvantages of Shared Memory</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27</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pPr>
            <a:r>
              <a:rPr lang="en-US" altLang="en-US" sz="3600" dirty="0"/>
              <a:t>No automatic synchronization as in pipes or message queues (you have to provide any synchronization).  Synchronize with </a:t>
            </a:r>
            <a:r>
              <a:rPr lang="en-US" altLang="en-US" sz="3600" i="1" dirty="0"/>
              <a:t>semaphores</a:t>
            </a:r>
            <a:r>
              <a:rPr lang="en-US" altLang="en-US" sz="3600" dirty="0"/>
              <a:t> or signals.</a:t>
            </a:r>
          </a:p>
          <a:p>
            <a:pPr>
              <a:lnSpc>
                <a:spcPct val="80000"/>
              </a:lnSpc>
            </a:pPr>
            <a:r>
              <a:rPr lang="en-US" altLang="en-US" sz="3600" dirty="0"/>
              <a:t>You must remember that pointers are only valid within a given process.  Thus, pointer offsets cannot be assumed to be valid across inter-process boundaries.  This complicates the sharing of linked lists or binary trees.</a:t>
            </a: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167044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Usage of Shared Memory</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28</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pPr>
            <a:r>
              <a:rPr lang="en-US" sz="3200" dirty="0"/>
              <a:t>Shared memory is a special range of addresses that is created by IPC for one process and appears in the address space of that process.</a:t>
            </a:r>
          </a:p>
          <a:p>
            <a:pPr>
              <a:lnSpc>
                <a:spcPct val="80000"/>
              </a:lnSpc>
            </a:pPr>
            <a:r>
              <a:rPr lang="en-US" sz="3200" dirty="0"/>
              <a:t>Other processes can then “attach” the same shared memory segment into their own address space. All processes can access the memory locations just as if the memory had been allocated by malloc .</a:t>
            </a:r>
          </a:p>
          <a:p>
            <a:pPr>
              <a:lnSpc>
                <a:spcPct val="80000"/>
              </a:lnSpc>
            </a:pPr>
            <a:r>
              <a:rPr lang="en-US" sz="3200" dirty="0"/>
              <a:t>If one process writes to the shared memory, the changes immediately become visible to any other process that has access to the same shared memory.</a:t>
            </a:r>
            <a:endParaRPr lang="en-IN" sz="2800" dirty="0"/>
          </a:p>
        </p:txBody>
      </p:sp>
    </p:spTree>
    <p:extLst>
      <p:ext uri="{BB962C8B-B14F-4D97-AF65-F5344CB8AC3E}">
        <p14:creationId xmlns:p14="http://schemas.microsoft.com/office/powerpoint/2010/main" val="2062316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normAutofit fontScale="90000"/>
          </a:bodyPr>
          <a:lstStyle/>
          <a:p>
            <a:r>
              <a:rPr lang="en-US" altLang="en-US" sz="3600" dirty="0"/>
              <a:t>Functions for using Shared Memory (old style)</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29</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lnSpcReduction="10000"/>
          </a:bodyPr>
          <a:lstStyle/>
          <a:p>
            <a:pPr>
              <a:lnSpc>
                <a:spcPct val="80000"/>
              </a:lnSpc>
            </a:pPr>
            <a:r>
              <a:rPr lang="en-IN" sz="2800" dirty="0"/>
              <a:t>The functions for shared memory </a:t>
            </a:r>
          </a:p>
          <a:p>
            <a:pPr marL="0" indent="0">
              <a:lnSpc>
                <a:spcPct val="80000"/>
              </a:lnSpc>
              <a:buNone/>
            </a:pPr>
            <a:r>
              <a:rPr lang="en-IN" sz="2800" dirty="0">
                <a:solidFill>
                  <a:schemeClr val="accent5">
                    <a:lumMod val="75000"/>
                  </a:schemeClr>
                </a:solidFill>
              </a:rPr>
              <a:t> #include &lt;sys/</a:t>
            </a:r>
            <a:r>
              <a:rPr lang="en-IN" sz="2800" dirty="0" err="1">
                <a:solidFill>
                  <a:schemeClr val="accent5">
                    <a:lumMod val="75000"/>
                  </a:schemeClr>
                </a:solidFill>
              </a:rPr>
              <a:t>shm.h</a:t>
            </a:r>
            <a:r>
              <a:rPr lang="en-IN" sz="2800" dirty="0">
                <a:solidFill>
                  <a:schemeClr val="accent5">
                    <a:lumMod val="75000"/>
                  </a:schemeClr>
                </a:solidFill>
              </a:rPr>
              <a:t>&gt;</a:t>
            </a:r>
          </a:p>
          <a:p>
            <a:pPr marL="0" indent="0">
              <a:lnSpc>
                <a:spcPct val="80000"/>
              </a:lnSpc>
              <a:buNone/>
            </a:pPr>
            <a:r>
              <a:rPr lang="en-IN" sz="2800" dirty="0">
                <a:solidFill>
                  <a:schemeClr val="accent5">
                    <a:lumMod val="75000"/>
                  </a:schemeClr>
                </a:solidFill>
              </a:rPr>
              <a:t>Get a shared memory block -</a:t>
            </a:r>
          </a:p>
          <a:p>
            <a:pPr marL="0" indent="0">
              <a:lnSpc>
                <a:spcPct val="80000"/>
              </a:lnSpc>
              <a:buNone/>
            </a:pPr>
            <a:r>
              <a:rPr lang="en-IN" sz="2800" dirty="0">
                <a:solidFill>
                  <a:srgbClr val="FF0000"/>
                </a:solidFill>
              </a:rPr>
              <a:t>int </a:t>
            </a:r>
            <a:r>
              <a:rPr lang="en-IN" sz="2800" dirty="0" err="1">
                <a:solidFill>
                  <a:srgbClr val="FF0000"/>
                </a:solidFill>
              </a:rPr>
              <a:t>shmget</a:t>
            </a:r>
            <a:r>
              <a:rPr lang="en-IN" sz="2800" dirty="0">
                <a:solidFill>
                  <a:srgbClr val="FF0000"/>
                </a:solidFill>
              </a:rPr>
              <a:t>(</a:t>
            </a:r>
            <a:r>
              <a:rPr lang="en-IN" sz="2800" dirty="0" err="1">
                <a:solidFill>
                  <a:srgbClr val="FF0000"/>
                </a:solidFill>
              </a:rPr>
              <a:t>key_t</a:t>
            </a:r>
            <a:r>
              <a:rPr lang="en-IN" sz="2800" dirty="0">
                <a:solidFill>
                  <a:srgbClr val="FF0000"/>
                </a:solidFill>
              </a:rPr>
              <a:t> key, </a:t>
            </a:r>
            <a:r>
              <a:rPr lang="en-IN" sz="2800" dirty="0" err="1">
                <a:solidFill>
                  <a:srgbClr val="FF0000"/>
                </a:solidFill>
              </a:rPr>
              <a:t>size_t</a:t>
            </a:r>
            <a:r>
              <a:rPr lang="en-IN" sz="2800" dirty="0">
                <a:solidFill>
                  <a:srgbClr val="FF0000"/>
                </a:solidFill>
              </a:rPr>
              <a:t> size, int </a:t>
            </a:r>
            <a:r>
              <a:rPr lang="en-IN" sz="2800" dirty="0" err="1">
                <a:solidFill>
                  <a:srgbClr val="FF0000"/>
                </a:solidFill>
              </a:rPr>
              <a:t>shmflg</a:t>
            </a:r>
            <a:r>
              <a:rPr lang="en-IN" sz="2800" dirty="0">
                <a:solidFill>
                  <a:srgbClr val="FF0000"/>
                </a:solidFill>
              </a:rPr>
              <a:t>); </a:t>
            </a:r>
          </a:p>
          <a:p>
            <a:pPr marL="0" indent="0">
              <a:lnSpc>
                <a:spcPct val="80000"/>
              </a:lnSpc>
              <a:buNone/>
            </a:pPr>
            <a:r>
              <a:rPr lang="en-IN" sz="2800" dirty="0">
                <a:solidFill>
                  <a:schemeClr val="accent5">
                    <a:lumMod val="75000"/>
                  </a:schemeClr>
                </a:solidFill>
              </a:rPr>
              <a:t>Attach to a shared memory block -</a:t>
            </a:r>
          </a:p>
          <a:p>
            <a:pPr marL="0" indent="0">
              <a:lnSpc>
                <a:spcPct val="80000"/>
              </a:lnSpc>
              <a:buNone/>
            </a:pPr>
            <a:r>
              <a:rPr lang="en-IN" sz="2800" dirty="0">
                <a:solidFill>
                  <a:srgbClr val="FF0000"/>
                </a:solidFill>
              </a:rPr>
              <a:t>void *</a:t>
            </a:r>
            <a:r>
              <a:rPr lang="en-IN" sz="2800" dirty="0" err="1">
                <a:solidFill>
                  <a:srgbClr val="FF0000"/>
                </a:solidFill>
              </a:rPr>
              <a:t>shmat</a:t>
            </a:r>
            <a:r>
              <a:rPr lang="en-IN" sz="2800" dirty="0">
                <a:solidFill>
                  <a:srgbClr val="FF0000"/>
                </a:solidFill>
              </a:rPr>
              <a:t>(int </a:t>
            </a:r>
            <a:r>
              <a:rPr lang="en-IN" sz="2800" dirty="0" err="1">
                <a:solidFill>
                  <a:srgbClr val="FF0000"/>
                </a:solidFill>
              </a:rPr>
              <a:t>shm_id</a:t>
            </a:r>
            <a:r>
              <a:rPr lang="en-IN" sz="2800" dirty="0">
                <a:solidFill>
                  <a:srgbClr val="FF0000"/>
                </a:solidFill>
              </a:rPr>
              <a:t>, </a:t>
            </a:r>
            <a:r>
              <a:rPr lang="en-IN" sz="2800" dirty="0" err="1">
                <a:solidFill>
                  <a:srgbClr val="FF0000"/>
                </a:solidFill>
              </a:rPr>
              <a:t>const</a:t>
            </a:r>
            <a:r>
              <a:rPr lang="en-IN" sz="2800" dirty="0">
                <a:solidFill>
                  <a:srgbClr val="FF0000"/>
                </a:solidFill>
              </a:rPr>
              <a:t> void *</a:t>
            </a:r>
            <a:r>
              <a:rPr lang="en-IN" sz="2800" dirty="0" err="1">
                <a:solidFill>
                  <a:srgbClr val="FF0000"/>
                </a:solidFill>
              </a:rPr>
              <a:t>shm_addr</a:t>
            </a:r>
            <a:r>
              <a:rPr lang="en-IN" sz="2800" dirty="0">
                <a:solidFill>
                  <a:srgbClr val="FF0000"/>
                </a:solidFill>
              </a:rPr>
              <a:t>, int </a:t>
            </a:r>
            <a:r>
              <a:rPr lang="en-IN" sz="2800" dirty="0" err="1">
                <a:solidFill>
                  <a:srgbClr val="FF0000"/>
                </a:solidFill>
              </a:rPr>
              <a:t>shmflg</a:t>
            </a:r>
            <a:r>
              <a:rPr lang="en-IN" sz="2800" dirty="0">
                <a:solidFill>
                  <a:srgbClr val="FF0000"/>
                </a:solidFill>
              </a:rPr>
              <a:t>); </a:t>
            </a:r>
          </a:p>
          <a:p>
            <a:pPr marL="0" indent="0">
              <a:lnSpc>
                <a:spcPct val="80000"/>
              </a:lnSpc>
              <a:buNone/>
            </a:pPr>
            <a:r>
              <a:rPr lang="en-IN" sz="2800" dirty="0">
                <a:solidFill>
                  <a:schemeClr val="accent5">
                    <a:lumMod val="75000"/>
                  </a:schemeClr>
                </a:solidFill>
              </a:rPr>
              <a:t>Shared memory control -</a:t>
            </a:r>
          </a:p>
          <a:p>
            <a:pPr marL="0" indent="0">
              <a:lnSpc>
                <a:spcPct val="80000"/>
              </a:lnSpc>
              <a:buNone/>
            </a:pPr>
            <a:r>
              <a:rPr lang="en-IN" sz="2800" dirty="0">
                <a:solidFill>
                  <a:srgbClr val="FF0000"/>
                </a:solidFill>
              </a:rPr>
              <a:t>int </a:t>
            </a:r>
            <a:r>
              <a:rPr lang="en-IN" sz="2800" dirty="0" err="1">
                <a:solidFill>
                  <a:srgbClr val="FF0000"/>
                </a:solidFill>
              </a:rPr>
              <a:t>shmctl</a:t>
            </a:r>
            <a:r>
              <a:rPr lang="en-IN" sz="2800" dirty="0">
                <a:solidFill>
                  <a:srgbClr val="FF0000"/>
                </a:solidFill>
              </a:rPr>
              <a:t>(int </a:t>
            </a:r>
            <a:r>
              <a:rPr lang="en-IN" sz="2800" dirty="0" err="1">
                <a:solidFill>
                  <a:srgbClr val="FF0000"/>
                </a:solidFill>
              </a:rPr>
              <a:t>shm_id</a:t>
            </a:r>
            <a:r>
              <a:rPr lang="en-IN" sz="2800" dirty="0">
                <a:solidFill>
                  <a:srgbClr val="FF0000"/>
                </a:solidFill>
              </a:rPr>
              <a:t>, int </a:t>
            </a:r>
            <a:r>
              <a:rPr lang="en-IN" sz="2800" dirty="0" err="1">
                <a:solidFill>
                  <a:srgbClr val="FF0000"/>
                </a:solidFill>
              </a:rPr>
              <a:t>cmd</a:t>
            </a:r>
            <a:r>
              <a:rPr lang="en-IN" sz="2800" dirty="0">
                <a:solidFill>
                  <a:srgbClr val="FF0000"/>
                </a:solidFill>
              </a:rPr>
              <a:t>, struct </a:t>
            </a:r>
            <a:r>
              <a:rPr lang="en-IN" sz="2800" dirty="0" err="1">
                <a:solidFill>
                  <a:srgbClr val="FF0000"/>
                </a:solidFill>
              </a:rPr>
              <a:t>shmid_ds</a:t>
            </a:r>
            <a:r>
              <a:rPr lang="en-IN" sz="2800" dirty="0">
                <a:solidFill>
                  <a:srgbClr val="FF0000"/>
                </a:solidFill>
              </a:rPr>
              <a:t> *</a:t>
            </a:r>
            <a:r>
              <a:rPr lang="en-IN" sz="2800" dirty="0" err="1">
                <a:solidFill>
                  <a:srgbClr val="FF0000"/>
                </a:solidFill>
              </a:rPr>
              <a:t>buf</a:t>
            </a:r>
            <a:r>
              <a:rPr lang="en-IN" sz="2800" dirty="0">
                <a:solidFill>
                  <a:srgbClr val="FF0000"/>
                </a:solidFill>
              </a:rPr>
              <a:t>); </a:t>
            </a:r>
          </a:p>
          <a:p>
            <a:pPr marL="0" indent="0">
              <a:buNone/>
            </a:pPr>
            <a:r>
              <a:rPr lang="en-IN" sz="2800" dirty="0">
                <a:solidFill>
                  <a:schemeClr val="accent5">
                    <a:lumMod val="75000"/>
                  </a:schemeClr>
                </a:solidFill>
              </a:rPr>
              <a:t>Shared memory detach -</a:t>
            </a:r>
          </a:p>
          <a:p>
            <a:pPr marL="0" indent="0">
              <a:lnSpc>
                <a:spcPct val="80000"/>
              </a:lnSpc>
              <a:buNone/>
            </a:pPr>
            <a:r>
              <a:rPr lang="en-IN" sz="2800" dirty="0">
                <a:solidFill>
                  <a:srgbClr val="FF0000"/>
                </a:solidFill>
              </a:rPr>
              <a:t>int </a:t>
            </a:r>
            <a:r>
              <a:rPr lang="en-IN" sz="2800" dirty="0" err="1">
                <a:solidFill>
                  <a:srgbClr val="FF0000"/>
                </a:solidFill>
              </a:rPr>
              <a:t>shmdt</a:t>
            </a:r>
            <a:r>
              <a:rPr lang="en-IN" sz="2800" dirty="0">
                <a:solidFill>
                  <a:srgbClr val="FF0000"/>
                </a:solidFill>
              </a:rPr>
              <a:t>(</a:t>
            </a:r>
            <a:r>
              <a:rPr lang="en-IN" sz="2800" dirty="0" err="1">
                <a:solidFill>
                  <a:srgbClr val="FF0000"/>
                </a:solidFill>
              </a:rPr>
              <a:t>const</a:t>
            </a:r>
            <a:r>
              <a:rPr lang="en-IN" sz="2800" dirty="0">
                <a:solidFill>
                  <a:srgbClr val="FF0000"/>
                </a:solidFill>
              </a:rPr>
              <a:t> void *</a:t>
            </a:r>
            <a:r>
              <a:rPr lang="en-IN" sz="2800" dirty="0" err="1">
                <a:solidFill>
                  <a:srgbClr val="FF0000"/>
                </a:solidFill>
              </a:rPr>
              <a:t>shm_addr</a:t>
            </a:r>
            <a:r>
              <a:rPr lang="en-IN" sz="2800" dirty="0">
                <a:solidFill>
                  <a:srgbClr val="FF0000"/>
                </a:solidFill>
              </a:rPr>
              <a:t>); </a:t>
            </a:r>
          </a:p>
          <a:p>
            <a:pPr marL="0" indent="0">
              <a:lnSpc>
                <a:spcPct val="80000"/>
              </a:lnSpc>
              <a:buNone/>
            </a:pPr>
            <a:endParaRPr lang="en-IN" sz="2800" dirty="0"/>
          </a:p>
          <a:p>
            <a:pPr>
              <a:lnSpc>
                <a:spcPct val="80000"/>
              </a:lnSpc>
            </a:pPr>
            <a:r>
              <a:rPr lang="en-IN" sz="2800" dirty="0"/>
              <a:t>As with semaphores, the include files sys/</a:t>
            </a:r>
            <a:r>
              <a:rPr lang="en-IN" sz="2800" dirty="0" err="1"/>
              <a:t>types.h</a:t>
            </a:r>
            <a:r>
              <a:rPr lang="en-IN" sz="2800" dirty="0"/>
              <a:t> and sys/</a:t>
            </a:r>
            <a:r>
              <a:rPr lang="en-IN" sz="2800" dirty="0" err="1"/>
              <a:t>ipc.h</a:t>
            </a:r>
            <a:r>
              <a:rPr lang="en-IN" sz="2800" dirty="0"/>
              <a:t> are normally automatically included by </a:t>
            </a:r>
            <a:r>
              <a:rPr lang="en-IN" sz="2800" dirty="0" err="1"/>
              <a:t>shm.h</a:t>
            </a:r>
            <a:r>
              <a:rPr lang="en-IN" sz="2800" dirty="0"/>
              <a:t> .</a:t>
            </a:r>
            <a:endParaRPr lang="en-IN" sz="3200" dirty="0"/>
          </a:p>
        </p:txBody>
      </p:sp>
    </p:spTree>
    <p:extLst>
      <p:ext uri="{BB962C8B-B14F-4D97-AF65-F5344CB8AC3E}">
        <p14:creationId xmlns:p14="http://schemas.microsoft.com/office/powerpoint/2010/main" val="749018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Creating Shared Memory (Old Style)</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30</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90000"/>
              </a:lnSpc>
              <a:buFontTx/>
              <a:buNone/>
            </a:pPr>
            <a:r>
              <a:rPr lang="en-US" altLang="en-US" sz="2800" dirty="0">
                <a:solidFill>
                  <a:srgbClr val="2529C7"/>
                </a:solidFill>
              </a:rPr>
              <a:t>int </a:t>
            </a:r>
            <a:r>
              <a:rPr lang="en-US" altLang="en-US" sz="2800" dirty="0" err="1">
                <a:solidFill>
                  <a:srgbClr val="2529C7"/>
                </a:solidFill>
              </a:rPr>
              <a:t>shmget</a:t>
            </a:r>
            <a:r>
              <a:rPr lang="en-US" altLang="en-US" sz="2800" dirty="0">
                <a:solidFill>
                  <a:srgbClr val="2529C7"/>
                </a:solidFill>
              </a:rPr>
              <a:t>(</a:t>
            </a:r>
            <a:r>
              <a:rPr lang="en-US" altLang="en-US" sz="2800" dirty="0" err="1">
                <a:solidFill>
                  <a:srgbClr val="2529C7"/>
                </a:solidFill>
              </a:rPr>
              <a:t>key_t</a:t>
            </a:r>
            <a:r>
              <a:rPr lang="en-US" altLang="en-US" sz="2800" dirty="0">
                <a:solidFill>
                  <a:srgbClr val="2529C7"/>
                </a:solidFill>
              </a:rPr>
              <a:t> key, </a:t>
            </a:r>
            <a:r>
              <a:rPr lang="en-US" altLang="en-US" sz="2800" dirty="0" err="1">
                <a:solidFill>
                  <a:srgbClr val="2529C7"/>
                </a:solidFill>
              </a:rPr>
              <a:t>size_t</a:t>
            </a:r>
            <a:r>
              <a:rPr lang="en-US" altLang="en-US" sz="2800" dirty="0">
                <a:solidFill>
                  <a:srgbClr val="2529C7"/>
                </a:solidFill>
              </a:rPr>
              <a:t> size, int </a:t>
            </a:r>
            <a:r>
              <a:rPr lang="en-US" altLang="en-US" sz="2800" dirty="0" err="1">
                <a:solidFill>
                  <a:srgbClr val="2529C7"/>
                </a:solidFill>
              </a:rPr>
              <a:t>shmflg</a:t>
            </a:r>
            <a:r>
              <a:rPr lang="en-US" altLang="en-US" sz="2800" dirty="0">
                <a:solidFill>
                  <a:srgbClr val="2529C7"/>
                </a:solidFill>
              </a:rPr>
              <a:t>);</a:t>
            </a:r>
          </a:p>
          <a:p>
            <a:pPr>
              <a:lnSpc>
                <a:spcPct val="90000"/>
              </a:lnSpc>
            </a:pPr>
            <a:r>
              <a:rPr lang="en-US" altLang="en-US" sz="2800" dirty="0"/>
              <a:t>key is either a number or the constant IPC_PRIVATE (man </a:t>
            </a:r>
            <a:r>
              <a:rPr lang="en-US" altLang="en-US" sz="2800" dirty="0" err="1"/>
              <a:t>ftok</a:t>
            </a:r>
            <a:r>
              <a:rPr lang="en-US" altLang="en-US" sz="2800" dirty="0"/>
              <a:t>)</a:t>
            </a:r>
          </a:p>
          <a:p>
            <a:pPr>
              <a:lnSpc>
                <a:spcPct val="90000"/>
              </a:lnSpc>
            </a:pPr>
            <a:r>
              <a:rPr lang="en-US" altLang="en-US" sz="2800" dirty="0"/>
              <a:t>a </a:t>
            </a:r>
            <a:r>
              <a:rPr lang="en-US" altLang="en-US" sz="2800" dirty="0" err="1"/>
              <a:t>shmid</a:t>
            </a:r>
            <a:r>
              <a:rPr lang="en-US" altLang="en-US" sz="2800" dirty="0"/>
              <a:t> is returned</a:t>
            </a:r>
          </a:p>
          <a:p>
            <a:pPr>
              <a:lnSpc>
                <a:spcPct val="90000"/>
              </a:lnSpc>
            </a:pPr>
            <a:r>
              <a:rPr lang="en-US" altLang="en-US" sz="2800" dirty="0" err="1"/>
              <a:t>key_t</a:t>
            </a:r>
            <a:r>
              <a:rPr lang="en-US" altLang="en-US" sz="2800" dirty="0"/>
              <a:t> </a:t>
            </a:r>
            <a:r>
              <a:rPr lang="en-US" altLang="en-US" sz="2800" dirty="0" err="1"/>
              <a:t>ftok</a:t>
            </a:r>
            <a:r>
              <a:rPr lang="en-US" altLang="en-US" sz="2800" dirty="0"/>
              <a:t>(const char * path, int id) will return a key value for IPC usage</a:t>
            </a:r>
          </a:p>
          <a:p>
            <a:pPr>
              <a:lnSpc>
                <a:spcPct val="90000"/>
              </a:lnSpc>
            </a:pPr>
            <a:r>
              <a:rPr lang="en-US" altLang="en-US" sz="2800" dirty="0"/>
              <a:t>size is the size of the shared memory data</a:t>
            </a:r>
          </a:p>
          <a:p>
            <a:pPr>
              <a:lnSpc>
                <a:spcPct val="90000"/>
              </a:lnSpc>
            </a:pPr>
            <a:r>
              <a:rPr lang="en-US" altLang="en-US" sz="2800" dirty="0" err="1"/>
              <a:t>shmflg</a:t>
            </a:r>
            <a:r>
              <a:rPr lang="en-US" altLang="en-US" sz="2800" dirty="0"/>
              <a:t> is a rights mask (0666) </a:t>
            </a:r>
            <a:r>
              <a:rPr lang="en-US" altLang="en-US" sz="2800" dirty="0" err="1"/>
              <a:t>OR’d</a:t>
            </a:r>
            <a:r>
              <a:rPr lang="en-US" altLang="en-US" sz="2800" dirty="0"/>
              <a:t> with one of the following:</a:t>
            </a:r>
          </a:p>
          <a:p>
            <a:pPr lvl="1">
              <a:lnSpc>
                <a:spcPct val="80000"/>
              </a:lnSpc>
            </a:pPr>
            <a:r>
              <a:rPr lang="en-US" altLang="en-US" sz="2400" dirty="0"/>
              <a:t>IPC_CREAT		will create or attach</a:t>
            </a:r>
          </a:p>
          <a:p>
            <a:pPr lvl="1">
              <a:lnSpc>
                <a:spcPct val="80000"/>
              </a:lnSpc>
            </a:pPr>
            <a:r>
              <a:rPr lang="en-US" altLang="en-US" sz="2400" dirty="0"/>
              <a:t>IPC_EXCL		creates new or it will error </a:t>
            </a:r>
            <a:br>
              <a:rPr lang="en-US" altLang="en-US" sz="2400" dirty="0"/>
            </a:br>
            <a:r>
              <a:rPr lang="en-US" altLang="en-US" sz="2400" dirty="0"/>
              <a:t>				if it exists</a:t>
            </a: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299451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normAutofit/>
          </a:bodyPr>
          <a:lstStyle/>
          <a:p>
            <a:r>
              <a:rPr lang="en-US" altLang="en-US" sz="4000" dirty="0"/>
              <a:t>Attaching to Shared Memory</a:t>
            </a:r>
            <a:endParaRPr lang="en-IN" sz="2800"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31</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90000"/>
              </a:lnSpc>
            </a:pPr>
            <a:r>
              <a:rPr lang="en-US" altLang="en-US" sz="2800" dirty="0"/>
              <a:t>After obtaining a </a:t>
            </a:r>
            <a:r>
              <a:rPr lang="en-US" altLang="en-US" sz="2800" dirty="0" err="1"/>
              <a:t>shmid</a:t>
            </a:r>
            <a:r>
              <a:rPr lang="en-US" altLang="en-US" sz="2800" dirty="0"/>
              <a:t> from </a:t>
            </a:r>
            <a:r>
              <a:rPr lang="en-US" altLang="en-US" sz="2800" dirty="0" err="1"/>
              <a:t>shmget</a:t>
            </a:r>
            <a:r>
              <a:rPr lang="en-US" altLang="en-US" sz="2800" dirty="0"/>
              <a:t>(), you need to </a:t>
            </a:r>
            <a:r>
              <a:rPr lang="en-US" altLang="en-US" sz="2800" i="1" dirty="0"/>
              <a:t>attach</a:t>
            </a:r>
            <a:r>
              <a:rPr lang="en-US" altLang="en-US" sz="2800" dirty="0"/>
              <a:t> or map the shared memory segment to your data reference:</a:t>
            </a:r>
          </a:p>
          <a:p>
            <a:pPr>
              <a:lnSpc>
                <a:spcPct val="90000"/>
              </a:lnSpc>
              <a:buFontTx/>
              <a:buNone/>
            </a:pPr>
            <a:r>
              <a:rPr lang="en-US" altLang="en-US" sz="2400" dirty="0">
                <a:solidFill>
                  <a:srgbClr val="2529C7"/>
                </a:solidFill>
              </a:rPr>
              <a:t>void * </a:t>
            </a:r>
            <a:r>
              <a:rPr lang="en-US" altLang="en-US" sz="2400" dirty="0" err="1">
                <a:solidFill>
                  <a:srgbClr val="2529C7"/>
                </a:solidFill>
              </a:rPr>
              <a:t>shmat</a:t>
            </a:r>
            <a:r>
              <a:rPr lang="en-US" altLang="en-US" sz="2400" dirty="0">
                <a:solidFill>
                  <a:srgbClr val="2529C7"/>
                </a:solidFill>
              </a:rPr>
              <a:t>(int </a:t>
            </a:r>
            <a:r>
              <a:rPr lang="en-US" altLang="en-US" sz="2400" dirty="0" err="1">
                <a:solidFill>
                  <a:srgbClr val="2529C7"/>
                </a:solidFill>
              </a:rPr>
              <a:t>shmid</a:t>
            </a:r>
            <a:r>
              <a:rPr lang="en-US" altLang="en-US" sz="2400" dirty="0">
                <a:solidFill>
                  <a:srgbClr val="2529C7"/>
                </a:solidFill>
              </a:rPr>
              <a:t>, void * </a:t>
            </a:r>
            <a:r>
              <a:rPr lang="en-US" altLang="en-US" sz="2400" dirty="0" err="1">
                <a:solidFill>
                  <a:srgbClr val="2529C7"/>
                </a:solidFill>
              </a:rPr>
              <a:t>shmaddr</a:t>
            </a:r>
            <a:r>
              <a:rPr lang="en-US" altLang="en-US" sz="2400" dirty="0">
                <a:solidFill>
                  <a:srgbClr val="2529C7"/>
                </a:solidFill>
              </a:rPr>
              <a:t>, int </a:t>
            </a:r>
            <a:r>
              <a:rPr lang="en-US" altLang="en-US" sz="2400" dirty="0" err="1">
                <a:solidFill>
                  <a:srgbClr val="2529C7"/>
                </a:solidFill>
              </a:rPr>
              <a:t>shmflg</a:t>
            </a:r>
            <a:r>
              <a:rPr lang="en-US" altLang="en-US" sz="2400" dirty="0">
                <a:solidFill>
                  <a:srgbClr val="2529C7"/>
                </a:solidFill>
              </a:rPr>
              <a:t>)</a:t>
            </a:r>
          </a:p>
          <a:p>
            <a:pPr>
              <a:lnSpc>
                <a:spcPct val="90000"/>
              </a:lnSpc>
            </a:pPr>
            <a:r>
              <a:rPr lang="en-US" altLang="en-US" sz="2800" dirty="0" err="1"/>
              <a:t>shmid</a:t>
            </a:r>
            <a:r>
              <a:rPr lang="en-US" altLang="en-US" sz="2800" dirty="0"/>
              <a:t> is the id returned from </a:t>
            </a:r>
            <a:r>
              <a:rPr lang="en-US" altLang="en-US" sz="2800" dirty="0" err="1"/>
              <a:t>shmget</a:t>
            </a:r>
            <a:r>
              <a:rPr lang="en-US" altLang="en-US" sz="2800" dirty="0"/>
              <a:t>()</a:t>
            </a:r>
          </a:p>
          <a:p>
            <a:pPr>
              <a:lnSpc>
                <a:spcPct val="90000"/>
              </a:lnSpc>
            </a:pPr>
            <a:r>
              <a:rPr lang="en-US" altLang="en-US" sz="2800" dirty="0" err="1"/>
              <a:t>shmaddr</a:t>
            </a:r>
            <a:r>
              <a:rPr lang="en-US" altLang="en-US" sz="2800" dirty="0"/>
              <a:t> is the shared memory segment address.  Set this to NULL and let the system handle it.</a:t>
            </a:r>
          </a:p>
          <a:p>
            <a:pPr>
              <a:lnSpc>
                <a:spcPct val="90000"/>
              </a:lnSpc>
            </a:pPr>
            <a:r>
              <a:rPr lang="en-US" altLang="en-US" sz="2800" dirty="0" err="1"/>
              <a:t>shmflg</a:t>
            </a:r>
            <a:r>
              <a:rPr lang="en-US" altLang="en-US" sz="2800" dirty="0"/>
              <a:t> is one of the following (usually 0):</a:t>
            </a:r>
          </a:p>
          <a:p>
            <a:pPr lvl="1">
              <a:lnSpc>
                <a:spcPct val="90000"/>
              </a:lnSpc>
            </a:pPr>
            <a:r>
              <a:rPr lang="en-US" altLang="en-US" sz="2400" dirty="0"/>
              <a:t>SHM_RDONLY	sets the segment </a:t>
            </a:r>
            <a:r>
              <a:rPr lang="en-US" altLang="en-US" sz="2400" dirty="0" err="1"/>
              <a:t>readonly</a:t>
            </a:r>
            <a:endParaRPr lang="en-US" altLang="en-US" sz="2400" dirty="0"/>
          </a:p>
          <a:p>
            <a:pPr lvl="1">
              <a:lnSpc>
                <a:spcPct val="90000"/>
              </a:lnSpc>
            </a:pPr>
            <a:r>
              <a:rPr lang="en-US" altLang="en-US" sz="2400" dirty="0"/>
              <a:t>SHM_RND		sets page boundary access</a:t>
            </a:r>
          </a:p>
          <a:p>
            <a:pPr lvl="1">
              <a:lnSpc>
                <a:spcPct val="90000"/>
              </a:lnSpc>
            </a:pPr>
            <a:r>
              <a:rPr lang="en-US" altLang="en-US" sz="2400" dirty="0"/>
              <a:t>SHM_SHARE_MMU	set first available aligned </a:t>
            </a:r>
            <a:br>
              <a:rPr lang="en-US" altLang="en-US" sz="2400" dirty="0"/>
            </a:br>
            <a:r>
              <a:rPr lang="en-US" altLang="en-US" sz="2400" dirty="0"/>
              <a:t>				address</a:t>
            </a: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960079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normAutofit/>
          </a:bodyPr>
          <a:lstStyle/>
          <a:p>
            <a:r>
              <a:rPr lang="en-US" altLang="en-US" sz="4000" dirty="0"/>
              <a:t>Shared Memory Control</a:t>
            </a:r>
            <a:endParaRPr lang="en-IN" sz="2000"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32</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buFontTx/>
              <a:buNone/>
            </a:pPr>
            <a:r>
              <a:rPr lang="en-US" altLang="en-US" sz="1600" dirty="0"/>
              <a:t>struct </a:t>
            </a:r>
            <a:r>
              <a:rPr lang="en-US" altLang="en-US" sz="1600" dirty="0" err="1"/>
              <a:t>shmid_ds</a:t>
            </a:r>
            <a:r>
              <a:rPr lang="en-US" altLang="en-US" sz="1600" dirty="0"/>
              <a:t> {</a:t>
            </a:r>
          </a:p>
          <a:p>
            <a:pPr>
              <a:lnSpc>
                <a:spcPct val="80000"/>
              </a:lnSpc>
              <a:buFontTx/>
              <a:buNone/>
            </a:pPr>
            <a:r>
              <a:rPr lang="en-US" altLang="en-US" sz="1600" dirty="0"/>
              <a:t> int </a:t>
            </a:r>
            <a:r>
              <a:rPr lang="en-US" altLang="en-US" sz="1600" dirty="0" err="1"/>
              <a:t>shm_segsz</a:t>
            </a:r>
            <a:r>
              <a:rPr lang="en-US" altLang="en-US" sz="1600" dirty="0"/>
              <a:t>;			/* size of segment in bytes */</a:t>
            </a:r>
          </a:p>
          <a:p>
            <a:pPr>
              <a:lnSpc>
                <a:spcPct val="80000"/>
              </a:lnSpc>
              <a:buFontTx/>
              <a:buNone/>
            </a:pPr>
            <a:r>
              <a:rPr lang="en-US" altLang="en-US" sz="1600" dirty="0"/>
              <a:t>  __</a:t>
            </a:r>
            <a:r>
              <a:rPr lang="en-US" altLang="en-US" sz="1600" dirty="0" err="1"/>
              <a:t>time_t</a:t>
            </a:r>
            <a:r>
              <a:rPr lang="en-US" altLang="en-US" sz="1600" dirty="0"/>
              <a:t> </a:t>
            </a:r>
            <a:r>
              <a:rPr lang="en-US" altLang="en-US" sz="1600" dirty="0" err="1"/>
              <a:t>shm_atime</a:t>
            </a:r>
            <a:r>
              <a:rPr lang="en-US" altLang="en-US" sz="1600" dirty="0"/>
              <a:t>;      		/* time of last </a:t>
            </a:r>
            <a:r>
              <a:rPr lang="en-US" altLang="en-US" sz="1600" dirty="0" err="1"/>
              <a:t>shmat</a:t>
            </a:r>
            <a:r>
              <a:rPr lang="en-US" altLang="en-US" sz="1600" dirty="0"/>
              <a:t> command */</a:t>
            </a:r>
          </a:p>
          <a:p>
            <a:pPr>
              <a:lnSpc>
                <a:spcPct val="80000"/>
              </a:lnSpc>
              <a:buFontTx/>
              <a:buNone/>
            </a:pPr>
            <a:r>
              <a:rPr lang="en-US" altLang="en-US" sz="1600" dirty="0"/>
              <a:t>  __</a:t>
            </a:r>
            <a:r>
              <a:rPr lang="en-US" altLang="en-US" sz="1600" dirty="0" err="1"/>
              <a:t>time_t</a:t>
            </a:r>
            <a:r>
              <a:rPr lang="en-US" altLang="en-US" sz="1600" dirty="0"/>
              <a:t> </a:t>
            </a:r>
            <a:r>
              <a:rPr lang="en-US" altLang="en-US" sz="1600" dirty="0" err="1"/>
              <a:t>shm_dtime</a:t>
            </a:r>
            <a:r>
              <a:rPr lang="en-US" altLang="en-US" sz="1600" dirty="0"/>
              <a:t>;      		/* time of last </a:t>
            </a:r>
            <a:r>
              <a:rPr lang="en-US" altLang="en-US" sz="1600" dirty="0" err="1"/>
              <a:t>shmdt</a:t>
            </a:r>
            <a:r>
              <a:rPr lang="en-US" altLang="en-US" sz="1600" dirty="0"/>
              <a:t> command */</a:t>
            </a:r>
          </a:p>
          <a:p>
            <a:pPr>
              <a:lnSpc>
                <a:spcPct val="80000"/>
              </a:lnSpc>
              <a:buFontTx/>
              <a:buNone/>
            </a:pPr>
            <a:r>
              <a:rPr lang="en-US" altLang="en-US" sz="1600" dirty="0"/>
              <a:t>  ...</a:t>
            </a:r>
          </a:p>
          <a:p>
            <a:pPr>
              <a:lnSpc>
                <a:spcPct val="80000"/>
              </a:lnSpc>
              <a:buFontTx/>
              <a:buNone/>
            </a:pPr>
            <a:r>
              <a:rPr lang="en-US" altLang="en-US" sz="1600" dirty="0"/>
              <a:t>  unsigned short int __</a:t>
            </a:r>
            <a:r>
              <a:rPr lang="en-US" altLang="en-US" sz="1600" dirty="0" err="1"/>
              <a:t>shm_npages</a:t>
            </a:r>
            <a:r>
              <a:rPr lang="en-US" altLang="en-US" sz="1600" dirty="0"/>
              <a:t>;	/* size of segment in pages */</a:t>
            </a:r>
          </a:p>
          <a:p>
            <a:pPr>
              <a:lnSpc>
                <a:spcPct val="80000"/>
              </a:lnSpc>
              <a:buFontTx/>
              <a:buNone/>
            </a:pPr>
            <a:r>
              <a:rPr lang="en-US" altLang="en-US" sz="1600" dirty="0"/>
              <a:t>  </a:t>
            </a:r>
            <a:r>
              <a:rPr lang="en-US" altLang="en-US" sz="1600" dirty="0" err="1"/>
              <a:t>msgqnum_t</a:t>
            </a:r>
            <a:r>
              <a:rPr lang="en-US" altLang="en-US" sz="1600" dirty="0"/>
              <a:t> </a:t>
            </a:r>
            <a:r>
              <a:rPr lang="en-US" altLang="en-US" sz="1600" dirty="0" err="1"/>
              <a:t>shm_nattach</a:t>
            </a:r>
            <a:r>
              <a:rPr lang="en-US" altLang="en-US" sz="1600" dirty="0"/>
              <a:t>;      		/* number of current attaches */</a:t>
            </a:r>
          </a:p>
          <a:p>
            <a:pPr>
              <a:lnSpc>
                <a:spcPct val="80000"/>
              </a:lnSpc>
              <a:buFontTx/>
              <a:buNone/>
            </a:pPr>
            <a:r>
              <a:rPr lang="en-US" altLang="en-US" sz="1600" dirty="0"/>
              <a:t>    ...			   	/* </a:t>
            </a:r>
            <a:r>
              <a:rPr lang="en-US" altLang="en-US" sz="1600" dirty="0" err="1"/>
              <a:t>pids</a:t>
            </a:r>
            <a:r>
              <a:rPr lang="en-US" altLang="en-US" sz="1600" dirty="0"/>
              <a:t> of creator and last </a:t>
            </a:r>
            <a:r>
              <a:rPr lang="en-US" altLang="en-US" sz="1600" dirty="0" err="1"/>
              <a:t>shmop</a:t>
            </a:r>
            <a:r>
              <a:rPr lang="en-US" altLang="en-US" sz="1600" dirty="0"/>
              <a:t> */</a:t>
            </a:r>
          </a:p>
          <a:p>
            <a:pPr>
              <a:lnSpc>
                <a:spcPct val="80000"/>
              </a:lnSpc>
              <a:buFontTx/>
              <a:buNone/>
            </a:pPr>
            <a:r>
              <a:rPr lang="en-US" altLang="en-US" sz="1600" dirty="0"/>
              <a:t>};</a:t>
            </a:r>
          </a:p>
          <a:p>
            <a:pPr>
              <a:lnSpc>
                <a:spcPct val="90000"/>
              </a:lnSpc>
            </a:pPr>
            <a:r>
              <a:rPr lang="en-US" altLang="en-US" sz="2400" dirty="0">
                <a:solidFill>
                  <a:srgbClr val="2529C7"/>
                </a:solidFill>
              </a:rPr>
              <a:t>int </a:t>
            </a:r>
            <a:r>
              <a:rPr lang="en-US" altLang="en-US" sz="2400" dirty="0" err="1">
                <a:solidFill>
                  <a:srgbClr val="2529C7"/>
                </a:solidFill>
              </a:rPr>
              <a:t>shmctl</a:t>
            </a:r>
            <a:r>
              <a:rPr lang="en-US" altLang="en-US" sz="2400" dirty="0">
                <a:solidFill>
                  <a:srgbClr val="2529C7"/>
                </a:solidFill>
              </a:rPr>
              <a:t>(int </a:t>
            </a:r>
            <a:r>
              <a:rPr lang="en-US" altLang="en-US" sz="2400" dirty="0" err="1">
                <a:solidFill>
                  <a:srgbClr val="2529C7"/>
                </a:solidFill>
              </a:rPr>
              <a:t>shmid</a:t>
            </a:r>
            <a:r>
              <a:rPr lang="en-US" altLang="en-US" sz="2400" dirty="0">
                <a:solidFill>
                  <a:srgbClr val="2529C7"/>
                </a:solidFill>
              </a:rPr>
              <a:t>, int </a:t>
            </a:r>
            <a:r>
              <a:rPr lang="en-US" altLang="en-US" sz="2400" dirty="0" err="1">
                <a:solidFill>
                  <a:srgbClr val="2529C7"/>
                </a:solidFill>
              </a:rPr>
              <a:t>cmd</a:t>
            </a:r>
            <a:r>
              <a:rPr lang="en-US" altLang="en-US" sz="2400" dirty="0">
                <a:solidFill>
                  <a:srgbClr val="2529C7"/>
                </a:solidFill>
              </a:rPr>
              <a:t>, struct </a:t>
            </a:r>
            <a:r>
              <a:rPr lang="en-US" altLang="en-US" sz="2400" dirty="0" err="1">
                <a:solidFill>
                  <a:srgbClr val="2529C7"/>
                </a:solidFill>
              </a:rPr>
              <a:t>shmid_ds</a:t>
            </a:r>
            <a:r>
              <a:rPr lang="en-US" altLang="en-US" sz="2400" dirty="0">
                <a:solidFill>
                  <a:srgbClr val="2529C7"/>
                </a:solidFill>
              </a:rPr>
              <a:t> * </a:t>
            </a:r>
            <a:r>
              <a:rPr lang="en-US" altLang="en-US" sz="2400" dirty="0" err="1">
                <a:solidFill>
                  <a:srgbClr val="2529C7"/>
                </a:solidFill>
              </a:rPr>
              <a:t>buf</a:t>
            </a:r>
            <a:r>
              <a:rPr lang="en-US" altLang="en-US" sz="2400" dirty="0">
                <a:solidFill>
                  <a:srgbClr val="2529C7"/>
                </a:solidFill>
              </a:rPr>
              <a:t>);</a:t>
            </a:r>
          </a:p>
          <a:p>
            <a:pPr>
              <a:lnSpc>
                <a:spcPct val="90000"/>
              </a:lnSpc>
            </a:pPr>
            <a:r>
              <a:rPr lang="en-US" altLang="en-US" sz="2000" dirty="0" err="1"/>
              <a:t>cmd</a:t>
            </a:r>
            <a:r>
              <a:rPr lang="en-US" altLang="en-US" sz="2000" dirty="0"/>
              <a:t> can be one of:</a:t>
            </a:r>
          </a:p>
          <a:p>
            <a:pPr lvl="1">
              <a:lnSpc>
                <a:spcPct val="90000"/>
              </a:lnSpc>
            </a:pPr>
            <a:r>
              <a:rPr lang="en-US" altLang="en-US" sz="2000" dirty="0"/>
              <a:t>IPC_RMID	destroy the memory specified by </a:t>
            </a:r>
            <a:r>
              <a:rPr lang="en-US" altLang="en-US" sz="2000" dirty="0" err="1"/>
              <a:t>shmid</a:t>
            </a:r>
            <a:endParaRPr lang="en-US" altLang="en-US" sz="2000" dirty="0"/>
          </a:p>
          <a:p>
            <a:pPr lvl="1">
              <a:lnSpc>
                <a:spcPct val="90000"/>
              </a:lnSpc>
            </a:pPr>
            <a:r>
              <a:rPr lang="en-US" altLang="en-US" sz="2000" dirty="0"/>
              <a:t>IPC_SET		set the </a:t>
            </a:r>
            <a:r>
              <a:rPr lang="en-US" altLang="en-US" sz="2000" dirty="0" err="1"/>
              <a:t>uid</a:t>
            </a:r>
            <a:r>
              <a:rPr lang="en-US" altLang="en-US" sz="2000" dirty="0"/>
              <a:t>, gid, and mode of the shared mem</a:t>
            </a:r>
          </a:p>
          <a:p>
            <a:pPr lvl="1">
              <a:lnSpc>
                <a:spcPct val="90000"/>
              </a:lnSpc>
            </a:pPr>
            <a:r>
              <a:rPr lang="en-US" altLang="en-US" sz="2000" dirty="0"/>
              <a:t>IPC_STAT	get the current </a:t>
            </a:r>
            <a:r>
              <a:rPr lang="en-US" altLang="en-US" sz="2000" dirty="0" err="1"/>
              <a:t>shmid_ds</a:t>
            </a:r>
            <a:r>
              <a:rPr lang="en-US" altLang="en-US" sz="2000" dirty="0"/>
              <a:t> struct for the queue</a:t>
            </a:r>
          </a:p>
          <a:p>
            <a:pPr>
              <a:lnSpc>
                <a:spcPct val="90000"/>
              </a:lnSpc>
            </a:pPr>
            <a:r>
              <a:rPr lang="en-US" altLang="en-US" sz="2400" dirty="0"/>
              <a:t>Example code </a:t>
            </a:r>
            <a:r>
              <a:rPr lang="en-US" altLang="en-US" sz="2400" dirty="0">
                <a:sym typeface="Wingdings" panose="05000000000000000000" pitchFamily="2" charset="2"/>
              </a:rPr>
              <a:t></a:t>
            </a:r>
            <a:endParaRPr lang="en-US" altLang="en-US" sz="2400" dirty="0"/>
          </a:p>
          <a:p>
            <a:endParaRPr lang="en-IN" dirty="0"/>
          </a:p>
        </p:txBody>
      </p:sp>
    </p:spTree>
    <p:extLst>
      <p:ext uri="{BB962C8B-B14F-4D97-AF65-F5344CB8AC3E}">
        <p14:creationId xmlns:p14="http://schemas.microsoft.com/office/powerpoint/2010/main" val="4109208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8DFC-BE3B-495D-B090-CC387A666271}"/>
              </a:ext>
            </a:extLst>
          </p:cNvPr>
          <p:cNvSpPr>
            <a:spLocks noGrp="1"/>
          </p:cNvSpPr>
          <p:nvPr>
            <p:ph type="title"/>
          </p:nvPr>
        </p:nvSpPr>
        <p:spPr>
          <a:xfrm>
            <a:off x="72736" y="2017"/>
            <a:ext cx="8827078" cy="933595"/>
          </a:xfrm>
        </p:spPr>
        <p:txBody>
          <a:bodyPr/>
          <a:lstStyle/>
          <a:p>
            <a:r>
              <a:rPr lang="en-US" dirty="0"/>
              <a:t>Sample code</a:t>
            </a:r>
            <a:endParaRPr lang="en-IN" dirty="0"/>
          </a:p>
        </p:txBody>
      </p:sp>
      <p:sp>
        <p:nvSpPr>
          <p:cNvPr id="3" name="Slide Number Placeholder 2">
            <a:extLst>
              <a:ext uri="{FF2B5EF4-FFF2-40B4-BE49-F238E27FC236}">
                <a16:creationId xmlns:a16="http://schemas.microsoft.com/office/drawing/2014/main" id="{030FA85A-6746-4128-896C-A99E9524F7FC}"/>
              </a:ext>
            </a:extLst>
          </p:cNvPr>
          <p:cNvSpPr>
            <a:spLocks noGrp="1"/>
          </p:cNvSpPr>
          <p:nvPr>
            <p:ph type="sldNum" sz="quarter" idx="12"/>
          </p:nvPr>
        </p:nvSpPr>
        <p:spPr/>
        <p:txBody>
          <a:bodyPr/>
          <a:lstStyle/>
          <a:p>
            <a:fld id="{C98AF7D0-B530-437A-8244-231A0C0FDB3D}" type="slidenum">
              <a:rPr lang="en-IN" smtClean="0"/>
              <a:t>33</a:t>
            </a:fld>
            <a:endParaRPr lang="en-IN"/>
          </a:p>
        </p:txBody>
      </p:sp>
      <p:graphicFrame>
        <p:nvGraphicFramePr>
          <p:cNvPr id="4" name="Table 3">
            <a:extLst>
              <a:ext uri="{FF2B5EF4-FFF2-40B4-BE49-F238E27FC236}">
                <a16:creationId xmlns:a16="http://schemas.microsoft.com/office/drawing/2014/main" id="{673D8FD6-331A-4001-93C7-C01690457033}"/>
              </a:ext>
            </a:extLst>
          </p:cNvPr>
          <p:cNvGraphicFramePr>
            <a:graphicFrameLocks noGrp="1"/>
          </p:cNvGraphicFramePr>
          <p:nvPr/>
        </p:nvGraphicFramePr>
        <p:xfrm>
          <a:off x="270106" y="1491535"/>
          <a:ext cx="4219113" cy="5137374"/>
        </p:xfrm>
        <a:graphic>
          <a:graphicData uri="http://schemas.openxmlformats.org/drawingml/2006/table">
            <a:tbl>
              <a:tblPr/>
              <a:tblGrid>
                <a:gridCol w="4219113">
                  <a:extLst>
                    <a:ext uri="{9D8B030D-6E8A-4147-A177-3AD203B41FA5}">
                      <a16:colId xmlns:a16="http://schemas.microsoft.com/office/drawing/2014/main" val="3505018512"/>
                    </a:ext>
                  </a:extLst>
                </a:gridCol>
              </a:tblGrid>
              <a:tr h="5011737">
                <a:tc>
                  <a:txBody>
                    <a:bodyPr/>
                    <a:lstStyle/>
                    <a:p>
                      <a:pPr algn="l" rtl="0" fontAlgn="base"/>
                      <a:r>
                        <a:rPr lang="en-IN" sz="1200" b="0" i="0" dirty="0">
                          <a:effectLst/>
                          <a:latin typeface="Consolas" panose="020B0609020204030204" pitchFamily="49" charset="0"/>
                        </a:rPr>
                        <a:t>#include &lt;iostream&gt;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ipc.h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shm.h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a:t>
                      </a:r>
                      <a:r>
                        <a:rPr lang="en-IN" sz="1200" b="0" i="0" dirty="0" err="1">
                          <a:effectLst/>
                          <a:latin typeface="Consolas" panose="020B0609020204030204" pitchFamily="49" charset="0"/>
                        </a:rPr>
                        <a:t>stdio.h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using namespace std;</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int main()</a:t>
                      </a:r>
                    </a:p>
                    <a:p>
                      <a:pPr algn="l" rtl="0" fontAlgn="base"/>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 to generate unique key</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key_t</a:t>
                      </a:r>
                      <a:r>
                        <a:rPr lang="en-IN" sz="1200" b="0" i="0" dirty="0">
                          <a:effectLst/>
                          <a:latin typeface="Consolas" panose="020B0609020204030204" pitchFamily="49" charset="0"/>
                        </a:rPr>
                        <a:t> key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("shmfile",65);</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 returns an identifier in </a:t>
                      </a:r>
                      <a:r>
                        <a:rPr lang="en-IN" sz="1200" b="0" i="0" dirty="0" err="1">
                          <a:effectLst/>
                          <a:latin typeface="Consolas" panose="020B0609020204030204" pitchFamily="49" charset="0"/>
                        </a:rPr>
                        <a:t>shmid</a:t>
                      </a:r>
                      <a:endParaRPr lang="en-IN" sz="1200" b="0" i="0" dirty="0">
                        <a:effectLst/>
                        <a:latin typeface="Consolas" panose="020B0609020204030204" pitchFamily="49" charset="0"/>
                      </a:endParaRPr>
                    </a:p>
                    <a:p>
                      <a:pPr algn="l" rtl="0" fontAlgn="base"/>
                      <a:r>
                        <a:rPr lang="en-IN" sz="1200" b="0" i="0" dirty="0">
                          <a:effectLst/>
                          <a:latin typeface="Consolas" panose="020B0609020204030204" pitchFamily="49" charset="0"/>
                        </a:rPr>
                        <a:t>    int </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(key,1024,0666|IPC_CREAT);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 to attach to shared memory</a:t>
                      </a:r>
                    </a:p>
                    <a:p>
                      <a:pPr algn="l" rtl="0" fontAlgn="base"/>
                      <a:r>
                        <a:rPr lang="en-IN" sz="1200" b="0" i="0" dirty="0">
                          <a:effectLst/>
                          <a:latin typeface="Consolas" panose="020B0609020204030204" pitchFamily="49" charset="0"/>
                        </a:rPr>
                        <a:t>    char *str = (char*)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,(void*)0,0);</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cout</a:t>
                      </a:r>
                      <a:r>
                        <a:rPr lang="en-IN" sz="1200" b="0" i="0" dirty="0">
                          <a:effectLst/>
                          <a:latin typeface="Consolas" panose="020B0609020204030204" pitchFamily="49" charset="0"/>
                        </a:rPr>
                        <a:t>&lt;&lt;"Write Data : ";</a:t>
                      </a:r>
                    </a:p>
                    <a:p>
                      <a:pPr algn="l" rtl="0" fontAlgn="base"/>
                      <a:r>
                        <a:rPr lang="en-IN" sz="1200" b="0" i="0" dirty="0">
                          <a:effectLst/>
                          <a:latin typeface="Consolas" panose="020B0609020204030204" pitchFamily="49" charset="0"/>
                        </a:rPr>
                        <a:t>    gets(str);</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printf</a:t>
                      </a:r>
                      <a:r>
                        <a:rPr lang="en-IN" sz="1200" b="0" i="0" dirty="0">
                          <a:effectLst/>
                          <a:latin typeface="Consolas" panose="020B0609020204030204" pitchFamily="49" charset="0"/>
                        </a:rPr>
                        <a:t>("Data written in memory: %s\</a:t>
                      </a:r>
                      <a:r>
                        <a:rPr lang="en-IN" sz="1200" b="0" i="0" dirty="0" err="1">
                          <a:effectLst/>
                          <a:latin typeface="Consolas" panose="020B0609020204030204" pitchFamily="49" charset="0"/>
                        </a:rPr>
                        <a:t>n",str</a:t>
                      </a:r>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//detach from shared memory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shmdt</a:t>
                      </a:r>
                      <a:r>
                        <a:rPr lang="en-IN" sz="1200" b="0" i="0" dirty="0">
                          <a:effectLst/>
                          <a:latin typeface="Consolas" panose="020B0609020204030204" pitchFamily="49" charset="0"/>
                        </a:rPr>
                        <a:t>(str);</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return 0;</a:t>
                      </a:r>
                    </a:p>
                    <a:p>
                      <a:pPr algn="l" rtl="0" fontAlgn="base"/>
                      <a:r>
                        <a:rPr lang="en-IN" sz="1200" b="0" i="0" dirty="0">
                          <a:effectLst/>
                          <a:latin typeface="Consolas" panose="020B0609020204030204" pitchFamily="49" charset="0"/>
                        </a:rPr>
                        <a:t>}</a:t>
                      </a:r>
                    </a:p>
                  </a:txBody>
                  <a:tcPr marL="71291" marR="71291" marT="99807" marB="99807" anchor="ctr">
                    <a:lnL>
                      <a:noFill/>
                    </a:lnL>
                    <a:lnR>
                      <a:noFill/>
                    </a:lnR>
                    <a:lnT>
                      <a:noFill/>
                    </a:lnT>
                    <a:lnB>
                      <a:noFill/>
                    </a:lnB>
                  </a:tcPr>
                </a:tc>
                <a:extLst>
                  <a:ext uri="{0D108BD9-81ED-4DB2-BD59-A6C34878D82A}">
                    <a16:rowId xmlns:a16="http://schemas.microsoft.com/office/drawing/2014/main" val="3741497294"/>
                  </a:ext>
                </a:extLst>
              </a:tr>
            </a:tbl>
          </a:graphicData>
        </a:graphic>
      </p:graphicFrame>
      <p:graphicFrame>
        <p:nvGraphicFramePr>
          <p:cNvPr id="7" name="Table 6">
            <a:extLst>
              <a:ext uri="{FF2B5EF4-FFF2-40B4-BE49-F238E27FC236}">
                <a16:creationId xmlns:a16="http://schemas.microsoft.com/office/drawing/2014/main" id="{3F1D8D37-2A34-417E-AF50-AE5E640F215C}"/>
              </a:ext>
            </a:extLst>
          </p:cNvPr>
          <p:cNvGraphicFramePr>
            <a:graphicFrameLocks noGrp="1"/>
          </p:cNvGraphicFramePr>
          <p:nvPr/>
        </p:nvGraphicFramePr>
        <p:xfrm>
          <a:off x="4770643" y="1187726"/>
          <a:ext cx="4298029" cy="5137374"/>
        </p:xfrm>
        <a:graphic>
          <a:graphicData uri="http://schemas.openxmlformats.org/drawingml/2006/table">
            <a:tbl>
              <a:tblPr/>
              <a:tblGrid>
                <a:gridCol w="4298029">
                  <a:extLst>
                    <a:ext uri="{9D8B030D-6E8A-4147-A177-3AD203B41FA5}">
                      <a16:colId xmlns:a16="http://schemas.microsoft.com/office/drawing/2014/main" val="2956421485"/>
                    </a:ext>
                  </a:extLst>
                </a:gridCol>
              </a:tblGrid>
              <a:tr h="5011737">
                <a:tc>
                  <a:txBody>
                    <a:bodyPr/>
                    <a:lstStyle/>
                    <a:p>
                      <a:pPr algn="l" rtl="0" fontAlgn="base"/>
                      <a:r>
                        <a:rPr lang="en-IN" sz="1200" b="0" i="0" dirty="0">
                          <a:effectLst/>
                          <a:latin typeface="Consolas" panose="020B0609020204030204" pitchFamily="49" charset="0"/>
                        </a:rPr>
                        <a:t>#include &lt;iostream&gt;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ipc.h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shm.h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a:t>
                      </a:r>
                      <a:r>
                        <a:rPr lang="en-IN" sz="1200" b="0" i="0" dirty="0" err="1">
                          <a:effectLst/>
                          <a:latin typeface="Consolas" panose="020B0609020204030204" pitchFamily="49" charset="0"/>
                        </a:rPr>
                        <a:t>stdio.h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using namespace std;</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int main()</a:t>
                      </a:r>
                    </a:p>
                    <a:p>
                      <a:pPr algn="l" rtl="0" fontAlgn="base"/>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 to generate unique key</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key_t</a:t>
                      </a:r>
                      <a:r>
                        <a:rPr lang="en-IN" sz="1200" b="0" i="0" dirty="0">
                          <a:effectLst/>
                          <a:latin typeface="Consolas" panose="020B0609020204030204" pitchFamily="49" charset="0"/>
                        </a:rPr>
                        <a:t> key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("shmfile",65);</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 returns an identifier in </a:t>
                      </a:r>
                      <a:r>
                        <a:rPr lang="en-IN" sz="1200" b="0" i="0" dirty="0" err="1">
                          <a:effectLst/>
                          <a:latin typeface="Consolas" panose="020B0609020204030204" pitchFamily="49" charset="0"/>
                        </a:rPr>
                        <a:t>shmid</a:t>
                      </a:r>
                      <a:endParaRPr lang="en-IN" sz="1200" b="0" i="0" dirty="0">
                        <a:effectLst/>
                        <a:latin typeface="Consolas" panose="020B0609020204030204" pitchFamily="49" charset="0"/>
                      </a:endParaRPr>
                    </a:p>
                    <a:p>
                      <a:pPr algn="l" rtl="0" fontAlgn="base"/>
                      <a:r>
                        <a:rPr lang="en-IN" sz="1200" b="0" i="0" dirty="0">
                          <a:effectLst/>
                          <a:latin typeface="Consolas" panose="020B0609020204030204" pitchFamily="49" charset="0"/>
                        </a:rPr>
                        <a:t>    int </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(key,1024,0666|IPC_CREAT);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 to attach to shared memory</a:t>
                      </a:r>
                    </a:p>
                    <a:p>
                      <a:pPr algn="l" rtl="0" fontAlgn="base"/>
                      <a:r>
                        <a:rPr lang="en-IN" sz="1200" b="0" i="0" dirty="0">
                          <a:effectLst/>
                          <a:latin typeface="Consolas" panose="020B0609020204030204" pitchFamily="49" charset="0"/>
                        </a:rPr>
                        <a:t>    char *str = (char*)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,(void*)0,0);</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printf</a:t>
                      </a:r>
                      <a:r>
                        <a:rPr lang="en-IN" sz="1200" b="0" i="0" dirty="0">
                          <a:effectLst/>
                          <a:latin typeface="Consolas" panose="020B0609020204030204" pitchFamily="49" charset="0"/>
                        </a:rPr>
                        <a:t>("Data read from memory: %s\</a:t>
                      </a:r>
                      <a:r>
                        <a:rPr lang="en-IN" sz="1200" b="0" i="0" dirty="0" err="1">
                          <a:effectLst/>
                          <a:latin typeface="Consolas" panose="020B0609020204030204" pitchFamily="49" charset="0"/>
                        </a:rPr>
                        <a:t>n",str</a:t>
                      </a:r>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//detach from shared memory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shmdt</a:t>
                      </a:r>
                      <a:r>
                        <a:rPr lang="en-IN" sz="1200" b="0" i="0" dirty="0">
                          <a:effectLst/>
                          <a:latin typeface="Consolas" panose="020B0609020204030204" pitchFamily="49" charset="0"/>
                        </a:rPr>
                        <a:t>(str);</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destroy the shared memory</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shmctl</a:t>
                      </a:r>
                      <a:r>
                        <a:rPr lang="en-IN" sz="1200" b="0" i="0" dirty="0">
                          <a:effectLst/>
                          <a:latin typeface="Consolas" panose="020B0609020204030204" pitchFamily="49" charset="0"/>
                        </a:rPr>
                        <a:t>(</a:t>
                      </a:r>
                      <a:r>
                        <a:rPr lang="en-IN" sz="1200" b="0" i="0" dirty="0" err="1">
                          <a:effectLst/>
                          <a:latin typeface="Consolas" panose="020B0609020204030204" pitchFamily="49" charset="0"/>
                        </a:rPr>
                        <a:t>shmid,IPC_RMID,NULL</a:t>
                      </a:r>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return 0;</a:t>
                      </a:r>
                    </a:p>
                    <a:p>
                      <a:pPr algn="l" rtl="0" fontAlgn="base"/>
                      <a:r>
                        <a:rPr lang="en-IN" sz="1200" b="0" i="0" dirty="0">
                          <a:effectLst/>
                          <a:latin typeface="Consolas" panose="020B0609020204030204" pitchFamily="49" charset="0"/>
                        </a:rPr>
                        <a:t>}</a:t>
                      </a:r>
                    </a:p>
                  </a:txBody>
                  <a:tcPr marL="71291" marR="71291" marT="99807" marB="99807" anchor="ctr">
                    <a:lnL>
                      <a:noFill/>
                    </a:lnL>
                    <a:lnR>
                      <a:noFill/>
                    </a:lnR>
                    <a:lnT>
                      <a:noFill/>
                    </a:lnT>
                    <a:lnB>
                      <a:noFill/>
                    </a:lnB>
                  </a:tcPr>
                </a:tc>
                <a:extLst>
                  <a:ext uri="{0D108BD9-81ED-4DB2-BD59-A6C34878D82A}">
                    <a16:rowId xmlns:a16="http://schemas.microsoft.com/office/drawing/2014/main" val="1775714633"/>
                  </a:ext>
                </a:extLst>
              </a:tr>
            </a:tbl>
          </a:graphicData>
        </a:graphic>
      </p:graphicFrame>
      <p:sp>
        <p:nvSpPr>
          <p:cNvPr id="8" name="Rectangle 1">
            <a:extLst>
              <a:ext uri="{FF2B5EF4-FFF2-40B4-BE49-F238E27FC236}">
                <a16:creationId xmlns:a16="http://schemas.microsoft.com/office/drawing/2014/main" id="{595D6FD8-B12F-471C-A807-1470A06B1A08}"/>
              </a:ext>
            </a:extLst>
          </p:cNvPr>
          <p:cNvSpPr>
            <a:spLocks noChangeArrowheads="1"/>
          </p:cNvSpPr>
          <p:nvPr/>
        </p:nvSpPr>
        <p:spPr bwMode="auto">
          <a:xfrm>
            <a:off x="5008563" y="916180"/>
            <a:ext cx="29023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urw-din"/>
              </a:rPr>
              <a:t>SHARED MEMORY FOR READER PROCESS</a:t>
            </a:r>
            <a:endParaRPr kumimoji="0" lang="en-US" altLang="en-US" sz="600" b="1" i="0" u="none" strike="noStrike" cap="none" normalizeH="0" baseline="0" dirty="0">
              <a:ln>
                <a:noFill/>
              </a:ln>
              <a:effectLst/>
            </a:endParaRPr>
          </a:p>
        </p:txBody>
      </p:sp>
      <p:sp>
        <p:nvSpPr>
          <p:cNvPr id="9" name="Rectangle 2">
            <a:extLst>
              <a:ext uri="{FF2B5EF4-FFF2-40B4-BE49-F238E27FC236}">
                <a16:creationId xmlns:a16="http://schemas.microsoft.com/office/drawing/2014/main" id="{2A3FEAB4-5815-4551-9F15-761DBADB0EE1}"/>
              </a:ext>
            </a:extLst>
          </p:cNvPr>
          <p:cNvSpPr>
            <a:spLocks noChangeArrowheads="1"/>
          </p:cNvSpPr>
          <p:nvPr/>
        </p:nvSpPr>
        <p:spPr bwMode="auto">
          <a:xfrm>
            <a:off x="2189163" y="1738313"/>
            <a:ext cx="1905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10" name="Rectangle 1">
            <a:extLst>
              <a:ext uri="{FF2B5EF4-FFF2-40B4-BE49-F238E27FC236}">
                <a16:creationId xmlns:a16="http://schemas.microsoft.com/office/drawing/2014/main" id="{D30F959A-118B-4236-AC3E-0A86F63633F7}"/>
              </a:ext>
            </a:extLst>
          </p:cNvPr>
          <p:cNvSpPr>
            <a:spLocks noChangeArrowheads="1"/>
          </p:cNvSpPr>
          <p:nvPr/>
        </p:nvSpPr>
        <p:spPr bwMode="auto">
          <a:xfrm>
            <a:off x="484188" y="1214536"/>
            <a:ext cx="29023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urw-din"/>
              </a:rPr>
              <a:t>SHARED MEMORY FOR W</a:t>
            </a:r>
            <a:r>
              <a:rPr kumimoji="0" lang="en-US" altLang="en-US" sz="1200" b="1" u="none" strike="noStrike" cap="none" normalizeH="0" baseline="0" dirty="0">
                <a:ln>
                  <a:noFill/>
                </a:ln>
                <a:effectLst/>
                <a:latin typeface="urw-din"/>
              </a:rPr>
              <a:t>RITER</a:t>
            </a:r>
            <a:r>
              <a:rPr kumimoji="0" lang="en-US" altLang="en-US" sz="1200" b="1" i="0" u="none" strike="noStrike" cap="none" normalizeH="0" baseline="0" dirty="0">
                <a:ln>
                  <a:noFill/>
                </a:ln>
                <a:effectLst/>
                <a:latin typeface="urw-din"/>
              </a:rPr>
              <a:t> PROCESS</a:t>
            </a:r>
            <a:endParaRPr kumimoji="0" lang="en-US" altLang="en-US" sz="600" b="1" i="0" u="none" strike="noStrike" cap="none" normalizeH="0" baseline="0" dirty="0">
              <a:ln>
                <a:noFill/>
              </a:ln>
              <a:effectLst/>
            </a:endParaRPr>
          </a:p>
        </p:txBody>
      </p:sp>
    </p:spTree>
    <p:extLst>
      <p:ext uri="{BB962C8B-B14F-4D97-AF65-F5344CB8AC3E}">
        <p14:creationId xmlns:p14="http://schemas.microsoft.com/office/powerpoint/2010/main" val="1758129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E05-AC55-4A63-A94D-738E9D405C66}"/>
              </a:ext>
            </a:extLst>
          </p:cNvPr>
          <p:cNvSpPr>
            <a:spLocks noGrp="1"/>
          </p:cNvSpPr>
          <p:nvPr>
            <p:ph type="title"/>
          </p:nvPr>
        </p:nvSpPr>
        <p:spPr/>
        <p:txBody>
          <a:bodyPr/>
          <a:lstStyle/>
          <a:p>
            <a:r>
              <a:rPr lang="en-US" dirty="0"/>
              <a:t>Calls explanation</a:t>
            </a:r>
            <a:endParaRPr lang="en-IN" dirty="0"/>
          </a:p>
        </p:txBody>
      </p:sp>
      <p:sp>
        <p:nvSpPr>
          <p:cNvPr id="3" name="Slide Number Placeholder 2">
            <a:extLst>
              <a:ext uri="{FF2B5EF4-FFF2-40B4-BE49-F238E27FC236}">
                <a16:creationId xmlns:a16="http://schemas.microsoft.com/office/drawing/2014/main" id="{8EFE650E-DCD4-4948-ABF9-D58B84046C1E}"/>
              </a:ext>
            </a:extLst>
          </p:cNvPr>
          <p:cNvSpPr>
            <a:spLocks noGrp="1"/>
          </p:cNvSpPr>
          <p:nvPr>
            <p:ph type="sldNum" sz="quarter" idx="12"/>
          </p:nvPr>
        </p:nvSpPr>
        <p:spPr/>
        <p:txBody>
          <a:bodyPr/>
          <a:lstStyle/>
          <a:p>
            <a:fld id="{C98AF7D0-B530-437A-8244-231A0C0FDB3D}" type="slidenum">
              <a:rPr lang="en-IN" smtClean="0"/>
              <a:t>34</a:t>
            </a:fld>
            <a:endParaRPr lang="en-IN"/>
          </a:p>
        </p:txBody>
      </p:sp>
      <p:sp>
        <p:nvSpPr>
          <p:cNvPr id="4" name="Rectangle 1">
            <a:extLst>
              <a:ext uri="{FF2B5EF4-FFF2-40B4-BE49-F238E27FC236}">
                <a16:creationId xmlns:a16="http://schemas.microsoft.com/office/drawing/2014/main" id="{954D59C5-C50E-418D-AF58-F5729C456BD7}"/>
              </a:ext>
            </a:extLst>
          </p:cNvPr>
          <p:cNvSpPr>
            <a:spLocks noChangeArrowheads="1"/>
          </p:cNvSpPr>
          <p:nvPr/>
        </p:nvSpPr>
        <p:spPr bwMode="auto">
          <a:xfrm>
            <a:off x="245470" y="1163256"/>
            <a:ext cx="8721885" cy="551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fontAlgn="base"/>
            <a:r>
              <a:rPr lang="en-US" sz="2400" b="1" i="1" dirty="0" err="1">
                <a:solidFill>
                  <a:srgbClr val="273239"/>
                </a:solidFill>
                <a:effectLst/>
                <a:latin typeface="urw-din"/>
              </a:rPr>
              <a:t>ftok</a:t>
            </a:r>
            <a:r>
              <a:rPr lang="en-US" sz="2400" b="1" i="1" dirty="0">
                <a:solidFill>
                  <a:srgbClr val="273239"/>
                </a:solidFill>
                <a:effectLst/>
                <a:latin typeface="urw-din"/>
              </a:rPr>
              <a:t>()</a:t>
            </a:r>
            <a:r>
              <a:rPr lang="en-US" sz="2400" b="0" i="1" dirty="0">
                <a:solidFill>
                  <a:srgbClr val="273239"/>
                </a:solidFill>
                <a:effectLst/>
                <a:latin typeface="urw-din"/>
              </a:rPr>
              <a:t>: c</a:t>
            </a:r>
            <a:r>
              <a:rPr lang="en-US" sz="2400" i="1" dirty="0">
                <a:solidFill>
                  <a:srgbClr val="273239"/>
                </a:solidFill>
                <a:latin typeface="urw-din"/>
              </a:rPr>
              <a:t>onverts a pathname and a project identifier to a unique System V IPC key </a:t>
            </a:r>
          </a:p>
          <a:p>
            <a:pPr fontAlgn="base"/>
            <a:r>
              <a:rPr lang="en-US" sz="2400" b="1" i="1" dirty="0" err="1">
                <a:solidFill>
                  <a:srgbClr val="273239"/>
                </a:solidFill>
                <a:latin typeface="urw-din"/>
              </a:rPr>
              <a:t>shmget</a:t>
            </a:r>
            <a:r>
              <a:rPr lang="en-US" sz="2400" i="1" dirty="0">
                <a:solidFill>
                  <a:srgbClr val="273239"/>
                </a:solidFill>
                <a:latin typeface="urw-din"/>
              </a:rPr>
              <a:t>(): upon successful completion, </a:t>
            </a:r>
            <a:r>
              <a:rPr lang="en-US" sz="2400" i="1" dirty="0" err="1">
                <a:solidFill>
                  <a:srgbClr val="273239"/>
                </a:solidFill>
                <a:latin typeface="urw-din"/>
              </a:rPr>
              <a:t>shmget</a:t>
            </a:r>
            <a:r>
              <a:rPr lang="en-US" sz="2400" i="1" dirty="0">
                <a:solidFill>
                  <a:srgbClr val="273239"/>
                </a:solidFill>
                <a:latin typeface="urw-din"/>
              </a:rPr>
              <a:t>() returns an identifier for the shared memory segment.</a:t>
            </a:r>
          </a:p>
          <a:p>
            <a:pPr algn="l" fontAlgn="base"/>
            <a:r>
              <a:rPr lang="en-US" sz="2400" b="1" i="1" dirty="0" err="1">
                <a:solidFill>
                  <a:srgbClr val="273239"/>
                </a:solidFill>
                <a:effectLst/>
                <a:latin typeface="urw-din"/>
              </a:rPr>
              <a:t>shmat</a:t>
            </a:r>
            <a:r>
              <a:rPr lang="en-US" sz="2400" b="1" i="1" dirty="0">
                <a:solidFill>
                  <a:srgbClr val="273239"/>
                </a:solidFill>
                <a:effectLst/>
                <a:latin typeface="urw-din"/>
              </a:rPr>
              <a:t>()</a:t>
            </a:r>
            <a:r>
              <a:rPr lang="en-US" sz="2400" b="0" i="1" dirty="0">
                <a:solidFill>
                  <a:srgbClr val="273239"/>
                </a:solidFill>
                <a:effectLst/>
                <a:latin typeface="urw-din"/>
              </a:rPr>
              <a:t>: Before you can use a shared memory segment, you have to attach yourself to it using </a:t>
            </a:r>
            <a:r>
              <a:rPr lang="en-US" sz="2400" b="0" i="1" dirty="0" err="1">
                <a:solidFill>
                  <a:srgbClr val="273239"/>
                </a:solidFill>
                <a:effectLst/>
                <a:latin typeface="urw-din"/>
              </a:rPr>
              <a:t>shmat</a:t>
            </a:r>
            <a:r>
              <a:rPr lang="en-US" sz="2400" b="0" i="1" dirty="0">
                <a:solidFill>
                  <a:srgbClr val="273239"/>
                </a:solidFill>
                <a:effectLst/>
                <a:latin typeface="urw-din"/>
              </a:rPr>
              <a:t>(). </a:t>
            </a:r>
          </a:p>
          <a:p>
            <a:pPr algn="l" fontAlgn="base"/>
            <a:r>
              <a:rPr lang="en-US" sz="2400" b="0" i="1" dirty="0">
                <a:solidFill>
                  <a:srgbClr val="273239"/>
                </a:solidFill>
                <a:effectLst/>
                <a:latin typeface="urw-din"/>
              </a:rPr>
              <a:t>void *</a:t>
            </a:r>
            <a:r>
              <a:rPr lang="en-US" sz="2400" b="0" i="1" dirty="0" err="1">
                <a:solidFill>
                  <a:srgbClr val="273239"/>
                </a:solidFill>
                <a:effectLst/>
                <a:latin typeface="urw-din"/>
              </a:rPr>
              <a:t>shmat</a:t>
            </a:r>
            <a:r>
              <a:rPr lang="en-US" sz="2400" b="0" i="1" dirty="0">
                <a:solidFill>
                  <a:srgbClr val="273239"/>
                </a:solidFill>
                <a:effectLst/>
                <a:latin typeface="urw-din"/>
              </a:rPr>
              <a:t>(int </a:t>
            </a:r>
            <a:r>
              <a:rPr lang="en-US" sz="2400" b="0" i="1" dirty="0" err="1">
                <a:solidFill>
                  <a:srgbClr val="273239"/>
                </a:solidFill>
                <a:effectLst/>
                <a:latin typeface="urw-din"/>
              </a:rPr>
              <a:t>shmid</a:t>
            </a:r>
            <a:r>
              <a:rPr lang="en-US" sz="2400" b="0" i="1" dirty="0">
                <a:solidFill>
                  <a:srgbClr val="273239"/>
                </a:solidFill>
                <a:effectLst/>
                <a:latin typeface="urw-din"/>
              </a:rPr>
              <a:t> ,void *</a:t>
            </a:r>
            <a:r>
              <a:rPr lang="en-US" sz="2400" b="0" i="1" dirty="0" err="1">
                <a:solidFill>
                  <a:srgbClr val="273239"/>
                </a:solidFill>
                <a:effectLst/>
                <a:latin typeface="urw-din"/>
              </a:rPr>
              <a:t>shmaddr</a:t>
            </a:r>
            <a:r>
              <a:rPr lang="en-US" sz="2400" b="0" i="1" dirty="0">
                <a:solidFill>
                  <a:srgbClr val="273239"/>
                </a:solidFill>
                <a:effectLst/>
                <a:latin typeface="urw-din"/>
              </a:rPr>
              <a:t> ,int </a:t>
            </a:r>
            <a:r>
              <a:rPr lang="en-US" sz="2400" b="0" i="1" dirty="0" err="1">
                <a:solidFill>
                  <a:srgbClr val="273239"/>
                </a:solidFill>
                <a:effectLst/>
                <a:latin typeface="urw-din"/>
              </a:rPr>
              <a:t>shmflg</a:t>
            </a:r>
            <a:r>
              <a:rPr lang="en-US" sz="2400" b="0" i="1" dirty="0">
                <a:solidFill>
                  <a:srgbClr val="273239"/>
                </a:solidFill>
                <a:effectLst/>
                <a:latin typeface="urw-din"/>
              </a:rPr>
              <a:t>);</a:t>
            </a:r>
            <a:br>
              <a:rPr lang="en-US" sz="2400" b="0" i="1" dirty="0">
                <a:solidFill>
                  <a:srgbClr val="273239"/>
                </a:solidFill>
                <a:effectLst/>
                <a:latin typeface="urw-din"/>
              </a:rPr>
            </a:br>
            <a:r>
              <a:rPr lang="en-US" sz="2400" b="0" i="1" dirty="0" err="1">
                <a:solidFill>
                  <a:srgbClr val="273239"/>
                </a:solidFill>
                <a:effectLst/>
                <a:latin typeface="urw-din"/>
              </a:rPr>
              <a:t>shmid</a:t>
            </a:r>
            <a:r>
              <a:rPr lang="en-US" sz="2400" b="0" i="1" dirty="0">
                <a:solidFill>
                  <a:srgbClr val="273239"/>
                </a:solidFill>
                <a:effectLst/>
                <a:latin typeface="urw-din"/>
              </a:rPr>
              <a:t> is shared memory id. </a:t>
            </a:r>
            <a:r>
              <a:rPr lang="en-US" sz="2400" b="0" i="1" dirty="0" err="1">
                <a:solidFill>
                  <a:srgbClr val="273239"/>
                </a:solidFill>
                <a:effectLst/>
                <a:latin typeface="urw-din"/>
              </a:rPr>
              <a:t>shmaddr</a:t>
            </a:r>
            <a:r>
              <a:rPr lang="en-US" sz="2400" b="0" i="1" dirty="0">
                <a:solidFill>
                  <a:srgbClr val="273239"/>
                </a:solidFill>
                <a:effectLst/>
                <a:latin typeface="urw-din"/>
              </a:rPr>
              <a:t> specifies specific address to use but we should set it to zero and OS will automatically choose the address.</a:t>
            </a:r>
          </a:p>
          <a:p>
            <a:pPr algn="l" fontAlgn="base"/>
            <a:r>
              <a:rPr lang="en-US" sz="2400" b="1" i="1" dirty="0" err="1">
                <a:solidFill>
                  <a:srgbClr val="273239"/>
                </a:solidFill>
                <a:effectLst/>
                <a:latin typeface="urw-din"/>
              </a:rPr>
              <a:t>shmdt</a:t>
            </a:r>
            <a:r>
              <a:rPr lang="en-US" sz="2400" b="1" i="1" dirty="0">
                <a:solidFill>
                  <a:srgbClr val="273239"/>
                </a:solidFill>
                <a:effectLst/>
                <a:latin typeface="urw-din"/>
              </a:rPr>
              <a:t>()</a:t>
            </a:r>
            <a:r>
              <a:rPr lang="en-US" sz="2400" b="0" i="1" dirty="0">
                <a:solidFill>
                  <a:srgbClr val="273239"/>
                </a:solidFill>
                <a:effectLst/>
                <a:latin typeface="urw-din"/>
              </a:rPr>
              <a:t>: When you’re done with the shared memory segment, your program should detach itself from it using </a:t>
            </a:r>
            <a:r>
              <a:rPr lang="en-US" sz="2400" b="0" i="1" dirty="0" err="1">
                <a:solidFill>
                  <a:srgbClr val="273239"/>
                </a:solidFill>
                <a:effectLst/>
                <a:latin typeface="urw-din"/>
              </a:rPr>
              <a:t>shmdt</a:t>
            </a:r>
            <a:r>
              <a:rPr lang="en-US" sz="2400" b="0" i="1" dirty="0">
                <a:solidFill>
                  <a:srgbClr val="273239"/>
                </a:solidFill>
                <a:effectLst/>
                <a:latin typeface="urw-din"/>
              </a:rPr>
              <a:t>(). </a:t>
            </a:r>
          </a:p>
          <a:p>
            <a:pPr algn="l" fontAlgn="base"/>
            <a:r>
              <a:rPr lang="en-US" sz="2400" b="1" i="1" dirty="0" err="1">
                <a:solidFill>
                  <a:srgbClr val="273239"/>
                </a:solidFill>
                <a:effectLst/>
                <a:latin typeface="urw-din"/>
              </a:rPr>
              <a:t>shmctl</a:t>
            </a:r>
            <a:r>
              <a:rPr lang="en-US" sz="2400" b="1" i="1" dirty="0">
                <a:solidFill>
                  <a:srgbClr val="273239"/>
                </a:solidFill>
                <a:effectLst/>
                <a:latin typeface="urw-din"/>
              </a:rPr>
              <a:t>()</a:t>
            </a:r>
            <a:r>
              <a:rPr lang="en-US" sz="2400" b="0" i="1" dirty="0">
                <a:solidFill>
                  <a:srgbClr val="273239"/>
                </a:solidFill>
                <a:effectLst/>
                <a:latin typeface="urw-din"/>
              </a:rPr>
              <a:t>: when you detach from shared </a:t>
            </a:r>
            <a:r>
              <a:rPr lang="en-US" sz="2400" b="0" i="1" dirty="0" err="1">
                <a:solidFill>
                  <a:srgbClr val="273239"/>
                </a:solidFill>
                <a:effectLst/>
                <a:latin typeface="urw-din"/>
              </a:rPr>
              <a:t>memory,it</a:t>
            </a:r>
            <a:r>
              <a:rPr lang="en-US" sz="2400" b="0" i="1" dirty="0">
                <a:solidFill>
                  <a:srgbClr val="273239"/>
                </a:solidFill>
                <a:effectLst/>
                <a:latin typeface="urw-din"/>
              </a:rPr>
              <a:t> is not destroyed. </a:t>
            </a:r>
            <a:r>
              <a:rPr lang="en-US" sz="2400" i="1" dirty="0">
                <a:solidFill>
                  <a:srgbClr val="273239"/>
                </a:solidFill>
                <a:latin typeface="urw-din"/>
              </a:rPr>
              <a:t>T</a:t>
            </a:r>
            <a:r>
              <a:rPr lang="en-US" sz="2400" b="0" i="1" dirty="0">
                <a:solidFill>
                  <a:srgbClr val="273239"/>
                </a:solidFill>
                <a:effectLst/>
                <a:latin typeface="urw-din"/>
              </a:rPr>
              <a:t>o destroy it, </a:t>
            </a:r>
            <a:r>
              <a:rPr lang="en-US" sz="2400" b="0" i="1" dirty="0" err="1">
                <a:solidFill>
                  <a:srgbClr val="273239"/>
                </a:solidFill>
                <a:effectLst/>
                <a:latin typeface="urw-din"/>
              </a:rPr>
              <a:t>shmctl</a:t>
            </a:r>
            <a:r>
              <a:rPr lang="en-US" sz="2400" b="0" i="1" dirty="0">
                <a:solidFill>
                  <a:srgbClr val="273239"/>
                </a:solidFill>
                <a:effectLst/>
                <a:latin typeface="urw-din"/>
              </a:rPr>
              <a:t>() is used. </a:t>
            </a:r>
            <a:br>
              <a:rPr kumimoji="0" lang="en-US" altLang="en-US" sz="6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5660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E05-AC55-4A63-A94D-738E9D405C66}"/>
              </a:ext>
            </a:extLst>
          </p:cNvPr>
          <p:cNvSpPr>
            <a:spLocks noGrp="1"/>
          </p:cNvSpPr>
          <p:nvPr>
            <p:ph type="title"/>
          </p:nvPr>
        </p:nvSpPr>
        <p:spPr/>
        <p:txBody>
          <a:bodyPr>
            <a:normAutofit fontScale="90000"/>
          </a:bodyPr>
          <a:lstStyle/>
          <a:p>
            <a:r>
              <a:rPr lang="en-US" dirty="0"/>
              <a:t>Shared Memory using </a:t>
            </a:r>
            <a:r>
              <a:rPr lang="en-US" dirty="0" err="1"/>
              <a:t>mmap</a:t>
            </a:r>
            <a:r>
              <a:rPr lang="en-US" dirty="0"/>
              <a:t>() system call</a:t>
            </a:r>
            <a:endParaRPr lang="en-IN" dirty="0"/>
          </a:p>
        </p:txBody>
      </p:sp>
      <p:sp>
        <p:nvSpPr>
          <p:cNvPr id="3" name="Slide Number Placeholder 2">
            <a:extLst>
              <a:ext uri="{FF2B5EF4-FFF2-40B4-BE49-F238E27FC236}">
                <a16:creationId xmlns:a16="http://schemas.microsoft.com/office/drawing/2014/main" id="{8EFE650E-DCD4-4948-ABF9-D58B84046C1E}"/>
              </a:ext>
            </a:extLst>
          </p:cNvPr>
          <p:cNvSpPr>
            <a:spLocks noGrp="1"/>
          </p:cNvSpPr>
          <p:nvPr>
            <p:ph type="sldNum" sz="quarter" idx="12"/>
          </p:nvPr>
        </p:nvSpPr>
        <p:spPr/>
        <p:txBody>
          <a:bodyPr/>
          <a:lstStyle/>
          <a:p>
            <a:fld id="{C98AF7D0-B530-437A-8244-231A0C0FDB3D}" type="slidenum">
              <a:rPr lang="en-IN" smtClean="0"/>
              <a:t>35</a:t>
            </a:fld>
            <a:endParaRPr lang="en-IN"/>
          </a:p>
        </p:txBody>
      </p:sp>
      <p:sp>
        <p:nvSpPr>
          <p:cNvPr id="5" name="Rectangle 1">
            <a:extLst>
              <a:ext uri="{FF2B5EF4-FFF2-40B4-BE49-F238E27FC236}">
                <a16:creationId xmlns:a16="http://schemas.microsoft.com/office/drawing/2014/main" id="{FFDC5CDD-5E90-460B-8F79-0003575FB0C8}"/>
              </a:ext>
            </a:extLst>
          </p:cNvPr>
          <p:cNvSpPr>
            <a:spLocks noChangeArrowheads="1"/>
          </p:cNvSpPr>
          <p:nvPr/>
        </p:nvSpPr>
        <p:spPr bwMode="auto">
          <a:xfrm>
            <a:off x="287049" y="1324180"/>
            <a:ext cx="413818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#include &lt;</a:t>
            </a:r>
            <a:r>
              <a:rPr kumimoji="0" lang="en-US" altLang="en-US" sz="1400" b="0" i="0" u="none" strike="noStrike" cap="none" normalizeH="0" baseline="0" dirty="0" err="1">
                <a:ln>
                  <a:noFill/>
                </a:ln>
                <a:solidFill>
                  <a:schemeClr val="tx1"/>
                </a:solidFill>
                <a:effectLst/>
                <a:latin typeface="inherit"/>
              </a:rPr>
              <a:t>stdio.h</a:t>
            </a:r>
            <a:r>
              <a:rPr kumimoji="0" lang="en-US" altLang="en-US" sz="14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#include &lt;</a:t>
            </a:r>
            <a:r>
              <a:rPr kumimoji="0" lang="en-US" altLang="en-US" sz="1400" b="0" i="0" u="none" strike="noStrike" cap="none" normalizeH="0" baseline="0" dirty="0" err="1">
                <a:ln>
                  <a:noFill/>
                </a:ln>
                <a:solidFill>
                  <a:schemeClr val="tx1"/>
                </a:solidFill>
                <a:effectLst/>
                <a:latin typeface="inherit"/>
              </a:rPr>
              <a:t>stdlib.h</a:t>
            </a:r>
            <a:r>
              <a:rPr kumimoji="0" lang="en-US" altLang="en-US" sz="14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#include &lt;sys/</a:t>
            </a:r>
            <a:r>
              <a:rPr kumimoji="0" lang="en-US" altLang="en-US" sz="1400" b="0" i="0" u="none" strike="noStrike" cap="none" normalizeH="0" baseline="0" dirty="0" err="1">
                <a:ln>
                  <a:noFill/>
                </a:ln>
                <a:solidFill>
                  <a:schemeClr val="tx1"/>
                </a:solidFill>
                <a:effectLst/>
                <a:latin typeface="inherit"/>
              </a:rPr>
              <a:t>mman.h</a:t>
            </a:r>
            <a:r>
              <a:rPr kumimoji="0" lang="en-US" altLang="en-US" sz="14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void* </a:t>
            </a:r>
            <a:r>
              <a:rPr kumimoji="0" lang="en-US" altLang="en-US" sz="1400" b="0" i="0" u="none" strike="noStrike" cap="none" normalizeH="0" baseline="0" dirty="0" err="1">
                <a:ln>
                  <a:noFill/>
                </a:ln>
                <a:solidFill>
                  <a:schemeClr val="tx1"/>
                </a:solidFill>
                <a:effectLst/>
                <a:latin typeface="inherit"/>
              </a:rPr>
              <a:t>create_shared_memory</a:t>
            </a:r>
            <a:r>
              <a:rPr kumimoji="0" lang="en-US" altLang="en-US" sz="1400" b="0" i="0" u="none" strike="noStrike" cap="none" normalizeH="0" baseline="0" dirty="0">
                <a:ln>
                  <a:noFill/>
                </a:ln>
                <a:solidFill>
                  <a:schemeClr val="tx1"/>
                </a:solidFill>
                <a:effectLst/>
                <a:latin typeface="inherit"/>
              </a:rPr>
              <a:t>(</a:t>
            </a:r>
            <a:r>
              <a:rPr kumimoji="0" lang="en-US" altLang="en-US" sz="1400" b="0" i="0" u="none" strike="noStrike" cap="none" normalizeH="0" baseline="0" dirty="0" err="1">
                <a:ln>
                  <a:noFill/>
                </a:ln>
                <a:solidFill>
                  <a:schemeClr val="tx1"/>
                </a:solidFill>
                <a:effectLst/>
                <a:latin typeface="inherit"/>
              </a:rPr>
              <a:t>size_t</a:t>
            </a:r>
            <a:r>
              <a:rPr kumimoji="0" lang="en-US" altLang="en-US" sz="1400" b="0" i="0" u="none" strike="noStrike" cap="none" normalizeH="0" baseline="0" dirty="0">
                <a:ln>
                  <a:noFill/>
                </a:ln>
                <a:solidFill>
                  <a:schemeClr val="tx1"/>
                </a:solidFill>
                <a:effectLst/>
                <a:latin typeface="inherit"/>
              </a:rPr>
              <a:t> size)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Our memory buffer will be readable and writable: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int protection = PROT_READ | PROT_WRITE;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The buffer will be shared (meaning other processes can access it), but anonymous (meaning third-party processes cannot obtain an address for it), so only this process and its children will be able to use 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int visibility = MAP_SHARED | MAP_ANONYMOUS;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The remaining parameters to `</a:t>
            </a:r>
            <a:r>
              <a:rPr kumimoji="0" lang="en-US" altLang="en-US" sz="1400" b="0" i="0" u="none" strike="noStrike" cap="none" normalizeH="0" baseline="0" dirty="0" err="1">
                <a:ln>
                  <a:noFill/>
                </a:ln>
                <a:solidFill>
                  <a:schemeClr val="tx1"/>
                </a:solidFill>
                <a:effectLst/>
                <a:latin typeface="inherit"/>
              </a:rPr>
              <a:t>mmap</a:t>
            </a:r>
            <a:r>
              <a:rPr kumimoji="0" lang="en-US" altLang="en-US" sz="1400" b="0" i="0" u="none" strike="noStrike" cap="none" normalizeH="0" baseline="0" dirty="0">
                <a:ln>
                  <a:noFill/>
                </a:ln>
                <a:solidFill>
                  <a:schemeClr val="tx1"/>
                </a:solidFill>
                <a:effectLst/>
                <a:latin typeface="inherit"/>
              </a:rPr>
              <a:t>()` are not important for this use case,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but the </a:t>
            </a:r>
            <a:r>
              <a:rPr kumimoji="0" lang="en-US" altLang="en-US" sz="1400" b="0" i="0" u="none" strike="noStrike" cap="none" normalizeH="0" baseline="0" dirty="0" err="1">
                <a:ln>
                  <a:noFill/>
                </a:ln>
                <a:solidFill>
                  <a:schemeClr val="tx1"/>
                </a:solidFill>
                <a:effectLst/>
                <a:latin typeface="inherit"/>
              </a:rPr>
              <a:t>manpage</a:t>
            </a:r>
            <a:r>
              <a:rPr kumimoji="0" lang="en-US" altLang="en-US" sz="1400" b="0" i="0" u="none" strike="noStrike" cap="none" normalizeH="0" baseline="0" dirty="0">
                <a:ln>
                  <a:noFill/>
                </a:ln>
                <a:solidFill>
                  <a:schemeClr val="tx1"/>
                </a:solidFill>
                <a:effectLst/>
                <a:latin typeface="inherit"/>
              </a:rPr>
              <a:t> for `</a:t>
            </a:r>
            <a:r>
              <a:rPr kumimoji="0" lang="en-US" altLang="en-US" sz="1400" b="0" i="0" u="none" strike="noStrike" cap="none" normalizeH="0" baseline="0" dirty="0" err="1">
                <a:ln>
                  <a:noFill/>
                </a:ln>
                <a:solidFill>
                  <a:schemeClr val="tx1"/>
                </a:solidFill>
                <a:effectLst/>
                <a:latin typeface="inherit"/>
              </a:rPr>
              <a:t>mmap</a:t>
            </a:r>
            <a:r>
              <a:rPr kumimoji="0" lang="en-US" altLang="en-US" sz="1400" b="0" i="0" u="none" strike="noStrike" cap="none" normalizeH="0" baseline="0" dirty="0">
                <a:ln>
                  <a:noFill/>
                </a:ln>
                <a:solidFill>
                  <a:schemeClr val="tx1"/>
                </a:solidFill>
                <a:effectLst/>
                <a:latin typeface="inherit"/>
              </a:rPr>
              <a:t>` explains their purpose.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return </a:t>
            </a:r>
            <a:r>
              <a:rPr kumimoji="0" lang="en-US" altLang="en-US" sz="1400" b="0" i="0" u="none" strike="noStrike" cap="none" normalizeH="0" baseline="0" dirty="0" err="1">
                <a:ln>
                  <a:noFill/>
                </a:ln>
                <a:solidFill>
                  <a:schemeClr val="tx1"/>
                </a:solidFill>
                <a:effectLst/>
                <a:latin typeface="inherit"/>
              </a:rPr>
              <a:t>mmap</a:t>
            </a:r>
            <a:r>
              <a:rPr kumimoji="0" lang="en-US" altLang="en-US" sz="1400" b="0" i="0" u="none" strike="noStrike" cap="none" normalizeH="0" baseline="0" dirty="0">
                <a:ln>
                  <a:noFill/>
                </a:ln>
                <a:solidFill>
                  <a:schemeClr val="tx1"/>
                </a:solidFill>
                <a:effectLst/>
                <a:latin typeface="inherit"/>
              </a:rPr>
              <a:t>(NULL, size, protection, visibility, -1,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inherit"/>
              </a:rPr>
              <a:t>}</a:t>
            </a:r>
          </a:p>
        </p:txBody>
      </p:sp>
      <p:sp>
        <p:nvSpPr>
          <p:cNvPr id="6" name="Rectangle 1">
            <a:extLst>
              <a:ext uri="{FF2B5EF4-FFF2-40B4-BE49-F238E27FC236}">
                <a16:creationId xmlns:a16="http://schemas.microsoft.com/office/drawing/2014/main" id="{C589EAC6-04FA-44BB-8343-CC064621381B}"/>
              </a:ext>
            </a:extLst>
          </p:cNvPr>
          <p:cNvSpPr>
            <a:spLocks noChangeArrowheads="1"/>
          </p:cNvSpPr>
          <p:nvPr/>
        </p:nvSpPr>
        <p:spPr bwMode="auto">
          <a:xfrm>
            <a:off x="4548622" y="979467"/>
            <a:ext cx="4138179"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#include &lt;</a:t>
            </a:r>
            <a:r>
              <a:rPr kumimoji="0" lang="en-US" altLang="en-US" sz="1300" b="0" i="0" u="none" strike="noStrike" cap="none" normalizeH="0" baseline="0" dirty="0" err="1">
                <a:ln>
                  <a:noFill/>
                </a:ln>
                <a:solidFill>
                  <a:schemeClr val="tx1"/>
                </a:solidFill>
                <a:effectLst/>
                <a:latin typeface="inherit"/>
              </a:rPr>
              <a:t>string.h</a:t>
            </a:r>
            <a:r>
              <a:rPr kumimoji="0" lang="en-US" altLang="en-US" sz="13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#include &lt;</a:t>
            </a:r>
            <a:r>
              <a:rPr kumimoji="0" lang="en-US" altLang="en-US" sz="1300" b="0" i="0" u="none" strike="noStrike" cap="none" normalizeH="0" baseline="0" dirty="0" err="1">
                <a:ln>
                  <a:noFill/>
                </a:ln>
                <a:solidFill>
                  <a:schemeClr val="tx1"/>
                </a:solidFill>
                <a:effectLst/>
                <a:latin typeface="inherit"/>
              </a:rPr>
              <a:t>unistd.h</a:t>
            </a:r>
            <a:r>
              <a:rPr kumimoji="0" lang="en-US" altLang="en-US" sz="13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int main()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char </a:t>
            </a:r>
            <a:r>
              <a:rPr kumimoji="0" lang="en-US" altLang="en-US" sz="1300" b="0" i="0" u="none" strike="noStrike" cap="none" normalizeH="0" baseline="0" dirty="0" err="1">
                <a:ln>
                  <a:noFill/>
                </a:ln>
                <a:solidFill>
                  <a:schemeClr val="tx1"/>
                </a:solidFill>
                <a:effectLst/>
                <a:latin typeface="inherit"/>
              </a:rPr>
              <a:t>parent_message</a:t>
            </a:r>
            <a:r>
              <a:rPr kumimoji="0" lang="en-US" altLang="en-US" sz="1300" b="0" i="0" u="none" strike="noStrike" cap="none" normalizeH="0" baseline="0" dirty="0">
                <a:ln>
                  <a:noFill/>
                </a:ln>
                <a:solidFill>
                  <a:schemeClr val="tx1"/>
                </a:solidFill>
                <a:effectLst/>
                <a:latin typeface="inherit"/>
              </a:rPr>
              <a:t>[] = "hello";  // parent process will write this message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char </a:t>
            </a:r>
            <a:r>
              <a:rPr kumimoji="0" lang="en-US" altLang="en-US" sz="1300" b="0" i="0" u="none" strike="noStrike" cap="none" normalizeH="0" baseline="0" dirty="0" err="1">
                <a:ln>
                  <a:noFill/>
                </a:ln>
                <a:solidFill>
                  <a:schemeClr val="tx1"/>
                </a:solidFill>
                <a:effectLst/>
                <a:latin typeface="inherit"/>
              </a:rPr>
              <a:t>child_message</a:t>
            </a:r>
            <a:r>
              <a:rPr kumimoji="0" lang="en-US" altLang="en-US" sz="1300" b="0" i="0" u="none" strike="noStrike" cap="none" normalizeH="0" baseline="0" dirty="0">
                <a:ln>
                  <a:noFill/>
                </a:ln>
                <a:solidFill>
                  <a:schemeClr val="tx1"/>
                </a:solidFill>
                <a:effectLst/>
                <a:latin typeface="inherit"/>
              </a:rPr>
              <a:t>[] = "goodbye"; // child process will then write this 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void*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 = </a:t>
            </a:r>
            <a:r>
              <a:rPr kumimoji="0" lang="en-US" altLang="en-US" sz="1300" b="0" i="0" u="none" strike="noStrike" cap="none" normalizeH="0" baseline="0" dirty="0" err="1">
                <a:ln>
                  <a:noFill/>
                </a:ln>
                <a:solidFill>
                  <a:schemeClr val="tx1"/>
                </a:solidFill>
                <a:effectLst/>
                <a:latin typeface="inherit"/>
              </a:rPr>
              <a:t>create_shared_memory</a:t>
            </a:r>
            <a:r>
              <a:rPr kumimoji="0" lang="en-US" altLang="en-US" sz="1300" b="0" i="0" u="none" strike="noStrike" cap="none" normalizeH="0" baseline="0" dirty="0">
                <a:ln>
                  <a:noFill/>
                </a:ln>
                <a:solidFill>
                  <a:schemeClr val="tx1"/>
                </a:solidFill>
                <a:effectLst/>
                <a:latin typeface="inherit"/>
              </a:rPr>
              <a:t>(128);</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memcpy</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parent_message</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sizeof</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parent_message</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int </a:t>
            </a:r>
            <a:r>
              <a:rPr kumimoji="0" lang="en-US" altLang="en-US" sz="1300" b="0" i="0" u="none" strike="noStrike" cap="none" normalizeH="0" baseline="0" dirty="0" err="1">
                <a:ln>
                  <a:noFill/>
                </a:ln>
                <a:solidFill>
                  <a:schemeClr val="tx1"/>
                </a:solidFill>
                <a:effectLst/>
                <a:latin typeface="inherit"/>
              </a:rPr>
              <a:t>pid</a:t>
            </a:r>
            <a:r>
              <a:rPr kumimoji="0" lang="en-US" altLang="en-US" sz="1300" b="0" i="0" u="none" strike="noStrike" cap="none" normalizeH="0" baseline="0" dirty="0">
                <a:ln>
                  <a:noFill/>
                </a:ln>
                <a:solidFill>
                  <a:schemeClr val="tx1"/>
                </a:solidFill>
                <a:effectLst/>
                <a:latin typeface="inherit"/>
              </a:rPr>
              <a:t> = fork();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if (</a:t>
            </a:r>
            <a:r>
              <a:rPr kumimoji="0" lang="en-US" altLang="en-US" sz="1300" b="0" i="0" u="none" strike="noStrike" cap="none" normalizeH="0" baseline="0" dirty="0" err="1">
                <a:ln>
                  <a:noFill/>
                </a:ln>
                <a:solidFill>
                  <a:schemeClr val="tx1"/>
                </a:solidFill>
                <a:effectLst/>
                <a:latin typeface="inherit"/>
              </a:rPr>
              <a:t>pid</a:t>
            </a:r>
            <a:r>
              <a:rPr kumimoji="0" lang="en-US" altLang="en-US" sz="1300" b="0" i="0" u="none" strike="noStrike" cap="none" normalizeH="0" baseline="0" dirty="0">
                <a:ln>
                  <a:noFill/>
                </a:ln>
                <a:solidFill>
                  <a:schemeClr val="tx1"/>
                </a:solidFill>
                <a:effectLst/>
                <a:latin typeface="inherit"/>
              </a:rPr>
              <a:t> ==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("Child read: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memcpy</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child_message</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sizeof</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child_message</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("Child wrote: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 else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("Parent read: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sleep(1);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("After 1s, parent read: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a:t>
            </a:r>
            <a:endParaRPr kumimoji="0" lang="en-US" altLang="en-US" sz="13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52318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3789-315F-A4AD-6CC3-2091BB1E712B}"/>
              </a:ext>
            </a:extLst>
          </p:cNvPr>
          <p:cNvSpPr>
            <a:spLocks noGrp="1"/>
          </p:cNvSpPr>
          <p:nvPr>
            <p:ph type="title"/>
          </p:nvPr>
        </p:nvSpPr>
        <p:spPr>
          <a:xfrm>
            <a:off x="457200" y="34506"/>
            <a:ext cx="8229600" cy="1143000"/>
          </a:xfrm>
        </p:spPr>
        <p:txBody>
          <a:bodyPr/>
          <a:lstStyle/>
          <a:p>
            <a:r>
              <a:rPr lang="en-IN" dirty="0"/>
              <a:t>Message Queue</a:t>
            </a:r>
          </a:p>
        </p:txBody>
      </p:sp>
      <p:sp>
        <p:nvSpPr>
          <p:cNvPr id="3" name="Content Placeholder 2">
            <a:extLst>
              <a:ext uri="{FF2B5EF4-FFF2-40B4-BE49-F238E27FC236}">
                <a16:creationId xmlns:a16="http://schemas.microsoft.com/office/drawing/2014/main" id="{AA5CEDE1-18B2-5B0F-DA67-D2787DD986A8}"/>
              </a:ext>
            </a:extLst>
          </p:cNvPr>
          <p:cNvSpPr>
            <a:spLocks noGrp="1"/>
          </p:cNvSpPr>
          <p:nvPr>
            <p:ph idx="1"/>
          </p:nvPr>
        </p:nvSpPr>
        <p:spPr>
          <a:xfrm>
            <a:off x="457200" y="980728"/>
            <a:ext cx="8229600" cy="5145435"/>
          </a:xfrm>
        </p:spPr>
        <p:txBody>
          <a:bodyPr>
            <a:normAutofit fontScale="62500" lnSpcReduction="20000"/>
          </a:bodyPr>
          <a:lstStyle/>
          <a:p>
            <a:r>
              <a:rPr lang="en-US" dirty="0">
                <a:solidFill>
                  <a:srgbClr val="273239"/>
                </a:solidFill>
                <a:highlight>
                  <a:srgbClr val="FFFFFF"/>
                </a:highlight>
                <a:latin typeface="Nunito" pitchFamily="2" charset="0"/>
              </a:rPr>
              <a:t>A</a:t>
            </a:r>
            <a:r>
              <a:rPr lang="en-US" b="0" i="0" dirty="0">
                <a:solidFill>
                  <a:srgbClr val="273239"/>
                </a:solidFill>
                <a:effectLst/>
                <a:highlight>
                  <a:srgbClr val="FFFFFF"/>
                </a:highlight>
                <a:latin typeface="Nunito" pitchFamily="2" charset="0"/>
              </a:rPr>
              <a:t> linked list of messages stored within the kernel and identified by a message queue identifier.</a:t>
            </a:r>
          </a:p>
          <a:p>
            <a:r>
              <a:rPr lang="en-US" b="0" i="0" dirty="0">
                <a:solidFill>
                  <a:srgbClr val="273239"/>
                </a:solidFill>
                <a:effectLst/>
                <a:highlight>
                  <a:srgbClr val="FFFFFF"/>
                </a:highlight>
                <a:latin typeface="Nunito" pitchFamily="2" charset="0"/>
              </a:rPr>
              <a:t>A new queue is created or an existing queue opened by </a:t>
            </a:r>
            <a:r>
              <a:rPr lang="en-US" b="1" i="0" dirty="0" err="1">
                <a:solidFill>
                  <a:srgbClr val="273239"/>
                </a:solidFill>
                <a:effectLst/>
                <a:highlight>
                  <a:srgbClr val="FFFFFF"/>
                </a:highlight>
                <a:latin typeface="Nunito" pitchFamily="2" charset="0"/>
              </a:rPr>
              <a:t>msgget</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a:t>
            </a:r>
          </a:p>
          <a:p>
            <a:r>
              <a:rPr lang="en-US" b="0" i="0" dirty="0">
                <a:solidFill>
                  <a:srgbClr val="273239"/>
                </a:solidFill>
                <a:effectLst/>
                <a:highlight>
                  <a:srgbClr val="FFFFFF"/>
                </a:highlight>
                <a:latin typeface="Nunito" pitchFamily="2" charset="0"/>
              </a:rPr>
              <a:t>New messages are added to the end of a queue by </a:t>
            </a:r>
            <a:r>
              <a:rPr lang="en-US" b="1" i="0" dirty="0" err="1">
                <a:solidFill>
                  <a:srgbClr val="273239"/>
                </a:solidFill>
                <a:effectLst/>
                <a:highlight>
                  <a:srgbClr val="FFFFFF"/>
                </a:highlight>
                <a:latin typeface="Nunito" pitchFamily="2" charset="0"/>
              </a:rPr>
              <a:t>msgsnd</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a:t>
            </a:r>
          </a:p>
          <a:p>
            <a:r>
              <a:rPr lang="en-US" b="0" i="0" dirty="0">
                <a:solidFill>
                  <a:srgbClr val="273239"/>
                </a:solidFill>
                <a:effectLst/>
                <a:highlight>
                  <a:srgbClr val="FFFFFF"/>
                </a:highlight>
                <a:latin typeface="Nunito" pitchFamily="2" charset="0"/>
              </a:rPr>
              <a:t>Every message has a positive long integer type field, a non-negative length, and the actual data bytes (corresponding to the length), all of which are specified to </a:t>
            </a:r>
            <a:r>
              <a:rPr lang="en-US" b="0" i="0" dirty="0" err="1">
                <a:solidFill>
                  <a:srgbClr val="273239"/>
                </a:solidFill>
                <a:effectLst/>
                <a:highlight>
                  <a:srgbClr val="FFFFFF"/>
                </a:highlight>
                <a:latin typeface="Nunito" pitchFamily="2" charset="0"/>
              </a:rPr>
              <a:t>msgsnd</a:t>
            </a:r>
            <a:r>
              <a:rPr lang="en-US" b="0" i="0" dirty="0">
                <a:solidFill>
                  <a:srgbClr val="273239"/>
                </a:solidFill>
                <a:effectLst/>
                <a:highlight>
                  <a:srgbClr val="FFFFFF"/>
                </a:highlight>
                <a:latin typeface="Nunito" pitchFamily="2" charset="0"/>
              </a:rPr>
              <a:t>() when the message is added to a queue. </a:t>
            </a:r>
          </a:p>
          <a:p>
            <a:r>
              <a:rPr lang="en-US" b="0" i="0" dirty="0">
                <a:solidFill>
                  <a:srgbClr val="273239"/>
                </a:solidFill>
                <a:effectLst/>
                <a:highlight>
                  <a:srgbClr val="FFFFFF"/>
                </a:highlight>
                <a:latin typeface="Nunito" pitchFamily="2" charset="0"/>
              </a:rPr>
              <a:t>Messages are fetched from a queue by </a:t>
            </a:r>
            <a:r>
              <a:rPr lang="en-US" b="1" i="0" dirty="0" err="1">
                <a:solidFill>
                  <a:srgbClr val="273239"/>
                </a:solidFill>
                <a:effectLst/>
                <a:highlight>
                  <a:srgbClr val="FFFFFF"/>
                </a:highlight>
                <a:latin typeface="Nunito" pitchFamily="2" charset="0"/>
              </a:rPr>
              <a:t>msgrcv</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We don’t have to fetch the messages in a first-in, first-out order. Instead, we can fetch messages based on their type field.</a:t>
            </a:r>
          </a:p>
          <a:p>
            <a:r>
              <a:rPr lang="en-US" b="0" i="0" dirty="0">
                <a:solidFill>
                  <a:srgbClr val="273239"/>
                </a:solidFill>
                <a:effectLst/>
                <a:highlight>
                  <a:srgbClr val="FFFFFF"/>
                </a:highlight>
                <a:latin typeface="Nunito" pitchFamily="2" charset="0"/>
              </a:rPr>
              <a:t>All processes can exchange information through access to a common system message queue. The sending process places a message (via some (OS) message-passing module) onto a queue which can be read by another process. </a:t>
            </a:r>
          </a:p>
          <a:p>
            <a:r>
              <a:rPr lang="en-US" b="0" i="0" dirty="0">
                <a:solidFill>
                  <a:srgbClr val="273239"/>
                </a:solidFill>
                <a:effectLst/>
                <a:highlight>
                  <a:srgbClr val="FFFFFF"/>
                </a:highlight>
                <a:latin typeface="Nunito" pitchFamily="2" charset="0"/>
              </a:rPr>
              <a:t>Each message is given an identification or type so that processes can select the appropriate message. Process must share a common key in order to gain access to the queue in the first place.</a:t>
            </a:r>
            <a:endParaRPr lang="en-IN" dirty="0"/>
          </a:p>
        </p:txBody>
      </p:sp>
    </p:spTree>
    <p:extLst>
      <p:ext uri="{BB962C8B-B14F-4D97-AF65-F5344CB8AC3E}">
        <p14:creationId xmlns:p14="http://schemas.microsoft.com/office/powerpoint/2010/main" val="3384697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3789-315F-A4AD-6CC3-2091BB1E712B}"/>
              </a:ext>
            </a:extLst>
          </p:cNvPr>
          <p:cNvSpPr>
            <a:spLocks noGrp="1"/>
          </p:cNvSpPr>
          <p:nvPr>
            <p:ph type="title"/>
          </p:nvPr>
        </p:nvSpPr>
        <p:spPr>
          <a:xfrm>
            <a:off x="457200" y="34506"/>
            <a:ext cx="8229600" cy="1143000"/>
          </a:xfrm>
        </p:spPr>
        <p:txBody>
          <a:bodyPr>
            <a:normAutofit fontScale="90000"/>
          </a:bodyPr>
          <a:lstStyle/>
          <a:p>
            <a:r>
              <a:rPr lang="en-US" sz="3600" b="0" i="0" dirty="0">
                <a:solidFill>
                  <a:srgbClr val="273239"/>
                </a:solidFill>
                <a:effectLst/>
                <a:highlight>
                  <a:srgbClr val="FFFFFF"/>
                </a:highlight>
                <a:latin typeface="Nunito" pitchFamily="2" charset="0"/>
              </a:rPr>
              <a:t>System calls used for message queues</a:t>
            </a:r>
            <a:r>
              <a:rPr lang="en-US" b="0" i="0" dirty="0">
                <a:solidFill>
                  <a:srgbClr val="273239"/>
                </a:solidFill>
                <a:effectLst/>
                <a:highlight>
                  <a:srgbClr val="FFFFFF"/>
                </a:highlight>
                <a:latin typeface="Nunito" pitchFamily="2" charset="0"/>
              </a:rPr>
              <a:t>: </a:t>
            </a:r>
            <a:endParaRPr lang="en-IN" dirty="0"/>
          </a:p>
        </p:txBody>
      </p:sp>
      <p:sp>
        <p:nvSpPr>
          <p:cNvPr id="3" name="Content Placeholder 2">
            <a:extLst>
              <a:ext uri="{FF2B5EF4-FFF2-40B4-BE49-F238E27FC236}">
                <a16:creationId xmlns:a16="http://schemas.microsoft.com/office/drawing/2014/main" id="{AA5CEDE1-18B2-5B0F-DA67-D2787DD986A8}"/>
              </a:ext>
            </a:extLst>
          </p:cNvPr>
          <p:cNvSpPr>
            <a:spLocks noGrp="1"/>
          </p:cNvSpPr>
          <p:nvPr>
            <p:ph idx="1"/>
          </p:nvPr>
        </p:nvSpPr>
        <p:spPr>
          <a:xfrm>
            <a:off x="457200" y="980728"/>
            <a:ext cx="8229600" cy="5145435"/>
          </a:xfrm>
        </p:spPr>
        <p:txBody>
          <a:bodyPr>
            <a:normAutofit fontScale="92500" lnSpcReduction="20000"/>
          </a:bodyPr>
          <a:lstStyle/>
          <a:p>
            <a:pPr algn="l" fontAlgn="base">
              <a:buFont typeface="Arial" panose="020B0604020202020204" pitchFamily="34" charset="0"/>
              <a:buChar char="•"/>
            </a:pPr>
            <a:r>
              <a:rPr lang="en-US" b="1" i="0" dirty="0" err="1">
                <a:solidFill>
                  <a:srgbClr val="273239"/>
                </a:solidFill>
                <a:effectLst/>
                <a:highlight>
                  <a:srgbClr val="FFFFFF"/>
                </a:highlight>
                <a:latin typeface="Nunito" pitchFamily="2" charset="0"/>
              </a:rPr>
              <a:t>ftok</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is use to generate a unique key.</a:t>
            </a:r>
          </a:p>
          <a:p>
            <a:pPr algn="l" fontAlgn="base">
              <a:buFont typeface="Arial" panose="020B0604020202020204" pitchFamily="34" charset="0"/>
              <a:buChar char="•"/>
            </a:pPr>
            <a:r>
              <a:rPr lang="en-US" b="1" i="0" dirty="0" err="1">
                <a:solidFill>
                  <a:srgbClr val="273239"/>
                </a:solidFill>
                <a:effectLst/>
                <a:highlight>
                  <a:srgbClr val="FFFFFF"/>
                </a:highlight>
                <a:latin typeface="Nunito" pitchFamily="2" charset="0"/>
              </a:rPr>
              <a:t>msgget</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either returns the message queue identifier for a newly created message queue or returns the identifiers for a queue which exists with the same key value.</a:t>
            </a:r>
          </a:p>
          <a:p>
            <a:pPr algn="l" fontAlgn="base">
              <a:buFont typeface="Arial" panose="020B0604020202020204" pitchFamily="34" charset="0"/>
              <a:buChar char="•"/>
            </a:pPr>
            <a:r>
              <a:rPr lang="en-US" b="1" i="0" dirty="0" err="1">
                <a:solidFill>
                  <a:srgbClr val="273239"/>
                </a:solidFill>
                <a:effectLst/>
                <a:highlight>
                  <a:srgbClr val="FFFFFF"/>
                </a:highlight>
                <a:latin typeface="Nunito" pitchFamily="2" charset="0"/>
              </a:rPr>
              <a:t>msgsnd</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Data is placed on to a message queue by calling </a:t>
            </a:r>
            <a:r>
              <a:rPr lang="en-US" b="0" i="0" dirty="0" err="1">
                <a:solidFill>
                  <a:srgbClr val="273239"/>
                </a:solidFill>
                <a:effectLst/>
                <a:highlight>
                  <a:srgbClr val="FFFFFF"/>
                </a:highlight>
                <a:latin typeface="Nunito" pitchFamily="2" charset="0"/>
              </a:rPr>
              <a:t>msgsnd</a:t>
            </a:r>
            <a:r>
              <a:rPr lang="en-US" b="0" i="0" dirty="0">
                <a:solidFill>
                  <a:srgbClr val="273239"/>
                </a:solidFill>
                <a:effectLst/>
                <a:highlight>
                  <a:srgbClr val="FFFFFF"/>
                </a:highlight>
                <a:latin typeface="Nunito" pitchFamily="2" charset="0"/>
              </a:rPr>
              <a:t>().</a:t>
            </a:r>
          </a:p>
          <a:p>
            <a:pPr algn="l" fontAlgn="base">
              <a:buFont typeface="Arial" panose="020B0604020202020204" pitchFamily="34" charset="0"/>
              <a:buChar char="•"/>
            </a:pPr>
            <a:r>
              <a:rPr lang="en-US" b="1" i="0" dirty="0" err="1">
                <a:solidFill>
                  <a:srgbClr val="273239"/>
                </a:solidFill>
                <a:effectLst/>
                <a:highlight>
                  <a:srgbClr val="FFFFFF"/>
                </a:highlight>
                <a:latin typeface="Nunito" pitchFamily="2" charset="0"/>
              </a:rPr>
              <a:t>msgrcv</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messages are retrieved from a queue.</a:t>
            </a:r>
          </a:p>
          <a:p>
            <a:pPr algn="l" fontAlgn="base">
              <a:buFont typeface="Arial" panose="020B0604020202020204" pitchFamily="34" charset="0"/>
              <a:buChar char="•"/>
            </a:pPr>
            <a:r>
              <a:rPr lang="en-US" b="1" i="0" dirty="0" err="1">
                <a:solidFill>
                  <a:srgbClr val="273239"/>
                </a:solidFill>
                <a:effectLst/>
                <a:highlight>
                  <a:srgbClr val="FFFFFF"/>
                </a:highlight>
                <a:latin typeface="Nunito" pitchFamily="2" charset="0"/>
              </a:rPr>
              <a:t>msgctl</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It performs various operations on a queue. Generally it is use to destroy message queue.</a:t>
            </a:r>
          </a:p>
          <a:p>
            <a:endParaRPr lang="en-IN" dirty="0"/>
          </a:p>
        </p:txBody>
      </p:sp>
    </p:spTree>
    <p:extLst>
      <p:ext uri="{BB962C8B-B14F-4D97-AF65-F5344CB8AC3E}">
        <p14:creationId xmlns:p14="http://schemas.microsoft.com/office/powerpoint/2010/main" val="843763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6D96-1F35-3906-E215-BFCC035E1EBB}"/>
              </a:ext>
            </a:extLst>
          </p:cNvPr>
          <p:cNvSpPr>
            <a:spLocks noGrp="1"/>
          </p:cNvSpPr>
          <p:nvPr>
            <p:ph type="title"/>
          </p:nvPr>
        </p:nvSpPr>
        <p:spPr>
          <a:xfrm>
            <a:off x="299539" y="-171400"/>
            <a:ext cx="8229600" cy="1143000"/>
          </a:xfrm>
        </p:spPr>
        <p:txBody>
          <a:bodyPr/>
          <a:lstStyle/>
          <a:p>
            <a:r>
              <a:rPr lang="en-IN" dirty="0"/>
              <a:t>Code for message queue (Writer)</a:t>
            </a:r>
          </a:p>
        </p:txBody>
      </p:sp>
      <p:sp>
        <p:nvSpPr>
          <p:cNvPr id="4" name="Rectangle 2">
            <a:extLst>
              <a:ext uri="{FF2B5EF4-FFF2-40B4-BE49-F238E27FC236}">
                <a16:creationId xmlns:a16="http://schemas.microsoft.com/office/drawing/2014/main" id="{121A892F-3575-185B-A377-8B4B87FDCC6C}"/>
              </a:ext>
            </a:extLst>
          </p:cNvPr>
          <p:cNvSpPr>
            <a:spLocks noGrp="1" noChangeArrowheads="1"/>
          </p:cNvSpPr>
          <p:nvPr>
            <p:ph idx="1"/>
          </p:nvPr>
        </p:nvSpPr>
        <p:spPr bwMode="auto">
          <a:xfrm>
            <a:off x="323528" y="1084121"/>
            <a:ext cx="411480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 &lt;</a:t>
            </a:r>
            <a:r>
              <a:rPr kumimoji="0" lang="en-US" altLang="en-US" sz="1800" b="0" i="0" u="none" strike="noStrike" cap="none" normalizeH="0" baseline="0" dirty="0" err="1">
                <a:ln>
                  <a:noFill/>
                </a:ln>
                <a:solidFill>
                  <a:srgbClr val="808080"/>
                </a:solidFill>
                <a:effectLst/>
                <a:latin typeface="Consolas" panose="020B0609020204030204" pitchFamily="49" charset="0"/>
              </a:rPr>
              <a:t>stdio.h</a:t>
            </a:r>
            <a:r>
              <a:rPr kumimoji="0" lang="en-US" altLang="en-US" sz="1800" b="0" i="0" u="none" strike="noStrike" cap="none" normalizeH="0" baseline="0" dirty="0">
                <a:ln>
                  <a:noFill/>
                </a:ln>
                <a:solidFill>
                  <a:srgbClr val="808080"/>
                </a:solidFill>
                <a:effectLst/>
                <a:latin typeface="Consolas" panose="020B0609020204030204" pitchFamily="49" charset="0"/>
              </a:rPr>
              <a:t>&gt;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 &lt;sys/</a:t>
            </a:r>
            <a:r>
              <a:rPr kumimoji="0" lang="en-US" altLang="en-US" sz="1800" b="0" i="0" u="none" strike="noStrike" cap="none" normalizeH="0" baseline="0" dirty="0" err="1">
                <a:ln>
                  <a:noFill/>
                </a:ln>
                <a:solidFill>
                  <a:srgbClr val="808080"/>
                </a:solidFill>
                <a:effectLst/>
                <a:latin typeface="Consolas" panose="020B0609020204030204" pitchFamily="49" charset="0"/>
              </a:rPr>
              <a:t>ipc.h</a:t>
            </a:r>
            <a:r>
              <a:rPr kumimoji="0" lang="en-US" altLang="en-US" sz="1800" b="0" i="0" u="none" strike="noStrike" cap="none" normalizeH="0" baseline="0" dirty="0">
                <a:ln>
                  <a:noFill/>
                </a:ln>
                <a:solidFill>
                  <a:srgbClr val="808080"/>
                </a:solidFill>
                <a:effectLst/>
                <a:latin typeface="Consolas" panose="020B0609020204030204" pitchFamily="49" charset="0"/>
              </a:rPr>
              <a:t>&gt;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 &lt;sys/</a:t>
            </a:r>
            <a:r>
              <a:rPr kumimoji="0" lang="en-US" altLang="en-US" sz="1800" b="0" i="0" u="none" strike="noStrike" cap="none" normalizeH="0" baseline="0" dirty="0" err="1">
                <a:ln>
                  <a:noFill/>
                </a:ln>
                <a:solidFill>
                  <a:srgbClr val="808080"/>
                </a:solidFill>
                <a:effectLst/>
                <a:latin typeface="Consolas" panose="020B0609020204030204" pitchFamily="49" charset="0"/>
              </a:rPr>
              <a:t>msg.h</a:t>
            </a:r>
            <a:r>
              <a:rPr kumimoji="0" lang="en-US" altLang="en-US" sz="1800" b="0" i="0" u="none" strike="noStrike" cap="none" normalizeH="0" baseline="0" dirty="0">
                <a:ln>
                  <a:noFill/>
                </a:ln>
                <a:solidFill>
                  <a:srgbClr val="808080"/>
                </a:solidFill>
                <a:effectLst/>
                <a:latin typeface="Consolas" panose="020B0609020204030204" pitchFamily="49" charset="0"/>
              </a:rPr>
              <a:t>&gt;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#define MAX 10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8200"/>
                </a:solidFill>
                <a:effectLst/>
                <a:latin typeface="Consolas" panose="020B0609020204030204" pitchFamily="49" charset="0"/>
              </a:rPr>
              <a:t>// structure for message queue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6699"/>
                </a:solidFill>
                <a:effectLst/>
                <a:latin typeface="Consolas" panose="020B0609020204030204" pitchFamily="49" charset="0"/>
              </a:rPr>
              <a:t>struct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mesg_buffer</a:t>
            </a:r>
            <a:r>
              <a:rPr kumimoji="0" lang="en-US" altLang="en-US" sz="1800" b="0" i="0" u="none" strike="noStrike" cap="none" normalizeH="0" baseline="0" dirty="0">
                <a:ln>
                  <a:noFill/>
                </a:ln>
                <a:solidFill>
                  <a:srgbClr val="000000"/>
                </a:solidFill>
                <a:effectLst/>
                <a:latin typeface="Consolas" panose="020B0609020204030204" pitchFamily="49" charset="0"/>
              </a:rPr>
              <a:t> {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long</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mesg_type</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char</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mesg_text</a:t>
            </a:r>
            <a:r>
              <a:rPr kumimoji="0" lang="en-US" altLang="en-US" sz="1800" b="0" i="0" u="none" strike="noStrike" cap="none" normalizeH="0" baseline="0" dirty="0">
                <a:ln>
                  <a:noFill/>
                </a:ln>
                <a:solidFill>
                  <a:srgbClr val="000000"/>
                </a:solidFill>
                <a:effectLst/>
                <a:latin typeface="Consolas" panose="020B0609020204030204" pitchFamily="49" charset="0"/>
              </a:rPr>
              <a:t>[100];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message;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main()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key_t</a:t>
            </a:r>
            <a:r>
              <a:rPr kumimoji="0" lang="en-US" altLang="en-US" sz="1800" b="0" i="0" u="none" strike="noStrike" cap="none" normalizeH="0" baseline="0" dirty="0">
                <a:ln>
                  <a:noFill/>
                </a:ln>
                <a:solidFill>
                  <a:srgbClr val="000000"/>
                </a:solidFill>
                <a:effectLst/>
                <a:latin typeface="Consolas" panose="020B0609020204030204" pitchFamily="49" charset="0"/>
              </a:rPr>
              <a:t> key;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msgid</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8200"/>
                </a:solidFill>
                <a:effectLst/>
                <a:latin typeface="Consolas" panose="020B0609020204030204" pitchFamily="49" charset="0"/>
              </a:rPr>
              <a:t>// </a:t>
            </a:r>
            <a:r>
              <a:rPr kumimoji="0" lang="en-US" altLang="en-US" sz="1800" b="0" i="0" u="none" strike="noStrike" cap="none" normalizeH="0" baseline="0" dirty="0" err="1">
                <a:ln>
                  <a:noFill/>
                </a:ln>
                <a:solidFill>
                  <a:srgbClr val="008200"/>
                </a:solidFill>
                <a:effectLst/>
                <a:latin typeface="Consolas" panose="020B0609020204030204" pitchFamily="49" charset="0"/>
              </a:rPr>
              <a:t>ftok</a:t>
            </a:r>
            <a:r>
              <a:rPr kumimoji="0" lang="en-US" altLang="en-US" sz="1800" b="0" i="0" u="none" strike="noStrike" cap="none" normalizeH="0" baseline="0" dirty="0">
                <a:ln>
                  <a:noFill/>
                </a:ln>
                <a:solidFill>
                  <a:srgbClr val="008200"/>
                </a:solidFill>
                <a:effectLst/>
                <a:latin typeface="Consolas" panose="020B0609020204030204" pitchFamily="49" charset="0"/>
              </a:rPr>
              <a:t> to generate unique key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key = </a:t>
            </a:r>
            <a:r>
              <a:rPr kumimoji="0" lang="en-US" altLang="en-US" sz="1800" b="0" i="0" u="none" strike="noStrike" cap="none" normalizeH="0" baseline="0" dirty="0" err="1">
                <a:ln>
                  <a:noFill/>
                </a:ln>
                <a:solidFill>
                  <a:srgbClr val="000000"/>
                </a:solidFill>
                <a:effectLst/>
                <a:latin typeface="Consolas" panose="020B0609020204030204" pitchFamily="49" charset="0"/>
              </a:rPr>
              <a:t>ftok</a:t>
            </a:r>
            <a:r>
              <a:rPr kumimoji="0" lang="en-US" altLang="en-US" sz="1800" b="0" i="0" u="none" strike="noStrike" cap="none" normalizeH="0" baseline="0" dirty="0">
                <a:ln>
                  <a:noFill/>
                </a:ln>
                <a:solidFill>
                  <a:srgbClr val="000000"/>
                </a:solidFill>
                <a:effectLst/>
                <a:latin typeface="Consolas" panose="020B0609020204030204" pitchFamily="49" charset="0"/>
              </a:rPr>
              <a:t>(</a:t>
            </a:r>
            <a:r>
              <a:rPr kumimoji="0" lang="en-US" altLang="en-US" sz="1800" b="0" i="0" u="none" strike="noStrike" cap="none" normalizeH="0" baseline="0" dirty="0">
                <a:ln>
                  <a:noFill/>
                </a:ln>
                <a:solidFill>
                  <a:srgbClr val="0000FF"/>
                </a:solidFill>
                <a:effectLst/>
                <a:latin typeface="Consolas" panose="020B0609020204030204" pitchFamily="49" charset="0"/>
              </a:rPr>
              <a:t>"</a:t>
            </a:r>
            <a:r>
              <a:rPr kumimoji="0" lang="en-US" altLang="en-US" sz="1800" b="0" i="0" u="none" strike="noStrike" cap="none" normalizeH="0" baseline="0" dirty="0" err="1">
                <a:ln>
                  <a:noFill/>
                </a:ln>
                <a:solidFill>
                  <a:srgbClr val="0000FF"/>
                </a:solidFill>
                <a:effectLst/>
                <a:latin typeface="Consolas" panose="020B0609020204030204" pitchFamily="49" charset="0"/>
              </a:rPr>
              <a:t>progfile</a:t>
            </a:r>
            <a:r>
              <a:rPr kumimoji="0" lang="en-US" altLang="en-US" sz="1800" b="0" i="0" u="none" strike="noStrike" cap="none" normalizeH="0" baseline="0" dirty="0">
                <a:ln>
                  <a:noFill/>
                </a:ln>
                <a:solidFill>
                  <a:srgbClr val="0000FF"/>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65);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6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40479CF-F4C8-904C-2BBA-BB2F294F5010}"/>
              </a:ext>
            </a:extLst>
          </p:cNvPr>
          <p:cNvSpPr txBox="1">
            <a:spLocks noChangeArrowheads="1"/>
          </p:cNvSpPr>
          <p:nvPr/>
        </p:nvSpPr>
        <p:spPr bwMode="auto">
          <a:xfrm>
            <a:off x="4860032" y="1268367"/>
            <a:ext cx="4114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lvl1pPr marL="342900" indent="-342900" algn="l" defTabSz="914400" rtl="0" eaLnBrk="0" fontAlgn="base" latinLnBrk="0" hangingPunct="0">
              <a:spcBef>
                <a:spcPct val="0"/>
              </a:spcBef>
              <a:spcAft>
                <a:spcPct val="0"/>
              </a:spcAft>
              <a:buFont typeface="Arial" pitchFamily="34" charset="0"/>
              <a:buChar char="•"/>
              <a:defRPr sz="3200" kern="1200">
                <a:solidFill>
                  <a:schemeClr val="tx1"/>
                </a:solidFill>
                <a:latin typeface="Arial" panose="020B0604020202020204" pitchFamily="34" charset="0"/>
                <a:ea typeface="+mn-ea"/>
                <a:cs typeface="+mn-cs"/>
              </a:defRPr>
            </a:lvl1pPr>
            <a:lvl2pPr marL="742950" indent="-285750" algn="l" defTabSz="914400" rtl="0" eaLnBrk="0" fontAlgn="base" latinLnBrk="0" hangingPunct="0">
              <a:spcBef>
                <a:spcPct val="0"/>
              </a:spcBef>
              <a:spcAft>
                <a:spcPct val="0"/>
              </a:spcAft>
              <a:buFont typeface="Arial" pitchFamily="34" charset="0"/>
              <a:buChar char="–"/>
              <a:defRPr sz="28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spcBef>
                <a:spcPct val="0"/>
              </a:spcBef>
              <a:spcAft>
                <a:spcPct val="0"/>
              </a:spcAft>
              <a:buFont typeface="Arial" pitchFamily="34" charset="0"/>
              <a:buChar char="•"/>
              <a:defRPr sz="24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t>
            </a:r>
            <a:r>
              <a:rPr lang="en-US" altLang="en-US" sz="1600" dirty="0" err="1">
                <a:solidFill>
                  <a:srgbClr val="008200"/>
                </a:solidFill>
                <a:latin typeface="Consolas" panose="020B0609020204030204" pitchFamily="49" charset="0"/>
              </a:rPr>
              <a:t>msgget</a:t>
            </a:r>
            <a:r>
              <a:rPr lang="en-US" altLang="en-US" sz="1600" dirty="0">
                <a:solidFill>
                  <a:srgbClr val="008200"/>
                </a:solidFill>
                <a:latin typeface="Consolas" panose="020B0609020204030204" pitchFamily="49" charset="0"/>
              </a:rPr>
              <a:t> creates a message queue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and returns identifier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msgid</a:t>
            </a:r>
            <a:r>
              <a:rPr lang="en-US" altLang="en-US" sz="1600" dirty="0">
                <a:solidFill>
                  <a:srgbClr val="000000"/>
                </a:solidFill>
                <a:latin typeface="Consolas" panose="020B0609020204030204" pitchFamily="49" charset="0"/>
              </a:rPr>
              <a:t> = </a:t>
            </a:r>
            <a:r>
              <a:rPr lang="en-US" altLang="en-US" sz="1600" dirty="0" err="1">
                <a:solidFill>
                  <a:srgbClr val="000000"/>
                </a:solidFill>
                <a:latin typeface="Consolas" panose="020B0609020204030204" pitchFamily="49" charset="0"/>
              </a:rPr>
              <a:t>msgget</a:t>
            </a:r>
            <a:r>
              <a:rPr lang="en-US" altLang="en-US" sz="1600" dirty="0">
                <a:solidFill>
                  <a:srgbClr val="000000"/>
                </a:solidFill>
                <a:latin typeface="Consolas" panose="020B0609020204030204" pitchFamily="49" charset="0"/>
              </a:rPr>
              <a:t>(key, 0666 | IPC_CREAT);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message.mesg_type</a:t>
            </a:r>
            <a:r>
              <a:rPr lang="en-US" altLang="en-US" sz="1600" dirty="0">
                <a:solidFill>
                  <a:srgbClr val="000000"/>
                </a:solidFill>
                <a:latin typeface="Consolas" panose="020B0609020204030204" pitchFamily="49" charset="0"/>
              </a:rPr>
              <a:t> = 1;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printf</a:t>
            </a:r>
            <a:r>
              <a:rPr lang="en-US" altLang="en-US" sz="1600" dirty="0">
                <a:solidFill>
                  <a:srgbClr val="000000"/>
                </a:solidFill>
                <a:latin typeface="Consolas" panose="020B0609020204030204" pitchFamily="49" charset="0"/>
              </a:rPr>
              <a:t>(</a:t>
            </a:r>
            <a:r>
              <a:rPr lang="en-US" altLang="en-US" sz="1600" dirty="0">
                <a:solidFill>
                  <a:srgbClr val="0000FF"/>
                </a:solidFill>
                <a:latin typeface="Consolas" panose="020B0609020204030204" pitchFamily="49" charset="0"/>
              </a:rPr>
              <a:t>"Write Data : "</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fgets</a:t>
            </a:r>
            <a:r>
              <a:rPr lang="en-US" altLang="en-US" sz="1600" dirty="0">
                <a:solidFill>
                  <a:srgbClr val="000000"/>
                </a:solidFill>
                <a:latin typeface="Consolas" panose="020B0609020204030204" pitchFamily="49" charset="0"/>
              </a:rPr>
              <a:t>(</a:t>
            </a:r>
            <a:r>
              <a:rPr lang="en-US" altLang="en-US" sz="1600" dirty="0" err="1">
                <a:solidFill>
                  <a:srgbClr val="000000"/>
                </a:solidFill>
                <a:latin typeface="Consolas" panose="020B0609020204030204" pitchFamily="49" charset="0"/>
              </a:rPr>
              <a:t>message.mesg_text,MAX,stdin</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t>
            </a:r>
            <a:r>
              <a:rPr lang="en-US" altLang="en-US" sz="1600" dirty="0" err="1">
                <a:solidFill>
                  <a:srgbClr val="008200"/>
                </a:solidFill>
                <a:latin typeface="Consolas" panose="020B0609020204030204" pitchFamily="49" charset="0"/>
              </a:rPr>
              <a:t>msgsnd</a:t>
            </a:r>
            <a:r>
              <a:rPr lang="en-US" altLang="en-US" sz="1600" dirty="0">
                <a:solidFill>
                  <a:srgbClr val="008200"/>
                </a:solidFill>
                <a:latin typeface="Consolas" panose="020B0609020204030204" pitchFamily="49" charset="0"/>
              </a:rPr>
              <a:t> to send message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msgsnd</a:t>
            </a:r>
            <a:r>
              <a:rPr lang="en-US" altLang="en-US" sz="1600" dirty="0">
                <a:solidFill>
                  <a:srgbClr val="000000"/>
                </a:solidFill>
                <a:latin typeface="Consolas" panose="020B0609020204030204" pitchFamily="49" charset="0"/>
              </a:rPr>
              <a:t>(</a:t>
            </a:r>
            <a:r>
              <a:rPr lang="en-US" altLang="en-US" sz="1600" dirty="0" err="1">
                <a:solidFill>
                  <a:srgbClr val="000000"/>
                </a:solidFill>
                <a:latin typeface="Consolas" panose="020B0609020204030204" pitchFamily="49" charset="0"/>
              </a:rPr>
              <a:t>msgid</a:t>
            </a:r>
            <a:r>
              <a:rPr lang="en-US" altLang="en-US" sz="1600" dirty="0">
                <a:solidFill>
                  <a:srgbClr val="000000"/>
                </a:solidFill>
                <a:latin typeface="Consolas" panose="020B0609020204030204" pitchFamily="49" charset="0"/>
              </a:rPr>
              <a:t>, &amp;message, </a:t>
            </a:r>
            <a:r>
              <a:rPr lang="en-US" altLang="en-US" sz="1600" b="1" dirty="0" err="1">
                <a:solidFill>
                  <a:srgbClr val="006699"/>
                </a:solidFill>
                <a:latin typeface="Consolas" panose="020B0609020204030204" pitchFamily="49" charset="0"/>
              </a:rPr>
              <a:t>sizeof</a:t>
            </a:r>
            <a:r>
              <a:rPr lang="en-US" altLang="en-US" sz="1600" dirty="0">
                <a:solidFill>
                  <a:srgbClr val="000000"/>
                </a:solidFill>
                <a:latin typeface="Consolas" panose="020B0609020204030204" pitchFamily="49" charset="0"/>
              </a:rPr>
              <a:t>(message), 0);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display the message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printf</a:t>
            </a:r>
            <a:r>
              <a:rPr lang="en-US" altLang="en-US" sz="1600" dirty="0">
                <a:solidFill>
                  <a:srgbClr val="000000"/>
                </a:solidFill>
                <a:latin typeface="Consolas" panose="020B0609020204030204" pitchFamily="49" charset="0"/>
              </a:rPr>
              <a:t>(</a:t>
            </a:r>
            <a:r>
              <a:rPr lang="en-US" altLang="en-US" sz="1600" dirty="0">
                <a:solidFill>
                  <a:srgbClr val="0000FF"/>
                </a:solidFill>
                <a:latin typeface="Consolas" panose="020B0609020204030204" pitchFamily="49" charset="0"/>
              </a:rPr>
              <a:t>"Data send is : %s \n"</a:t>
            </a:r>
            <a:r>
              <a:rPr lang="en-US" altLang="en-US" sz="1600" dirty="0">
                <a:solidFill>
                  <a:srgbClr val="000000"/>
                </a:solidFill>
                <a:latin typeface="Consolas" panose="020B0609020204030204" pitchFamily="49" charset="0"/>
              </a:rPr>
              <a:t>, </a:t>
            </a:r>
            <a:r>
              <a:rPr lang="en-US" altLang="en-US" sz="1600" dirty="0" err="1">
                <a:solidFill>
                  <a:srgbClr val="000000"/>
                </a:solidFill>
                <a:latin typeface="Consolas" panose="020B0609020204030204" pitchFamily="49" charset="0"/>
              </a:rPr>
              <a:t>message.mesg_text</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b="1" dirty="0">
                <a:solidFill>
                  <a:srgbClr val="006699"/>
                </a:solidFill>
                <a:latin typeface="Consolas" panose="020B0609020204030204" pitchFamily="49" charset="0"/>
              </a:rPr>
              <a:t>return</a:t>
            </a:r>
            <a:r>
              <a:rPr lang="en-US" altLang="en-US" sz="900" dirty="0">
                <a:solidFill>
                  <a:srgbClr val="273239"/>
                </a:solidFill>
                <a:latin typeface="Consolas" panose="020B0609020204030204" pitchFamily="49" charset="0"/>
              </a:rPr>
              <a:t> </a:t>
            </a:r>
            <a:r>
              <a:rPr lang="en-US" altLang="en-US" sz="1600" dirty="0">
                <a:solidFill>
                  <a:srgbClr val="000000"/>
                </a:solidFill>
                <a:latin typeface="Consolas" panose="020B0609020204030204" pitchFamily="49" charset="0"/>
              </a:rPr>
              <a:t>0; </a:t>
            </a:r>
            <a:endParaRPr lang="en-US" altLang="en-US" sz="900" dirty="0"/>
          </a:p>
          <a:p>
            <a:pPr marL="0" indent="0">
              <a:buFontTx/>
              <a:buNone/>
            </a:pPr>
            <a:r>
              <a:rPr lang="en-US" altLang="en-US" sz="1600" dirty="0">
                <a:solidFill>
                  <a:srgbClr val="000000"/>
                </a:solidFill>
                <a:latin typeface="Consolas" panose="020B0609020204030204" pitchFamily="49" charset="0"/>
              </a:rPr>
              <a:t>}</a:t>
            </a:r>
            <a:endParaRPr lang="en-US" altLang="en-US" sz="2800" dirty="0"/>
          </a:p>
        </p:txBody>
      </p:sp>
    </p:spTree>
    <p:extLst>
      <p:ext uri="{BB962C8B-B14F-4D97-AF65-F5344CB8AC3E}">
        <p14:creationId xmlns:p14="http://schemas.microsoft.com/office/powerpoint/2010/main" val="3831855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6D96-1F35-3906-E215-BFCC035E1EBB}"/>
              </a:ext>
            </a:extLst>
          </p:cNvPr>
          <p:cNvSpPr>
            <a:spLocks noGrp="1"/>
          </p:cNvSpPr>
          <p:nvPr>
            <p:ph type="title"/>
          </p:nvPr>
        </p:nvSpPr>
        <p:spPr>
          <a:xfrm>
            <a:off x="299539" y="-171400"/>
            <a:ext cx="8229600" cy="1143000"/>
          </a:xfrm>
        </p:spPr>
        <p:txBody>
          <a:bodyPr/>
          <a:lstStyle/>
          <a:p>
            <a:r>
              <a:rPr lang="en-IN" dirty="0"/>
              <a:t>Code for message queue (Writer)</a:t>
            </a:r>
          </a:p>
        </p:txBody>
      </p:sp>
      <p:sp>
        <p:nvSpPr>
          <p:cNvPr id="4" name="Rectangle 2">
            <a:extLst>
              <a:ext uri="{FF2B5EF4-FFF2-40B4-BE49-F238E27FC236}">
                <a16:creationId xmlns:a16="http://schemas.microsoft.com/office/drawing/2014/main" id="{121A892F-3575-185B-A377-8B4B87FDCC6C}"/>
              </a:ext>
            </a:extLst>
          </p:cNvPr>
          <p:cNvSpPr>
            <a:spLocks noGrp="1" noChangeArrowheads="1"/>
          </p:cNvSpPr>
          <p:nvPr>
            <p:ph idx="1"/>
          </p:nvPr>
        </p:nvSpPr>
        <p:spPr bwMode="auto">
          <a:xfrm>
            <a:off x="323528" y="1084121"/>
            <a:ext cx="411480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 &lt;</a:t>
            </a:r>
            <a:r>
              <a:rPr kumimoji="0" lang="en-US" altLang="en-US" sz="1800" b="0" i="0" u="none" strike="noStrike" cap="none" normalizeH="0" baseline="0" dirty="0" err="1">
                <a:ln>
                  <a:noFill/>
                </a:ln>
                <a:solidFill>
                  <a:srgbClr val="808080"/>
                </a:solidFill>
                <a:effectLst/>
                <a:latin typeface="Consolas" panose="020B0609020204030204" pitchFamily="49" charset="0"/>
              </a:rPr>
              <a:t>stdio.h</a:t>
            </a:r>
            <a:r>
              <a:rPr kumimoji="0" lang="en-US" altLang="en-US" sz="1800" b="0" i="0" u="none" strike="noStrike" cap="none" normalizeH="0" baseline="0" dirty="0">
                <a:ln>
                  <a:noFill/>
                </a:ln>
                <a:solidFill>
                  <a:srgbClr val="808080"/>
                </a:solidFill>
                <a:effectLst/>
                <a:latin typeface="Consolas" panose="020B0609020204030204" pitchFamily="49" charset="0"/>
              </a:rPr>
              <a:t>&gt;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 &lt;sys/</a:t>
            </a:r>
            <a:r>
              <a:rPr kumimoji="0" lang="en-US" altLang="en-US" sz="1800" b="0" i="0" u="none" strike="noStrike" cap="none" normalizeH="0" baseline="0" dirty="0" err="1">
                <a:ln>
                  <a:noFill/>
                </a:ln>
                <a:solidFill>
                  <a:srgbClr val="808080"/>
                </a:solidFill>
                <a:effectLst/>
                <a:latin typeface="Consolas" panose="020B0609020204030204" pitchFamily="49" charset="0"/>
              </a:rPr>
              <a:t>ipc.h</a:t>
            </a:r>
            <a:r>
              <a:rPr kumimoji="0" lang="en-US" altLang="en-US" sz="1800" b="0" i="0" u="none" strike="noStrike" cap="none" normalizeH="0" baseline="0" dirty="0">
                <a:ln>
                  <a:noFill/>
                </a:ln>
                <a:solidFill>
                  <a:srgbClr val="808080"/>
                </a:solidFill>
                <a:effectLst/>
                <a:latin typeface="Consolas" panose="020B0609020204030204" pitchFamily="49" charset="0"/>
              </a:rPr>
              <a:t>&gt;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 &lt;sys/</a:t>
            </a:r>
            <a:r>
              <a:rPr kumimoji="0" lang="en-US" altLang="en-US" sz="1800" b="0" i="0" u="none" strike="noStrike" cap="none" normalizeH="0" baseline="0" dirty="0" err="1">
                <a:ln>
                  <a:noFill/>
                </a:ln>
                <a:solidFill>
                  <a:srgbClr val="808080"/>
                </a:solidFill>
                <a:effectLst/>
                <a:latin typeface="Consolas" panose="020B0609020204030204" pitchFamily="49" charset="0"/>
              </a:rPr>
              <a:t>msg.h</a:t>
            </a:r>
            <a:r>
              <a:rPr kumimoji="0" lang="en-US" altLang="en-US" sz="1800" b="0" i="0" u="none" strike="noStrike" cap="none" normalizeH="0" baseline="0" dirty="0">
                <a:ln>
                  <a:noFill/>
                </a:ln>
                <a:solidFill>
                  <a:srgbClr val="808080"/>
                </a:solidFill>
                <a:effectLst/>
                <a:latin typeface="Consolas" panose="020B0609020204030204" pitchFamily="49" charset="0"/>
              </a:rPr>
              <a:t>&gt;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#define MAX 10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8200"/>
                </a:solidFill>
                <a:effectLst/>
                <a:latin typeface="Consolas" panose="020B0609020204030204" pitchFamily="49" charset="0"/>
              </a:rPr>
              <a:t>// structure for message queue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6699"/>
                </a:solidFill>
                <a:effectLst/>
                <a:latin typeface="Consolas" panose="020B0609020204030204" pitchFamily="49" charset="0"/>
              </a:rPr>
              <a:t>struct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mesg_buffer</a:t>
            </a:r>
            <a:r>
              <a:rPr kumimoji="0" lang="en-US" altLang="en-US" sz="1800" b="0" i="0" u="none" strike="noStrike" cap="none" normalizeH="0" baseline="0" dirty="0">
                <a:ln>
                  <a:noFill/>
                </a:ln>
                <a:solidFill>
                  <a:srgbClr val="000000"/>
                </a:solidFill>
                <a:effectLst/>
                <a:latin typeface="Consolas" panose="020B0609020204030204" pitchFamily="49" charset="0"/>
              </a:rPr>
              <a:t> {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long</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mesg_type</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char</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mesg_text</a:t>
            </a:r>
            <a:r>
              <a:rPr kumimoji="0" lang="en-US" altLang="en-US" sz="1800" b="0" i="0" u="none" strike="noStrike" cap="none" normalizeH="0" baseline="0" dirty="0">
                <a:ln>
                  <a:noFill/>
                </a:ln>
                <a:solidFill>
                  <a:srgbClr val="000000"/>
                </a:solidFill>
                <a:effectLst/>
                <a:latin typeface="Consolas" panose="020B0609020204030204" pitchFamily="49" charset="0"/>
              </a:rPr>
              <a:t>[100];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message;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main()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key_t</a:t>
            </a:r>
            <a:r>
              <a:rPr kumimoji="0" lang="en-US" altLang="en-US" sz="1800" b="0" i="0" u="none" strike="noStrike" cap="none" normalizeH="0" baseline="0" dirty="0">
                <a:ln>
                  <a:noFill/>
                </a:ln>
                <a:solidFill>
                  <a:srgbClr val="000000"/>
                </a:solidFill>
                <a:effectLst/>
                <a:latin typeface="Consolas" panose="020B0609020204030204" pitchFamily="49" charset="0"/>
              </a:rPr>
              <a:t> key;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msgid</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8200"/>
                </a:solidFill>
                <a:effectLst/>
                <a:latin typeface="Consolas" panose="020B0609020204030204" pitchFamily="49" charset="0"/>
              </a:rPr>
              <a:t>// </a:t>
            </a:r>
            <a:r>
              <a:rPr kumimoji="0" lang="en-US" altLang="en-US" sz="1800" b="0" i="0" u="none" strike="noStrike" cap="none" normalizeH="0" baseline="0" dirty="0" err="1">
                <a:ln>
                  <a:noFill/>
                </a:ln>
                <a:solidFill>
                  <a:srgbClr val="008200"/>
                </a:solidFill>
                <a:effectLst/>
                <a:latin typeface="Consolas" panose="020B0609020204030204" pitchFamily="49" charset="0"/>
              </a:rPr>
              <a:t>ftok</a:t>
            </a:r>
            <a:r>
              <a:rPr kumimoji="0" lang="en-US" altLang="en-US" sz="1800" b="0" i="0" u="none" strike="noStrike" cap="none" normalizeH="0" baseline="0" dirty="0">
                <a:ln>
                  <a:noFill/>
                </a:ln>
                <a:solidFill>
                  <a:srgbClr val="008200"/>
                </a:solidFill>
                <a:effectLst/>
                <a:latin typeface="Consolas" panose="020B0609020204030204" pitchFamily="49" charset="0"/>
              </a:rPr>
              <a:t> to generate unique key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key = </a:t>
            </a:r>
            <a:r>
              <a:rPr kumimoji="0" lang="en-US" altLang="en-US" sz="1800" b="0" i="0" u="none" strike="noStrike" cap="none" normalizeH="0" baseline="0" dirty="0" err="1">
                <a:ln>
                  <a:noFill/>
                </a:ln>
                <a:solidFill>
                  <a:srgbClr val="000000"/>
                </a:solidFill>
                <a:effectLst/>
                <a:latin typeface="Consolas" panose="020B0609020204030204" pitchFamily="49" charset="0"/>
              </a:rPr>
              <a:t>ftok</a:t>
            </a:r>
            <a:r>
              <a:rPr kumimoji="0" lang="en-US" altLang="en-US" sz="1800" b="0" i="0" u="none" strike="noStrike" cap="none" normalizeH="0" baseline="0" dirty="0">
                <a:ln>
                  <a:noFill/>
                </a:ln>
                <a:solidFill>
                  <a:srgbClr val="000000"/>
                </a:solidFill>
                <a:effectLst/>
                <a:latin typeface="Consolas" panose="020B0609020204030204" pitchFamily="49" charset="0"/>
              </a:rPr>
              <a:t>(</a:t>
            </a:r>
            <a:r>
              <a:rPr kumimoji="0" lang="en-US" altLang="en-US" sz="1800" b="0" i="0" u="none" strike="noStrike" cap="none" normalizeH="0" baseline="0" dirty="0">
                <a:ln>
                  <a:noFill/>
                </a:ln>
                <a:solidFill>
                  <a:srgbClr val="0000FF"/>
                </a:solidFill>
                <a:effectLst/>
                <a:latin typeface="Consolas" panose="020B0609020204030204" pitchFamily="49" charset="0"/>
              </a:rPr>
              <a:t>"</a:t>
            </a:r>
            <a:r>
              <a:rPr kumimoji="0" lang="en-US" altLang="en-US" sz="1800" b="0" i="0" u="none" strike="noStrike" cap="none" normalizeH="0" baseline="0" dirty="0" err="1">
                <a:ln>
                  <a:noFill/>
                </a:ln>
                <a:solidFill>
                  <a:srgbClr val="0000FF"/>
                </a:solidFill>
                <a:effectLst/>
                <a:latin typeface="Consolas" panose="020B0609020204030204" pitchFamily="49" charset="0"/>
              </a:rPr>
              <a:t>progfile</a:t>
            </a:r>
            <a:r>
              <a:rPr kumimoji="0" lang="en-US" altLang="en-US" sz="1800" b="0" i="0" u="none" strike="noStrike" cap="none" normalizeH="0" baseline="0" dirty="0">
                <a:ln>
                  <a:noFill/>
                </a:ln>
                <a:solidFill>
                  <a:srgbClr val="0000FF"/>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65);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6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40479CF-F4C8-904C-2BBA-BB2F294F5010}"/>
              </a:ext>
            </a:extLst>
          </p:cNvPr>
          <p:cNvSpPr txBox="1">
            <a:spLocks noChangeArrowheads="1"/>
          </p:cNvSpPr>
          <p:nvPr/>
        </p:nvSpPr>
        <p:spPr bwMode="auto">
          <a:xfrm>
            <a:off x="4860032" y="1268367"/>
            <a:ext cx="4114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lvl1pPr marL="342900" indent="-342900" algn="l" defTabSz="914400" rtl="0" eaLnBrk="0" fontAlgn="base" latinLnBrk="0" hangingPunct="0">
              <a:spcBef>
                <a:spcPct val="0"/>
              </a:spcBef>
              <a:spcAft>
                <a:spcPct val="0"/>
              </a:spcAft>
              <a:buFont typeface="Arial" pitchFamily="34" charset="0"/>
              <a:buChar char="•"/>
              <a:defRPr sz="3200" kern="1200">
                <a:solidFill>
                  <a:schemeClr val="tx1"/>
                </a:solidFill>
                <a:latin typeface="Arial" panose="020B0604020202020204" pitchFamily="34" charset="0"/>
                <a:ea typeface="+mn-ea"/>
                <a:cs typeface="+mn-cs"/>
              </a:defRPr>
            </a:lvl1pPr>
            <a:lvl2pPr marL="742950" indent="-285750" algn="l" defTabSz="914400" rtl="0" eaLnBrk="0" fontAlgn="base" latinLnBrk="0" hangingPunct="0">
              <a:spcBef>
                <a:spcPct val="0"/>
              </a:spcBef>
              <a:spcAft>
                <a:spcPct val="0"/>
              </a:spcAft>
              <a:buFont typeface="Arial" pitchFamily="34" charset="0"/>
              <a:buChar char="–"/>
              <a:defRPr sz="28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spcBef>
                <a:spcPct val="0"/>
              </a:spcBef>
              <a:spcAft>
                <a:spcPct val="0"/>
              </a:spcAft>
              <a:buFont typeface="Arial" pitchFamily="34" charset="0"/>
              <a:buChar char="•"/>
              <a:defRPr sz="24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t>
            </a:r>
            <a:r>
              <a:rPr lang="en-US" altLang="en-US" sz="1600" dirty="0" err="1">
                <a:solidFill>
                  <a:srgbClr val="008200"/>
                </a:solidFill>
                <a:latin typeface="Consolas" panose="020B0609020204030204" pitchFamily="49" charset="0"/>
              </a:rPr>
              <a:t>msgget</a:t>
            </a:r>
            <a:r>
              <a:rPr lang="en-US" altLang="en-US" sz="1600" dirty="0">
                <a:solidFill>
                  <a:srgbClr val="008200"/>
                </a:solidFill>
                <a:latin typeface="Consolas" panose="020B0609020204030204" pitchFamily="49" charset="0"/>
              </a:rPr>
              <a:t> creates a message queue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and returns identifier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msgid</a:t>
            </a:r>
            <a:r>
              <a:rPr lang="en-US" altLang="en-US" sz="1600" dirty="0">
                <a:solidFill>
                  <a:srgbClr val="000000"/>
                </a:solidFill>
                <a:latin typeface="Consolas" panose="020B0609020204030204" pitchFamily="49" charset="0"/>
              </a:rPr>
              <a:t> = </a:t>
            </a:r>
            <a:r>
              <a:rPr lang="en-US" altLang="en-US" sz="1600" dirty="0" err="1">
                <a:solidFill>
                  <a:srgbClr val="000000"/>
                </a:solidFill>
                <a:latin typeface="Consolas" panose="020B0609020204030204" pitchFamily="49" charset="0"/>
              </a:rPr>
              <a:t>msgget</a:t>
            </a:r>
            <a:r>
              <a:rPr lang="en-US" altLang="en-US" sz="1600" dirty="0">
                <a:solidFill>
                  <a:srgbClr val="000000"/>
                </a:solidFill>
                <a:latin typeface="Consolas" panose="020B0609020204030204" pitchFamily="49" charset="0"/>
              </a:rPr>
              <a:t>(key, 0666 | IPC_CREAT);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message.mesg_type</a:t>
            </a:r>
            <a:r>
              <a:rPr lang="en-US" altLang="en-US" sz="1600" dirty="0">
                <a:solidFill>
                  <a:srgbClr val="000000"/>
                </a:solidFill>
                <a:latin typeface="Consolas" panose="020B0609020204030204" pitchFamily="49" charset="0"/>
              </a:rPr>
              <a:t> = 1;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printf</a:t>
            </a:r>
            <a:r>
              <a:rPr lang="en-US" altLang="en-US" sz="1600" dirty="0">
                <a:solidFill>
                  <a:srgbClr val="000000"/>
                </a:solidFill>
                <a:latin typeface="Consolas" panose="020B0609020204030204" pitchFamily="49" charset="0"/>
              </a:rPr>
              <a:t>(</a:t>
            </a:r>
            <a:r>
              <a:rPr lang="en-US" altLang="en-US" sz="1600" dirty="0">
                <a:solidFill>
                  <a:srgbClr val="0000FF"/>
                </a:solidFill>
                <a:latin typeface="Consolas" panose="020B0609020204030204" pitchFamily="49" charset="0"/>
              </a:rPr>
              <a:t>"Write Data : "</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fgets</a:t>
            </a:r>
            <a:r>
              <a:rPr lang="en-US" altLang="en-US" sz="1600" dirty="0">
                <a:solidFill>
                  <a:srgbClr val="000000"/>
                </a:solidFill>
                <a:latin typeface="Consolas" panose="020B0609020204030204" pitchFamily="49" charset="0"/>
              </a:rPr>
              <a:t>(</a:t>
            </a:r>
            <a:r>
              <a:rPr lang="en-US" altLang="en-US" sz="1600" dirty="0" err="1">
                <a:solidFill>
                  <a:srgbClr val="000000"/>
                </a:solidFill>
                <a:latin typeface="Consolas" panose="020B0609020204030204" pitchFamily="49" charset="0"/>
              </a:rPr>
              <a:t>message.mesg_text,MAX,stdin</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t>
            </a:r>
            <a:r>
              <a:rPr lang="en-US" altLang="en-US" sz="1600" dirty="0" err="1">
                <a:solidFill>
                  <a:srgbClr val="008200"/>
                </a:solidFill>
                <a:latin typeface="Consolas" panose="020B0609020204030204" pitchFamily="49" charset="0"/>
              </a:rPr>
              <a:t>msgsnd</a:t>
            </a:r>
            <a:r>
              <a:rPr lang="en-US" altLang="en-US" sz="1600" dirty="0">
                <a:solidFill>
                  <a:srgbClr val="008200"/>
                </a:solidFill>
                <a:latin typeface="Consolas" panose="020B0609020204030204" pitchFamily="49" charset="0"/>
              </a:rPr>
              <a:t> to send message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msgsnd</a:t>
            </a:r>
            <a:r>
              <a:rPr lang="en-US" altLang="en-US" sz="1600" dirty="0">
                <a:solidFill>
                  <a:srgbClr val="000000"/>
                </a:solidFill>
                <a:latin typeface="Consolas" panose="020B0609020204030204" pitchFamily="49" charset="0"/>
              </a:rPr>
              <a:t>(</a:t>
            </a:r>
            <a:r>
              <a:rPr lang="en-US" altLang="en-US" sz="1600" dirty="0" err="1">
                <a:solidFill>
                  <a:srgbClr val="000000"/>
                </a:solidFill>
                <a:latin typeface="Consolas" panose="020B0609020204030204" pitchFamily="49" charset="0"/>
              </a:rPr>
              <a:t>msgid</a:t>
            </a:r>
            <a:r>
              <a:rPr lang="en-US" altLang="en-US" sz="1600" dirty="0">
                <a:solidFill>
                  <a:srgbClr val="000000"/>
                </a:solidFill>
                <a:latin typeface="Consolas" panose="020B0609020204030204" pitchFamily="49" charset="0"/>
              </a:rPr>
              <a:t>, &amp;message, </a:t>
            </a:r>
            <a:r>
              <a:rPr lang="en-US" altLang="en-US" sz="1600" b="1" dirty="0" err="1">
                <a:solidFill>
                  <a:srgbClr val="006699"/>
                </a:solidFill>
                <a:latin typeface="Consolas" panose="020B0609020204030204" pitchFamily="49" charset="0"/>
              </a:rPr>
              <a:t>sizeof</a:t>
            </a:r>
            <a:r>
              <a:rPr lang="en-US" altLang="en-US" sz="1600" dirty="0">
                <a:solidFill>
                  <a:srgbClr val="000000"/>
                </a:solidFill>
                <a:latin typeface="Consolas" panose="020B0609020204030204" pitchFamily="49" charset="0"/>
              </a:rPr>
              <a:t>(message), 0);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display the message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printf</a:t>
            </a:r>
            <a:r>
              <a:rPr lang="en-US" altLang="en-US" sz="1600" dirty="0">
                <a:solidFill>
                  <a:srgbClr val="000000"/>
                </a:solidFill>
                <a:latin typeface="Consolas" panose="020B0609020204030204" pitchFamily="49" charset="0"/>
              </a:rPr>
              <a:t>(</a:t>
            </a:r>
            <a:r>
              <a:rPr lang="en-US" altLang="en-US" sz="1600" dirty="0">
                <a:solidFill>
                  <a:srgbClr val="0000FF"/>
                </a:solidFill>
                <a:latin typeface="Consolas" panose="020B0609020204030204" pitchFamily="49" charset="0"/>
              </a:rPr>
              <a:t>"Data send is : %s \n"</a:t>
            </a:r>
            <a:r>
              <a:rPr lang="en-US" altLang="en-US" sz="1600" dirty="0">
                <a:solidFill>
                  <a:srgbClr val="000000"/>
                </a:solidFill>
                <a:latin typeface="Consolas" panose="020B0609020204030204" pitchFamily="49" charset="0"/>
              </a:rPr>
              <a:t>, </a:t>
            </a:r>
            <a:r>
              <a:rPr lang="en-US" altLang="en-US" sz="1600" dirty="0" err="1">
                <a:solidFill>
                  <a:srgbClr val="000000"/>
                </a:solidFill>
                <a:latin typeface="Consolas" panose="020B0609020204030204" pitchFamily="49" charset="0"/>
              </a:rPr>
              <a:t>message.mesg_text</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b="1" dirty="0">
                <a:solidFill>
                  <a:srgbClr val="006699"/>
                </a:solidFill>
                <a:latin typeface="Consolas" panose="020B0609020204030204" pitchFamily="49" charset="0"/>
              </a:rPr>
              <a:t>return</a:t>
            </a:r>
            <a:r>
              <a:rPr lang="en-US" altLang="en-US" sz="900" dirty="0">
                <a:solidFill>
                  <a:srgbClr val="273239"/>
                </a:solidFill>
                <a:latin typeface="Consolas" panose="020B0609020204030204" pitchFamily="49" charset="0"/>
              </a:rPr>
              <a:t> </a:t>
            </a:r>
            <a:r>
              <a:rPr lang="en-US" altLang="en-US" sz="1600" dirty="0">
                <a:solidFill>
                  <a:srgbClr val="000000"/>
                </a:solidFill>
                <a:latin typeface="Consolas" panose="020B0609020204030204" pitchFamily="49" charset="0"/>
              </a:rPr>
              <a:t>0; </a:t>
            </a:r>
            <a:endParaRPr lang="en-US" altLang="en-US" sz="900" dirty="0"/>
          </a:p>
          <a:p>
            <a:pPr marL="0" indent="0">
              <a:buFontTx/>
              <a:buNone/>
            </a:pPr>
            <a:r>
              <a:rPr lang="en-US" altLang="en-US" sz="1600" dirty="0">
                <a:solidFill>
                  <a:srgbClr val="000000"/>
                </a:solidFill>
                <a:latin typeface="Consolas" panose="020B0609020204030204" pitchFamily="49" charset="0"/>
              </a:rPr>
              <a:t>}</a:t>
            </a:r>
            <a:endParaRPr lang="en-US" altLang="en-US" sz="2800" dirty="0"/>
          </a:p>
        </p:txBody>
      </p:sp>
    </p:spTree>
    <p:extLst>
      <p:ext uri="{BB962C8B-B14F-4D97-AF65-F5344CB8AC3E}">
        <p14:creationId xmlns:p14="http://schemas.microsoft.com/office/powerpoint/2010/main" val="3523045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6D96-1F35-3906-E215-BFCC035E1EBB}"/>
              </a:ext>
            </a:extLst>
          </p:cNvPr>
          <p:cNvSpPr>
            <a:spLocks noGrp="1"/>
          </p:cNvSpPr>
          <p:nvPr>
            <p:ph type="title"/>
          </p:nvPr>
        </p:nvSpPr>
        <p:spPr>
          <a:xfrm>
            <a:off x="299539" y="-171400"/>
            <a:ext cx="8229600" cy="1143000"/>
          </a:xfrm>
        </p:spPr>
        <p:txBody>
          <a:bodyPr>
            <a:normAutofit/>
          </a:bodyPr>
          <a:lstStyle/>
          <a:p>
            <a:r>
              <a:rPr lang="en-IN" dirty="0"/>
              <a:t>Code for message queue (Reader)</a:t>
            </a:r>
          </a:p>
        </p:txBody>
      </p:sp>
      <p:sp>
        <p:nvSpPr>
          <p:cNvPr id="3" name="Content Placeholder 2">
            <a:extLst>
              <a:ext uri="{FF2B5EF4-FFF2-40B4-BE49-F238E27FC236}">
                <a16:creationId xmlns:a16="http://schemas.microsoft.com/office/drawing/2014/main" id="{CB9EEAD9-324E-9C30-37C7-50ADA098EADB}"/>
              </a:ext>
            </a:extLst>
          </p:cNvPr>
          <p:cNvSpPr>
            <a:spLocks noGrp="1" noChangeArrowheads="1"/>
          </p:cNvSpPr>
          <p:nvPr>
            <p:ph idx="1"/>
          </p:nvPr>
        </p:nvSpPr>
        <p:spPr bwMode="auto">
          <a:xfrm>
            <a:off x="334789" y="1089907"/>
            <a:ext cx="3816102"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8200"/>
                </a:solidFill>
                <a:effectLst/>
                <a:latin typeface="Consolas" panose="020B0609020204030204" pitchFamily="49" charset="0"/>
              </a:rPr>
              <a:t>// C Program for Message Queue (Reader Process)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808080"/>
                </a:solidFill>
                <a:effectLst/>
                <a:latin typeface="Consolas" panose="020B0609020204030204" pitchFamily="49" charset="0"/>
              </a:rPr>
              <a:t>#include &lt;</a:t>
            </a:r>
            <a:r>
              <a:rPr kumimoji="0" lang="en-US" altLang="en-US" sz="1200" b="0" i="0" u="none" strike="noStrike" cap="none" normalizeH="0" baseline="0" dirty="0" err="1">
                <a:ln>
                  <a:noFill/>
                </a:ln>
                <a:solidFill>
                  <a:srgbClr val="808080"/>
                </a:solidFill>
                <a:effectLst/>
                <a:latin typeface="Consolas" panose="020B0609020204030204" pitchFamily="49" charset="0"/>
              </a:rPr>
              <a:t>stdio.h</a:t>
            </a:r>
            <a:r>
              <a:rPr kumimoji="0" lang="en-US" altLang="en-US" sz="1200" b="0" i="0" u="none" strike="noStrike" cap="none" normalizeH="0" baseline="0" dirty="0">
                <a:ln>
                  <a:noFill/>
                </a:ln>
                <a:solidFill>
                  <a:srgbClr val="808080"/>
                </a:solidFill>
                <a:effectLst/>
                <a:latin typeface="Consolas" panose="020B0609020204030204" pitchFamily="49" charset="0"/>
              </a:rPr>
              <a:t>&gt;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808080"/>
                </a:solidFill>
                <a:effectLst/>
                <a:latin typeface="Consolas" panose="020B0609020204030204" pitchFamily="49" charset="0"/>
              </a:rPr>
              <a:t>#include &lt;sys/</a:t>
            </a:r>
            <a:r>
              <a:rPr kumimoji="0" lang="en-US" altLang="en-US" sz="1200" b="0" i="0" u="none" strike="noStrike" cap="none" normalizeH="0" baseline="0" dirty="0" err="1">
                <a:ln>
                  <a:noFill/>
                </a:ln>
                <a:solidFill>
                  <a:srgbClr val="808080"/>
                </a:solidFill>
                <a:effectLst/>
                <a:latin typeface="Consolas" panose="020B0609020204030204" pitchFamily="49" charset="0"/>
              </a:rPr>
              <a:t>ipc.h</a:t>
            </a:r>
            <a:r>
              <a:rPr kumimoji="0" lang="en-US" altLang="en-US" sz="1200" b="0" i="0" u="none" strike="noStrike" cap="none" normalizeH="0" baseline="0" dirty="0">
                <a:ln>
                  <a:noFill/>
                </a:ln>
                <a:solidFill>
                  <a:srgbClr val="808080"/>
                </a:solidFill>
                <a:effectLst/>
                <a:latin typeface="Consolas" panose="020B0609020204030204" pitchFamily="49" charset="0"/>
              </a:rPr>
              <a:t>&gt;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808080"/>
                </a:solidFill>
                <a:effectLst/>
                <a:latin typeface="Consolas" panose="020B0609020204030204" pitchFamily="49" charset="0"/>
              </a:rPr>
              <a:t>#include &lt;sys/</a:t>
            </a:r>
            <a:r>
              <a:rPr kumimoji="0" lang="en-US" altLang="en-US" sz="1200" b="0" i="0" u="none" strike="noStrike" cap="none" normalizeH="0" baseline="0" dirty="0" err="1">
                <a:ln>
                  <a:noFill/>
                </a:ln>
                <a:solidFill>
                  <a:srgbClr val="808080"/>
                </a:solidFill>
                <a:effectLst/>
                <a:latin typeface="Consolas" panose="020B0609020204030204" pitchFamily="49" charset="0"/>
              </a:rPr>
              <a:t>msg.h</a:t>
            </a:r>
            <a:r>
              <a:rPr kumimoji="0" lang="en-US" altLang="en-US" sz="1200" b="0" i="0" u="none" strike="noStrike" cap="none" normalizeH="0" baseline="0" dirty="0">
                <a:ln>
                  <a:noFill/>
                </a:ln>
                <a:solidFill>
                  <a:srgbClr val="808080"/>
                </a:solidFill>
                <a:effectLst/>
                <a:latin typeface="Consolas" panose="020B0609020204030204" pitchFamily="49" charset="0"/>
              </a:rPr>
              <a:t>&gt;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7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8200"/>
                </a:solidFill>
                <a:effectLst/>
                <a:latin typeface="Consolas" panose="020B0609020204030204" pitchFamily="49" charset="0"/>
              </a:rPr>
              <a:t>// structure for message queue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6699"/>
                </a:solidFill>
                <a:effectLst/>
                <a:latin typeface="Consolas" panose="020B0609020204030204" pitchFamily="49" charset="0"/>
              </a:rPr>
              <a:t>struct</a:t>
            </a:r>
            <a:r>
              <a:rPr kumimoji="0" lang="en-US" altLang="en-US" sz="7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mesg_buffer</a:t>
            </a:r>
            <a:r>
              <a:rPr kumimoji="0" lang="en-US" altLang="en-US" sz="1200" b="0" i="0" u="none" strike="noStrike" cap="none" normalizeH="0" baseline="0" dirty="0">
                <a:ln>
                  <a:noFill/>
                </a:ln>
                <a:solidFill>
                  <a:srgbClr val="000000"/>
                </a:solidFill>
                <a:effectLst/>
                <a:latin typeface="Consolas" panose="020B0609020204030204" pitchFamily="49" charset="0"/>
              </a:rPr>
              <a:t> {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1" i="0" u="none" strike="noStrike" cap="none" normalizeH="0" baseline="0" dirty="0">
                <a:ln>
                  <a:noFill/>
                </a:ln>
                <a:solidFill>
                  <a:srgbClr val="808080"/>
                </a:solidFill>
                <a:effectLst/>
                <a:latin typeface="Consolas" panose="020B0609020204030204" pitchFamily="49" charset="0"/>
              </a:rPr>
              <a:t>long</a:t>
            </a:r>
            <a:r>
              <a:rPr kumimoji="0" lang="en-US" altLang="en-US" sz="7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mesg_type</a:t>
            </a:r>
            <a:r>
              <a:rPr kumimoji="0" lang="en-US" altLang="en-US" sz="1200" b="0" i="0" u="none" strike="noStrike" cap="none" normalizeH="0" baseline="0" dirty="0">
                <a:ln>
                  <a:noFill/>
                </a:ln>
                <a:solidFill>
                  <a:srgbClr val="000000"/>
                </a:solidFill>
                <a:effectLst/>
                <a:latin typeface="Consolas" panose="020B0609020204030204" pitchFamily="49" charset="0"/>
              </a:rPr>
              <a: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1" i="0" u="none" strike="noStrike" cap="none" normalizeH="0" baseline="0" dirty="0">
                <a:ln>
                  <a:noFill/>
                </a:ln>
                <a:solidFill>
                  <a:srgbClr val="808080"/>
                </a:solidFill>
                <a:effectLst/>
                <a:latin typeface="Consolas" panose="020B0609020204030204" pitchFamily="49" charset="0"/>
              </a:rPr>
              <a:t>char</a:t>
            </a:r>
            <a:r>
              <a:rPr kumimoji="0" lang="en-US" altLang="en-US" sz="7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mesg_text</a:t>
            </a:r>
            <a:r>
              <a:rPr kumimoji="0" lang="en-US" altLang="en-US" sz="1200" b="0" i="0" u="none" strike="noStrike" cap="none" normalizeH="0" baseline="0" dirty="0">
                <a:ln>
                  <a:noFill/>
                </a:ln>
                <a:solidFill>
                  <a:srgbClr val="000000"/>
                </a:solidFill>
                <a:effectLst/>
                <a:latin typeface="Consolas" panose="020B0609020204030204" pitchFamily="49" charset="0"/>
              </a:rPr>
              <a:t>[100];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message;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7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808080"/>
                </a:solidFill>
                <a:effectLst/>
                <a:latin typeface="Consolas" panose="020B0609020204030204" pitchFamily="49" charset="0"/>
              </a:rPr>
              <a:t>int</a:t>
            </a:r>
            <a:r>
              <a:rPr kumimoji="0" lang="en-US" altLang="en-US" sz="7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000000"/>
                </a:solidFill>
                <a:effectLst/>
                <a:latin typeface="Consolas" panose="020B0609020204030204" pitchFamily="49" charset="0"/>
              </a:rPr>
              <a:t>main()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key_t</a:t>
            </a:r>
            <a:r>
              <a:rPr kumimoji="0" lang="en-US" altLang="en-US" sz="1200" b="0" i="0" u="none" strike="noStrike" cap="none" normalizeH="0" baseline="0" dirty="0">
                <a:ln>
                  <a:noFill/>
                </a:ln>
                <a:solidFill>
                  <a:srgbClr val="000000"/>
                </a:solidFill>
                <a:effectLst/>
                <a:latin typeface="Consolas" panose="020B0609020204030204" pitchFamily="49" charset="0"/>
              </a:rPr>
              <a:t> key;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1" i="0" u="none" strike="noStrike" cap="none" normalizeH="0" baseline="0" dirty="0">
                <a:ln>
                  <a:noFill/>
                </a:ln>
                <a:solidFill>
                  <a:srgbClr val="808080"/>
                </a:solidFill>
                <a:effectLst/>
                <a:latin typeface="Consolas" panose="020B0609020204030204" pitchFamily="49" charset="0"/>
              </a:rPr>
              <a:t>int</a:t>
            </a:r>
            <a:r>
              <a:rPr kumimoji="0" lang="en-US" altLang="en-US" sz="7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msgid</a:t>
            </a:r>
            <a:r>
              <a:rPr kumimoji="0" lang="en-US" altLang="en-US" sz="1200" b="0" i="0" u="none" strike="noStrike" cap="none" normalizeH="0" baseline="0" dirty="0">
                <a:ln>
                  <a:noFill/>
                </a:ln>
                <a:solidFill>
                  <a:srgbClr val="000000"/>
                </a:solidFill>
                <a:effectLst/>
                <a:latin typeface="Consolas" panose="020B0609020204030204" pitchFamily="49" charset="0"/>
              </a:rPr>
              <a: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7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008200"/>
                </a:solidFill>
                <a:effectLst/>
                <a:latin typeface="Consolas" panose="020B0609020204030204" pitchFamily="49" charset="0"/>
              </a:rPr>
              <a:t>// </a:t>
            </a:r>
            <a:r>
              <a:rPr kumimoji="0" lang="en-US" altLang="en-US" sz="1200" b="0" i="0" u="none" strike="noStrike" cap="none" normalizeH="0" baseline="0" dirty="0" err="1">
                <a:ln>
                  <a:noFill/>
                </a:ln>
                <a:solidFill>
                  <a:srgbClr val="008200"/>
                </a:solidFill>
                <a:effectLst/>
                <a:latin typeface="Consolas" panose="020B0609020204030204" pitchFamily="49" charset="0"/>
              </a:rPr>
              <a:t>ftok</a:t>
            </a:r>
            <a:r>
              <a:rPr kumimoji="0" lang="en-US" altLang="en-US" sz="1200" b="0" i="0" u="none" strike="noStrike" cap="none" normalizeH="0" baseline="0" dirty="0">
                <a:ln>
                  <a:noFill/>
                </a:ln>
                <a:solidFill>
                  <a:srgbClr val="008200"/>
                </a:solidFill>
                <a:effectLst/>
                <a:latin typeface="Consolas" panose="020B0609020204030204" pitchFamily="49" charset="0"/>
              </a:rPr>
              <a:t> to generate unique key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000000"/>
                </a:solidFill>
                <a:effectLst/>
                <a:latin typeface="Consolas" panose="020B0609020204030204" pitchFamily="49" charset="0"/>
              </a:rPr>
              <a:t>key = </a:t>
            </a:r>
            <a:r>
              <a:rPr kumimoji="0" lang="en-US" altLang="en-US" sz="1200" b="0" i="0" u="none" strike="noStrike" cap="none" normalizeH="0" baseline="0" dirty="0" err="1">
                <a:ln>
                  <a:noFill/>
                </a:ln>
                <a:solidFill>
                  <a:srgbClr val="000000"/>
                </a:solidFill>
                <a:effectLst/>
                <a:latin typeface="Consolas" panose="020B0609020204030204" pitchFamily="49" charset="0"/>
              </a:rPr>
              <a:t>ftok</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0000FF"/>
                </a:solidFill>
                <a:effectLst/>
                <a:latin typeface="Consolas" panose="020B0609020204030204" pitchFamily="49" charset="0"/>
              </a:rPr>
              <a:t>"</a:t>
            </a:r>
            <a:r>
              <a:rPr kumimoji="0" lang="en-US" altLang="en-US" sz="1200" b="0" i="0" u="none" strike="noStrike" cap="none" normalizeH="0" baseline="0" dirty="0" err="1">
                <a:ln>
                  <a:noFill/>
                </a:ln>
                <a:solidFill>
                  <a:srgbClr val="0000FF"/>
                </a:solidFill>
                <a:effectLst/>
                <a:latin typeface="Consolas" panose="020B0609020204030204" pitchFamily="49" charset="0"/>
              </a:rPr>
              <a:t>progfile</a:t>
            </a:r>
            <a:r>
              <a:rPr kumimoji="0" lang="en-US" altLang="en-US" sz="1200" b="0" i="0" u="none" strike="noStrike" cap="none" normalizeH="0" baseline="0" dirty="0">
                <a:ln>
                  <a:noFill/>
                </a:ln>
                <a:solidFill>
                  <a:srgbClr val="0000FF"/>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65);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7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008200"/>
                </a:solidFill>
                <a:effectLst/>
                <a:latin typeface="Consolas" panose="020B0609020204030204" pitchFamily="49" charset="0"/>
              </a:rPr>
              <a:t>// </a:t>
            </a:r>
            <a:r>
              <a:rPr kumimoji="0" lang="en-US" altLang="en-US" sz="1200" b="0" i="0" u="none" strike="noStrike" cap="none" normalizeH="0" baseline="0" dirty="0" err="1">
                <a:ln>
                  <a:noFill/>
                </a:ln>
                <a:solidFill>
                  <a:srgbClr val="008200"/>
                </a:solidFill>
                <a:effectLst/>
                <a:latin typeface="Consolas" panose="020B0609020204030204" pitchFamily="49" charset="0"/>
              </a:rPr>
              <a:t>msgget</a:t>
            </a:r>
            <a:r>
              <a:rPr kumimoji="0" lang="en-US" altLang="en-US" sz="1200" b="0" i="0" u="none" strike="noStrike" cap="none" normalizeH="0" baseline="0" dirty="0">
                <a:ln>
                  <a:noFill/>
                </a:ln>
                <a:solidFill>
                  <a:srgbClr val="008200"/>
                </a:solidFill>
                <a:effectLst/>
                <a:latin typeface="Consolas" panose="020B0609020204030204" pitchFamily="49" charset="0"/>
              </a:rPr>
              <a:t> creates a message queue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008200"/>
                </a:solidFill>
                <a:effectLst/>
                <a:latin typeface="Consolas" panose="020B0609020204030204" pitchFamily="49" charset="0"/>
              </a:rPr>
              <a:t>// and returns identifier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msgid</a:t>
            </a:r>
            <a:r>
              <a:rPr kumimoji="0" lang="en-US" altLang="en-US" sz="1200" b="0" i="0" u="none" strike="noStrike" cap="none" normalizeH="0" baseline="0" dirty="0">
                <a:ln>
                  <a:noFill/>
                </a:ln>
                <a:solidFill>
                  <a:srgbClr val="000000"/>
                </a:solidFill>
                <a:effectLst/>
                <a:latin typeface="Consolas" panose="020B0609020204030204" pitchFamily="49" charset="0"/>
              </a:rPr>
              <a:t> = </a:t>
            </a:r>
            <a:r>
              <a:rPr kumimoji="0" lang="en-US" altLang="en-US" sz="1200" b="0" i="0" u="none" strike="noStrike" cap="none" normalizeH="0" baseline="0" dirty="0" err="1">
                <a:ln>
                  <a:noFill/>
                </a:ln>
                <a:solidFill>
                  <a:srgbClr val="000000"/>
                </a:solidFill>
                <a:effectLst/>
                <a:latin typeface="Consolas" panose="020B0609020204030204" pitchFamily="49" charset="0"/>
              </a:rPr>
              <a:t>msgget</a:t>
            </a:r>
            <a:r>
              <a:rPr kumimoji="0" lang="en-US" altLang="en-US" sz="1200" b="0" i="0" u="none" strike="noStrike" cap="none" normalizeH="0" baseline="0" dirty="0">
                <a:ln>
                  <a:noFill/>
                </a:ln>
                <a:solidFill>
                  <a:srgbClr val="000000"/>
                </a:solidFill>
                <a:effectLst/>
                <a:latin typeface="Consolas" panose="020B0609020204030204" pitchFamily="49" charset="0"/>
              </a:rPr>
              <a:t>(key, 0666 | IPC_CREAT); </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7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Content Placeholder 2">
            <a:extLst>
              <a:ext uri="{FF2B5EF4-FFF2-40B4-BE49-F238E27FC236}">
                <a16:creationId xmlns:a16="http://schemas.microsoft.com/office/drawing/2014/main" id="{AB44FDC1-BFD5-C008-3AC2-BBC9AC322FA7}"/>
              </a:ext>
            </a:extLst>
          </p:cNvPr>
          <p:cNvSpPr txBox="1">
            <a:spLocks noChangeArrowheads="1"/>
          </p:cNvSpPr>
          <p:nvPr/>
        </p:nvSpPr>
        <p:spPr bwMode="auto">
          <a:xfrm>
            <a:off x="4706998" y="980257"/>
            <a:ext cx="3816102"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lvl1pPr marL="342900" indent="-342900" algn="l" defTabSz="914400" rtl="0" eaLnBrk="0" fontAlgn="base" latinLnBrk="0" hangingPunct="0">
              <a:spcBef>
                <a:spcPct val="0"/>
              </a:spcBef>
              <a:spcAft>
                <a:spcPct val="0"/>
              </a:spcAft>
              <a:buFont typeface="Arial" pitchFamily="34" charset="0"/>
              <a:buChar char="•"/>
              <a:defRPr sz="3200" kern="1200">
                <a:solidFill>
                  <a:schemeClr val="tx1"/>
                </a:solidFill>
                <a:latin typeface="Arial" panose="020B0604020202020204" pitchFamily="34" charset="0"/>
                <a:ea typeface="+mn-ea"/>
                <a:cs typeface="+mn-cs"/>
              </a:defRPr>
            </a:lvl1pPr>
            <a:lvl2pPr marL="742950" indent="-285750" algn="l" defTabSz="914400" rtl="0" eaLnBrk="0" fontAlgn="base" latinLnBrk="0" hangingPunct="0">
              <a:spcBef>
                <a:spcPct val="0"/>
              </a:spcBef>
              <a:spcAft>
                <a:spcPct val="0"/>
              </a:spcAft>
              <a:buFont typeface="Arial" pitchFamily="34" charset="0"/>
              <a:buChar char="–"/>
              <a:defRPr sz="28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spcBef>
                <a:spcPct val="0"/>
              </a:spcBef>
              <a:spcAft>
                <a:spcPct val="0"/>
              </a:spcAft>
              <a:buFont typeface="Arial" pitchFamily="34" charset="0"/>
              <a:buChar char="•"/>
              <a:defRPr sz="24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2000" kern="1200">
                <a:solidFill>
                  <a:schemeClr val="tx1"/>
                </a:solidFill>
                <a:latin typeface="Arial" panose="020B0604020202020204" pitchFamily="34" charset="0"/>
                <a:ea typeface="+mn-ea"/>
                <a:cs typeface="+mn-cs"/>
              </a:defRPr>
            </a:lvl9pPr>
          </a:lstStyle>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a:t>
            </a:r>
            <a:r>
              <a:rPr lang="en-US" altLang="en-US" sz="1600" dirty="0" err="1">
                <a:solidFill>
                  <a:srgbClr val="008200"/>
                </a:solidFill>
                <a:latin typeface="Consolas" panose="020B0609020204030204" pitchFamily="49" charset="0"/>
              </a:rPr>
              <a:t>msgrcv</a:t>
            </a:r>
            <a:r>
              <a:rPr lang="en-US" altLang="en-US" sz="1600" dirty="0">
                <a:solidFill>
                  <a:srgbClr val="008200"/>
                </a:solidFill>
                <a:latin typeface="Consolas" panose="020B0609020204030204" pitchFamily="49" charset="0"/>
              </a:rPr>
              <a:t> to receive message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msgrcv</a:t>
            </a:r>
            <a:r>
              <a:rPr lang="en-US" altLang="en-US" sz="1600" dirty="0">
                <a:solidFill>
                  <a:srgbClr val="000000"/>
                </a:solidFill>
                <a:latin typeface="Consolas" panose="020B0609020204030204" pitchFamily="49" charset="0"/>
              </a:rPr>
              <a:t>(</a:t>
            </a:r>
            <a:r>
              <a:rPr lang="en-US" altLang="en-US" sz="1600" dirty="0" err="1">
                <a:solidFill>
                  <a:srgbClr val="000000"/>
                </a:solidFill>
                <a:latin typeface="Consolas" panose="020B0609020204030204" pitchFamily="49" charset="0"/>
              </a:rPr>
              <a:t>msgid</a:t>
            </a:r>
            <a:r>
              <a:rPr lang="en-US" altLang="en-US" sz="1600" dirty="0">
                <a:solidFill>
                  <a:srgbClr val="000000"/>
                </a:solidFill>
                <a:latin typeface="Consolas" panose="020B0609020204030204" pitchFamily="49" charset="0"/>
              </a:rPr>
              <a:t>, &amp;message, </a:t>
            </a:r>
            <a:r>
              <a:rPr lang="en-US" altLang="en-US" sz="1600" b="1" dirty="0" err="1">
                <a:solidFill>
                  <a:srgbClr val="006699"/>
                </a:solidFill>
                <a:latin typeface="Consolas" panose="020B0609020204030204" pitchFamily="49" charset="0"/>
              </a:rPr>
              <a:t>sizeof</a:t>
            </a:r>
            <a:r>
              <a:rPr lang="en-US" altLang="en-US" sz="1600" dirty="0">
                <a:solidFill>
                  <a:srgbClr val="000000"/>
                </a:solidFill>
                <a:latin typeface="Consolas" panose="020B0609020204030204" pitchFamily="49" charset="0"/>
              </a:rPr>
              <a:t>(message), 1, 0);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display the message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b="1" dirty="0" err="1">
                <a:solidFill>
                  <a:srgbClr val="FF1493"/>
                </a:solidFill>
                <a:latin typeface="Consolas" panose="020B0609020204030204" pitchFamily="49" charset="0"/>
              </a:rPr>
              <a:t>printf</a:t>
            </a:r>
            <a:r>
              <a:rPr lang="en-US" altLang="en-US" sz="1600" dirty="0">
                <a:solidFill>
                  <a:srgbClr val="000000"/>
                </a:solidFill>
                <a:latin typeface="Consolas" panose="020B0609020204030204" pitchFamily="49" charset="0"/>
              </a:rPr>
              <a:t>(</a:t>
            </a:r>
            <a:r>
              <a:rPr lang="en-US" altLang="en-US" sz="1600" dirty="0">
                <a:solidFill>
                  <a:srgbClr val="0000FF"/>
                </a:solidFill>
                <a:latin typeface="Consolas" panose="020B0609020204030204" pitchFamily="49" charset="0"/>
              </a:rPr>
              <a:t>"Data Received is : %s \n"</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message.mesg_text</a:t>
            </a:r>
            <a:r>
              <a:rPr lang="en-US" altLang="en-US" sz="1600" dirty="0">
                <a:solidFill>
                  <a:srgbClr val="000000"/>
                </a:solidFill>
                <a:latin typeface="Consolas" panose="020B0609020204030204" pitchFamily="49" charset="0"/>
              </a:rPr>
              <a:t>);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dirty="0">
                <a:solidFill>
                  <a:srgbClr val="008200"/>
                </a:solidFill>
                <a:latin typeface="Consolas" panose="020B0609020204030204" pitchFamily="49" charset="0"/>
              </a:rPr>
              <a:t>// to destroy the message queue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1600" dirty="0" err="1">
                <a:solidFill>
                  <a:srgbClr val="000000"/>
                </a:solidFill>
                <a:latin typeface="Consolas" panose="020B0609020204030204" pitchFamily="49" charset="0"/>
              </a:rPr>
              <a:t>msgctl</a:t>
            </a:r>
            <a:r>
              <a:rPr lang="en-US" altLang="en-US" sz="1600" dirty="0">
                <a:solidFill>
                  <a:srgbClr val="000000"/>
                </a:solidFill>
                <a:latin typeface="Consolas" panose="020B0609020204030204" pitchFamily="49" charset="0"/>
              </a:rPr>
              <a:t>(</a:t>
            </a:r>
            <a:r>
              <a:rPr lang="en-US" altLang="en-US" sz="1600" dirty="0" err="1">
                <a:solidFill>
                  <a:srgbClr val="000000"/>
                </a:solidFill>
                <a:latin typeface="Consolas" panose="020B0609020204030204" pitchFamily="49" charset="0"/>
              </a:rPr>
              <a:t>msgid</a:t>
            </a:r>
            <a:r>
              <a:rPr lang="en-US" altLang="en-US" sz="1600" dirty="0">
                <a:solidFill>
                  <a:srgbClr val="000000"/>
                </a:solidFill>
                <a:latin typeface="Consolas" panose="020B0609020204030204" pitchFamily="49" charset="0"/>
              </a:rPr>
              <a:t>, IPC_RMID, NULL); </a:t>
            </a:r>
            <a:endParaRPr lang="en-US" altLang="en-US" sz="900" dirty="0"/>
          </a:p>
          <a:p>
            <a:pPr marL="0" indent="0">
              <a:buFontTx/>
              <a:buNone/>
            </a:pPr>
            <a:r>
              <a:rPr lang="en-US" altLang="en-US" sz="1600" dirty="0">
                <a:solidFill>
                  <a:srgbClr val="273239"/>
                </a:solidFill>
                <a:latin typeface="Consolas" panose="020B0609020204030204" pitchFamily="49" charset="0"/>
              </a:rPr>
              <a:t> </a:t>
            </a:r>
            <a:r>
              <a:rPr lang="en-US" altLang="en-US" sz="900" dirty="0">
                <a:solidFill>
                  <a:srgbClr val="273239"/>
                </a:solidFill>
                <a:latin typeface="Consolas" panose="020B0609020204030204" pitchFamily="49" charset="0"/>
              </a:rPr>
              <a:t> </a:t>
            </a:r>
            <a:endParaRPr lang="en-US" altLang="en-US" sz="2800" dirty="0"/>
          </a:p>
          <a:p>
            <a:pPr marL="0" indent="0">
              <a:buFontTx/>
              <a:buNone/>
            </a:pPr>
            <a:r>
              <a:rPr lang="en-US" altLang="en-US" sz="1600" dirty="0">
                <a:solidFill>
                  <a:srgbClr val="273239"/>
                </a:solidFill>
                <a:latin typeface="Consolas" panose="020B0609020204030204" pitchFamily="49" charset="0"/>
              </a:rPr>
              <a:t>    </a:t>
            </a:r>
            <a:r>
              <a:rPr lang="en-US" altLang="en-US" sz="1600" b="1" dirty="0">
                <a:solidFill>
                  <a:srgbClr val="006699"/>
                </a:solidFill>
                <a:latin typeface="Consolas" panose="020B0609020204030204" pitchFamily="49" charset="0"/>
              </a:rPr>
              <a:t>return</a:t>
            </a:r>
            <a:r>
              <a:rPr lang="en-US" altLang="en-US" sz="900" dirty="0">
                <a:solidFill>
                  <a:srgbClr val="273239"/>
                </a:solidFill>
                <a:latin typeface="Consolas" panose="020B0609020204030204" pitchFamily="49" charset="0"/>
              </a:rPr>
              <a:t> </a:t>
            </a:r>
            <a:r>
              <a:rPr lang="en-US" altLang="en-US" sz="1600" dirty="0">
                <a:solidFill>
                  <a:srgbClr val="000000"/>
                </a:solidFill>
                <a:latin typeface="Consolas" panose="020B0609020204030204" pitchFamily="49" charset="0"/>
              </a:rPr>
              <a:t>0; </a:t>
            </a:r>
            <a:endParaRPr lang="en-US" altLang="en-US" sz="900" dirty="0"/>
          </a:p>
          <a:p>
            <a:pPr marL="0" indent="0">
              <a:buFontTx/>
              <a:buNone/>
            </a:pPr>
            <a:r>
              <a:rPr lang="en-US" altLang="en-US" sz="1600" dirty="0">
                <a:solidFill>
                  <a:srgbClr val="000000"/>
                </a:solidFill>
                <a:latin typeface="Consolas" panose="020B0609020204030204" pitchFamily="49" charset="0"/>
              </a:rPr>
              <a:t>} </a:t>
            </a:r>
            <a:endParaRPr lang="en-US" altLang="en-US" sz="2800" dirty="0"/>
          </a:p>
        </p:txBody>
      </p:sp>
    </p:spTree>
    <p:extLst>
      <p:ext uri="{BB962C8B-B14F-4D97-AF65-F5344CB8AC3E}">
        <p14:creationId xmlns:p14="http://schemas.microsoft.com/office/powerpoint/2010/main" val="747925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3789-315F-A4AD-6CC3-2091BB1E712B}"/>
              </a:ext>
            </a:extLst>
          </p:cNvPr>
          <p:cNvSpPr>
            <a:spLocks noGrp="1"/>
          </p:cNvSpPr>
          <p:nvPr>
            <p:ph type="title"/>
          </p:nvPr>
        </p:nvSpPr>
        <p:spPr>
          <a:xfrm>
            <a:off x="457200" y="34506"/>
            <a:ext cx="8229600" cy="1143000"/>
          </a:xfrm>
        </p:spPr>
        <p:txBody>
          <a:bodyPr>
            <a:normAutofit/>
          </a:bodyPr>
          <a:lstStyle/>
          <a:p>
            <a:r>
              <a:rPr lang="en-US" sz="3600" b="0" i="0" dirty="0">
                <a:solidFill>
                  <a:srgbClr val="273239"/>
                </a:solidFill>
                <a:effectLst/>
                <a:highlight>
                  <a:srgbClr val="FFFFFF"/>
                </a:highlight>
                <a:latin typeface="Nunito" pitchFamily="2" charset="0"/>
              </a:rPr>
              <a:t>Signals as IPC</a:t>
            </a:r>
            <a:endParaRPr lang="en-IN" dirty="0"/>
          </a:p>
        </p:txBody>
      </p:sp>
      <p:sp>
        <p:nvSpPr>
          <p:cNvPr id="3" name="Content Placeholder 2">
            <a:extLst>
              <a:ext uri="{FF2B5EF4-FFF2-40B4-BE49-F238E27FC236}">
                <a16:creationId xmlns:a16="http://schemas.microsoft.com/office/drawing/2014/main" id="{AA5CEDE1-18B2-5B0F-DA67-D2787DD986A8}"/>
              </a:ext>
            </a:extLst>
          </p:cNvPr>
          <p:cNvSpPr>
            <a:spLocks noGrp="1"/>
          </p:cNvSpPr>
          <p:nvPr>
            <p:ph idx="1"/>
          </p:nvPr>
        </p:nvSpPr>
        <p:spPr>
          <a:xfrm>
            <a:off x="457200" y="980728"/>
            <a:ext cx="8229600" cy="5145435"/>
          </a:xfrm>
        </p:spPr>
        <p:txBody>
          <a:bodyPr>
            <a:normAutofit fontScale="77500" lnSpcReduction="20000"/>
          </a:bodyPr>
          <a:lstStyle/>
          <a:p>
            <a:pPr algn="l"/>
            <a:r>
              <a:rPr lang="en-US" b="0" i="0" dirty="0">
                <a:solidFill>
                  <a:srgbClr val="000000"/>
                </a:solidFill>
                <a:effectLst/>
                <a:latin typeface="Red Hat Text"/>
              </a:rPr>
              <a:t>A </a:t>
            </a:r>
            <a:r>
              <a:rPr lang="en-US" b="0" i="1" dirty="0">
                <a:solidFill>
                  <a:srgbClr val="000000"/>
                </a:solidFill>
                <a:effectLst/>
                <a:latin typeface="Red Hat Text"/>
              </a:rPr>
              <a:t>signal</a:t>
            </a:r>
            <a:r>
              <a:rPr lang="en-US" b="0" i="0" dirty="0">
                <a:solidFill>
                  <a:srgbClr val="000000"/>
                </a:solidFill>
                <a:effectLst/>
                <a:latin typeface="Red Hat Text"/>
              </a:rPr>
              <a:t> interrupts an executing program and, in this sense, communicates with it.</a:t>
            </a:r>
          </a:p>
          <a:p>
            <a:pPr algn="l"/>
            <a:r>
              <a:rPr lang="en-US" b="0" i="0" dirty="0">
                <a:solidFill>
                  <a:srgbClr val="000000"/>
                </a:solidFill>
                <a:effectLst/>
                <a:latin typeface="Red Hat Text"/>
              </a:rPr>
              <a:t>Most signals can be either ignored (blocked) or handled (through designated code), with </a:t>
            </a:r>
            <a:r>
              <a:rPr lang="en-US" b="1" i="0" dirty="0">
                <a:solidFill>
                  <a:srgbClr val="000000"/>
                </a:solidFill>
                <a:effectLst/>
                <a:latin typeface="Red Hat Text"/>
              </a:rPr>
              <a:t>SIGSTOP</a:t>
            </a:r>
            <a:r>
              <a:rPr lang="en-US" b="0" i="0" dirty="0">
                <a:solidFill>
                  <a:srgbClr val="000000"/>
                </a:solidFill>
                <a:effectLst/>
                <a:latin typeface="Red Hat Text"/>
              </a:rPr>
              <a:t> (pause) and </a:t>
            </a:r>
            <a:r>
              <a:rPr lang="en-US" b="1" i="0" dirty="0">
                <a:solidFill>
                  <a:srgbClr val="000000"/>
                </a:solidFill>
                <a:effectLst/>
                <a:latin typeface="Red Hat Text"/>
              </a:rPr>
              <a:t>SIGKILL</a:t>
            </a:r>
            <a:r>
              <a:rPr lang="en-US" b="0" i="0" dirty="0">
                <a:solidFill>
                  <a:srgbClr val="000000"/>
                </a:solidFill>
                <a:effectLst/>
                <a:latin typeface="Red Hat Text"/>
              </a:rPr>
              <a:t> (terminate immediately) as the two notable exceptions.</a:t>
            </a:r>
          </a:p>
          <a:p>
            <a:pPr algn="l"/>
            <a:r>
              <a:rPr lang="en-US" b="0" i="0" dirty="0">
                <a:solidFill>
                  <a:srgbClr val="000000"/>
                </a:solidFill>
                <a:effectLst/>
                <a:latin typeface="Red Hat Text"/>
              </a:rPr>
              <a:t>Symbolic constants such as </a:t>
            </a:r>
            <a:r>
              <a:rPr lang="en-US" b="1" i="0" dirty="0">
                <a:solidFill>
                  <a:srgbClr val="000000"/>
                </a:solidFill>
                <a:effectLst/>
                <a:latin typeface="Red Hat Text"/>
              </a:rPr>
              <a:t>SIGKILL</a:t>
            </a:r>
            <a:r>
              <a:rPr lang="en-US" b="0" i="0" dirty="0">
                <a:solidFill>
                  <a:srgbClr val="000000"/>
                </a:solidFill>
                <a:effectLst/>
                <a:latin typeface="Red Hat Text"/>
              </a:rPr>
              <a:t> have integer values, in this case, 9.</a:t>
            </a:r>
          </a:p>
          <a:p>
            <a:pPr algn="l"/>
            <a:r>
              <a:rPr lang="en-US" b="0" i="0" dirty="0">
                <a:solidFill>
                  <a:srgbClr val="000000"/>
                </a:solidFill>
                <a:effectLst/>
                <a:latin typeface="Red Hat Text"/>
              </a:rPr>
              <a:t>Signals can arise in user interaction. For example, a user hits </a:t>
            </a:r>
            <a:r>
              <a:rPr lang="en-US" b="1" i="0" dirty="0" err="1">
                <a:solidFill>
                  <a:srgbClr val="000000"/>
                </a:solidFill>
                <a:effectLst/>
                <a:latin typeface="Red Hat Text"/>
              </a:rPr>
              <a:t>Ctrl+C</a:t>
            </a:r>
            <a:r>
              <a:rPr lang="en-US" b="0" i="0" dirty="0">
                <a:solidFill>
                  <a:srgbClr val="000000"/>
                </a:solidFill>
                <a:effectLst/>
                <a:latin typeface="Red Hat Text"/>
              </a:rPr>
              <a:t> from the command line to terminate a program started from the command-line; </a:t>
            </a:r>
            <a:r>
              <a:rPr lang="en-US" b="1" i="0" dirty="0" err="1">
                <a:solidFill>
                  <a:srgbClr val="000000"/>
                </a:solidFill>
                <a:effectLst/>
                <a:latin typeface="Red Hat Text"/>
              </a:rPr>
              <a:t>Ctrl+C</a:t>
            </a:r>
            <a:r>
              <a:rPr lang="en-US" b="0" i="0" dirty="0">
                <a:solidFill>
                  <a:srgbClr val="000000"/>
                </a:solidFill>
                <a:effectLst/>
                <a:latin typeface="Red Hat Text"/>
              </a:rPr>
              <a:t> generates a </a:t>
            </a:r>
            <a:r>
              <a:rPr lang="en-US" b="1" i="0" dirty="0">
                <a:solidFill>
                  <a:srgbClr val="000000"/>
                </a:solidFill>
                <a:effectLst/>
                <a:latin typeface="Red Hat Text"/>
              </a:rPr>
              <a:t>SIGTERM</a:t>
            </a:r>
            <a:r>
              <a:rPr lang="en-US" b="0" i="0" dirty="0">
                <a:solidFill>
                  <a:srgbClr val="000000"/>
                </a:solidFill>
                <a:effectLst/>
                <a:latin typeface="Red Hat Text"/>
              </a:rPr>
              <a:t> signal. </a:t>
            </a:r>
            <a:r>
              <a:rPr lang="en-US" b="1" i="0" dirty="0">
                <a:solidFill>
                  <a:srgbClr val="000000"/>
                </a:solidFill>
                <a:effectLst/>
                <a:latin typeface="Red Hat Text"/>
              </a:rPr>
              <a:t>SIGTERM</a:t>
            </a:r>
            <a:r>
              <a:rPr lang="en-US" b="0" i="0" dirty="0">
                <a:solidFill>
                  <a:srgbClr val="000000"/>
                </a:solidFill>
                <a:effectLst/>
                <a:latin typeface="Red Hat Text"/>
              </a:rPr>
              <a:t> for </a:t>
            </a:r>
            <a:r>
              <a:rPr lang="en-US" b="0" i="1" dirty="0">
                <a:solidFill>
                  <a:srgbClr val="000000"/>
                </a:solidFill>
                <a:effectLst/>
                <a:latin typeface="Red Hat Text"/>
              </a:rPr>
              <a:t>terminate</a:t>
            </a:r>
            <a:r>
              <a:rPr lang="en-US" b="0" i="0" dirty="0">
                <a:solidFill>
                  <a:srgbClr val="000000"/>
                </a:solidFill>
                <a:effectLst/>
                <a:latin typeface="Red Hat Text"/>
              </a:rPr>
              <a:t>, unlike </a:t>
            </a:r>
            <a:r>
              <a:rPr lang="en-US" b="1" i="0" dirty="0">
                <a:solidFill>
                  <a:srgbClr val="000000"/>
                </a:solidFill>
                <a:effectLst/>
                <a:latin typeface="Red Hat Text"/>
              </a:rPr>
              <a:t>SIGKILL</a:t>
            </a:r>
            <a:r>
              <a:rPr lang="en-US" b="0" i="0" dirty="0">
                <a:solidFill>
                  <a:srgbClr val="000000"/>
                </a:solidFill>
                <a:effectLst/>
                <a:latin typeface="Red Hat Text"/>
              </a:rPr>
              <a:t>, can be either blocked or handled. </a:t>
            </a:r>
          </a:p>
          <a:p>
            <a:pPr algn="l"/>
            <a:r>
              <a:rPr lang="en-US" b="0" i="0" dirty="0">
                <a:solidFill>
                  <a:srgbClr val="000000"/>
                </a:solidFill>
                <a:effectLst/>
                <a:latin typeface="Red Hat Text"/>
              </a:rPr>
              <a:t>One process also can signal another, thereby making signals an IPC mechanism.</a:t>
            </a:r>
          </a:p>
          <a:p>
            <a:endParaRPr lang="en-IN" dirty="0"/>
          </a:p>
        </p:txBody>
      </p:sp>
    </p:spTree>
    <p:extLst>
      <p:ext uri="{BB962C8B-B14F-4D97-AF65-F5344CB8AC3E}">
        <p14:creationId xmlns:p14="http://schemas.microsoft.com/office/powerpoint/2010/main" val="604807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3789-315F-A4AD-6CC3-2091BB1E712B}"/>
              </a:ext>
            </a:extLst>
          </p:cNvPr>
          <p:cNvSpPr>
            <a:spLocks noGrp="1"/>
          </p:cNvSpPr>
          <p:nvPr>
            <p:ph type="title"/>
          </p:nvPr>
        </p:nvSpPr>
        <p:spPr>
          <a:xfrm>
            <a:off x="97160" y="188640"/>
            <a:ext cx="8229600" cy="697331"/>
          </a:xfrm>
        </p:spPr>
        <p:txBody>
          <a:bodyPr>
            <a:normAutofit/>
          </a:bodyPr>
          <a:lstStyle/>
          <a:p>
            <a:r>
              <a:rPr lang="en-US" sz="3600" b="0" i="0" dirty="0">
                <a:solidFill>
                  <a:srgbClr val="273239"/>
                </a:solidFill>
                <a:effectLst/>
                <a:highlight>
                  <a:srgbClr val="FFFFFF"/>
                </a:highlight>
                <a:latin typeface="Nunito" pitchFamily="2" charset="0"/>
              </a:rPr>
              <a:t>Code example for Signals as IPC</a:t>
            </a:r>
            <a:endParaRPr lang="en-IN" dirty="0"/>
          </a:p>
        </p:txBody>
      </p:sp>
      <p:sp>
        <p:nvSpPr>
          <p:cNvPr id="3" name="Content Placeholder 2">
            <a:extLst>
              <a:ext uri="{FF2B5EF4-FFF2-40B4-BE49-F238E27FC236}">
                <a16:creationId xmlns:a16="http://schemas.microsoft.com/office/drawing/2014/main" id="{AA5CEDE1-18B2-5B0F-DA67-D2787DD986A8}"/>
              </a:ext>
            </a:extLst>
          </p:cNvPr>
          <p:cNvSpPr>
            <a:spLocks noGrp="1"/>
          </p:cNvSpPr>
          <p:nvPr>
            <p:ph idx="1"/>
          </p:nvPr>
        </p:nvSpPr>
        <p:spPr>
          <a:xfrm>
            <a:off x="457200" y="980728"/>
            <a:ext cx="4474840" cy="5145435"/>
          </a:xfrm>
        </p:spPr>
        <p:txBody>
          <a:bodyPr>
            <a:normAutofit fontScale="40000" lnSpcReduction="20000"/>
          </a:bodyPr>
          <a:lstStyle/>
          <a:p>
            <a:pPr marL="0" indent="0">
              <a:buNone/>
            </a:pPr>
            <a:r>
              <a:rPr lang="en-IN" b="0" i="0" dirty="0">
                <a:solidFill>
                  <a:srgbClr val="222222"/>
                </a:solidFill>
                <a:effectLst/>
                <a:latin typeface="Red Hat Mono"/>
              </a:rPr>
              <a:t>#include &lt;</a:t>
            </a:r>
            <a:r>
              <a:rPr lang="en-IN" b="0" i="0" dirty="0" err="1">
                <a:solidFill>
                  <a:srgbClr val="222222"/>
                </a:solidFill>
                <a:effectLst/>
                <a:latin typeface="Red Hat Mono"/>
              </a:rPr>
              <a:t>stdio.h</a:t>
            </a:r>
            <a:r>
              <a:rPr lang="en-IN" b="0" i="0" dirty="0">
                <a:solidFill>
                  <a:srgbClr val="222222"/>
                </a:solidFill>
                <a:effectLst/>
                <a:latin typeface="Red Hat Mono"/>
              </a:rPr>
              <a:t>&gt;</a:t>
            </a:r>
          </a:p>
          <a:p>
            <a:pPr marL="0" indent="0">
              <a:buNone/>
            </a:pPr>
            <a:r>
              <a:rPr lang="en-IN" b="0" i="0" dirty="0">
                <a:solidFill>
                  <a:srgbClr val="222222"/>
                </a:solidFill>
                <a:effectLst/>
                <a:latin typeface="Red Hat Mono"/>
              </a:rPr>
              <a:t>#include &lt;</a:t>
            </a:r>
            <a:r>
              <a:rPr lang="en-IN" b="0" i="0" dirty="0" err="1">
                <a:solidFill>
                  <a:srgbClr val="222222"/>
                </a:solidFill>
                <a:effectLst/>
                <a:latin typeface="Red Hat Mono"/>
              </a:rPr>
              <a:t>signal.h</a:t>
            </a:r>
            <a:r>
              <a:rPr lang="en-IN" b="0" i="0" dirty="0">
                <a:solidFill>
                  <a:srgbClr val="222222"/>
                </a:solidFill>
                <a:effectLst/>
                <a:latin typeface="Red Hat Mono"/>
              </a:rPr>
              <a:t>&gt;</a:t>
            </a:r>
          </a:p>
          <a:p>
            <a:pPr marL="0" indent="0">
              <a:buNone/>
            </a:pPr>
            <a:r>
              <a:rPr lang="en-IN" b="0" i="0" dirty="0">
                <a:solidFill>
                  <a:srgbClr val="222222"/>
                </a:solidFill>
                <a:effectLst/>
                <a:latin typeface="Red Hat Mono"/>
              </a:rPr>
              <a:t>#include &lt;</a:t>
            </a:r>
            <a:r>
              <a:rPr lang="en-IN" b="0" i="0" dirty="0" err="1">
                <a:solidFill>
                  <a:srgbClr val="222222"/>
                </a:solidFill>
                <a:effectLst/>
                <a:latin typeface="Red Hat Mono"/>
              </a:rPr>
              <a:t>stdlib.h</a:t>
            </a:r>
            <a:r>
              <a:rPr lang="en-IN" b="0" i="0" dirty="0">
                <a:solidFill>
                  <a:srgbClr val="222222"/>
                </a:solidFill>
                <a:effectLst/>
                <a:latin typeface="Red Hat Mono"/>
              </a:rPr>
              <a:t>&gt;</a:t>
            </a:r>
          </a:p>
          <a:p>
            <a:pPr marL="0" indent="0">
              <a:buNone/>
            </a:pPr>
            <a:r>
              <a:rPr lang="en-IN" b="0" i="0" dirty="0">
                <a:solidFill>
                  <a:srgbClr val="222222"/>
                </a:solidFill>
                <a:effectLst/>
                <a:latin typeface="Red Hat Mono"/>
              </a:rPr>
              <a:t>#include &lt;</a:t>
            </a:r>
            <a:r>
              <a:rPr lang="en-IN" b="0" i="0" dirty="0" err="1">
                <a:solidFill>
                  <a:srgbClr val="222222"/>
                </a:solidFill>
                <a:effectLst/>
                <a:latin typeface="Red Hat Mono"/>
              </a:rPr>
              <a:t>unistd.h</a:t>
            </a:r>
            <a:r>
              <a:rPr lang="en-IN" b="0" i="0" dirty="0">
                <a:solidFill>
                  <a:srgbClr val="222222"/>
                </a:solidFill>
                <a:effectLst/>
                <a:latin typeface="Red Hat Mono"/>
              </a:rPr>
              <a:t>&gt;</a:t>
            </a:r>
          </a:p>
          <a:p>
            <a:pPr marL="0" indent="0">
              <a:buNone/>
            </a:pPr>
            <a:r>
              <a:rPr lang="en-IN" b="0" i="0" dirty="0">
                <a:solidFill>
                  <a:srgbClr val="222222"/>
                </a:solidFill>
                <a:effectLst/>
                <a:latin typeface="Red Hat Mono"/>
              </a:rPr>
              <a:t>#include &lt;sys/</a:t>
            </a:r>
            <a:r>
              <a:rPr lang="en-IN" b="0" i="0" dirty="0" err="1">
                <a:solidFill>
                  <a:srgbClr val="222222"/>
                </a:solidFill>
                <a:effectLst/>
                <a:latin typeface="Red Hat Mono"/>
              </a:rPr>
              <a:t>wait.h</a:t>
            </a:r>
            <a:r>
              <a:rPr lang="en-IN" b="0" i="0" dirty="0">
                <a:solidFill>
                  <a:srgbClr val="222222"/>
                </a:solidFill>
                <a:effectLst/>
                <a:latin typeface="Red Hat Mono"/>
              </a:rPr>
              <a:t>&gt;</a:t>
            </a:r>
          </a:p>
          <a:p>
            <a:pPr marL="0" indent="0">
              <a:buNone/>
            </a:pPr>
            <a:endParaRPr lang="en-IN" b="0" i="0" dirty="0">
              <a:solidFill>
                <a:srgbClr val="222222"/>
              </a:solidFill>
              <a:effectLst/>
              <a:latin typeface="Red Hat Mono"/>
            </a:endParaRPr>
          </a:p>
          <a:p>
            <a:pPr marL="0" indent="0">
              <a:buNone/>
            </a:pPr>
            <a:r>
              <a:rPr lang="en-IN" b="0" i="0" dirty="0">
                <a:solidFill>
                  <a:srgbClr val="222222"/>
                </a:solidFill>
                <a:effectLst/>
                <a:latin typeface="Red Hat Mono"/>
              </a:rPr>
              <a:t>void graceful(int signum) {</a:t>
            </a:r>
          </a:p>
          <a:p>
            <a:pPr marL="0" indent="0">
              <a:buNone/>
            </a:pPr>
            <a:r>
              <a:rPr lang="en-IN" b="0" i="0" dirty="0">
                <a:solidFill>
                  <a:srgbClr val="222222"/>
                </a:solidFill>
                <a:effectLst/>
                <a:latin typeface="Red Hat Mono"/>
              </a:rPr>
              <a:t>  </a:t>
            </a:r>
            <a:r>
              <a:rPr lang="en-IN" b="0" i="0" dirty="0" err="1">
                <a:solidFill>
                  <a:srgbClr val="222222"/>
                </a:solidFill>
                <a:effectLst/>
                <a:latin typeface="Red Hat Mono"/>
              </a:rPr>
              <a:t>printf</a:t>
            </a:r>
            <a:r>
              <a:rPr lang="en-IN" b="0" i="0" dirty="0">
                <a:solidFill>
                  <a:srgbClr val="222222"/>
                </a:solidFill>
                <a:effectLst/>
                <a:latin typeface="Red Hat Mono"/>
              </a:rPr>
              <a:t>("\</a:t>
            </a:r>
            <a:r>
              <a:rPr lang="en-IN" b="0" i="0" dirty="0" err="1">
                <a:solidFill>
                  <a:srgbClr val="222222"/>
                </a:solidFill>
                <a:effectLst/>
                <a:latin typeface="Red Hat Mono"/>
              </a:rPr>
              <a:t>tChild</a:t>
            </a:r>
            <a:r>
              <a:rPr lang="en-IN" b="0" i="0" dirty="0">
                <a:solidFill>
                  <a:srgbClr val="222222"/>
                </a:solidFill>
                <a:effectLst/>
                <a:latin typeface="Red Hat Mono"/>
              </a:rPr>
              <a:t> confirming received signal: %</a:t>
            </a:r>
            <a:r>
              <a:rPr lang="en-IN" b="0" i="0" dirty="0" err="1">
                <a:solidFill>
                  <a:srgbClr val="222222"/>
                </a:solidFill>
                <a:effectLst/>
                <a:latin typeface="Red Hat Mono"/>
              </a:rPr>
              <a:t>i</a:t>
            </a:r>
            <a:r>
              <a:rPr lang="en-IN" b="0" i="0" dirty="0">
                <a:solidFill>
                  <a:srgbClr val="222222"/>
                </a:solidFill>
                <a:effectLst/>
                <a:latin typeface="Red Hat Mono"/>
              </a:rPr>
              <a:t>\n", signum);</a:t>
            </a:r>
          </a:p>
          <a:p>
            <a:pPr marL="0" indent="0">
              <a:buNone/>
            </a:pPr>
            <a:r>
              <a:rPr lang="en-IN" b="0" i="0" dirty="0">
                <a:solidFill>
                  <a:srgbClr val="222222"/>
                </a:solidFill>
                <a:effectLst/>
                <a:latin typeface="Red Hat Mono"/>
              </a:rPr>
              <a:t>  puts("\</a:t>
            </a:r>
            <a:r>
              <a:rPr lang="en-IN" b="0" i="0" dirty="0" err="1">
                <a:solidFill>
                  <a:srgbClr val="222222"/>
                </a:solidFill>
                <a:effectLst/>
                <a:latin typeface="Red Hat Mono"/>
              </a:rPr>
              <a:t>tChild</a:t>
            </a:r>
            <a:r>
              <a:rPr lang="en-IN" b="0" i="0" dirty="0">
                <a:solidFill>
                  <a:srgbClr val="222222"/>
                </a:solidFill>
                <a:effectLst/>
                <a:latin typeface="Red Hat Mono"/>
              </a:rPr>
              <a:t> about to terminate gracefully...");</a:t>
            </a:r>
          </a:p>
          <a:p>
            <a:pPr marL="0" indent="0">
              <a:buNone/>
            </a:pPr>
            <a:r>
              <a:rPr lang="en-IN" b="0" i="0" dirty="0">
                <a:solidFill>
                  <a:srgbClr val="222222"/>
                </a:solidFill>
                <a:effectLst/>
                <a:latin typeface="Red Hat Mono"/>
              </a:rPr>
              <a:t>  sleep(1);</a:t>
            </a:r>
          </a:p>
          <a:p>
            <a:pPr marL="0" indent="0">
              <a:buNone/>
            </a:pPr>
            <a:r>
              <a:rPr lang="en-IN" b="0" i="0" dirty="0">
                <a:solidFill>
                  <a:srgbClr val="222222"/>
                </a:solidFill>
                <a:effectLst/>
                <a:latin typeface="Red Hat Mono"/>
              </a:rPr>
              <a:t>  puts("\</a:t>
            </a:r>
            <a:r>
              <a:rPr lang="en-IN" b="0" i="0" dirty="0" err="1">
                <a:solidFill>
                  <a:srgbClr val="222222"/>
                </a:solidFill>
                <a:effectLst/>
                <a:latin typeface="Red Hat Mono"/>
              </a:rPr>
              <a:t>tChild</a:t>
            </a:r>
            <a:r>
              <a:rPr lang="en-IN" b="0" i="0" dirty="0">
                <a:solidFill>
                  <a:srgbClr val="222222"/>
                </a:solidFill>
                <a:effectLst/>
                <a:latin typeface="Red Hat Mono"/>
              </a:rPr>
              <a:t> terminating now...");</a:t>
            </a:r>
          </a:p>
          <a:p>
            <a:pPr marL="0" indent="0">
              <a:buNone/>
            </a:pPr>
            <a:r>
              <a:rPr lang="en-IN" b="0" i="0" dirty="0">
                <a:solidFill>
                  <a:srgbClr val="222222"/>
                </a:solidFill>
                <a:effectLst/>
                <a:latin typeface="Red Hat Mono"/>
              </a:rPr>
              <a:t>  _exit(0); /* fast-track notification of parent */</a:t>
            </a:r>
          </a:p>
          <a:p>
            <a:pPr marL="0" indent="0">
              <a:buNone/>
            </a:pPr>
            <a:r>
              <a:rPr lang="en-IN" b="0" i="0" dirty="0">
                <a:solidFill>
                  <a:srgbClr val="222222"/>
                </a:solidFill>
                <a:effectLst/>
                <a:latin typeface="Red Hat Mono"/>
              </a:rPr>
              <a:t>}</a:t>
            </a:r>
          </a:p>
          <a:p>
            <a:pPr marL="0" indent="0">
              <a:buNone/>
            </a:pPr>
            <a:endParaRPr lang="en-IN" b="0" i="0" dirty="0">
              <a:solidFill>
                <a:srgbClr val="222222"/>
              </a:solidFill>
              <a:effectLst/>
              <a:latin typeface="Red Hat Mono"/>
            </a:endParaRPr>
          </a:p>
          <a:p>
            <a:pPr marL="0" indent="0">
              <a:buNone/>
            </a:pPr>
            <a:r>
              <a:rPr lang="en-IN" b="0" i="0" dirty="0">
                <a:solidFill>
                  <a:srgbClr val="222222"/>
                </a:solidFill>
                <a:effectLst/>
                <a:latin typeface="Red Hat Mono"/>
              </a:rPr>
              <a:t>void </a:t>
            </a:r>
            <a:r>
              <a:rPr lang="en-IN" b="0" i="0" dirty="0" err="1">
                <a:solidFill>
                  <a:srgbClr val="222222"/>
                </a:solidFill>
                <a:effectLst/>
                <a:latin typeface="Red Hat Mono"/>
              </a:rPr>
              <a:t>set_handler</a:t>
            </a:r>
            <a:r>
              <a:rPr lang="en-IN" b="0" i="0" dirty="0">
                <a:solidFill>
                  <a:srgbClr val="222222"/>
                </a:solidFill>
                <a:effectLst/>
                <a:latin typeface="Red Hat Mono"/>
              </a:rPr>
              <a:t>() {</a:t>
            </a:r>
          </a:p>
          <a:p>
            <a:pPr marL="0" indent="0">
              <a:buNone/>
            </a:pPr>
            <a:r>
              <a:rPr lang="en-IN" b="0" i="0" dirty="0">
                <a:solidFill>
                  <a:srgbClr val="222222"/>
                </a:solidFill>
                <a:effectLst/>
                <a:latin typeface="Red Hat Mono"/>
              </a:rPr>
              <a:t>  struct </a:t>
            </a:r>
            <a:r>
              <a:rPr lang="en-IN" b="0" i="0" dirty="0" err="1">
                <a:solidFill>
                  <a:srgbClr val="222222"/>
                </a:solidFill>
                <a:effectLst/>
                <a:latin typeface="Red Hat Mono"/>
              </a:rPr>
              <a:t>sigaction</a:t>
            </a:r>
            <a:r>
              <a:rPr lang="en-IN" b="0" i="0" dirty="0">
                <a:solidFill>
                  <a:srgbClr val="222222"/>
                </a:solidFill>
                <a:effectLst/>
                <a:latin typeface="Red Hat Mono"/>
              </a:rPr>
              <a:t> current;</a:t>
            </a:r>
          </a:p>
          <a:p>
            <a:pPr marL="0" indent="0">
              <a:buNone/>
            </a:pPr>
            <a:r>
              <a:rPr lang="en-IN" b="0" i="0" dirty="0">
                <a:solidFill>
                  <a:srgbClr val="222222"/>
                </a:solidFill>
                <a:effectLst/>
                <a:latin typeface="Red Hat Mono"/>
              </a:rPr>
              <a:t>  </a:t>
            </a:r>
            <a:r>
              <a:rPr lang="en-IN" b="0" i="0" dirty="0" err="1">
                <a:solidFill>
                  <a:srgbClr val="222222"/>
                </a:solidFill>
                <a:effectLst/>
                <a:latin typeface="Red Hat Mono"/>
              </a:rPr>
              <a:t>sigemptyset</a:t>
            </a:r>
            <a:r>
              <a:rPr lang="en-IN" b="0" i="0" dirty="0">
                <a:solidFill>
                  <a:srgbClr val="222222"/>
                </a:solidFill>
                <a:effectLst/>
                <a:latin typeface="Red Hat Mono"/>
              </a:rPr>
              <a:t>(&amp;</a:t>
            </a:r>
            <a:r>
              <a:rPr lang="en-IN" b="0" i="0" dirty="0" err="1">
                <a:solidFill>
                  <a:srgbClr val="222222"/>
                </a:solidFill>
                <a:effectLst/>
                <a:latin typeface="Red Hat Mono"/>
              </a:rPr>
              <a:t>current.sa_mask</a:t>
            </a:r>
            <a:r>
              <a:rPr lang="en-IN" b="0" i="0" dirty="0">
                <a:solidFill>
                  <a:srgbClr val="222222"/>
                </a:solidFill>
                <a:effectLst/>
                <a:latin typeface="Red Hat Mono"/>
              </a:rPr>
              <a:t>);         /* clear the signal set */</a:t>
            </a:r>
          </a:p>
          <a:p>
            <a:pPr marL="0" indent="0">
              <a:buNone/>
            </a:pPr>
            <a:r>
              <a:rPr lang="en-IN" b="0" i="0" dirty="0">
                <a:solidFill>
                  <a:srgbClr val="222222"/>
                </a:solidFill>
                <a:effectLst/>
                <a:latin typeface="Red Hat Mono"/>
              </a:rPr>
              <a:t>  </a:t>
            </a:r>
            <a:r>
              <a:rPr lang="en-IN" b="0" i="0" dirty="0" err="1">
                <a:solidFill>
                  <a:srgbClr val="222222"/>
                </a:solidFill>
                <a:effectLst/>
                <a:latin typeface="Red Hat Mono"/>
              </a:rPr>
              <a:t>current.sa_flags</a:t>
            </a:r>
            <a:r>
              <a:rPr lang="en-IN" b="0" i="0" dirty="0">
                <a:solidFill>
                  <a:srgbClr val="222222"/>
                </a:solidFill>
                <a:effectLst/>
                <a:latin typeface="Red Hat Mono"/>
              </a:rPr>
              <a:t> = 0;                  /* enables setting </a:t>
            </a:r>
            <a:r>
              <a:rPr lang="en-IN" b="0" i="0" dirty="0" err="1">
                <a:solidFill>
                  <a:srgbClr val="222222"/>
                </a:solidFill>
                <a:effectLst/>
                <a:latin typeface="Red Hat Mono"/>
              </a:rPr>
              <a:t>sa_handler</a:t>
            </a:r>
            <a:r>
              <a:rPr lang="en-IN" b="0" i="0" dirty="0">
                <a:solidFill>
                  <a:srgbClr val="222222"/>
                </a:solidFill>
                <a:effectLst/>
                <a:latin typeface="Red Hat Mono"/>
              </a:rPr>
              <a:t>, not </a:t>
            </a:r>
            <a:r>
              <a:rPr lang="en-IN" b="0" i="0" dirty="0" err="1">
                <a:solidFill>
                  <a:srgbClr val="222222"/>
                </a:solidFill>
                <a:effectLst/>
                <a:latin typeface="Red Hat Mono"/>
              </a:rPr>
              <a:t>sa_action</a:t>
            </a:r>
            <a:r>
              <a:rPr lang="en-IN" b="0" i="0" dirty="0">
                <a:solidFill>
                  <a:srgbClr val="222222"/>
                </a:solidFill>
                <a:effectLst/>
                <a:latin typeface="Red Hat Mono"/>
              </a:rPr>
              <a:t> */</a:t>
            </a:r>
          </a:p>
          <a:p>
            <a:pPr marL="0" indent="0">
              <a:buNone/>
            </a:pPr>
            <a:r>
              <a:rPr lang="en-IN" b="0" i="0" dirty="0">
                <a:solidFill>
                  <a:srgbClr val="222222"/>
                </a:solidFill>
                <a:effectLst/>
                <a:latin typeface="Red Hat Mono"/>
              </a:rPr>
              <a:t>  </a:t>
            </a:r>
            <a:r>
              <a:rPr lang="en-IN" b="0" i="0" dirty="0" err="1">
                <a:solidFill>
                  <a:srgbClr val="222222"/>
                </a:solidFill>
                <a:effectLst/>
                <a:latin typeface="Red Hat Mono"/>
              </a:rPr>
              <a:t>current.sa_handler</a:t>
            </a:r>
            <a:r>
              <a:rPr lang="en-IN" b="0" i="0" dirty="0">
                <a:solidFill>
                  <a:srgbClr val="222222"/>
                </a:solidFill>
                <a:effectLst/>
                <a:latin typeface="Red Hat Mono"/>
              </a:rPr>
              <a:t> = graceful;         /* specify a handler */</a:t>
            </a:r>
          </a:p>
          <a:p>
            <a:pPr marL="0" indent="0">
              <a:buNone/>
            </a:pPr>
            <a:r>
              <a:rPr lang="en-IN" b="0" i="0" dirty="0">
                <a:solidFill>
                  <a:srgbClr val="222222"/>
                </a:solidFill>
                <a:effectLst/>
                <a:latin typeface="Red Hat Mono"/>
              </a:rPr>
              <a:t>  </a:t>
            </a:r>
            <a:r>
              <a:rPr lang="en-IN" b="0" i="0" dirty="0" err="1">
                <a:solidFill>
                  <a:srgbClr val="222222"/>
                </a:solidFill>
                <a:effectLst/>
                <a:latin typeface="Red Hat Mono"/>
              </a:rPr>
              <a:t>sigaction</a:t>
            </a:r>
            <a:r>
              <a:rPr lang="en-IN" b="0" i="0" dirty="0">
                <a:solidFill>
                  <a:srgbClr val="222222"/>
                </a:solidFill>
                <a:effectLst/>
                <a:latin typeface="Red Hat Mono"/>
              </a:rPr>
              <a:t>(SIGTERM, &amp;current, NULL);    /* register the handler */</a:t>
            </a:r>
          </a:p>
          <a:p>
            <a:pPr marL="0" indent="0">
              <a:buNone/>
            </a:pPr>
            <a:r>
              <a:rPr lang="en-IN" b="0" i="0" dirty="0">
                <a:solidFill>
                  <a:srgbClr val="222222"/>
                </a:solidFill>
                <a:effectLst/>
                <a:latin typeface="Red Hat Mono"/>
              </a:rPr>
              <a:t>}</a:t>
            </a:r>
          </a:p>
          <a:p>
            <a:pPr marL="0" indent="0">
              <a:buNone/>
            </a:pPr>
            <a:endParaRPr lang="en-IN" b="0" i="0" dirty="0">
              <a:solidFill>
                <a:srgbClr val="222222"/>
              </a:solidFill>
              <a:effectLst/>
              <a:latin typeface="Red Hat Mono"/>
            </a:endParaRPr>
          </a:p>
          <a:p>
            <a:pPr marL="0" indent="0">
              <a:buNone/>
            </a:pPr>
            <a:r>
              <a:rPr lang="en-IN" b="0" i="0" dirty="0">
                <a:solidFill>
                  <a:srgbClr val="222222"/>
                </a:solidFill>
                <a:effectLst/>
                <a:latin typeface="Red Hat Mono"/>
              </a:rPr>
              <a:t>if</a:t>
            </a:r>
            <a:r>
              <a:rPr lang="en-IN" b="0" i="0" dirty="0">
                <a:solidFill>
                  <a:srgbClr val="222222"/>
                </a:solidFill>
                <a:effectLst/>
                <a:highlight>
                  <a:srgbClr val="F8F8F8"/>
                </a:highlight>
                <a:latin typeface="Red Hat Mono"/>
              </a:rPr>
              <a:t> (</a:t>
            </a:r>
            <a:r>
              <a:rPr lang="en-IN" b="0" i="0" dirty="0">
                <a:solidFill>
                  <a:srgbClr val="222222"/>
                </a:solidFill>
                <a:effectLst/>
                <a:latin typeface="Red Hat Mono"/>
              </a:rPr>
              <a:t>0</a:t>
            </a:r>
            <a:r>
              <a:rPr lang="en-IN" b="0" i="0" dirty="0">
                <a:solidFill>
                  <a:srgbClr val="222222"/>
                </a:solidFill>
                <a:effectLst/>
                <a:highlight>
                  <a:srgbClr val="F8F8F8"/>
                </a:highlight>
                <a:latin typeface="Red Hat Mono"/>
              </a:rPr>
              <a:t> == </a:t>
            </a:r>
            <a:r>
              <a:rPr lang="en-IN" b="0" i="0" dirty="0" err="1">
                <a:solidFill>
                  <a:srgbClr val="222222"/>
                </a:solidFill>
                <a:effectLst/>
                <a:highlight>
                  <a:srgbClr val="F8F8F8"/>
                </a:highlight>
                <a:latin typeface="Red Hat Mono"/>
              </a:rPr>
              <a:t>pid</a:t>
            </a:r>
            <a:r>
              <a:rPr lang="en-IN" b="0" i="0" dirty="0">
                <a:solidFill>
                  <a:srgbClr val="222222"/>
                </a:solidFill>
                <a:effectLst/>
                <a:highlight>
                  <a:srgbClr val="F8F8F8"/>
                </a:highlight>
                <a:latin typeface="Red Hat Mono"/>
              </a:rPr>
              <a:t>) </a:t>
            </a:r>
            <a:r>
              <a:rPr lang="en-IN" b="0" i="0" dirty="0" err="1">
                <a:solidFill>
                  <a:srgbClr val="222222"/>
                </a:solidFill>
                <a:effectLst/>
                <a:highlight>
                  <a:srgbClr val="F8F8F8"/>
                </a:highlight>
                <a:latin typeface="Red Hat Mono"/>
              </a:rPr>
              <a:t>child_code</a:t>
            </a:r>
            <a:r>
              <a:rPr lang="en-IN" b="0" i="0" dirty="0">
                <a:solidFill>
                  <a:srgbClr val="222222"/>
                </a:solidFill>
                <a:effectLst/>
                <a:highlight>
                  <a:srgbClr val="F8F8F8"/>
                </a:highlight>
                <a:latin typeface="Red Hat Mono"/>
              </a:rPr>
              <a:t>(); </a:t>
            </a:r>
            <a:r>
              <a:rPr lang="en-IN" b="0" i="0" dirty="0">
                <a:solidFill>
                  <a:srgbClr val="222222"/>
                </a:solidFill>
                <a:effectLst/>
                <a:latin typeface="Red Hat Mono"/>
              </a:rPr>
              <a:t>else</a:t>
            </a:r>
            <a:r>
              <a:rPr lang="en-IN" b="0" i="0" dirty="0">
                <a:solidFill>
                  <a:srgbClr val="222222"/>
                </a:solidFill>
                <a:effectLst/>
                <a:highlight>
                  <a:srgbClr val="F8F8F8"/>
                </a:highlight>
                <a:latin typeface="Red Hat Mono"/>
              </a:rPr>
              <a:t> </a:t>
            </a:r>
            <a:r>
              <a:rPr lang="en-IN" b="0" i="0" dirty="0" err="1">
                <a:solidFill>
                  <a:srgbClr val="222222"/>
                </a:solidFill>
                <a:effectLst/>
                <a:highlight>
                  <a:srgbClr val="F8F8F8"/>
                </a:highlight>
                <a:latin typeface="Red Hat Mono"/>
              </a:rPr>
              <a:t>parent_code</a:t>
            </a:r>
            <a:r>
              <a:rPr lang="en-IN" b="0" i="0" dirty="0">
                <a:solidFill>
                  <a:srgbClr val="222222"/>
                </a:solidFill>
                <a:effectLst/>
                <a:highlight>
                  <a:srgbClr val="F8F8F8"/>
                </a:highlight>
                <a:latin typeface="Red Hat Mono"/>
              </a:rPr>
              <a:t>(</a:t>
            </a:r>
            <a:r>
              <a:rPr lang="en-IN" b="0" i="0" dirty="0" err="1">
                <a:solidFill>
                  <a:srgbClr val="222222"/>
                </a:solidFill>
                <a:effectLst/>
                <a:highlight>
                  <a:srgbClr val="F8F8F8"/>
                </a:highlight>
                <a:latin typeface="Red Hat Mono"/>
              </a:rPr>
              <a:t>pid</a:t>
            </a:r>
            <a:r>
              <a:rPr lang="en-IN" b="0" i="0" dirty="0">
                <a:solidFill>
                  <a:srgbClr val="222222"/>
                </a:solidFill>
                <a:effectLst/>
                <a:highlight>
                  <a:srgbClr val="F8F8F8"/>
                </a:highlight>
                <a:latin typeface="Red Hat Mono"/>
              </a:rPr>
              <a:t>); </a:t>
            </a:r>
            <a:r>
              <a:rPr lang="en-IN" b="0" i="0" dirty="0">
                <a:solidFill>
                  <a:srgbClr val="222222"/>
                </a:solidFill>
                <a:effectLst/>
                <a:latin typeface="Red Hat Mono"/>
              </a:rPr>
              <a:t>return</a:t>
            </a:r>
            <a:r>
              <a:rPr lang="en-IN" b="0" i="0" dirty="0">
                <a:solidFill>
                  <a:srgbClr val="222222"/>
                </a:solidFill>
                <a:effectLst/>
                <a:highlight>
                  <a:srgbClr val="F8F8F8"/>
                </a:highlight>
                <a:latin typeface="Red Hat Mono"/>
              </a:rPr>
              <a:t> </a:t>
            </a:r>
            <a:r>
              <a:rPr lang="en-IN" b="0" i="0" dirty="0">
                <a:solidFill>
                  <a:srgbClr val="222222"/>
                </a:solidFill>
                <a:effectLst/>
                <a:latin typeface="Red Hat Mono"/>
              </a:rPr>
              <a:t>0</a:t>
            </a:r>
            <a:r>
              <a:rPr lang="en-IN" b="0" i="0" dirty="0">
                <a:solidFill>
                  <a:srgbClr val="222222"/>
                </a:solidFill>
                <a:effectLst/>
                <a:highlight>
                  <a:srgbClr val="F8F8F8"/>
                </a:highlight>
                <a:latin typeface="Red Hat Mono"/>
              </a:rPr>
              <a:t>; </a:t>
            </a:r>
            <a:r>
              <a:rPr lang="en-IN" b="0" i="0" dirty="0">
                <a:solidFill>
                  <a:srgbClr val="222222"/>
                </a:solidFill>
                <a:effectLst/>
                <a:latin typeface="Red Hat Mono"/>
              </a:rPr>
              <a:t>/* normal */</a:t>
            </a:r>
            <a:r>
              <a:rPr lang="en-IN" b="0" i="0" dirty="0">
                <a:solidFill>
                  <a:srgbClr val="222222"/>
                </a:solidFill>
                <a:effectLst/>
                <a:highlight>
                  <a:srgbClr val="F8F8F8"/>
                </a:highlight>
                <a:latin typeface="Red Hat Mono"/>
              </a:rPr>
              <a:t> }</a:t>
            </a:r>
            <a:endParaRPr lang="en-IN" dirty="0"/>
          </a:p>
        </p:txBody>
      </p:sp>
      <p:sp>
        <p:nvSpPr>
          <p:cNvPr id="4" name="Content Placeholder 2">
            <a:extLst>
              <a:ext uri="{FF2B5EF4-FFF2-40B4-BE49-F238E27FC236}">
                <a16:creationId xmlns:a16="http://schemas.microsoft.com/office/drawing/2014/main" id="{D2A46AE6-BE1D-2171-F574-A5B69789BE18}"/>
              </a:ext>
            </a:extLst>
          </p:cNvPr>
          <p:cNvSpPr txBox="1">
            <a:spLocks/>
          </p:cNvSpPr>
          <p:nvPr/>
        </p:nvSpPr>
        <p:spPr>
          <a:xfrm>
            <a:off x="4932040" y="990713"/>
            <a:ext cx="3888432" cy="5534631"/>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1000" dirty="0"/>
              <a:t>void </a:t>
            </a:r>
            <a:r>
              <a:rPr lang="en-IN" sz="1000" dirty="0" err="1"/>
              <a:t>child_code</a:t>
            </a:r>
            <a:r>
              <a:rPr lang="en-IN" sz="1000" dirty="0"/>
              <a:t>() {</a:t>
            </a:r>
          </a:p>
          <a:p>
            <a:pPr marL="0" indent="0">
              <a:buFont typeface="Arial" pitchFamily="34" charset="0"/>
              <a:buNone/>
            </a:pPr>
            <a:r>
              <a:rPr lang="en-IN" sz="1000" dirty="0"/>
              <a:t>  </a:t>
            </a:r>
            <a:r>
              <a:rPr lang="en-IN" sz="1000" dirty="0" err="1"/>
              <a:t>set_handler</a:t>
            </a:r>
            <a:r>
              <a:rPr lang="en-IN" sz="1000" dirty="0"/>
              <a:t>();</a:t>
            </a:r>
          </a:p>
          <a:p>
            <a:pPr marL="0" indent="0">
              <a:buFont typeface="Arial" pitchFamily="34" charset="0"/>
              <a:buNone/>
            </a:pPr>
            <a:endParaRPr lang="en-IN" sz="1000" dirty="0"/>
          </a:p>
          <a:p>
            <a:pPr marL="0" indent="0">
              <a:buFont typeface="Arial" pitchFamily="34" charset="0"/>
              <a:buNone/>
            </a:pPr>
            <a:r>
              <a:rPr lang="en-IN" sz="1000" dirty="0"/>
              <a:t>  while (1) {   /** loop until interrupted **/</a:t>
            </a:r>
          </a:p>
          <a:p>
            <a:pPr marL="0" indent="0">
              <a:buFont typeface="Arial" pitchFamily="34" charset="0"/>
              <a:buNone/>
            </a:pPr>
            <a:r>
              <a:rPr lang="en-IN" sz="1000" dirty="0"/>
              <a:t>    sleep(1);</a:t>
            </a:r>
          </a:p>
          <a:p>
            <a:pPr marL="0" indent="0">
              <a:buFont typeface="Arial" pitchFamily="34" charset="0"/>
              <a:buNone/>
            </a:pPr>
            <a:r>
              <a:rPr lang="en-IN" sz="1000" dirty="0"/>
              <a:t>    puts("\</a:t>
            </a:r>
            <a:r>
              <a:rPr lang="en-IN" sz="1000" dirty="0" err="1"/>
              <a:t>tChild</a:t>
            </a:r>
            <a:r>
              <a:rPr lang="en-IN" sz="1000" dirty="0"/>
              <a:t> just woke up, but going back to sleep.");</a:t>
            </a:r>
          </a:p>
          <a:p>
            <a:pPr marL="0" indent="0">
              <a:buFont typeface="Arial" pitchFamily="34" charset="0"/>
              <a:buNone/>
            </a:pPr>
            <a:r>
              <a:rPr lang="en-IN" sz="1000" dirty="0"/>
              <a:t>  }</a:t>
            </a:r>
          </a:p>
          <a:p>
            <a:pPr marL="0" indent="0">
              <a:buFont typeface="Arial" pitchFamily="34" charset="0"/>
              <a:buNone/>
            </a:pPr>
            <a:r>
              <a:rPr lang="en-IN" sz="1000" dirty="0"/>
              <a:t>}</a:t>
            </a:r>
          </a:p>
          <a:p>
            <a:pPr marL="0" indent="0">
              <a:buFont typeface="Arial" pitchFamily="34" charset="0"/>
              <a:buNone/>
            </a:pPr>
            <a:endParaRPr lang="en-IN" sz="1000" dirty="0"/>
          </a:p>
          <a:p>
            <a:pPr marL="0" indent="0">
              <a:buFont typeface="Arial" pitchFamily="34" charset="0"/>
              <a:buNone/>
            </a:pPr>
            <a:r>
              <a:rPr lang="en-IN" sz="1000" dirty="0"/>
              <a:t>void </a:t>
            </a:r>
            <a:r>
              <a:rPr lang="en-IN" sz="1000" dirty="0" err="1"/>
              <a:t>parent_code</a:t>
            </a:r>
            <a:r>
              <a:rPr lang="en-IN" sz="1000" dirty="0"/>
              <a:t>(</a:t>
            </a:r>
            <a:r>
              <a:rPr lang="en-IN" sz="1000" dirty="0" err="1"/>
              <a:t>pid_t</a:t>
            </a:r>
            <a:r>
              <a:rPr lang="en-IN" sz="1000" dirty="0"/>
              <a:t> </a:t>
            </a:r>
            <a:r>
              <a:rPr lang="en-IN" sz="1000" dirty="0" err="1"/>
              <a:t>cpid</a:t>
            </a:r>
            <a:r>
              <a:rPr lang="en-IN" sz="1000" dirty="0"/>
              <a:t>) {</a:t>
            </a:r>
          </a:p>
          <a:p>
            <a:pPr marL="0" indent="0">
              <a:buFont typeface="Arial" pitchFamily="34" charset="0"/>
              <a:buNone/>
            </a:pPr>
            <a:r>
              <a:rPr lang="en-IN" sz="1000" dirty="0"/>
              <a:t>  puts("Parent sleeping for a time...");</a:t>
            </a:r>
          </a:p>
          <a:p>
            <a:pPr marL="0" indent="0">
              <a:buFont typeface="Arial" pitchFamily="34" charset="0"/>
              <a:buNone/>
            </a:pPr>
            <a:r>
              <a:rPr lang="en-IN" sz="1000" dirty="0"/>
              <a:t>  sleep(5);</a:t>
            </a:r>
          </a:p>
          <a:p>
            <a:pPr marL="0" indent="0">
              <a:buFont typeface="Arial" pitchFamily="34" charset="0"/>
              <a:buNone/>
            </a:pPr>
            <a:endParaRPr lang="en-IN" sz="1000" dirty="0"/>
          </a:p>
          <a:p>
            <a:pPr marL="0" indent="0">
              <a:buFont typeface="Arial" pitchFamily="34" charset="0"/>
              <a:buNone/>
            </a:pPr>
            <a:r>
              <a:rPr lang="en-IN" sz="1000" dirty="0"/>
              <a:t>  /* Try to terminate child. */</a:t>
            </a:r>
          </a:p>
          <a:p>
            <a:pPr marL="0" indent="0">
              <a:buFont typeface="Arial" pitchFamily="34" charset="0"/>
              <a:buNone/>
            </a:pPr>
            <a:r>
              <a:rPr lang="en-IN" sz="1000" dirty="0"/>
              <a:t>  if (-1 == kill(</a:t>
            </a:r>
            <a:r>
              <a:rPr lang="en-IN" sz="1000" dirty="0" err="1"/>
              <a:t>cpid</a:t>
            </a:r>
            <a:r>
              <a:rPr lang="en-IN" sz="1000" dirty="0"/>
              <a:t>, SIGTERM)) {</a:t>
            </a:r>
          </a:p>
          <a:p>
            <a:pPr marL="0" indent="0">
              <a:buFont typeface="Arial" pitchFamily="34" charset="0"/>
              <a:buNone/>
            </a:pPr>
            <a:r>
              <a:rPr lang="en-IN" sz="1000" dirty="0"/>
              <a:t>    </a:t>
            </a:r>
            <a:r>
              <a:rPr lang="en-IN" sz="1000" dirty="0" err="1"/>
              <a:t>perror</a:t>
            </a:r>
            <a:r>
              <a:rPr lang="en-IN" sz="1000" dirty="0"/>
              <a:t>("kill");</a:t>
            </a:r>
          </a:p>
          <a:p>
            <a:pPr marL="0" indent="0">
              <a:buFont typeface="Arial" pitchFamily="34" charset="0"/>
              <a:buNone/>
            </a:pPr>
            <a:r>
              <a:rPr lang="en-IN" sz="1000" dirty="0"/>
              <a:t>    exit(-1);</a:t>
            </a:r>
          </a:p>
          <a:p>
            <a:pPr marL="0" indent="0">
              <a:buFont typeface="Arial" pitchFamily="34" charset="0"/>
              <a:buNone/>
            </a:pPr>
            <a:r>
              <a:rPr lang="en-IN" sz="1000" dirty="0"/>
              <a:t>  }</a:t>
            </a:r>
          </a:p>
          <a:p>
            <a:pPr marL="0" indent="0">
              <a:buFont typeface="Arial" pitchFamily="34" charset="0"/>
              <a:buNone/>
            </a:pPr>
            <a:r>
              <a:rPr lang="en-IN" sz="1000" dirty="0"/>
              <a:t>  wait(NULL); /** wait for child to terminate **/</a:t>
            </a:r>
          </a:p>
          <a:p>
            <a:pPr marL="0" indent="0">
              <a:buFont typeface="Arial" pitchFamily="34" charset="0"/>
              <a:buNone/>
            </a:pPr>
            <a:r>
              <a:rPr lang="en-IN" sz="1000" dirty="0"/>
              <a:t>  puts("My child terminated, about to exit myself...");</a:t>
            </a:r>
          </a:p>
          <a:p>
            <a:pPr marL="0" indent="0">
              <a:buFont typeface="Arial" pitchFamily="34" charset="0"/>
              <a:buNone/>
            </a:pPr>
            <a:r>
              <a:rPr lang="en-IN" sz="1000" dirty="0"/>
              <a:t>}</a:t>
            </a:r>
          </a:p>
          <a:p>
            <a:pPr marL="0" indent="0">
              <a:buFont typeface="Arial" pitchFamily="34" charset="0"/>
              <a:buNone/>
            </a:pPr>
            <a:endParaRPr lang="en-IN" sz="1000" dirty="0"/>
          </a:p>
          <a:p>
            <a:pPr marL="0" indent="0">
              <a:buFont typeface="Arial" pitchFamily="34" charset="0"/>
              <a:buNone/>
            </a:pPr>
            <a:r>
              <a:rPr lang="en-IN" sz="1000" dirty="0"/>
              <a:t>int main() {</a:t>
            </a:r>
          </a:p>
          <a:p>
            <a:pPr marL="0" indent="0">
              <a:buFont typeface="Arial" pitchFamily="34" charset="0"/>
              <a:buNone/>
            </a:pPr>
            <a:r>
              <a:rPr lang="en-IN" sz="1000" dirty="0"/>
              <a:t>  </a:t>
            </a:r>
            <a:r>
              <a:rPr lang="en-IN" sz="1000" dirty="0" err="1"/>
              <a:t>pid_t</a:t>
            </a:r>
            <a:r>
              <a:rPr lang="en-IN" sz="1000" dirty="0"/>
              <a:t> </a:t>
            </a:r>
            <a:r>
              <a:rPr lang="en-IN" sz="1000" dirty="0" err="1"/>
              <a:t>pid</a:t>
            </a:r>
            <a:r>
              <a:rPr lang="en-IN" sz="1000" dirty="0"/>
              <a:t> = fork();</a:t>
            </a:r>
          </a:p>
          <a:p>
            <a:pPr marL="0" indent="0">
              <a:buFont typeface="Arial" pitchFamily="34" charset="0"/>
              <a:buNone/>
            </a:pPr>
            <a:r>
              <a:rPr lang="en-IN" sz="1000" dirty="0"/>
              <a:t>  if (</a:t>
            </a:r>
            <a:r>
              <a:rPr lang="en-IN" sz="1000" dirty="0" err="1"/>
              <a:t>pid</a:t>
            </a:r>
            <a:r>
              <a:rPr lang="en-IN" sz="1000" dirty="0"/>
              <a:t> &lt; 0) {</a:t>
            </a:r>
          </a:p>
          <a:p>
            <a:pPr marL="0" indent="0">
              <a:buFont typeface="Arial" pitchFamily="34" charset="0"/>
              <a:buNone/>
            </a:pPr>
            <a:r>
              <a:rPr lang="en-IN" sz="1000" dirty="0"/>
              <a:t>    </a:t>
            </a:r>
            <a:r>
              <a:rPr lang="en-IN" sz="1000" dirty="0" err="1"/>
              <a:t>perror</a:t>
            </a:r>
            <a:r>
              <a:rPr lang="en-IN" sz="1000" dirty="0"/>
              <a:t>("fork");</a:t>
            </a:r>
          </a:p>
          <a:p>
            <a:pPr marL="0" indent="0">
              <a:buFont typeface="Arial" pitchFamily="34" charset="0"/>
              <a:buNone/>
            </a:pPr>
            <a:r>
              <a:rPr lang="en-IN" sz="1000" dirty="0"/>
              <a:t>    return -1; /* error */</a:t>
            </a:r>
          </a:p>
          <a:p>
            <a:pPr marL="0" indent="0">
              <a:buFont typeface="Arial" pitchFamily="34" charset="0"/>
              <a:buNone/>
            </a:pPr>
            <a:r>
              <a:rPr lang="en-IN" sz="1000" dirty="0"/>
              <a:t>  }</a:t>
            </a:r>
          </a:p>
          <a:p>
            <a:pPr marL="0" indent="0">
              <a:buFont typeface="Arial" pitchFamily="34" charset="0"/>
              <a:buNone/>
            </a:pPr>
            <a:r>
              <a:rPr lang="en-IN" sz="1000" dirty="0"/>
              <a:t>  if (0 == </a:t>
            </a:r>
            <a:r>
              <a:rPr lang="en-IN" sz="1000" dirty="0" err="1"/>
              <a:t>pid</a:t>
            </a:r>
            <a:r>
              <a:rPr lang="en-IN" sz="1000" dirty="0"/>
              <a:t>)</a:t>
            </a:r>
          </a:p>
          <a:p>
            <a:pPr marL="0" indent="0">
              <a:buFont typeface="Arial" pitchFamily="34" charset="0"/>
              <a:buNone/>
            </a:pPr>
            <a:r>
              <a:rPr lang="en-IN" sz="1000" dirty="0"/>
              <a:t>    </a:t>
            </a:r>
            <a:r>
              <a:rPr lang="en-IN" sz="1000" dirty="0" err="1"/>
              <a:t>child_code</a:t>
            </a:r>
            <a:r>
              <a:rPr lang="en-IN" sz="1000" dirty="0"/>
              <a:t>();</a:t>
            </a:r>
          </a:p>
          <a:p>
            <a:pPr marL="0" indent="0">
              <a:buFont typeface="Arial" pitchFamily="34" charset="0"/>
              <a:buNone/>
            </a:pPr>
            <a:r>
              <a:rPr lang="en-IN" sz="1000" dirty="0"/>
              <a:t>  else</a:t>
            </a:r>
          </a:p>
          <a:p>
            <a:pPr marL="0" indent="0">
              <a:buFont typeface="Arial" pitchFamily="34" charset="0"/>
              <a:buNone/>
            </a:pPr>
            <a:r>
              <a:rPr lang="en-IN" sz="1000" dirty="0"/>
              <a:t>    </a:t>
            </a:r>
            <a:r>
              <a:rPr lang="en-IN" sz="1000" dirty="0" err="1"/>
              <a:t>parent_code</a:t>
            </a:r>
            <a:r>
              <a:rPr lang="en-IN" sz="1000" dirty="0"/>
              <a:t>(</a:t>
            </a:r>
            <a:r>
              <a:rPr lang="en-IN" sz="1000" dirty="0" err="1"/>
              <a:t>pid</a:t>
            </a:r>
            <a:r>
              <a:rPr lang="en-IN" sz="1000" dirty="0"/>
              <a:t>);</a:t>
            </a:r>
          </a:p>
          <a:p>
            <a:pPr marL="0" indent="0">
              <a:buFont typeface="Arial" pitchFamily="34" charset="0"/>
              <a:buNone/>
            </a:pPr>
            <a:r>
              <a:rPr lang="en-IN" sz="1000" dirty="0"/>
              <a:t>  return 0;  /* normal */</a:t>
            </a:r>
          </a:p>
          <a:p>
            <a:pPr marL="0" indent="0">
              <a:buFont typeface="Arial" pitchFamily="34" charset="0"/>
              <a:buNone/>
            </a:pPr>
            <a:r>
              <a:rPr lang="en-IN" sz="1000" dirty="0"/>
              <a:t>}</a:t>
            </a:r>
          </a:p>
        </p:txBody>
      </p:sp>
    </p:spTree>
    <p:extLst>
      <p:ext uri="{BB962C8B-B14F-4D97-AF65-F5344CB8AC3E}">
        <p14:creationId xmlns:p14="http://schemas.microsoft.com/office/powerpoint/2010/main" val="3649444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3789-315F-A4AD-6CC3-2091BB1E712B}"/>
              </a:ext>
            </a:extLst>
          </p:cNvPr>
          <p:cNvSpPr>
            <a:spLocks noGrp="1"/>
          </p:cNvSpPr>
          <p:nvPr>
            <p:ph type="title"/>
          </p:nvPr>
        </p:nvSpPr>
        <p:spPr>
          <a:xfrm>
            <a:off x="457200" y="34506"/>
            <a:ext cx="8229600" cy="1143000"/>
          </a:xfrm>
        </p:spPr>
        <p:txBody>
          <a:bodyPr>
            <a:normAutofit/>
          </a:bodyPr>
          <a:lstStyle/>
          <a:p>
            <a:r>
              <a:rPr lang="en-US" sz="3600" b="0" i="0" dirty="0">
                <a:solidFill>
                  <a:srgbClr val="273239"/>
                </a:solidFill>
                <a:effectLst/>
                <a:highlight>
                  <a:srgbClr val="FFFFFF"/>
                </a:highlight>
                <a:latin typeface="Nunito" pitchFamily="2" charset="0"/>
              </a:rPr>
              <a:t>Code example for Signals as IPC</a:t>
            </a:r>
            <a:endParaRPr lang="en-IN" dirty="0"/>
          </a:p>
        </p:txBody>
      </p:sp>
      <p:sp>
        <p:nvSpPr>
          <p:cNvPr id="3" name="Content Placeholder 2">
            <a:extLst>
              <a:ext uri="{FF2B5EF4-FFF2-40B4-BE49-F238E27FC236}">
                <a16:creationId xmlns:a16="http://schemas.microsoft.com/office/drawing/2014/main" id="{AA5CEDE1-18B2-5B0F-DA67-D2787DD986A8}"/>
              </a:ext>
            </a:extLst>
          </p:cNvPr>
          <p:cNvSpPr>
            <a:spLocks noGrp="1"/>
          </p:cNvSpPr>
          <p:nvPr>
            <p:ph idx="1"/>
          </p:nvPr>
        </p:nvSpPr>
        <p:spPr>
          <a:xfrm>
            <a:off x="475071" y="980728"/>
            <a:ext cx="7787208" cy="5145435"/>
          </a:xfrm>
        </p:spPr>
        <p:txBody>
          <a:bodyPr>
            <a:normAutofit fontScale="25000" lnSpcReduction="20000"/>
          </a:bodyPr>
          <a:lstStyle/>
          <a:p>
            <a:pPr algn="l"/>
            <a:r>
              <a:rPr lang="en-US" sz="8000" b="0" i="0" dirty="0">
                <a:solidFill>
                  <a:srgbClr val="000000"/>
                </a:solidFill>
                <a:effectLst/>
                <a:latin typeface="Red Hat Text"/>
              </a:rPr>
              <a:t>The </a:t>
            </a:r>
            <a:r>
              <a:rPr lang="en-US" sz="8000" b="0" i="1" dirty="0">
                <a:solidFill>
                  <a:srgbClr val="000000"/>
                </a:solidFill>
                <a:effectLst/>
                <a:latin typeface="Red Hat Text"/>
              </a:rPr>
              <a:t>shutdown</a:t>
            </a:r>
            <a:r>
              <a:rPr lang="en-US" sz="8000" b="0" i="0" dirty="0">
                <a:solidFill>
                  <a:srgbClr val="000000"/>
                </a:solidFill>
                <a:effectLst/>
                <a:latin typeface="Red Hat Text"/>
              </a:rPr>
              <a:t> program above simulates the graceful shutdown of a multi-processing system, in this case, a simple one consisting of a parent process and a single child process. The simulation works as follows:</a:t>
            </a:r>
          </a:p>
          <a:p>
            <a:pPr algn="l">
              <a:buFont typeface="Arial" panose="020B0604020202020204" pitchFamily="34" charset="0"/>
              <a:buChar char="•"/>
            </a:pPr>
            <a:r>
              <a:rPr lang="en-US" sz="8000" b="0" i="0" dirty="0">
                <a:solidFill>
                  <a:srgbClr val="000000"/>
                </a:solidFill>
                <a:effectLst/>
                <a:latin typeface="Red Hat Text"/>
              </a:rPr>
              <a:t>The parent process tries to fork a child. If the fork succeeds, each process executes its own code: the child executes the function </a:t>
            </a:r>
            <a:r>
              <a:rPr lang="en-US" sz="8000" b="1" i="0" dirty="0" err="1">
                <a:solidFill>
                  <a:srgbClr val="000000"/>
                </a:solidFill>
                <a:effectLst/>
                <a:latin typeface="Red Hat Text"/>
              </a:rPr>
              <a:t>child_code</a:t>
            </a:r>
            <a:r>
              <a:rPr lang="en-US" sz="8000" b="0" i="0" dirty="0">
                <a:solidFill>
                  <a:srgbClr val="000000"/>
                </a:solidFill>
                <a:effectLst/>
                <a:latin typeface="Red Hat Text"/>
              </a:rPr>
              <a:t>, and the parent executes the function </a:t>
            </a:r>
            <a:r>
              <a:rPr lang="en-US" sz="8000" b="1" i="0" dirty="0" err="1">
                <a:solidFill>
                  <a:srgbClr val="000000"/>
                </a:solidFill>
                <a:effectLst/>
                <a:latin typeface="Red Hat Text"/>
              </a:rPr>
              <a:t>parent_code</a:t>
            </a:r>
            <a:r>
              <a:rPr lang="en-US" sz="8000" b="0" i="0" dirty="0">
                <a:solidFill>
                  <a:srgbClr val="000000"/>
                </a:solidFill>
                <a:effectLst/>
                <a:latin typeface="Red Hat Text"/>
              </a:rPr>
              <a:t>.</a:t>
            </a:r>
          </a:p>
          <a:p>
            <a:pPr algn="l">
              <a:buFont typeface="Arial" panose="020B0604020202020204" pitchFamily="34" charset="0"/>
              <a:buChar char="•"/>
            </a:pPr>
            <a:r>
              <a:rPr lang="en-US" sz="8000" b="0" i="0" dirty="0">
                <a:solidFill>
                  <a:srgbClr val="000000"/>
                </a:solidFill>
                <a:effectLst/>
                <a:latin typeface="Red Hat Text"/>
              </a:rPr>
              <a:t>The child process goes into a potentially infinite loop in which the child sleeps for a second, prints a message, goes back to sleep, and so on. It is precisely a </a:t>
            </a:r>
            <a:r>
              <a:rPr lang="en-US" sz="8000" b="1" i="0" dirty="0">
                <a:solidFill>
                  <a:srgbClr val="000000"/>
                </a:solidFill>
                <a:effectLst/>
                <a:latin typeface="Red Hat Text"/>
              </a:rPr>
              <a:t>SIGTERM</a:t>
            </a:r>
            <a:r>
              <a:rPr lang="en-US" sz="8000" b="0" i="0" dirty="0">
                <a:solidFill>
                  <a:srgbClr val="000000"/>
                </a:solidFill>
                <a:effectLst/>
                <a:latin typeface="Red Hat Text"/>
              </a:rPr>
              <a:t> signal from the parent that causes the child to execute the signal-handling callback function </a:t>
            </a:r>
            <a:r>
              <a:rPr lang="en-US" sz="8000" b="1" i="0" dirty="0">
                <a:solidFill>
                  <a:srgbClr val="000000"/>
                </a:solidFill>
                <a:effectLst/>
                <a:latin typeface="Red Hat Text"/>
              </a:rPr>
              <a:t>graceful</a:t>
            </a:r>
            <a:r>
              <a:rPr lang="en-US" sz="8000" b="0" i="0" dirty="0">
                <a:solidFill>
                  <a:srgbClr val="000000"/>
                </a:solidFill>
                <a:effectLst/>
                <a:latin typeface="Red Hat Text"/>
              </a:rPr>
              <a:t>. The signal thus breaks the child process out of its loop and sets up the graceful termination of both the child and the parent. The child prints a message before terminating.</a:t>
            </a:r>
          </a:p>
          <a:p>
            <a:pPr algn="l">
              <a:buFont typeface="Arial" panose="020B0604020202020204" pitchFamily="34" charset="0"/>
              <a:buChar char="•"/>
            </a:pPr>
            <a:r>
              <a:rPr lang="en-US" sz="8000" b="0" i="0" dirty="0">
                <a:solidFill>
                  <a:srgbClr val="000000"/>
                </a:solidFill>
                <a:effectLst/>
                <a:latin typeface="Red Hat Text"/>
              </a:rPr>
              <a:t>The parent process, after forking the child, sleeps for five seconds so that the child can execute for a while; of course, the child mostly sleeps in this simulation. The parent then calls the </a:t>
            </a:r>
            <a:r>
              <a:rPr lang="en-US" sz="8000" b="1" i="0" dirty="0">
                <a:solidFill>
                  <a:srgbClr val="000000"/>
                </a:solidFill>
                <a:effectLst/>
                <a:latin typeface="Red Hat Text"/>
              </a:rPr>
              <a:t>kill</a:t>
            </a:r>
            <a:r>
              <a:rPr lang="en-US" sz="8000" b="0" i="0" dirty="0">
                <a:solidFill>
                  <a:srgbClr val="000000"/>
                </a:solidFill>
                <a:effectLst/>
                <a:latin typeface="Red Hat Text"/>
              </a:rPr>
              <a:t> function with </a:t>
            </a:r>
            <a:r>
              <a:rPr lang="en-US" sz="8000" b="1" i="0" dirty="0">
                <a:solidFill>
                  <a:srgbClr val="000000"/>
                </a:solidFill>
                <a:effectLst/>
                <a:latin typeface="Red Hat Text"/>
              </a:rPr>
              <a:t>SIGTERM</a:t>
            </a:r>
            <a:r>
              <a:rPr lang="en-US" sz="8000" b="0" i="0" dirty="0">
                <a:solidFill>
                  <a:srgbClr val="000000"/>
                </a:solidFill>
                <a:effectLst/>
                <a:latin typeface="Red Hat Text"/>
              </a:rPr>
              <a:t> as the second argument, waits for the child to terminate, and then exits.</a:t>
            </a:r>
          </a:p>
          <a:p>
            <a:pPr marL="0" indent="0">
              <a:buNone/>
            </a:pPr>
            <a:endParaRPr lang="en-IN" dirty="0"/>
          </a:p>
        </p:txBody>
      </p:sp>
    </p:spTree>
    <p:extLst>
      <p:ext uri="{BB962C8B-B14F-4D97-AF65-F5344CB8AC3E}">
        <p14:creationId xmlns:p14="http://schemas.microsoft.com/office/powerpoint/2010/main" val="311632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2638</TotalTime>
  <Words>5898</Words>
  <Application>Microsoft Office PowerPoint</Application>
  <PresentationFormat>On-screen Show (4:3)</PresentationFormat>
  <Paragraphs>658</Paragraphs>
  <Slides>43</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43</vt:i4>
      </vt:variant>
    </vt:vector>
  </HeadingPairs>
  <TitlesOfParts>
    <vt:vector size="58" baseType="lpstr">
      <vt:lpstr>Arial</vt:lpstr>
      <vt:lpstr>Calibri</vt:lpstr>
      <vt:lpstr>Consolas</vt:lpstr>
      <vt:lpstr>Google Sans</vt:lpstr>
      <vt:lpstr>Heltevica</vt:lpstr>
      <vt:lpstr>inherit</vt:lpstr>
      <vt:lpstr>inter-regular</vt:lpstr>
      <vt:lpstr>Nunito</vt:lpstr>
      <vt:lpstr>Red Hat Mono</vt:lpstr>
      <vt:lpstr>Red Hat Text</vt:lpstr>
      <vt:lpstr>Symbol</vt:lpstr>
      <vt:lpstr>Times New Roman</vt:lpstr>
      <vt:lpstr>urw-din</vt:lpstr>
      <vt:lpstr>Wingdings</vt:lpstr>
      <vt:lpstr>Office Theme</vt:lpstr>
      <vt:lpstr>PowerPoint Presentation</vt:lpstr>
      <vt:lpstr>What is IPC?</vt:lpstr>
      <vt:lpstr>IPC mechanisms</vt:lpstr>
      <vt:lpstr>Semaphore</vt:lpstr>
      <vt:lpstr>Semaphore</vt:lpstr>
      <vt:lpstr>PowerPoint Presentation</vt:lpstr>
      <vt:lpstr>Semaphore</vt:lpstr>
      <vt:lpstr>Using semaphore in Linux</vt:lpstr>
      <vt:lpstr>semaphore functions in Linux</vt:lpstr>
      <vt:lpstr>semaphore functions in Linux</vt:lpstr>
      <vt:lpstr>Sample code</vt:lpstr>
      <vt:lpstr>Code explanation</vt:lpstr>
      <vt:lpstr>Mutex</vt:lpstr>
      <vt:lpstr>Mutex</vt:lpstr>
      <vt:lpstr>Operations on Mutex </vt:lpstr>
      <vt:lpstr>Difference between Mutex and Binary Semaphore</vt:lpstr>
      <vt:lpstr>Typical Code for Mutex</vt:lpstr>
      <vt:lpstr>Pipe</vt:lpstr>
      <vt:lpstr>How pipe works</vt:lpstr>
      <vt:lpstr>Pipe implementation</vt:lpstr>
      <vt:lpstr>FIFO : Named pipes</vt:lpstr>
      <vt:lpstr>FIFO : Named pipes</vt:lpstr>
      <vt:lpstr>Named pipes - code</vt:lpstr>
      <vt:lpstr>Named pipes - code</vt:lpstr>
      <vt:lpstr>Using Shared memory in Linux</vt:lpstr>
      <vt:lpstr>Advantages of Shared Memory</vt:lpstr>
      <vt:lpstr>Disadvantages of Shared Memory</vt:lpstr>
      <vt:lpstr>Usage of Shared Memory</vt:lpstr>
      <vt:lpstr>Functions for using Shared Memory (old style)</vt:lpstr>
      <vt:lpstr>Creating Shared Memory (Old Style)</vt:lpstr>
      <vt:lpstr>Attaching to Shared Memory</vt:lpstr>
      <vt:lpstr>Shared Memory Control</vt:lpstr>
      <vt:lpstr>Sample code</vt:lpstr>
      <vt:lpstr>Calls explanation</vt:lpstr>
      <vt:lpstr>Shared Memory using mmap() system call</vt:lpstr>
      <vt:lpstr>Message Queue</vt:lpstr>
      <vt:lpstr>System calls used for message queues: </vt:lpstr>
      <vt:lpstr>Code for message queue (Writer)</vt:lpstr>
      <vt:lpstr>Code for message queue (Writer)</vt:lpstr>
      <vt:lpstr>Code for message queue (Reader)</vt:lpstr>
      <vt:lpstr>Signals as IPC</vt:lpstr>
      <vt:lpstr>Code example for Signals as IPC</vt:lpstr>
      <vt:lpstr>Code example for Signals as IPC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Synchronization</dc:title>
  <dc:creator>Bhaskar</dc:creator>
  <cp:lastModifiedBy>deshpande.shripad2@gmail.com</cp:lastModifiedBy>
  <cp:revision>33</cp:revision>
  <dcterms:created xsi:type="dcterms:W3CDTF">2019-03-18T01:07:42Z</dcterms:created>
  <dcterms:modified xsi:type="dcterms:W3CDTF">2024-05-20T19:10:33Z</dcterms:modified>
</cp:coreProperties>
</file>