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sldIdLst>
    <p:sldId id="258" r:id="rId2"/>
    <p:sldId id="257" r:id="rId3"/>
    <p:sldId id="259" r:id="rId4"/>
    <p:sldId id="265" r:id="rId5"/>
    <p:sldId id="266" r:id="rId6"/>
    <p:sldId id="262" r:id="rId7"/>
    <p:sldId id="263" r:id="rId8"/>
    <p:sldId id="264" r:id="rId9"/>
    <p:sldId id="260" r:id="rId10"/>
    <p:sldId id="261"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1" autoAdjust="0"/>
    <p:restoredTop sz="94660"/>
  </p:normalViewPr>
  <p:slideViewPr>
    <p:cSldViewPr snapToGrid="0">
      <p:cViewPr varScale="1">
        <p:scale>
          <a:sx n="80" d="100"/>
          <a:sy n="80" d="100"/>
        </p:scale>
        <p:origin x="147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42317-B3E8-4837-B23A-AEAF8E838CCE}" type="datetimeFigureOut">
              <a:rPr lang="en-IN" smtClean="0"/>
              <a:t>25-03-2022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EE792-0E5F-4E3E-936C-DAFB82646786}" type="slidenum">
              <a:rPr lang="en-IN" smtClean="0"/>
              <a:t>‹#›</a:t>
            </a:fld>
            <a:endParaRPr lang="en-IN"/>
          </a:p>
        </p:txBody>
      </p:sp>
    </p:spTree>
    <p:extLst>
      <p:ext uri="{BB962C8B-B14F-4D97-AF65-F5344CB8AC3E}">
        <p14:creationId xmlns:p14="http://schemas.microsoft.com/office/powerpoint/2010/main" val="4115355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10"/>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t"/>
          <a:lstStyle>
            <a:lvl1pPr algn="ctr">
              <a:defRPr sz="45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31"/>
            <a:ext cx="6858000" cy="508721"/>
          </a:xfrm>
        </p:spPr>
        <p:txBody>
          <a:bodyPr anchor="ctr">
            <a:normAutofit/>
          </a:bodyPr>
          <a:lstStyle>
            <a:lvl1pPr marL="0" indent="0" algn="ctr">
              <a:buNone/>
              <a:defRPr sz="2100">
                <a:solidFill>
                  <a:schemeClr val="bg1"/>
                </a:solidFill>
                <a:latin typeface="Heltevic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C98AF7D0-B530-437A-8244-231A0C0FDB3D}" type="slidenum">
              <a:rPr lang="en-IN" smtClean="0"/>
              <a:t>‹#›</a:t>
            </a:fld>
            <a:endParaRPr lang="en-IN"/>
          </a:p>
        </p:txBody>
      </p:sp>
      <p:sp>
        <p:nvSpPr>
          <p:cNvPr id="7" name="Rectangle 6">
            <a:extLst>
              <a:ext uri="{FF2B5EF4-FFF2-40B4-BE49-F238E27FC236}">
                <a16:creationId xmlns:a16="http://schemas.microsoft.com/office/drawing/2014/main" id="{72299DF9-D716-4BFB-A963-61A13135DF61}"/>
              </a:ext>
            </a:extLst>
          </p:cNvPr>
          <p:cNvSpPr/>
          <p:nvPr/>
        </p:nvSpPr>
        <p:spPr>
          <a:xfrm>
            <a:off x="1143000" y="5835379"/>
            <a:ext cx="6858000" cy="715581"/>
          </a:xfrm>
          <a:prstGeom prst="rect">
            <a:avLst/>
          </a:prstGeom>
        </p:spPr>
        <p:txBody>
          <a:bodyPr wrap="square">
            <a:spAutoFit/>
          </a:bodyPr>
          <a:lstStyle/>
          <a:p>
            <a:pPr algn="ctr"/>
            <a:r>
              <a:rPr lang="en-US" sz="1350" dirty="0">
                <a:solidFill>
                  <a:schemeClr val="bg1"/>
                </a:solidFill>
              </a:rPr>
              <a:t>Electronics &amp; Telecommunication Engineering</a:t>
            </a:r>
          </a:p>
          <a:p>
            <a:pPr algn="ctr"/>
            <a:r>
              <a:rPr lang="en-US" sz="1350" dirty="0">
                <a:solidFill>
                  <a:schemeClr val="bg1"/>
                </a:solidFill>
              </a:rPr>
              <a:t>Symbiosis Institute of Technology, Pune</a:t>
            </a:r>
          </a:p>
          <a:p>
            <a:pPr algn="ctr"/>
            <a:r>
              <a:rPr lang="en-US" sz="1350" dirty="0">
                <a:solidFill>
                  <a:schemeClr val="bg1"/>
                </a:solidFill>
              </a:rPr>
              <a:t>Symbiosis International (Deemed University), Pune</a:t>
            </a:r>
            <a:endParaRPr lang="en-IN" sz="1350" dirty="0">
              <a:solidFill>
                <a:schemeClr val="bg1"/>
              </a:solidFill>
            </a:endParaRPr>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2003288"/>
            <a:ext cx="6858000" cy="310144"/>
          </a:xfrm>
        </p:spPr>
        <p:txBody>
          <a:bodyPr anchor="b">
            <a:noAutofit/>
          </a:bodyPr>
          <a:lstStyle>
            <a:lvl1pPr marL="0" indent="0" algn="ctr">
              <a:buNone/>
              <a:defRPr sz="16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2"/>
            <a:ext cx="6858000" cy="310145"/>
          </a:xfrm>
        </p:spPr>
        <p:txBody>
          <a:bodyPr anchor="b">
            <a:normAutofit/>
          </a:bodyPr>
          <a:lstStyle>
            <a:lvl1pPr marL="0" indent="0" algn="ctr">
              <a:buNone/>
              <a:defRPr lang="en-US" sz="1400" kern="1200" dirty="0" smtClean="0">
                <a:solidFill>
                  <a:schemeClr val="tx1"/>
                </a:solidFill>
                <a:latin typeface="Heltevica"/>
                <a:ea typeface="+mn-ea"/>
                <a:cs typeface="+mn-cs"/>
              </a:defRPr>
            </a:lvl1pPr>
          </a:lstStyle>
          <a:p>
            <a:pPr lvl="0"/>
            <a:r>
              <a:rPr lang="en-US" dirty="0"/>
              <a:t>Topic No</a:t>
            </a:r>
          </a:p>
        </p:txBody>
      </p:sp>
      <p:pic>
        <p:nvPicPr>
          <p:cNvPr id="5" name="Picture 4" descr="A close up of a flag&#10;&#10;Description automatically generated">
            <a:extLst>
              <a:ext uri="{FF2B5EF4-FFF2-40B4-BE49-F238E27FC236}">
                <a16:creationId xmlns:a16="http://schemas.microsoft.com/office/drawing/2014/main" id="{2DF4442B-1458-47C4-AB97-03B3B3551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1851" y="42673"/>
            <a:ext cx="1680295" cy="1822794"/>
          </a:xfrm>
          <a:prstGeom prst="rect">
            <a:avLst/>
          </a:prstGeom>
        </p:spPr>
      </p:pic>
    </p:spTree>
    <p:extLst>
      <p:ext uri="{BB962C8B-B14F-4D97-AF65-F5344CB8AC3E}">
        <p14:creationId xmlns:p14="http://schemas.microsoft.com/office/powerpoint/2010/main" val="1411255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594B-7319-4482-9AE6-EC74EAE59749}"/>
              </a:ext>
            </a:extLst>
          </p:cNvPr>
          <p:cNvSpPr>
            <a:spLocks noGrp="1"/>
          </p:cNvSpPr>
          <p:nvPr>
            <p:ph type="title"/>
          </p:nvPr>
        </p:nvSpPr>
        <p:spPr/>
        <p:txBody>
          <a:bodyPr>
            <a:normAutofit/>
          </a:bodyPr>
          <a:lstStyle>
            <a:lvl1pPr>
              <a:defRPr sz="3300" b="0">
                <a:solidFill>
                  <a:srgbClr val="332F67"/>
                </a:solidFill>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479A3243-F8F1-4735-84CB-DA267F6B0090}"/>
              </a:ext>
            </a:extLst>
          </p:cNvPr>
          <p:cNvSpPr>
            <a:spLocks noGrp="1"/>
          </p:cNvSpPr>
          <p:nvPr>
            <p:ph idx="1"/>
          </p:nvPr>
        </p:nvSpPr>
        <p:spPr/>
        <p:txBody>
          <a:bodyPr>
            <a:normAutofit/>
          </a:bodyPr>
          <a:lstStyle>
            <a:lvl1pPr>
              <a:defRPr sz="2400"/>
            </a:lvl1pPr>
            <a:lvl2pPr>
              <a:defRPr sz="20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6D77AE67-A40B-4B1F-A27D-C82248E89D6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D77F67E-3AA0-4A75-BE19-C1FBBDF8929B}"/>
              </a:ext>
            </a:extLst>
          </p:cNvPr>
          <p:cNvSpPr>
            <a:spLocks noGrp="1"/>
          </p:cNvSpPr>
          <p:nvPr>
            <p:ph type="ftr" sz="quarter" idx="11"/>
          </p:nvPr>
        </p:nvSpPr>
        <p:spPr/>
        <p:txBody>
          <a:bodyPr/>
          <a:lstStyle/>
          <a:p>
            <a:endParaRPr lang="en-IN"/>
          </a:p>
        </p:txBody>
      </p:sp>
      <p:sp>
        <p:nvSpPr>
          <p:cNvPr id="7" name="Rectangle 6">
            <a:extLst>
              <a:ext uri="{FF2B5EF4-FFF2-40B4-BE49-F238E27FC236}">
                <a16:creationId xmlns:a16="http://schemas.microsoft.com/office/drawing/2014/main" id="{88852C82-4A16-49D7-B656-0C87A0035C91}"/>
              </a:ext>
            </a:extLst>
          </p:cNvPr>
          <p:cNvSpPr/>
          <p:nvPr/>
        </p:nvSpPr>
        <p:spPr>
          <a:xfrm>
            <a:off x="264968" y="958206"/>
            <a:ext cx="1220933" cy="66389"/>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IN" sz="1350"/>
          </a:p>
        </p:txBody>
      </p:sp>
      <p:sp>
        <p:nvSpPr>
          <p:cNvPr id="8" name="Rectangle 7">
            <a:extLst>
              <a:ext uri="{FF2B5EF4-FFF2-40B4-BE49-F238E27FC236}">
                <a16:creationId xmlns:a16="http://schemas.microsoft.com/office/drawing/2014/main" id="{B26B0F06-65D7-4190-8F22-D7DE75D4ECA7}"/>
              </a:ext>
            </a:extLst>
          </p:cNvPr>
          <p:cNvSpPr/>
          <p:nvPr/>
        </p:nvSpPr>
        <p:spPr>
          <a:xfrm>
            <a:off x="140277" y="1014487"/>
            <a:ext cx="1220933" cy="66389"/>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1" name="Rectangle 10">
            <a:extLst>
              <a:ext uri="{FF2B5EF4-FFF2-40B4-BE49-F238E27FC236}">
                <a16:creationId xmlns:a16="http://schemas.microsoft.com/office/drawing/2014/main" id="{74162228-2F01-4EEE-AD7A-2F409DF7C57C}"/>
              </a:ext>
            </a:extLst>
          </p:cNvPr>
          <p:cNvSpPr/>
          <p:nvPr/>
        </p:nvSpPr>
        <p:spPr>
          <a:xfrm>
            <a:off x="0" y="6771574"/>
            <a:ext cx="9144000" cy="117054"/>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a:extLst>
              <a:ext uri="{FF2B5EF4-FFF2-40B4-BE49-F238E27FC236}">
                <a16:creationId xmlns:a16="http://schemas.microsoft.com/office/drawing/2014/main" id="{321410FE-2DC4-4765-BF39-99EFA09F0274}"/>
              </a:ext>
            </a:extLst>
          </p:cNvPr>
          <p:cNvSpPr/>
          <p:nvPr/>
        </p:nvSpPr>
        <p:spPr>
          <a:xfrm>
            <a:off x="0" y="6654520"/>
            <a:ext cx="9144000" cy="117054"/>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3" name="Slide Number Placeholder 5">
            <a:extLst>
              <a:ext uri="{FF2B5EF4-FFF2-40B4-BE49-F238E27FC236}">
                <a16:creationId xmlns:a16="http://schemas.microsoft.com/office/drawing/2014/main" id="{81ADC20A-2C04-4929-9AFF-53516860E0A9}"/>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98AF7D0-B530-437A-8244-231A0C0FDB3D}" type="slidenum">
              <a:rPr lang="en-IN" smtClean="0"/>
              <a:t>‹#›</a:t>
            </a:fld>
            <a:endParaRPr lang="en-IN"/>
          </a:p>
        </p:txBody>
      </p:sp>
    </p:spTree>
    <p:extLst>
      <p:ext uri="{BB962C8B-B14F-4D97-AF65-F5344CB8AC3E}">
        <p14:creationId xmlns:p14="http://schemas.microsoft.com/office/powerpoint/2010/main" val="2984656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B0FE-B0C9-46D8-967A-59F65C29CA62}"/>
              </a:ext>
            </a:extLst>
          </p:cNvPr>
          <p:cNvSpPr>
            <a:spLocks noGrp="1"/>
          </p:cNvSpPr>
          <p:nvPr>
            <p:ph type="title"/>
          </p:nvPr>
        </p:nvSpPr>
        <p:spPr/>
        <p:txBody>
          <a:bodyPr>
            <a:normAutofit/>
          </a:bodyPr>
          <a:lstStyle>
            <a:lvl1pPr>
              <a:defRPr lang="en-IN" sz="3300" b="0" kern="1200" dirty="0">
                <a:solidFill>
                  <a:srgbClr val="332F67"/>
                </a:solidFill>
                <a:latin typeface="Heltevica"/>
                <a:ea typeface="+mj-ea"/>
                <a:cs typeface="+mj-cs"/>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A3B0EF4-6523-4FDF-9387-11EDF933572F}"/>
              </a:ext>
            </a:extLst>
          </p:cNvPr>
          <p:cNvSpPr>
            <a:spLocks noGrp="1"/>
          </p:cNvSpPr>
          <p:nvPr>
            <p:ph sz="half" idx="1"/>
          </p:nvPr>
        </p:nvSpPr>
        <p:spPr>
          <a:xfrm>
            <a:off x="264969" y="1231164"/>
            <a:ext cx="3990110"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Content Placeholder 3">
            <a:extLst>
              <a:ext uri="{FF2B5EF4-FFF2-40B4-BE49-F238E27FC236}">
                <a16:creationId xmlns:a16="http://schemas.microsoft.com/office/drawing/2014/main" id="{4735B17C-E2ED-4325-9395-D7777E4E00B0}"/>
              </a:ext>
            </a:extLst>
          </p:cNvPr>
          <p:cNvSpPr>
            <a:spLocks noGrp="1"/>
          </p:cNvSpPr>
          <p:nvPr>
            <p:ph sz="half" idx="2"/>
          </p:nvPr>
        </p:nvSpPr>
        <p:spPr>
          <a:xfrm>
            <a:off x="4333009" y="1243731"/>
            <a:ext cx="4436918"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Date Placeholder 4">
            <a:extLst>
              <a:ext uri="{FF2B5EF4-FFF2-40B4-BE49-F238E27FC236}">
                <a16:creationId xmlns:a16="http://schemas.microsoft.com/office/drawing/2014/main" id="{855CC4BF-0660-43CA-8A30-0CC8E64C82A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E034424-C002-49F8-9B63-DD7D1B680B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5CBC22-DB28-4B66-B924-84922D8951C0}"/>
              </a:ext>
            </a:extLst>
          </p:cNvPr>
          <p:cNvSpPr>
            <a:spLocks noGrp="1"/>
          </p:cNvSpPr>
          <p:nvPr>
            <p:ph type="sldNum" sz="quarter" idx="12"/>
          </p:nvPr>
        </p:nvSpPr>
        <p:spPr/>
        <p:txBody>
          <a:bodyPr/>
          <a:lstStyle/>
          <a:p>
            <a:fld id="{C98AF7D0-B530-437A-8244-231A0C0FDB3D}" type="slidenum">
              <a:rPr lang="en-IN" smtClean="0"/>
              <a:t>‹#›</a:t>
            </a:fld>
            <a:endParaRPr lang="en-IN"/>
          </a:p>
        </p:txBody>
      </p:sp>
      <p:sp>
        <p:nvSpPr>
          <p:cNvPr id="13" name="Rectangle 12">
            <a:extLst>
              <a:ext uri="{FF2B5EF4-FFF2-40B4-BE49-F238E27FC236}">
                <a16:creationId xmlns:a16="http://schemas.microsoft.com/office/drawing/2014/main" id="{186E378A-DD55-48C3-AD5C-CA0CBE50F347}"/>
              </a:ext>
            </a:extLst>
          </p:cNvPr>
          <p:cNvSpPr/>
          <p:nvPr/>
        </p:nvSpPr>
        <p:spPr>
          <a:xfrm>
            <a:off x="264968" y="958206"/>
            <a:ext cx="1220933" cy="66389"/>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IN" sz="1350"/>
          </a:p>
        </p:txBody>
      </p:sp>
      <p:sp>
        <p:nvSpPr>
          <p:cNvPr id="14" name="Rectangle 13">
            <a:extLst>
              <a:ext uri="{FF2B5EF4-FFF2-40B4-BE49-F238E27FC236}">
                <a16:creationId xmlns:a16="http://schemas.microsoft.com/office/drawing/2014/main" id="{B977C1A7-BF20-4BA3-B34D-DC7359F5FA43}"/>
              </a:ext>
            </a:extLst>
          </p:cNvPr>
          <p:cNvSpPr/>
          <p:nvPr/>
        </p:nvSpPr>
        <p:spPr>
          <a:xfrm>
            <a:off x="140277" y="1014487"/>
            <a:ext cx="1220933" cy="66389"/>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5" name="Rectangle 14">
            <a:extLst>
              <a:ext uri="{FF2B5EF4-FFF2-40B4-BE49-F238E27FC236}">
                <a16:creationId xmlns:a16="http://schemas.microsoft.com/office/drawing/2014/main" id="{EDB57332-A349-432B-B02F-7BCBBC233D65}"/>
              </a:ext>
            </a:extLst>
          </p:cNvPr>
          <p:cNvSpPr/>
          <p:nvPr/>
        </p:nvSpPr>
        <p:spPr>
          <a:xfrm>
            <a:off x="0" y="6771574"/>
            <a:ext cx="9144000" cy="117054"/>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6" name="Rectangle 15">
            <a:extLst>
              <a:ext uri="{FF2B5EF4-FFF2-40B4-BE49-F238E27FC236}">
                <a16:creationId xmlns:a16="http://schemas.microsoft.com/office/drawing/2014/main" id="{659968E5-F323-45CB-B228-3E15CC0BB13F}"/>
              </a:ext>
            </a:extLst>
          </p:cNvPr>
          <p:cNvSpPr/>
          <p:nvPr/>
        </p:nvSpPr>
        <p:spPr>
          <a:xfrm>
            <a:off x="0" y="6654520"/>
            <a:ext cx="9144000" cy="117054"/>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Tree>
    <p:extLst>
      <p:ext uri="{BB962C8B-B14F-4D97-AF65-F5344CB8AC3E}">
        <p14:creationId xmlns:p14="http://schemas.microsoft.com/office/powerpoint/2010/main" val="3726897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2B25-6E11-4856-AAF4-F22FE611F78B}"/>
              </a:ext>
            </a:extLst>
          </p:cNvPr>
          <p:cNvSpPr>
            <a:spLocks noGrp="1"/>
          </p:cNvSpPr>
          <p:nvPr>
            <p:ph type="title"/>
          </p:nvPr>
        </p:nvSpPr>
        <p:spPr/>
        <p:txBody>
          <a:bodyPr>
            <a:normAutofit/>
          </a:bodyPr>
          <a:lstStyle>
            <a:lvl1pPr algn="l" defTabSz="685800" rtl="0" eaLnBrk="1" latinLnBrk="0" hangingPunct="1">
              <a:lnSpc>
                <a:spcPct val="90000"/>
              </a:lnSpc>
              <a:spcBef>
                <a:spcPct val="0"/>
              </a:spcBef>
              <a:buNone/>
              <a:defRPr lang="en-IN" sz="3300" b="0" kern="1200" dirty="0">
                <a:solidFill>
                  <a:srgbClr val="332F67"/>
                </a:solidFill>
                <a:latin typeface="Heltevica"/>
                <a:ea typeface="+mj-ea"/>
                <a:cs typeface="+mj-cs"/>
              </a:defRPr>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93354B81-59A8-48C7-8518-D239829056E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982351E8-DFDA-4AD5-9E81-156C7B0142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4DAFD8-4E1C-423C-A8FA-9E4FEB75762A}"/>
              </a:ext>
            </a:extLst>
          </p:cNvPr>
          <p:cNvSpPr>
            <a:spLocks noGrp="1"/>
          </p:cNvSpPr>
          <p:nvPr>
            <p:ph type="sldNum" sz="quarter" idx="12"/>
          </p:nvPr>
        </p:nvSpPr>
        <p:spPr/>
        <p:txBody>
          <a:bodyPr/>
          <a:lstStyle/>
          <a:p>
            <a:fld id="{C98AF7D0-B530-437A-8244-231A0C0FDB3D}" type="slidenum">
              <a:rPr lang="en-IN" smtClean="0"/>
              <a:t>‹#›</a:t>
            </a:fld>
            <a:endParaRPr lang="en-IN"/>
          </a:p>
        </p:txBody>
      </p:sp>
      <p:sp>
        <p:nvSpPr>
          <p:cNvPr id="11" name="Rectangle 10">
            <a:extLst>
              <a:ext uri="{FF2B5EF4-FFF2-40B4-BE49-F238E27FC236}">
                <a16:creationId xmlns:a16="http://schemas.microsoft.com/office/drawing/2014/main" id="{A22963AC-3BF1-4312-B24D-2347D4903EA0}"/>
              </a:ext>
            </a:extLst>
          </p:cNvPr>
          <p:cNvSpPr/>
          <p:nvPr/>
        </p:nvSpPr>
        <p:spPr>
          <a:xfrm>
            <a:off x="264968" y="958206"/>
            <a:ext cx="1220933" cy="66389"/>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IN" sz="1350"/>
          </a:p>
        </p:txBody>
      </p:sp>
      <p:sp>
        <p:nvSpPr>
          <p:cNvPr id="12" name="Rectangle 11">
            <a:extLst>
              <a:ext uri="{FF2B5EF4-FFF2-40B4-BE49-F238E27FC236}">
                <a16:creationId xmlns:a16="http://schemas.microsoft.com/office/drawing/2014/main" id="{F8B92210-9FB2-49EF-BF86-96929A445850}"/>
              </a:ext>
            </a:extLst>
          </p:cNvPr>
          <p:cNvSpPr/>
          <p:nvPr/>
        </p:nvSpPr>
        <p:spPr>
          <a:xfrm>
            <a:off x="140277" y="1014487"/>
            <a:ext cx="1220933" cy="66389"/>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3" name="Rectangle 12">
            <a:extLst>
              <a:ext uri="{FF2B5EF4-FFF2-40B4-BE49-F238E27FC236}">
                <a16:creationId xmlns:a16="http://schemas.microsoft.com/office/drawing/2014/main" id="{B6DE5227-21BD-4CBF-924A-6D9D641EEDEA}"/>
              </a:ext>
            </a:extLst>
          </p:cNvPr>
          <p:cNvSpPr/>
          <p:nvPr/>
        </p:nvSpPr>
        <p:spPr>
          <a:xfrm>
            <a:off x="0" y="6771574"/>
            <a:ext cx="9144000" cy="117054"/>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4" name="Rectangle 13">
            <a:extLst>
              <a:ext uri="{FF2B5EF4-FFF2-40B4-BE49-F238E27FC236}">
                <a16:creationId xmlns:a16="http://schemas.microsoft.com/office/drawing/2014/main" id="{875D137D-DC35-4CF4-A41F-BB4AEEDC7123}"/>
              </a:ext>
            </a:extLst>
          </p:cNvPr>
          <p:cNvSpPr/>
          <p:nvPr/>
        </p:nvSpPr>
        <p:spPr>
          <a:xfrm>
            <a:off x="0" y="6654520"/>
            <a:ext cx="9144000" cy="117054"/>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Tree>
    <p:extLst>
      <p:ext uri="{BB962C8B-B14F-4D97-AF65-F5344CB8AC3E}">
        <p14:creationId xmlns:p14="http://schemas.microsoft.com/office/powerpoint/2010/main" val="427559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8D782-20C8-4598-A8F3-747E12CD7E1A}"/>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0FB6E63E-6B58-4650-9F90-CE2F91057B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91653B-179B-4F04-A161-ACBF7210F1EC}"/>
              </a:ext>
            </a:extLst>
          </p:cNvPr>
          <p:cNvSpPr>
            <a:spLocks noGrp="1"/>
          </p:cNvSpPr>
          <p:nvPr>
            <p:ph type="sldNum" sz="quarter" idx="12"/>
          </p:nvPr>
        </p:nvSpPr>
        <p:spPr/>
        <p:txBody>
          <a:bodyPr/>
          <a:lstStyle/>
          <a:p>
            <a:fld id="{C98AF7D0-B530-437A-8244-231A0C0FDB3D}" type="slidenum">
              <a:rPr lang="en-IN" smtClean="0"/>
              <a:t>‹#›</a:t>
            </a:fld>
            <a:endParaRPr lang="en-IN"/>
          </a:p>
        </p:txBody>
      </p:sp>
      <p:sp>
        <p:nvSpPr>
          <p:cNvPr id="11" name="Rectangle 10">
            <a:extLst>
              <a:ext uri="{FF2B5EF4-FFF2-40B4-BE49-F238E27FC236}">
                <a16:creationId xmlns:a16="http://schemas.microsoft.com/office/drawing/2014/main" id="{818C89E3-4247-4FB0-BE20-A2D5892561D2}"/>
              </a:ext>
            </a:extLst>
          </p:cNvPr>
          <p:cNvSpPr/>
          <p:nvPr/>
        </p:nvSpPr>
        <p:spPr>
          <a:xfrm>
            <a:off x="0" y="6771574"/>
            <a:ext cx="9144000" cy="117054"/>
          </a:xfrm>
          <a:prstGeom prst="rect">
            <a:avLst/>
          </a:prstGeom>
          <a:solidFill>
            <a:srgbClr val="5D5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a:extLst>
              <a:ext uri="{FF2B5EF4-FFF2-40B4-BE49-F238E27FC236}">
                <a16:creationId xmlns:a16="http://schemas.microsoft.com/office/drawing/2014/main" id="{C5D98FD5-D4E3-4441-A554-284ADA5E11D2}"/>
              </a:ext>
            </a:extLst>
          </p:cNvPr>
          <p:cNvSpPr/>
          <p:nvPr/>
        </p:nvSpPr>
        <p:spPr>
          <a:xfrm>
            <a:off x="0" y="6654520"/>
            <a:ext cx="9144000" cy="117054"/>
          </a:xfrm>
          <a:prstGeom prst="rect">
            <a:avLst/>
          </a:prstGeom>
          <a:solidFill>
            <a:srgbClr val="DB787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Tree>
    <p:extLst>
      <p:ext uri="{BB962C8B-B14F-4D97-AF65-F5344CB8AC3E}">
        <p14:creationId xmlns:p14="http://schemas.microsoft.com/office/powerpoint/2010/main" val="3506997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8AF7D0-B530-437A-8244-231A0C0FDB3D}" type="slidenum">
              <a:rPr lang="en-IN" smtClean="0"/>
              <a:t>‹#›</a:t>
            </a:fld>
            <a:endParaRPr lang="en-IN"/>
          </a:p>
        </p:txBody>
      </p:sp>
    </p:spTree>
    <p:extLst>
      <p:ext uri="{BB962C8B-B14F-4D97-AF65-F5344CB8AC3E}">
        <p14:creationId xmlns:p14="http://schemas.microsoft.com/office/powerpoint/2010/main" val="3995051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C284A5-AAC1-4617-9E19-A03F505F72A1}"/>
              </a:ext>
            </a:extLst>
          </p:cNvPr>
          <p:cNvSpPr>
            <a:spLocks noGrp="1"/>
          </p:cNvSpPr>
          <p:nvPr>
            <p:ph type="title"/>
          </p:nvPr>
        </p:nvSpPr>
        <p:spPr>
          <a:xfrm>
            <a:off x="140277" y="182998"/>
            <a:ext cx="8827078" cy="933595"/>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354A981A-16BF-4617-8EAC-61D33DF233F1}"/>
              </a:ext>
            </a:extLst>
          </p:cNvPr>
          <p:cNvSpPr>
            <a:spLocks noGrp="1"/>
          </p:cNvSpPr>
          <p:nvPr>
            <p:ph type="body" idx="1"/>
          </p:nvPr>
        </p:nvSpPr>
        <p:spPr>
          <a:xfrm>
            <a:off x="140278" y="1343892"/>
            <a:ext cx="8827077" cy="50124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EF389CE9-5C11-4F6D-8B4A-88967385C018}"/>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76C91F2E-40CA-479B-A67D-57AF48BE3D71}"/>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34DC4F-E754-4B03-86E9-EA275293B0EE}"/>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98AF7D0-B530-437A-8244-231A0C0FDB3D}" type="slidenum">
              <a:rPr lang="en-IN" smtClean="0"/>
              <a:t>‹#›</a:t>
            </a:fld>
            <a:endParaRPr lang="en-IN"/>
          </a:p>
        </p:txBody>
      </p:sp>
    </p:spTree>
    <p:extLst>
      <p:ext uri="{BB962C8B-B14F-4D97-AF65-F5344CB8AC3E}">
        <p14:creationId xmlns:p14="http://schemas.microsoft.com/office/powerpoint/2010/main" val="39911103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hf hdr="0" ftr="0" dt="0"/>
  <p:txStyles>
    <p:titleStyle>
      <a:lvl1pPr algn="l" defTabSz="685800" rtl="0" eaLnBrk="1" latinLnBrk="0" hangingPunct="1">
        <a:lnSpc>
          <a:spcPct val="90000"/>
        </a:lnSpc>
        <a:spcBef>
          <a:spcPct val="0"/>
        </a:spcBef>
        <a:buNone/>
        <a:defRPr sz="3300" kern="1200">
          <a:solidFill>
            <a:schemeClr val="tx1"/>
          </a:solidFill>
          <a:latin typeface="Heltevica"/>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Heltevica"/>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Heltevic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Heltevica"/>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Heltevica"/>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Heltevica"/>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Using Shared memory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1</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fontScale="92500"/>
          </a:bodyPr>
          <a:lstStyle/>
          <a:p>
            <a:r>
              <a:rPr lang="en-US" altLang="en-US" sz="3200" dirty="0"/>
              <a:t>Normally, the Unix kernel prohibits one process from accessing (reading, writing) memory belonging to another process</a:t>
            </a:r>
          </a:p>
          <a:p>
            <a:r>
              <a:rPr lang="en-US" altLang="en-US" sz="3200" dirty="0"/>
              <a:t>Sometimes, however, this restriction is inconvenient</a:t>
            </a:r>
          </a:p>
          <a:p>
            <a:r>
              <a:rPr lang="en-US" altLang="en-US" sz="3200" dirty="0"/>
              <a:t>At such times, System V IPC Shared Memory can be created to specifically allow on process to read and/or write to memory created by another process</a:t>
            </a:r>
          </a:p>
          <a:p>
            <a:pPr>
              <a:lnSpc>
                <a:spcPct val="100000"/>
              </a:lnSpc>
            </a:pPr>
            <a:r>
              <a:rPr lang="en-US" sz="3200" dirty="0"/>
              <a:t>It allows two unrelated processes to access the same logical memory. </a:t>
            </a:r>
          </a:p>
          <a:p>
            <a:pPr>
              <a:lnSpc>
                <a:spcPct val="100000"/>
              </a:lnSpc>
            </a:pPr>
            <a:r>
              <a:rPr lang="en-US" sz="3200" dirty="0"/>
              <a:t>Shared memory is a very efficient way of transferring data between two running processes. </a:t>
            </a:r>
            <a:endParaRPr lang="en-US" altLang="en-US" sz="3200" dirty="0"/>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255386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Advantages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2</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altLang="en-US" sz="3600" dirty="0"/>
              <a:t>Random Access</a:t>
            </a:r>
          </a:p>
          <a:p>
            <a:pPr lvl="1">
              <a:lnSpc>
                <a:spcPct val="80000"/>
              </a:lnSpc>
            </a:pPr>
            <a:r>
              <a:rPr lang="en-US" altLang="en-US" sz="2800" dirty="0"/>
              <a:t>you can update a small piece in the middle of a data structure, rather than the entire structure</a:t>
            </a:r>
          </a:p>
          <a:p>
            <a:pPr>
              <a:lnSpc>
                <a:spcPct val="80000"/>
              </a:lnSpc>
            </a:pPr>
            <a:r>
              <a:rPr lang="en-US" altLang="en-US" sz="3600" dirty="0"/>
              <a:t>Efficiency</a:t>
            </a:r>
          </a:p>
          <a:p>
            <a:pPr lvl="1">
              <a:lnSpc>
                <a:spcPct val="80000"/>
              </a:lnSpc>
            </a:pPr>
            <a:r>
              <a:rPr lang="en-US" altLang="en-US" sz="2800" dirty="0"/>
              <a:t>unlike message queues and pipes, which copy data from the process </a:t>
            </a:r>
            <a:r>
              <a:rPr lang="en-US" altLang="en-US" sz="2800" i="1" dirty="0"/>
              <a:t>into</a:t>
            </a:r>
            <a:r>
              <a:rPr lang="en-US" altLang="en-US" sz="2800" dirty="0"/>
              <a:t> memory within the kernel, shared memory is directly accessed</a:t>
            </a:r>
          </a:p>
          <a:p>
            <a:pPr lvl="1">
              <a:lnSpc>
                <a:spcPct val="80000"/>
              </a:lnSpc>
            </a:pPr>
            <a:r>
              <a:rPr lang="en-US" altLang="en-US" sz="2800" dirty="0"/>
              <a:t>Shared memory resides in the user process memory, and is then shared among other processes</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31172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Disadvantages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3</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altLang="en-US" sz="3600" dirty="0"/>
              <a:t>No automatic synchronization as in pipes or message queues (you have to provide any synchronization).  Synchronize with </a:t>
            </a:r>
            <a:r>
              <a:rPr lang="en-US" altLang="en-US" sz="3600" i="1" dirty="0"/>
              <a:t>semaphores</a:t>
            </a:r>
            <a:r>
              <a:rPr lang="en-US" altLang="en-US" sz="3600" dirty="0"/>
              <a:t> or signals.</a:t>
            </a:r>
          </a:p>
          <a:p>
            <a:pPr>
              <a:lnSpc>
                <a:spcPct val="80000"/>
              </a:lnSpc>
            </a:pPr>
            <a:r>
              <a:rPr lang="en-US" altLang="en-US" sz="3600" dirty="0"/>
              <a:t>You must remember that pointers are only valid within a given process.  Thus, pointer offsets cannot be assumed to be valid across inter-process boundaries.  This complicates the sharing of linked lists or binary trees.</a:t>
            </a: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132077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Usage of Shared Memory</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4</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pPr>
            <a:r>
              <a:rPr lang="en-US" sz="3200" dirty="0"/>
              <a:t>Shared memory is a special range of addresses that is created by IPC for one process and appears in the address space of that process.</a:t>
            </a:r>
          </a:p>
          <a:p>
            <a:pPr>
              <a:lnSpc>
                <a:spcPct val="80000"/>
              </a:lnSpc>
            </a:pPr>
            <a:r>
              <a:rPr lang="en-US" sz="3200" dirty="0"/>
              <a:t>Other processes can then “attach” the same shared memory segment into their own address space. All processes can access the memory locations just as if the memory had been allocated by malloc .</a:t>
            </a:r>
          </a:p>
          <a:p>
            <a:pPr>
              <a:lnSpc>
                <a:spcPct val="80000"/>
              </a:lnSpc>
            </a:pPr>
            <a:r>
              <a:rPr lang="en-US" sz="3200" dirty="0"/>
              <a:t>If one process writes to the shared memory, the changes immediately become visible to any other process that has access to the same shared memory.</a:t>
            </a:r>
            <a:endParaRPr lang="en-IN" sz="2800" dirty="0"/>
          </a:p>
        </p:txBody>
      </p:sp>
    </p:spTree>
    <p:extLst>
      <p:ext uri="{BB962C8B-B14F-4D97-AF65-F5344CB8AC3E}">
        <p14:creationId xmlns:p14="http://schemas.microsoft.com/office/powerpoint/2010/main" val="2062316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Functions for using Shared Memory (old style)</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5</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lnSpcReduction="10000"/>
          </a:bodyPr>
          <a:lstStyle/>
          <a:p>
            <a:pPr>
              <a:lnSpc>
                <a:spcPct val="80000"/>
              </a:lnSpc>
            </a:pPr>
            <a:r>
              <a:rPr lang="en-IN" sz="2800" dirty="0"/>
              <a:t>The functions for shared memory </a:t>
            </a:r>
          </a:p>
          <a:p>
            <a:pPr marL="0" indent="0">
              <a:lnSpc>
                <a:spcPct val="80000"/>
              </a:lnSpc>
              <a:buNone/>
            </a:pPr>
            <a:r>
              <a:rPr lang="en-IN" sz="2800" dirty="0">
                <a:solidFill>
                  <a:schemeClr val="accent5">
                    <a:lumMod val="75000"/>
                  </a:schemeClr>
                </a:solidFill>
              </a:rPr>
              <a:t> #include &lt;sys/</a:t>
            </a:r>
            <a:r>
              <a:rPr lang="en-IN" sz="2800" dirty="0" err="1">
                <a:solidFill>
                  <a:schemeClr val="accent5">
                    <a:lumMod val="75000"/>
                  </a:schemeClr>
                </a:solidFill>
              </a:rPr>
              <a:t>shm.h</a:t>
            </a:r>
            <a:r>
              <a:rPr lang="en-IN" sz="2800" dirty="0">
                <a:solidFill>
                  <a:schemeClr val="accent5">
                    <a:lumMod val="75000"/>
                  </a:schemeClr>
                </a:solidFill>
              </a:rPr>
              <a:t>&gt;</a:t>
            </a:r>
          </a:p>
          <a:p>
            <a:pPr marL="0" indent="0">
              <a:lnSpc>
                <a:spcPct val="80000"/>
              </a:lnSpc>
              <a:buNone/>
            </a:pPr>
            <a:r>
              <a:rPr lang="en-IN" sz="2800" dirty="0">
                <a:solidFill>
                  <a:schemeClr val="accent5">
                    <a:lumMod val="75000"/>
                  </a:schemeClr>
                </a:solidFill>
              </a:rPr>
              <a:t>Get a shared memory block -</a:t>
            </a:r>
          </a:p>
          <a:p>
            <a:pPr marL="0" indent="0">
              <a:lnSpc>
                <a:spcPct val="80000"/>
              </a:lnSpc>
              <a:buNone/>
            </a:pPr>
            <a:r>
              <a:rPr lang="en-IN" sz="2800" dirty="0">
                <a:solidFill>
                  <a:srgbClr val="FF0000"/>
                </a:solidFill>
              </a:rPr>
              <a:t>int </a:t>
            </a:r>
            <a:r>
              <a:rPr lang="en-IN" sz="2800" dirty="0" err="1">
                <a:solidFill>
                  <a:srgbClr val="FF0000"/>
                </a:solidFill>
              </a:rPr>
              <a:t>shmget</a:t>
            </a:r>
            <a:r>
              <a:rPr lang="en-IN" sz="2800" dirty="0">
                <a:solidFill>
                  <a:srgbClr val="FF0000"/>
                </a:solidFill>
              </a:rPr>
              <a:t>(</a:t>
            </a:r>
            <a:r>
              <a:rPr lang="en-IN" sz="2800" dirty="0" err="1">
                <a:solidFill>
                  <a:srgbClr val="FF0000"/>
                </a:solidFill>
              </a:rPr>
              <a:t>key_t</a:t>
            </a:r>
            <a:r>
              <a:rPr lang="en-IN" sz="2800" dirty="0">
                <a:solidFill>
                  <a:srgbClr val="FF0000"/>
                </a:solidFill>
              </a:rPr>
              <a:t> key, </a:t>
            </a:r>
            <a:r>
              <a:rPr lang="en-IN" sz="2800" dirty="0" err="1">
                <a:solidFill>
                  <a:srgbClr val="FF0000"/>
                </a:solidFill>
              </a:rPr>
              <a:t>size_t</a:t>
            </a:r>
            <a:r>
              <a:rPr lang="en-IN" sz="2800" dirty="0">
                <a:solidFill>
                  <a:srgbClr val="FF0000"/>
                </a:solidFill>
              </a:rPr>
              <a:t> size, int </a:t>
            </a:r>
            <a:r>
              <a:rPr lang="en-IN" sz="2800" dirty="0" err="1">
                <a:solidFill>
                  <a:srgbClr val="FF0000"/>
                </a:solidFill>
              </a:rPr>
              <a:t>shmflg</a:t>
            </a:r>
            <a:r>
              <a:rPr lang="en-IN" sz="2800" dirty="0">
                <a:solidFill>
                  <a:srgbClr val="FF0000"/>
                </a:solidFill>
              </a:rPr>
              <a:t>); </a:t>
            </a:r>
          </a:p>
          <a:p>
            <a:pPr marL="0" indent="0">
              <a:lnSpc>
                <a:spcPct val="80000"/>
              </a:lnSpc>
              <a:buNone/>
            </a:pPr>
            <a:r>
              <a:rPr lang="en-IN" sz="2800" dirty="0">
                <a:solidFill>
                  <a:schemeClr val="accent5">
                    <a:lumMod val="75000"/>
                  </a:schemeClr>
                </a:solidFill>
              </a:rPr>
              <a:t>Attach to a shared memory block -</a:t>
            </a:r>
          </a:p>
          <a:p>
            <a:pPr marL="0" indent="0">
              <a:lnSpc>
                <a:spcPct val="80000"/>
              </a:lnSpc>
              <a:buNone/>
            </a:pPr>
            <a:r>
              <a:rPr lang="en-IN" sz="2800" dirty="0">
                <a:solidFill>
                  <a:srgbClr val="FF0000"/>
                </a:solidFill>
              </a:rPr>
              <a:t>void *</a:t>
            </a:r>
            <a:r>
              <a:rPr lang="en-IN" sz="2800" dirty="0" err="1">
                <a:solidFill>
                  <a:srgbClr val="FF0000"/>
                </a:solidFill>
              </a:rPr>
              <a:t>shmat</a:t>
            </a:r>
            <a:r>
              <a:rPr lang="en-IN" sz="2800" dirty="0">
                <a:solidFill>
                  <a:srgbClr val="FF0000"/>
                </a:solidFill>
              </a:rPr>
              <a:t>(int </a:t>
            </a:r>
            <a:r>
              <a:rPr lang="en-IN" sz="2800" dirty="0" err="1">
                <a:solidFill>
                  <a:srgbClr val="FF0000"/>
                </a:solidFill>
              </a:rPr>
              <a:t>shm_id</a:t>
            </a:r>
            <a:r>
              <a:rPr lang="en-IN" sz="2800" dirty="0">
                <a:solidFill>
                  <a:srgbClr val="FF0000"/>
                </a:solidFill>
              </a:rPr>
              <a:t>, </a:t>
            </a:r>
            <a:r>
              <a:rPr lang="en-IN" sz="2800" dirty="0" err="1">
                <a:solidFill>
                  <a:srgbClr val="FF0000"/>
                </a:solidFill>
              </a:rPr>
              <a:t>const</a:t>
            </a:r>
            <a:r>
              <a:rPr lang="en-IN" sz="2800" dirty="0">
                <a:solidFill>
                  <a:srgbClr val="FF0000"/>
                </a:solidFill>
              </a:rPr>
              <a:t> void *</a:t>
            </a:r>
            <a:r>
              <a:rPr lang="en-IN" sz="2800" dirty="0" err="1">
                <a:solidFill>
                  <a:srgbClr val="FF0000"/>
                </a:solidFill>
              </a:rPr>
              <a:t>shm_addr</a:t>
            </a:r>
            <a:r>
              <a:rPr lang="en-IN" sz="2800" dirty="0">
                <a:solidFill>
                  <a:srgbClr val="FF0000"/>
                </a:solidFill>
              </a:rPr>
              <a:t>, int </a:t>
            </a:r>
            <a:r>
              <a:rPr lang="en-IN" sz="2800" dirty="0" err="1">
                <a:solidFill>
                  <a:srgbClr val="FF0000"/>
                </a:solidFill>
              </a:rPr>
              <a:t>shmflg</a:t>
            </a:r>
            <a:r>
              <a:rPr lang="en-IN" sz="2800" dirty="0">
                <a:solidFill>
                  <a:srgbClr val="FF0000"/>
                </a:solidFill>
              </a:rPr>
              <a:t>); </a:t>
            </a:r>
          </a:p>
          <a:p>
            <a:pPr marL="0" indent="0">
              <a:lnSpc>
                <a:spcPct val="80000"/>
              </a:lnSpc>
              <a:buNone/>
            </a:pPr>
            <a:r>
              <a:rPr lang="en-IN" sz="2800" dirty="0">
                <a:solidFill>
                  <a:schemeClr val="accent5">
                    <a:lumMod val="75000"/>
                  </a:schemeClr>
                </a:solidFill>
              </a:rPr>
              <a:t>Shared memory control -</a:t>
            </a:r>
          </a:p>
          <a:p>
            <a:pPr marL="0" indent="0">
              <a:lnSpc>
                <a:spcPct val="80000"/>
              </a:lnSpc>
              <a:buNone/>
            </a:pPr>
            <a:r>
              <a:rPr lang="en-IN" sz="2800" dirty="0">
                <a:solidFill>
                  <a:srgbClr val="FF0000"/>
                </a:solidFill>
              </a:rPr>
              <a:t>int </a:t>
            </a:r>
            <a:r>
              <a:rPr lang="en-IN" sz="2800" dirty="0" err="1">
                <a:solidFill>
                  <a:srgbClr val="FF0000"/>
                </a:solidFill>
              </a:rPr>
              <a:t>shmctl</a:t>
            </a:r>
            <a:r>
              <a:rPr lang="en-IN" sz="2800" dirty="0">
                <a:solidFill>
                  <a:srgbClr val="FF0000"/>
                </a:solidFill>
              </a:rPr>
              <a:t>(int </a:t>
            </a:r>
            <a:r>
              <a:rPr lang="en-IN" sz="2800" dirty="0" err="1">
                <a:solidFill>
                  <a:srgbClr val="FF0000"/>
                </a:solidFill>
              </a:rPr>
              <a:t>shm_id</a:t>
            </a:r>
            <a:r>
              <a:rPr lang="en-IN" sz="2800" dirty="0">
                <a:solidFill>
                  <a:srgbClr val="FF0000"/>
                </a:solidFill>
              </a:rPr>
              <a:t>, int </a:t>
            </a:r>
            <a:r>
              <a:rPr lang="en-IN" sz="2800" dirty="0" err="1">
                <a:solidFill>
                  <a:srgbClr val="FF0000"/>
                </a:solidFill>
              </a:rPr>
              <a:t>cmd</a:t>
            </a:r>
            <a:r>
              <a:rPr lang="en-IN" sz="2800" dirty="0">
                <a:solidFill>
                  <a:srgbClr val="FF0000"/>
                </a:solidFill>
              </a:rPr>
              <a:t>, struct </a:t>
            </a:r>
            <a:r>
              <a:rPr lang="en-IN" sz="2800" dirty="0" err="1">
                <a:solidFill>
                  <a:srgbClr val="FF0000"/>
                </a:solidFill>
              </a:rPr>
              <a:t>shmid_ds</a:t>
            </a:r>
            <a:r>
              <a:rPr lang="en-IN" sz="2800" dirty="0">
                <a:solidFill>
                  <a:srgbClr val="FF0000"/>
                </a:solidFill>
              </a:rPr>
              <a:t> *</a:t>
            </a:r>
            <a:r>
              <a:rPr lang="en-IN" sz="2800" dirty="0" err="1">
                <a:solidFill>
                  <a:srgbClr val="FF0000"/>
                </a:solidFill>
              </a:rPr>
              <a:t>buf</a:t>
            </a:r>
            <a:r>
              <a:rPr lang="en-IN" sz="2800" dirty="0">
                <a:solidFill>
                  <a:srgbClr val="FF0000"/>
                </a:solidFill>
              </a:rPr>
              <a:t>); </a:t>
            </a:r>
          </a:p>
          <a:p>
            <a:pPr marL="0" indent="0">
              <a:buNone/>
            </a:pPr>
            <a:r>
              <a:rPr lang="en-IN" sz="2800" dirty="0">
                <a:solidFill>
                  <a:schemeClr val="accent5">
                    <a:lumMod val="75000"/>
                  </a:schemeClr>
                </a:solidFill>
              </a:rPr>
              <a:t>Shared memory detach -</a:t>
            </a:r>
          </a:p>
          <a:p>
            <a:pPr marL="0" indent="0">
              <a:lnSpc>
                <a:spcPct val="80000"/>
              </a:lnSpc>
              <a:buNone/>
            </a:pPr>
            <a:r>
              <a:rPr lang="en-IN" sz="2800" dirty="0">
                <a:solidFill>
                  <a:srgbClr val="FF0000"/>
                </a:solidFill>
              </a:rPr>
              <a:t>int </a:t>
            </a:r>
            <a:r>
              <a:rPr lang="en-IN" sz="2800" dirty="0" err="1">
                <a:solidFill>
                  <a:srgbClr val="FF0000"/>
                </a:solidFill>
              </a:rPr>
              <a:t>shmdt</a:t>
            </a:r>
            <a:r>
              <a:rPr lang="en-IN" sz="2800" dirty="0">
                <a:solidFill>
                  <a:srgbClr val="FF0000"/>
                </a:solidFill>
              </a:rPr>
              <a:t>(</a:t>
            </a:r>
            <a:r>
              <a:rPr lang="en-IN" sz="2800" dirty="0" err="1">
                <a:solidFill>
                  <a:srgbClr val="FF0000"/>
                </a:solidFill>
              </a:rPr>
              <a:t>const</a:t>
            </a:r>
            <a:r>
              <a:rPr lang="en-IN" sz="2800" dirty="0">
                <a:solidFill>
                  <a:srgbClr val="FF0000"/>
                </a:solidFill>
              </a:rPr>
              <a:t> void *</a:t>
            </a:r>
            <a:r>
              <a:rPr lang="en-IN" sz="2800" dirty="0" err="1">
                <a:solidFill>
                  <a:srgbClr val="FF0000"/>
                </a:solidFill>
              </a:rPr>
              <a:t>shm_addr</a:t>
            </a:r>
            <a:r>
              <a:rPr lang="en-IN" sz="2800" dirty="0">
                <a:solidFill>
                  <a:srgbClr val="FF0000"/>
                </a:solidFill>
              </a:rPr>
              <a:t>); </a:t>
            </a:r>
          </a:p>
          <a:p>
            <a:pPr marL="0" indent="0">
              <a:lnSpc>
                <a:spcPct val="80000"/>
              </a:lnSpc>
              <a:buNone/>
            </a:pPr>
            <a:endParaRPr lang="en-IN" sz="2800" dirty="0"/>
          </a:p>
          <a:p>
            <a:pPr>
              <a:lnSpc>
                <a:spcPct val="80000"/>
              </a:lnSpc>
            </a:pPr>
            <a:r>
              <a:rPr lang="en-IN" sz="2800" dirty="0"/>
              <a:t>As with semaphores, the include files sys/</a:t>
            </a:r>
            <a:r>
              <a:rPr lang="en-IN" sz="2800" dirty="0" err="1"/>
              <a:t>types.h</a:t>
            </a:r>
            <a:r>
              <a:rPr lang="en-IN" sz="2800" dirty="0"/>
              <a:t> and sys/</a:t>
            </a:r>
            <a:r>
              <a:rPr lang="en-IN" sz="2800" dirty="0" err="1"/>
              <a:t>ipc.h</a:t>
            </a:r>
            <a:r>
              <a:rPr lang="en-IN" sz="2800" dirty="0"/>
              <a:t> are normally automatically included by </a:t>
            </a:r>
            <a:r>
              <a:rPr lang="en-IN" sz="2800" dirty="0" err="1"/>
              <a:t>shm.h</a:t>
            </a:r>
            <a:r>
              <a:rPr lang="en-IN" sz="2800" dirty="0"/>
              <a:t> .</a:t>
            </a:r>
            <a:endParaRPr lang="en-IN" sz="3200" dirty="0"/>
          </a:p>
        </p:txBody>
      </p:sp>
    </p:spTree>
    <p:extLst>
      <p:ext uri="{BB962C8B-B14F-4D97-AF65-F5344CB8AC3E}">
        <p14:creationId xmlns:p14="http://schemas.microsoft.com/office/powerpoint/2010/main" val="749018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altLang="en-US" sz="3600" dirty="0"/>
              <a:t>Creating Shared Memory (Old Style)</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6</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90000"/>
              </a:lnSpc>
              <a:buFontTx/>
              <a:buNone/>
            </a:pPr>
            <a:r>
              <a:rPr lang="en-US" altLang="en-US" sz="2800" dirty="0">
                <a:solidFill>
                  <a:srgbClr val="2529C7"/>
                </a:solidFill>
              </a:rPr>
              <a:t>int </a:t>
            </a:r>
            <a:r>
              <a:rPr lang="en-US" altLang="en-US" sz="2800" dirty="0" err="1">
                <a:solidFill>
                  <a:srgbClr val="2529C7"/>
                </a:solidFill>
              </a:rPr>
              <a:t>shmget</a:t>
            </a:r>
            <a:r>
              <a:rPr lang="en-US" altLang="en-US" sz="2800" dirty="0">
                <a:solidFill>
                  <a:srgbClr val="2529C7"/>
                </a:solidFill>
              </a:rPr>
              <a:t>(</a:t>
            </a:r>
            <a:r>
              <a:rPr lang="en-US" altLang="en-US" sz="2800" dirty="0" err="1">
                <a:solidFill>
                  <a:srgbClr val="2529C7"/>
                </a:solidFill>
              </a:rPr>
              <a:t>key_t</a:t>
            </a:r>
            <a:r>
              <a:rPr lang="en-US" altLang="en-US" sz="2800" dirty="0">
                <a:solidFill>
                  <a:srgbClr val="2529C7"/>
                </a:solidFill>
              </a:rPr>
              <a:t> key, </a:t>
            </a:r>
            <a:r>
              <a:rPr lang="en-US" altLang="en-US" sz="2800" dirty="0" err="1">
                <a:solidFill>
                  <a:srgbClr val="2529C7"/>
                </a:solidFill>
              </a:rPr>
              <a:t>size_t</a:t>
            </a:r>
            <a:r>
              <a:rPr lang="en-US" altLang="en-US" sz="2800" dirty="0">
                <a:solidFill>
                  <a:srgbClr val="2529C7"/>
                </a:solidFill>
              </a:rPr>
              <a:t> size, int </a:t>
            </a:r>
            <a:r>
              <a:rPr lang="en-US" altLang="en-US" sz="2800" dirty="0" err="1">
                <a:solidFill>
                  <a:srgbClr val="2529C7"/>
                </a:solidFill>
              </a:rPr>
              <a:t>shmflg</a:t>
            </a:r>
            <a:r>
              <a:rPr lang="en-US" altLang="en-US" sz="2800" dirty="0">
                <a:solidFill>
                  <a:srgbClr val="2529C7"/>
                </a:solidFill>
              </a:rPr>
              <a:t>);</a:t>
            </a:r>
          </a:p>
          <a:p>
            <a:pPr>
              <a:lnSpc>
                <a:spcPct val="90000"/>
              </a:lnSpc>
            </a:pPr>
            <a:r>
              <a:rPr lang="en-US" altLang="en-US" sz="2800" dirty="0"/>
              <a:t>key is either a number or the constant IPC_PRIVATE (man </a:t>
            </a:r>
            <a:r>
              <a:rPr lang="en-US" altLang="en-US" sz="2800" dirty="0" err="1"/>
              <a:t>ftok</a:t>
            </a:r>
            <a:r>
              <a:rPr lang="en-US" altLang="en-US" sz="2800" dirty="0"/>
              <a:t>)</a:t>
            </a:r>
          </a:p>
          <a:p>
            <a:pPr>
              <a:lnSpc>
                <a:spcPct val="90000"/>
              </a:lnSpc>
            </a:pPr>
            <a:r>
              <a:rPr lang="en-US" altLang="en-US" sz="2800" dirty="0"/>
              <a:t>a </a:t>
            </a:r>
            <a:r>
              <a:rPr lang="en-US" altLang="en-US" sz="2800" dirty="0" err="1"/>
              <a:t>shmid</a:t>
            </a:r>
            <a:r>
              <a:rPr lang="en-US" altLang="en-US" sz="2800" dirty="0"/>
              <a:t> is returned</a:t>
            </a:r>
          </a:p>
          <a:p>
            <a:pPr>
              <a:lnSpc>
                <a:spcPct val="90000"/>
              </a:lnSpc>
            </a:pPr>
            <a:r>
              <a:rPr lang="en-US" altLang="en-US" sz="2800" dirty="0" err="1"/>
              <a:t>key_t</a:t>
            </a:r>
            <a:r>
              <a:rPr lang="en-US" altLang="en-US" sz="2800" dirty="0"/>
              <a:t> </a:t>
            </a:r>
            <a:r>
              <a:rPr lang="en-US" altLang="en-US" sz="2800" dirty="0" err="1"/>
              <a:t>ftok</a:t>
            </a:r>
            <a:r>
              <a:rPr lang="en-US" altLang="en-US" sz="2800" dirty="0"/>
              <a:t>(const char * path, int id) will return a key value for IPC usage</a:t>
            </a:r>
          </a:p>
          <a:p>
            <a:pPr>
              <a:lnSpc>
                <a:spcPct val="90000"/>
              </a:lnSpc>
            </a:pPr>
            <a:r>
              <a:rPr lang="en-US" altLang="en-US" sz="2800" dirty="0"/>
              <a:t>size is the size of the shared memory data</a:t>
            </a:r>
          </a:p>
          <a:p>
            <a:pPr>
              <a:lnSpc>
                <a:spcPct val="90000"/>
              </a:lnSpc>
            </a:pPr>
            <a:r>
              <a:rPr lang="en-US" altLang="en-US" sz="2800" dirty="0" err="1"/>
              <a:t>shmflg</a:t>
            </a:r>
            <a:r>
              <a:rPr lang="en-US" altLang="en-US" sz="2800" dirty="0"/>
              <a:t> is a rights mask (0666) </a:t>
            </a:r>
            <a:r>
              <a:rPr lang="en-US" altLang="en-US" sz="2800" dirty="0" err="1"/>
              <a:t>OR’d</a:t>
            </a:r>
            <a:r>
              <a:rPr lang="en-US" altLang="en-US" sz="2800" dirty="0"/>
              <a:t> with one of the following:</a:t>
            </a:r>
          </a:p>
          <a:p>
            <a:pPr lvl="1">
              <a:lnSpc>
                <a:spcPct val="80000"/>
              </a:lnSpc>
            </a:pPr>
            <a:r>
              <a:rPr lang="en-US" altLang="en-US" sz="2400" dirty="0"/>
              <a:t>IPC_CREAT		will create or attach</a:t>
            </a:r>
          </a:p>
          <a:p>
            <a:pPr lvl="1">
              <a:lnSpc>
                <a:spcPct val="80000"/>
              </a:lnSpc>
            </a:pPr>
            <a:r>
              <a:rPr lang="en-US" altLang="en-US" sz="2400" dirty="0"/>
              <a:t>IPC_EXCL		creates new or it will error </a:t>
            </a:r>
            <a:br>
              <a:rPr lang="en-US" altLang="en-US" sz="2400" dirty="0"/>
            </a:br>
            <a:r>
              <a:rPr lang="en-US" altLang="en-US" sz="2400" dirty="0"/>
              <a:t>				if it exists</a:t>
            </a: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299451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normAutofit/>
          </a:bodyPr>
          <a:lstStyle/>
          <a:p>
            <a:r>
              <a:rPr lang="en-US" altLang="en-US" sz="4000" dirty="0"/>
              <a:t>Attaching to Shared Memory</a:t>
            </a:r>
            <a:endParaRPr lang="en-IN" sz="2800"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7</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90000"/>
              </a:lnSpc>
            </a:pPr>
            <a:r>
              <a:rPr lang="en-US" altLang="en-US" sz="2800" dirty="0"/>
              <a:t>After obtaining a </a:t>
            </a:r>
            <a:r>
              <a:rPr lang="en-US" altLang="en-US" sz="2800" dirty="0" err="1"/>
              <a:t>shmid</a:t>
            </a:r>
            <a:r>
              <a:rPr lang="en-US" altLang="en-US" sz="2800" dirty="0"/>
              <a:t> from </a:t>
            </a:r>
            <a:r>
              <a:rPr lang="en-US" altLang="en-US" sz="2800" dirty="0" err="1"/>
              <a:t>shmget</a:t>
            </a:r>
            <a:r>
              <a:rPr lang="en-US" altLang="en-US" sz="2800" dirty="0"/>
              <a:t>(), you need to </a:t>
            </a:r>
            <a:r>
              <a:rPr lang="en-US" altLang="en-US" sz="2800" i="1" dirty="0"/>
              <a:t>attach</a:t>
            </a:r>
            <a:r>
              <a:rPr lang="en-US" altLang="en-US" sz="2800" dirty="0"/>
              <a:t> or map the shared memory segment to your data reference:</a:t>
            </a:r>
          </a:p>
          <a:p>
            <a:pPr>
              <a:lnSpc>
                <a:spcPct val="90000"/>
              </a:lnSpc>
              <a:buFontTx/>
              <a:buNone/>
            </a:pPr>
            <a:r>
              <a:rPr lang="en-US" altLang="en-US" sz="2400" dirty="0">
                <a:solidFill>
                  <a:srgbClr val="2529C7"/>
                </a:solidFill>
              </a:rPr>
              <a:t>void * </a:t>
            </a:r>
            <a:r>
              <a:rPr lang="en-US" altLang="en-US" sz="2400" dirty="0" err="1">
                <a:solidFill>
                  <a:srgbClr val="2529C7"/>
                </a:solidFill>
              </a:rPr>
              <a:t>shmat</a:t>
            </a:r>
            <a:r>
              <a:rPr lang="en-US" altLang="en-US" sz="2400" dirty="0">
                <a:solidFill>
                  <a:srgbClr val="2529C7"/>
                </a:solidFill>
              </a:rPr>
              <a:t>(int </a:t>
            </a:r>
            <a:r>
              <a:rPr lang="en-US" altLang="en-US" sz="2400" dirty="0" err="1">
                <a:solidFill>
                  <a:srgbClr val="2529C7"/>
                </a:solidFill>
              </a:rPr>
              <a:t>shmid</a:t>
            </a:r>
            <a:r>
              <a:rPr lang="en-US" altLang="en-US" sz="2400" dirty="0">
                <a:solidFill>
                  <a:srgbClr val="2529C7"/>
                </a:solidFill>
              </a:rPr>
              <a:t>, void * </a:t>
            </a:r>
            <a:r>
              <a:rPr lang="en-US" altLang="en-US" sz="2400" dirty="0" err="1">
                <a:solidFill>
                  <a:srgbClr val="2529C7"/>
                </a:solidFill>
              </a:rPr>
              <a:t>shmaddr</a:t>
            </a:r>
            <a:r>
              <a:rPr lang="en-US" altLang="en-US" sz="2400" dirty="0">
                <a:solidFill>
                  <a:srgbClr val="2529C7"/>
                </a:solidFill>
              </a:rPr>
              <a:t>, int </a:t>
            </a:r>
            <a:r>
              <a:rPr lang="en-US" altLang="en-US" sz="2400" dirty="0" err="1">
                <a:solidFill>
                  <a:srgbClr val="2529C7"/>
                </a:solidFill>
              </a:rPr>
              <a:t>shmflg</a:t>
            </a:r>
            <a:r>
              <a:rPr lang="en-US" altLang="en-US" sz="2400" dirty="0">
                <a:solidFill>
                  <a:srgbClr val="2529C7"/>
                </a:solidFill>
              </a:rPr>
              <a:t>)</a:t>
            </a:r>
          </a:p>
          <a:p>
            <a:pPr>
              <a:lnSpc>
                <a:spcPct val="90000"/>
              </a:lnSpc>
            </a:pPr>
            <a:r>
              <a:rPr lang="en-US" altLang="en-US" sz="2800" dirty="0" err="1"/>
              <a:t>shmid</a:t>
            </a:r>
            <a:r>
              <a:rPr lang="en-US" altLang="en-US" sz="2800" dirty="0"/>
              <a:t> is the id returned from </a:t>
            </a:r>
            <a:r>
              <a:rPr lang="en-US" altLang="en-US" sz="2800" dirty="0" err="1"/>
              <a:t>shmget</a:t>
            </a:r>
            <a:r>
              <a:rPr lang="en-US" altLang="en-US" sz="2800" dirty="0"/>
              <a:t>()</a:t>
            </a:r>
          </a:p>
          <a:p>
            <a:pPr>
              <a:lnSpc>
                <a:spcPct val="90000"/>
              </a:lnSpc>
            </a:pPr>
            <a:r>
              <a:rPr lang="en-US" altLang="en-US" sz="2800" dirty="0" err="1"/>
              <a:t>shmaddr</a:t>
            </a:r>
            <a:r>
              <a:rPr lang="en-US" altLang="en-US" sz="2800" dirty="0"/>
              <a:t> is the shared memory segment address.  Set this to NULL and let the system handle it.</a:t>
            </a:r>
          </a:p>
          <a:p>
            <a:pPr>
              <a:lnSpc>
                <a:spcPct val="90000"/>
              </a:lnSpc>
            </a:pPr>
            <a:r>
              <a:rPr lang="en-US" altLang="en-US" sz="2800" dirty="0" err="1"/>
              <a:t>shmflg</a:t>
            </a:r>
            <a:r>
              <a:rPr lang="en-US" altLang="en-US" sz="2800" dirty="0"/>
              <a:t> is one of the following (usually 0):</a:t>
            </a:r>
          </a:p>
          <a:p>
            <a:pPr lvl="1">
              <a:lnSpc>
                <a:spcPct val="90000"/>
              </a:lnSpc>
            </a:pPr>
            <a:r>
              <a:rPr lang="en-US" altLang="en-US" sz="2400" dirty="0"/>
              <a:t>SHM_RDONLY	sets the segment </a:t>
            </a:r>
            <a:r>
              <a:rPr lang="en-US" altLang="en-US" sz="2400" dirty="0" err="1"/>
              <a:t>readonly</a:t>
            </a:r>
            <a:endParaRPr lang="en-US" altLang="en-US" sz="2400" dirty="0"/>
          </a:p>
          <a:p>
            <a:pPr lvl="1">
              <a:lnSpc>
                <a:spcPct val="90000"/>
              </a:lnSpc>
            </a:pPr>
            <a:r>
              <a:rPr lang="en-US" altLang="en-US" sz="2400" dirty="0"/>
              <a:t>SHM_RND		sets page boundary access</a:t>
            </a:r>
          </a:p>
          <a:p>
            <a:pPr lvl="1">
              <a:lnSpc>
                <a:spcPct val="90000"/>
              </a:lnSpc>
            </a:pPr>
            <a:r>
              <a:rPr lang="en-US" altLang="en-US" sz="2400" dirty="0"/>
              <a:t>SHM_SHARE_MMU	set first available aligned </a:t>
            </a:r>
            <a:br>
              <a:rPr lang="en-US" altLang="en-US" sz="2400" dirty="0"/>
            </a:br>
            <a:r>
              <a:rPr lang="en-US" altLang="en-US" sz="2400" dirty="0"/>
              <a:t>				address</a:t>
            </a: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960079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normAutofit/>
          </a:bodyPr>
          <a:lstStyle/>
          <a:p>
            <a:r>
              <a:rPr lang="en-US" altLang="en-US" sz="4000" dirty="0"/>
              <a:t>Shared Memory Control</a:t>
            </a:r>
            <a:endParaRPr lang="en-IN" sz="2000"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p:txBody>
          <a:bodyPr/>
          <a:lstStyle/>
          <a:p>
            <a:fld id="{C98AF7D0-B530-437A-8244-231A0C0FDB3D}" type="slidenum">
              <a:rPr lang="en-IN" smtClean="0"/>
              <a:t>8</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a:lnSpc>
                <a:spcPct val="80000"/>
              </a:lnSpc>
              <a:buFontTx/>
              <a:buNone/>
            </a:pPr>
            <a:r>
              <a:rPr lang="en-US" altLang="en-US" sz="1600" dirty="0"/>
              <a:t>struct </a:t>
            </a:r>
            <a:r>
              <a:rPr lang="en-US" altLang="en-US" sz="1600" dirty="0" err="1"/>
              <a:t>shmid_ds</a:t>
            </a:r>
            <a:r>
              <a:rPr lang="en-US" altLang="en-US" sz="1600" dirty="0"/>
              <a:t> {</a:t>
            </a:r>
          </a:p>
          <a:p>
            <a:pPr>
              <a:lnSpc>
                <a:spcPct val="80000"/>
              </a:lnSpc>
              <a:buFontTx/>
              <a:buNone/>
            </a:pPr>
            <a:r>
              <a:rPr lang="en-US" altLang="en-US" sz="1600" dirty="0"/>
              <a:t> int </a:t>
            </a:r>
            <a:r>
              <a:rPr lang="en-US" altLang="en-US" sz="1600" dirty="0" err="1"/>
              <a:t>shm_segsz</a:t>
            </a:r>
            <a:r>
              <a:rPr lang="en-US" altLang="en-US" sz="1600" dirty="0"/>
              <a:t>;			/* size of segment in bytes */</a:t>
            </a:r>
          </a:p>
          <a:p>
            <a:pPr>
              <a:lnSpc>
                <a:spcPct val="80000"/>
              </a:lnSpc>
              <a:buFontTx/>
              <a:buNone/>
            </a:pPr>
            <a:r>
              <a:rPr lang="en-US" altLang="en-US" sz="1600" dirty="0"/>
              <a:t>  __</a:t>
            </a:r>
            <a:r>
              <a:rPr lang="en-US" altLang="en-US" sz="1600" dirty="0" err="1"/>
              <a:t>time_t</a:t>
            </a:r>
            <a:r>
              <a:rPr lang="en-US" altLang="en-US" sz="1600" dirty="0"/>
              <a:t> </a:t>
            </a:r>
            <a:r>
              <a:rPr lang="en-US" altLang="en-US" sz="1600" dirty="0" err="1"/>
              <a:t>shm_atime</a:t>
            </a:r>
            <a:r>
              <a:rPr lang="en-US" altLang="en-US" sz="1600" dirty="0"/>
              <a:t>;      		/* time of last </a:t>
            </a:r>
            <a:r>
              <a:rPr lang="en-US" altLang="en-US" sz="1600" dirty="0" err="1"/>
              <a:t>shmat</a:t>
            </a:r>
            <a:r>
              <a:rPr lang="en-US" altLang="en-US" sz="1600" dirty="0"/>
              <a:t> command */</a:t>
            </a:r>
          </a:p>
          <a:p>
            <a:pPr>
              <a:lnSpc>
                <a:spcPct val="80000"/>
              </a:lnSpc>
              <a:buFontTx/>
              <a:buNone/>
            </a:pPr>
            <a:r>
              <a:rPr lang="en-US" altLang="en-US" sz="1600" dirty="0"/>
              <a:t>  __</a:t>
            </a:r>
            <a:r>
              <a:rPr lang="en-US" altLang="en-US" sz="1600" dirty="0" err="1"/>
              <a:t>time_t</a:t>
            </a:r>
            <a:r>
              <a:rPr lang="en-US" altLang="en-US" sz="1600" dirty="0"/>
              <a:t> </a:t>
            </a:r>
            <a:r>
              <a:rPr lang="en-US" altLang="en-US" sz="1600" dirty="0" err="1"/>
              <a:t>shm_dtime</a:t>
            </a:r>
            <a:r>
              <a:rPr lang="en-US" altLang="en-US" sz="1600" dirty="0"/>
              <a:t>;      		/* time of last </a:t>
            </a:r>
            <a:r>
              <a:rPr lang="en-US" altLang="en-US" sz="1600" dirty="0" err="1"/>
              <a:t>shmdt</a:t>
            </a:r>
            <a:r>
              <a:rPr lang="en-US" altLang="en-US" sz="1600" dirty="0"/>
              <a:t> command */</a:t>
            </a:r>
          </a:p>
          <a:p>
            <a:pPr>
              <a:lnSpc>
                <a:spcPct val="80000"/>
              </a:lnSpc>
              <a:buFontTx/>
              <a:buNone/>
            </a:pPr>
            <a:r>
              <a:rPr lang="en-US" altLang="en-US" sz="1600" dirty="0"/>
              <a:t>  ...</a:t>
            </a:r>
          </a:p>
          <a:p>
            <a:pPr>
              <a:lnSpc>
                <a:spcPct val="80000"/>
              </a:lnSpc>
              <a:buFontTx/>
              <a:buNone/>
            </a:pPr>
            <a:r>
              <a:rPr lang="en-US" altLang="en-US" sz="1600" dirty="0"/>
              <a:t>  unsigned short int __</a:t>
            </a:r>
            <a:r>
              <a:rPr lang="en-US" altLang="en-US" sz="1600" dirty="0" err="1"/>
              <a:t>shm_npages</a:t>
            </a:r>
            <a:r>
              <a:rPr lang="en-US" altLang="en-US" sz="1600" dirty="0"/>
              <a:t>;	/* size of segment in pages */</a:t>
            </a:r>
          </a:p>
          <a:p>
            <a:pPr>
              <a:lnSpc>
                <a:spcPct val="80000"/>
              </a:lnSpc>
              <a:buFontTx/>
              <a:buNone/>
            </a:pPr>
            <a:r>
              <a:rPr lang="en-US" altLang="en-US" sz="1600" dirty="0"/>
              <a:t>  </a:t>
            </a:r>
            <a:r>
              <a:rPr lang="en-US" altLang="en-US" sz="1600" dirty="0" err="1"/>
              <a:t>msgqnum_t</a:t>
            </a:r>
            <a:r>
              <a:rPr lang="en-US" altLang="en-US" sz="1600" dirty="0"/>
              <a:t> </a:t>
            </a:r>
            <a:r>
              <a:rPr lang="en-US" altLang="en-US" sz="1600" dirty="0" err="1"/>
              <a:t>shm_nattach</a:t>
            </a:r>
            <a:r>
              <a:rPr lang="en-US" altLang="en-US" sz="1600" dirty="0"/>
              <a:t>;      		/* number of current attaches */</a:t>
            </a:r>
          </a:p>
          <a:p>
            <a:pPr>
              <a:lnSpc>
                <a:spcPct val="80000"/>
              </a:lnSpc>
              <a:buFontTx/>
              <a:buNone/>
            </a:pPr>
            <a:r>
              <a:rPr lang="en-US" altLang="en-US" sz="1600" dirty="0"/>
              <a:t>    ...			   	/* </a:t>
            </a:r>
            <a:r>
              <a:rPr lang="en-US" altLang="en-US" sz="1600" dirty="0" err="1"/>
              <a:t>pids</a:t>
            </a:r>
            <a:r>
              <a:rPr lang="en-US" altLang="en-US" sz="1600" dirty="0"/>
              <a:t> of creator and last </a:t>
            </a:r>
            <a:r>
              <a:rPr lang="en-US" altLang="en-US" sz="1600" dirty="0" err="1"/>
              <a:t>shmop</a:t>
            </a:r>
            <a:r>
              <a:rPr lang="en-US" altLang="en-US" sz="1600" dirty="0"/>
              <a:t> */</a:t>
            </a:r>
          </a:p>
          <a:p>
            <a:pPr>
              <a:lnSpc>
                <a:spcPct val="80000"/>
              </a:lnSpc>
              <a:buFontTx/>
              <a:buNone/>
            </a:pPr>
            <a:r>
              <a:rPr lang="en-US" altLang="en-US" sz="1600" dirty="0"/>
              <a:t>};</a:t>
            </a:r>
          </a:p>
          <a:p>
            <a:pPr>
              <a:lnSpc>
                <a:spcPct val="90000"/>
              </a:lnSpc>
            </a:pPr>
            <a:r>
              <a:rPr lang="en-US" altLang="en-US" sz="2400" dirty="0">
                <a:solidFill>
                  <a:srgbClr val="2529C7"/>
                </a:solidFill>
              </a:rPr>
              <a:t>int </a:t>
            </a:r>
            <a:r>
              <a:rPr lang="en-US" altLang="en-US" sz="2400" dirty="0" err="1">
                <a:solidFill>
                  <a:srgbClr val="2529C7"/>
                </a:solidFill>
              </a:rPr>
              <a:t>shmctl</a:t>
            </a:r>
            <a:r>
              <a:rPr lang="en-US" altLang="en-US" sz="2400" dirty="0">
                <a:solidFill>
                  <a:srgbClr val="2529C7"/>
                </a:solidFill>
              </a:rPr>
              <a:t>(int </a:t>
            </a:r>
            <a:r>
              <a:rPr lang="en-US" altLang="en-US" sz="2400" dirty="0" err="1">
                <a:solidFill>
                  <a:srgbClr val="2529C7"/>
                </a:solidFill>
              </a:rPr>
              <a:t>shmid</a:t>
            </a:r>
            <a:r>
              <a:rPr lang="en-US" altLang="en-US" sz="2400" dirty="0">
                <a:solidFill>
                  <a:srgbClr val="2529C7"/>
                </a:solidFill>
              </a:rPr>
              <a:t>, int </a:t>
            </a:r>
            <a:r>
              <a:rPr lang="en-US" altLang="en-US" sz="2400" dirty="0" err="1">
                <a:solidFill>
                  <a:srgbClr val="2529C7"/>
                </a:solidFill>
              </a:rPr>
              <a:t>cmd</a:t>
            </a:r>
            <a:r>
              <a:rPr lang="en-US" altLang="en-US" sz="2400" dirty="0">
                <a:solidFill>
                  <a:srgbClr val="2529C7"/>
                </a:solidFill>
              </a:rPr>
              <a:t>, struct </a:t>
            </a:r>
            <a:r>
              <a:rPr lang="en-US" altLang="en-US" sz="2400" dirty="0" err="1">
                <a:solidFill>
                  <a:srgbClr val="2529C7"/>
                </a:solidFill>
              </a:rPr>
              <a:t>shmid_ds</a:t>
            </a:r>
            <a:r>
              <a:rPr lang="en-US" altLang="en-US" sz="2400" dirty="0">
                <a:solidFill>
                  <a:srgbClr val="2529C7"/>
                </a:solidFill>
              </a:rPr>
              <a:t> * </a:t>
            </a:r>
            <a:r>
              <a:rPr lang="en-US" altLang="en-US" sz="2400" dirty="0" err="1">
                <a:solidFill>
                  <a:srgbClr val="2529C7"/>
                </a:solidFill>
              </a:rPr>
              <a:t>buf</a:t>
            </a:r>
            <a:r>
              <a:rPr lang="en-US" altLang="en-US" sz="2400" dirty="0">
                <a:solidFill>
                  <a:srgbClr val="2529C7"/>
                </a:solidFill>
              </a:rPr>
              <a:t>);</a:t>
            </a:r>
          </a:p>
          <a:p>
            <a:pPr>
              <a:lnSpc>
                <a:spcPct val="90000"/>
              </a:lnSpc>
            </a:pPr>
            <a:r>
              <a:rPr lang="en-US" altLang="en-US" sz="2000" dirty="0" err="1"/>
              <a:t>cmd</a:t>
            </a:r>
            <a:r>
              <a:rPr lang="en-US" altLang="en-US" sz="2000" dirty="0"/>
              <a:t> can be one of:</a:t>
            </a:r>
          </a:p>
          <a:p>
            <a:pPr lvl="1">
              <a:lnSpc>
                <a:spcPct val="90000"/>
              </a:lnSpc>
            </a:pPr>
            <a:r>
              <a:rPr lang="en-US" altLang="en-US" sz="2000" dirty="0"/>
              <a:t>IPC_RMID	destroy the memory specified by </a:t>
            </a:r>
            <a:r>
              <a:rPr lang="en-US" altLang="en-US" sz="2000" dirty="0" err="1"/>
              <a:t>shmid</a:t>
            </a:r>
            <a:endParaRPr lang="en-US" altLang="en-US" sz="2000" dirty="0"/>
          </a:p>
          <a:p>
            <a:pPr lvl="1">
              <a:lnSpc>
                <a:spcPct val="90000"/>
              </a:lnSpc>
            </a:pPr>
            <a:r>
              <a:rPr lang="en-US" altLang="en-US" sz="2000" dirty="0"/>
              <a:t>IPC_SET		set the </a:t>
            </a:r>
            <a:r>
              <a:rPr lang="en-US" altLang="en-US" sz="2000" dirty="0" err="1"/>
              <a:t>uid</a:t>
            </a:r>
            <a:r>
              <a:rPr lang="en-US" altLang="en-US" sz="2000" dirty="0"/>
              <a:t>, gid, and mode of the shared mem</a:t>
            </a:r>
          </a:p>
          <a:p>
            <a:pPr lvl="1">
              <a:lnSpc>
                <a:spcPct val="90000"/>
              </a:lnSpc>
            </a:pPr>
            <a:r>
              <a:rPr lang="en-US" altLang="en-US" sz="2000" dirty="0"/>
              <a:t>IPC_STAT	get the current </a:t>
            </a:r>
            <a:r>
              <a:rPr lang="en-US" altLang="en-US" sz="2000" dirty="0" err="1"/>
              <a:t>shmid_ds</a:t>
            </a:r>
            <a:r>
              <a:rPr lang="en-US" altLang="en-US" sz="2000" dirty="0"/>
              <a:t> struct for the queue</a:t>
            </a:r>
          </a:p>
          <a:p>
            <a:pPr>
              <a:lnSpc>
                <a:spcPct val="90000"/>
              </a:lnSpc>
            </a:pPr>
            <a:r>
              <a:rPr lang="en-US" altLang="en-US" sz="2400" dirty="0"/>
              <a:t>Example code </a:t>
            </a:r>
            <a:r>
              <a:rPr lang="en-US" altLang="en-US" sz="2400" dirty="0">
                <a:sym typeface="Wingdings" panose="05000000000000000000" pitchFamily="2" charset="2"/>
              </a:rPr>
              <a:t></a:t>
            </a:r>
            <a:endParaRPr lang="en-US" altLang="en-US" sz="2400" dirty="0"/>
          </a:p>
          <a:p>
            <a:endParaRPr lang="en-IN" dirty="0"/>
          </a:p>
        </p:txBody>
      </p:sp>
    </p:spTree>
    <p:extLst>
      <p:ext uri="{BB962C8B-B14F-4D97-AF65-F5344CB8AC3E}">
        <p14:creationId xmlns:p14="http://schemas.microsoft.com/office/powerpoint/2010/main" val="4109208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8DFC-BE3B-495D-B090-CC387A666271}"/>
              </a:ext>
            </a:extLst>
          </p:cNvPr>
          <p:cNvSpPr>
            <a:spLocks noGrp="1"/>
          </p:cNvSpPr>
          <p:nvPr>
            <p:ph type="title"/>
          </p:nvPr>
        </p:nvSpPr>
        <p:spPr>
          <a:xfrm>
            <a:off x="72736" y="2017"/>
            <a:ext cx="8827078" cy="933595"/>
          </a:xfrm>
        </p:spPr>
        <p:txBody>
          <a:bodyPr/>
          <a:lstStyle/>
          <a:p>
            <a:r>
              <a:rPr lang="en-US" dirty="0"/>
              <a:t>Sample code</a:t>
            </a:r>
            <a:endParaRPr lang="en-IN" dirty="0"/>
          </a:p>
        </p:txBody>
      </p:sp>
      <p:sp>
        <p:nvSpPr>
          <p:cNvPr id="3" name="Slide Number Placeholder 2">
            <a:extLst>
              <a:ext uri="{FF2B5EF4-FFF2-40B4-BE49-F238E27FC236}">
                <a16:creationId xmlns:a16="http://schemas.microsoft.com/office/drawing/2014/main" id="{030FA85A-6746-4128-896C-A99E9524F7FC}"/>
              </a:ext>
            </a:extLst>
          </p:cNvPr>
          <p:cNvSpPr>
            <a:spLocks noGrp="1"/>
          </p:cNvSpPr>
          <p:nvPr>
            <p:ph type="sldNum" sz="quarter" idx="12"/>
          </p:nvPr>
        </p:nvSpPr>
        <p:spPr/>
        <p:txBody>
          <a:bodyPr/>
          <a:lstStyle/>
          <a:p>
            <a:fld id="{C98AF7D0-B530-437A-8244-231A0C0FDB3D}" type="slidenum">
              <a:rPr lang="en-IN" smtClean="0"/>
              <a:t>9</a:t>
            </a:fld>
            <a:endParaRPr lang="en-IN"/>
          </a:p>
        </p:txBody>
      </p:sp>
      <p:graphicFrame>
        <p:nvGraphicFramePr>
          <p:cNvPr id="4" name="Table 3">
            <a:extLst>
              <a:ext uri="{FF2B5EF4-FFF2-40B4-BE49-F238E27FC236}">
                <a16:creationId xmlns:a16="http://schemas.microsoft.com/office/drawing/2014/main" id="{673D8FD6-331A-4001-93C7-C01690457033}"/>
              </a:ext>
            </a:extLst>
          </p:cNvPr>
          <p:cNvGraphicFramePr>
            <a:graphicFrameLocks noGrp="1"/>
          </p:cNvGraphicFramePr>
          <p:nvPr>
            <p:extLst>
              <p:ext uri="{D42A27DB-BD31-4B8C-83A1-F6EECF244321}">
                <p14:modId xmlns:p14="http://schemas.microsoft.com/office/powerpoint/2010/main" val="105491837"/>
              </p:ext>
            </p:extLst>
          </p:nvPr>
        </p:nvGraphicFramePr>
        <p:xfrm>
          <a:off x="270106" y="1491535"/>
          <a:ext cx="4219113" cy="5137374"/>
        </p:xfrm>
        <a:graphic>
          <a:graphicData uri="http://schemas.openxmlformats.org/drawingml/2006/table">
            <a:tbl>
              <a:tblPr/>
              <a:tblGrid>
                <a:gridCol w="4219113">
                  <a:extLst>
                    <a:ext uri="{9D8B030D-6E8A-4147-A177-3AD203B41FA5}">
                      <a16:colId xmlns:a16="http://schemas.microsoft.com/office/drawing/2014/main" val="3505018512"/>
                    </a:ext>
                  </a:extLst>
                </a:gridCol>
              </a:tblGrid>
              <a:tr h="5011737">
                <a:tc>
                  <a:txBody>
                    <a:bodyPr/>
                    <a:lstStyle/>
                    <a:p>
                      <a:pPr algn="l" rtl="0" fontAlgn="base"/>
                      <a:r>
                        <a:rPr lang="en-IN" sz="1200" b="0" i="0" dirty="0">
                          <a:effectLst/>
                          <a:latin typeface="Consolas" panose="020B0609020204030204" pitchFamily="49" charset="0"/>
                        </a:rPr>
                        <a:t>#include &lt;iostream&gt;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ipc.h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shm.h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a:t>
                      </a:r>
                      <a:r>
                        <a:rPr lang="en-IN" sz="1200" b="0" i="0" dirty="0" err="1">
                          <a:effectLst/>
                          <a:latin typeface="Consolas" panose="020B0609020204030204" pitchFamily="49" charset="0"/>
                        </a:rPr>
                        <a:t>stdio.h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using namespace std;</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int main()</a:t>
                      </a:r>
                    </a:p>
                    <a:p>
                      <a:pPr algn="l" rtl="0" fontAlgn="base"/>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 to generate unique key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key_t</a:t>
                      </a:r>
                      <a:r>
                        <a:rPr lang="en-IN" sz="1200" b="0" i="0" dirty="0">
                          <a:effectLst/>
                          <a:latin typeface="Consolas" panose="020B0609020204030204" pitchFamily="49" charset="0"/>
                        </a:rPr>
                        <a:t> key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("shmfile",65);</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 returns an identifier in </a:t>
                      </a:r>
                      <a:r>
                        <a:rPr lang="en-IN" sz="1200" b="0" i="0" dirty="0" err="1">
                          <a:effectLst/>
                          <a:latin typeface="Consolas" panose="020B0609020204030204" pitchFamily="49" charset="0"/>
                        </a:rPr>
                        <a:t>shmid</a:t>
                      </a:r>
                      <a:endParaRPr lang="en-IN" sz="1200" b="0" i="0" dirty="0">
                        <a:effectLst/>
                        <a:latin typeface="Consolas" panose="020B0609020204030204" pitchFamily="49" charset="0"/>
                      </a:endParaRPr>
                    </a:p>
                    <a:p>
                      <a:pPr algn="l" rtl="0" fontAlgn="base"/>
                      <a:r>
                        <a:rPr lang="en-IN" sz="1200" b="0" i="0" dirty="0">
                          <a:effectLst/>
                          <a:latin typeface="Consolas" panose="020B0609020204030204" pitchFamily="49" charset="0"/>
                        </a:rPr>
                        <a:t>    int </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(key,1024,0666|IPC_CREAT);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 to attach to shared memory</a:t>
                      </a:r>
                    </a:p>
                    <a:p>
                      <a:pPr algn="l" rtl="0" fontAlgn="base"/>
                      <a:r>
                        <a:rPr lang="en-IN" sz="1200" b="0" i="0" dirty="0">
                          <a:effectLst/>
                          <a:latin typeface="Consolas" panose="020B0609020204030204" pitchFamily="49" charset="0"/>
                        </a:rPr>
                        <a:t>    char *str = (char*)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,(void*)0,0);</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cout</a:t>
                      </a:r>
                      <a:r>
                        <a:rPr lang="en-IN" sz="1200" b="0" i="0" dirty="0">
                          <a:effectLst/>
                          <a:latin typeface="Consolas" panose="020B0609020204030204" pitchFamily="49" charset="0"/>
                        </a:rPr>
                        <a:t>&lt;&lt;"Write Data : ";</a:t>
                      </a:r>
                    </a:p>
                    <a:p>
                      <a:pPr algn="l" rtl="0" fontAlgn="base"/>
                      <a:r>
                        <a:rPr lang="en-IN" sz="1200" b="0" i="0" dirty="0">
                          <a:effectLst/>
                          <a:latin typeface="Consolas" panose="020B0609020204030204" pitchFamily="49" charset="0"/>
                        </a:rPr>
                        <a:t>    gets(str);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printf</a:t>
                      </a:r>
                      <a:r>
                        <a:rPr lang="en-IN" sz="1200" b="0" i="0" dirty="0">
                          <a:effectLst/>
                          <a:latin typeface="Consolas" panose="020B0609020204030204" pitchFamily="49" charset="0"/>
                        </a:rPr>
                        <a:t>("Data written in memory: %s\</a:t>
                      </a:r>
                      <a:r>
                        <a:rPr lang="en-IN" sz="1200" b="0" i="0" dirty="0" err="1">
                          <a:effectLst/>
                          <a:latin typeface="Consolas" panose="020B0609020204030204" pitchFamily="49" charset="0"/>
                        </a:rPr>
                        <a:t>n",str</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//detach from shared memory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shmdt</a:t>
                      </a:r>
                      <a:r>
                        <a:rPr lang="en-IN" sz="1200" b="0" i="0" dirty="0">
                          <a:effectLst/>
                          <a:latin typeface="Consolas" panose="020B0609020204030204" pitchFamily="49" charset="0"/>
                        </a:rPr>
                        <a:t>(str);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return 0;</a:t>
                      </a:r>
                    </a:p>
                    <a:p>
                      <a:pPr algn="l" rtl="0" fontAlgn="base"/>
                      <a:r>
                        <a:rPr lang="en-IN" sz="1200" b="0" i="0" dirty="0">
                          <a:effectLst/>
                          <a:latin typeface="Consolas" panose="020B0609020204030204" pitchFamily="49" charset="0"/>
                        </a:rPr>
                        <a:t>}</a:t>
                      </a:r>
                    </a:p>
                  </a:txBody>
                  <a:tcPr marL="71291" marR="71291" marT="99807" marB="99807" anchor="ctr">
                    <a:lnL>
                      <a:noFill/>
                    </a:lnL>
                    <a:lnR>
                      <a:noFill/>
                    </a:lnR>
                    <a:lnT>
                      <a:noFill/>
                    </a:lnT>
                    <a:lnB>
                      <a:noFill/>
                    </a:lnB>
                  </a:tcPr>
                </a:tc>
                <a:extLst>
                  <a:ext uri="{0D108BD9-81ED-4DB2-BD59-A6C34878D82A}">
                    <a16:rowId xmlns:a16="http://schemas.microsoft.com/office/drawing/2014/main" val="3741497294"/>
                  </a:ext>
                </a:extLst>
              </a:tr>
            </a:tbl>
          </a:graphicData>
        </a:graphic>
      </p:graphicFrame>
      <p:graphicFrame>
        <p:nvGraphicFramePr>
          <p:cNvPr id="7" name="Table 6">
            <a:extLst>
              <a:ext uri="{FF2B5EF4-FFF2-40B4-BE49-F238E27FC236}">
                <a16:creationId xmlns:a16="http://schemas.microsoft.com/office/drawing/2014/main" id="{3F1D8D37-2A34-417E-AF50-AE5E640F215C}"/>
              </a:ext>
            </a:extLst>
          </p:cNvPr>
          <p:cNvGraphicFramePr>
            <a:graphicFrameLocks noGrp="1"/>
          </p:cNvGraphicFramePr>
          <p:nvPr>
            <p:extLst>
              <p:ext uri="{D42A27DB-BD31-4B8C-83A1-F6EECF244321}">
                <p14:modId xmlns:p14="http://schemas.microsoft.com/office/powerpoint/2010/main" val="3085844586"/>
              </p:ext>
            </p:extLst>
          </p:nvPr>
        </p:nvGraphicFramePr>
        <p:xfrm>
          <a:off x="4770643" y="1187726"/>
          <a:ext cx="4298029" cy="5137374"/>
        </p:xfrm>
        <a:graphic>
          <a:graphicData uri="http://schemas.openxmlformats.org/drawingml/2006/table">
            <a:tbl>
              <a:tblPr/>
              <a:tblGrid>
                <a:gridCol w="4298029">
                  <a:extLst>
                    <a:ext uri="{9D8B030D-6E8A-4147-A177-3AD203B41FA5}">
                      <a16:colId xmlns:a16="http://schemas.microsoft.com/office/drawing/2014/main" val="2956421485"/>
                    </a:ext>
                  </a:extLst>
                </a:gridCol>
              </a:tblGrid>
              <a:tr h="5011737">
                <a:tc>
                  <a:txBody>
                    <a:bodyPr/>
                    <a:lstStyle/>
                    <a:p>
                      <a:pPr algn="l" rtl="0" fontAlgn="base"/>
                      <a:r>
                        <a:rPr lang="en-IN" sz="1200" b="0" i="0" dirty="0">
                          <a:effectLst/>
                          <a:latin typeface="Consolas" panose="020B0609020204030204" pitchFamily="49" charset="0"/>
                        </a:rPr>
                        <a:t>#include &lt;iostream&gt;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ipc.h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&lt;sys/</a:t>
                      </a:r>
                      <a:r>
                        <a:rPr lang="en-IN" sz="1200" b="0" i="0" dirty="0" err="1">
                          <a:effectLst/>
                          <a:latin typeface="Consolas" panose="020B0609020204030204" pitchFamily="49" charset="0"/>
                        </a:rPr>
                        <a:t>shm.h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#include &lt;</a:t>
                      </a:r>
                      <a:r>
                        <a:rPr lang="en-IN" sz="1200" b="0" i="0" dirty="0" err="1">
                          <a:effectLst/>
                          <a:latin typeface="Consolas" panose="020B0609020204030204" pitchFamily="49" charset="0"/>
                        </a:rPr>
                        <a:t>stdio.h</a:t>
                      </a:r>
                      <a:r>
                        <a:rPr lang="en-IN" sz="1200" b="0" i="0" dirty="0">
                          <a:effectLst/>
                          <a:latin typeface="Consolas" panose="020B0609020204030204" pitchFamily="49" charset="0"/>
                        </a:rPr>
                        <a:t>&gt;</a:t>
                      </a:r>
                    </a:p>
                    <a:p>
                      <a:pPr algn="l" rtl="0" fontAlgn="base"/>
                      <a:r>
                        <a:rPr lang="en-IN" sz="1200" b="0" i="0" dirty="0">
                          <a:effectLst/>
                          <a:latin typeface="Consolas" panose="020B0609020204030204" pitchFamily="49" charset="0"/>
                        </a:rPr>
                        <a:t>using namespace std;</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int main()</a:t>
                      </a:r>
                    </a:p>
                    <a:p>
                      <a:pPr algn="l" rtl="0" fontAlgn="base"/>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 to generate unique key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key_t</a:t>
                      </a:r>
                      <a:r>
                        <a:rPr lang="en-IN" sz="1200" b="0" i="0" dirty="0">
                          <a:effectLst/>
                          <a:latin typeface="Consolas" panose="020B0609020204030204" pitchFamily="49" charset="0"/>
                        </a:rPr>
                        <a:t> key = </a:t>
                      </a:r>
                      <a:r>
                        <a:rPr lang="en-IN" sz="1200" b="0" i="0" dirty="0" err="1">
                          <a:effectLst/>
                          <a:latin typeface="Consolas" panose="020B0609020204030204" pitchFamily="49" charset="0"/>
                        </a:rPr>
                        <a:t>ftok</a:t>
                      </a:r>
                      <a:r>
                        <a:rPr lang="en-IN" sz="1200" b="0" i="0" dirty="0">
                          <a:effectLst/>
                          <a:latin typeface="Consolas" panose="020B0609020204030204" pitchFamily="49" charset="0"/>
                        </a:rPr>
                        <a:t>("shmfile",65);</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 returns an identifier in </a:t>
                      </a:r>
                      <a:r>
                        <a:rPr lang="en-IN" sz="1200" b="0" i="0" dirty="0" err="1">
                          <a:effectLst/>
                          <a:latin typeface="Consolas" panose="020B0609020204030204" pitchFamily="49" charset="0"/>
                        </a:rPr>
                        <a:t>shmid</a:t>
                      </a:r>
                      <a:endParaRPr lang="en-IN" sz="1200" b="0" i="0" dirty="0">
                        <a:effectLst/>
                        <a:latin typeface="Consolas" panose="020B0609020204030204" pitchFamily="49" charset="0"/>
                      </a:endParaRPr>
                    </a:p>
                    <a:p>
                      <a:pPr algn="l" rtl="0" fontAlgn="base"/>
                      <a:r>
                        <a:rPr lang="en-IN" sz="1200" b="0" i="0" dirty="0">
                          <a:effectLst/>
                          <a:latin typeface="Consolas" panose="020B0609020204030204" pitchFamily="49" charset="0"/>
                        </a:rPr>
                        <a:t>    int </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 = </a:t>
                      </a:r>
                      <a:r>
                        <a:rPr lang="en-IN" sz="1200" b="0" i="0" dirty="0" err="1">
                          <a:effectLst/>
                          <a:latin typeface="Consolas" panose="020B0609020204030204" pitchFamily="49" charset="0"/>
                        </a:rPr>
                        <a:t>shmget</a:t>
                      </a:r>
                      <a:r>
                        <a:rPr lang="en-IN" sz="1200" b="0" i="0" dirty="0">
                          <a:effectLst/>
                          <a:latin typeface="Consolas" panose="020B0609020204030204" pitchFamily="49" charset="0"/>
                        </a:rPr>
                        <a:t>(key,1024,0666|IPC_CREAT);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 to attach to shared memory</a:t>
                      </a:r>
                    </a:p>
                    <a:p>
                      <a:pPr algn="l" rtl="0" fontAlgn="base"/>
                      <a:r>
                        <a:rPr lang="en-IN" sz="1200" b="0" i="0" dirty="0">
                          <a:effectLst/>
                          <a:latin typeface="Consolas" panose="020B0609020204030204" pitchFamily="49" charset="0"/>
                        </a:rPr>
                        <a:t>    char *str = (char*) </a:t>
                      </a:r>
                      <a:r>
                        <a:rPr lang="en-IN" sz="1200" b="0" i="0" dirty="0" err="1">
                          <a:effectLst/>
                          <a:latin typeface="Consolas" panose="020B0609020204030204" pitchFamily="49" charset="0"/>
                        </a:rPr>
                        <a:t>shmat</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a:t>
                      </a:r>
                      <a:r>
                        <a:rPr lang="en-IN" sz="1200" b="0" i="0" dirty="0">
                          <a:effectLst/>
                          <a:latin typeface="Consolas" panose="020B0609020204030204" pitchFamily="49" charset="0"/>
                        </a:rPr>
                        <a:t>,(void*)0,0);</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printf</a:t>
                      </a:r>
                      <a:r>
                        <a:rPr lang="en-IN" sz="1200" b="0" i="0" dirty="0">
                          <a:effectLst/>
                          <a:latin typeface="Consolas" panose="020B0609020204030204" pitchFamily="49" charset="0"/>
                        </a:rPr>
                        <a:t>("Data read from memory: %s\</a:t>
                      </a:r>
                      <a:r>
                        <a:rPr lang="en-IN" sz="1200" b="0" i="0" dirty="0" err="1">
                          <a:effectLst/>
                          <a:latin typeface="Consolas" panose="020B0609020204030204" pitchFamily="49" charset="0"/>
                        </a:rPr>
                        <a:t>n",str</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//detach from shared memory </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shmdt</a:t>
                      </a:r>
                      <a:r>
                        <a:rPr lang="en-IN" sz="1200" b="0" i="0" dirty="0">
                          <a:effectLst/>
                          <a:latin typeface="Consolas" panose="020B0609020204030204" pitchFamily="49" charset="0"/>
                        </a:rPr>
                        <a:t>(str);</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 destroy the shared memory</a:t>
                      </a:r>
                    </a:p>
                    <a:p>
                      <a:pPr algn="l" rtl="0" fontAlgn="base"/>
                      <a:r>
                        <a:rPr lang="en-IN" sz="1200" b="0" i="0" dirty="0">
                          <a:effectLst/>
                          <a:latin typeface="Consolas" panose="020B0609020204030204" pitchFamily="49" charset="0"/>
                        </a:rPr>
                        <a:t>    </a:t>
                      </a:r>
                      <a:r>
                        <a:rPr lang="en-IN" sz="1200" b="0" i="0" dirty="0" err="1">
                          <a:effectLst/>
                          <a:latin typeface="Consolas" panose="020B0609020204030204" pitchFamily="49" charset="0"/>
                        </a:rPr>
                        <a:t>shmctl</a:t>
                      </a:r>
                      <a:r>
                        <a:rPr lang="en-IN" sz="1200" b="0" i="0" dirty="0">
                          <a:effectLst/>
                          <a:latin typeface="Consolas" panose="020B0609020204030204" pitchFamily="49" charset="0"/>
                        </a:rPr>
                        <a:t>(</a:t>
                      </a:r>
                      <a:r>
                        <a:rPr lang="en-IN" sz="1200" b="0" i="0" dirty="0" err="1">
                          <a:effectLst/>
                          <a:latin typeface="Consolas" panose="020B0609020204030204" pitchFamily="49" charset="0"/>
                        </a:rPr>
                        <a:t>shmid,IPC_RMID,NULL</a:t>
                      </a:r>
                      <a:r>
                        <a:rPr lang="en-IN" sz="1200" b="0" i="0" dirty="0">
                          <a:effectLst/>
                          <a:latin typeface="Consolas" panose="020B0609020204030204" pitchFamily="49" charset="0"/>
                        </a:rPr>
                        <a:t>);</a:t>
                      </a:r>
                    </a:p>
                    <a:p>
                      <a:pPr algn="l" rtl="0" fontAlgn="base"/>
                      <a:r>
                        <a:rPr lang="en-IN" sz="1200" b="0" i="0" dirty="0">
                          <a:effectLst/>
                          <a:latin typeface="Consolas" panose="020B0609020204030204" pitchFamily="49" charset="0"/>
                        </a:rPr>
                        <a:t>     </a:t>
                      </a:r>
                    </a:p>
                    <a:p>
                      <a:pPr algn="l" rtl="0" fontAlgn="base"/>
                      <a:r>
                        <a:rPr lang="en-IN" sz="1200" b="0" i="0" dirty="0">
                          <a:effectLst/>
                          <a:latin typeface="Consolas" panose="020B0609020204030204" pitchFamily="49" charset="0"/>
                        </a:rPr>
                        <a:t>    return 0;</a:t>
                      </a:r>
                    </a:p>
                    <a:p>
                      <a:pPr algn="l" rtl="0" fontAlgn="base"/>
                      <a:r>
                        <a:rPr lang="en-IN" sz="1200" b="0" i="0" dirty="0">
                          <a:effectLst/>
                          <a:latin typeface="Consolas" panose="020B0609020204030204" pitchFamily="49" charset="0"/>
                        </a:rPr>
                        <a:t>}</a:t>
                      </a:r>
                    </a:p>
                  </a:txBody>
                  <a:tcPr marL="71291" marR="71291" marT="99807" marB="99807" anchor="ctr">
                    <a:lnL>
                      <a:noFill/>
                    </a:lnL>
                    <a:lnR>
                      <a:noFill/>
                    </a:lnR>
                    <a:lnT>
                      <a:noFill/>
                    </a:lnT>
                    <a:lnB>
                      <a:noFill/>
                    </a:lnB>
                  </a:tcPr>
                </a:tc>
                <a:extLst>
                  <a:ext uri="{0D108BD9-81ED-4DB2-BD59-A6C34878D82A}">
                    <a16:rowId xmlns:a16="http://schemas.microsoft.com/office/drawing/2014/main" val="1775714633"/>
                  </a:ext>
                </a:extLst>
              </a:tr>
            </a:tbl>
          </a:graphicData>
        </a:graphic>
      </p:graphicFrame>
      <p:sp>
        <p:nvSpPr>
          <p:cNvPr id="8" name="Rectangle 1">
            <a:extLst>
              <a:ext uri="{FF2B5EF4-FFF2-40B4-BE49-F238E27FC236}">
                <a16:creationId xmlns:a16="http://schemas.microsoft.com/office/drawing/2014/main" id="{595D6FD8-B12F-471C-A807-1470A06B1A08}"/>
              </a:ext>
            </a:extLst>
          </p:cNvPr>
          <p:cNvSpPr>
            <a:spLocks noChangeArrowheads="1"/>
          </p:cNvSpPr>
          <p:nvPr/>
        </p:nvSpPr>
        <p:spPr bwMode="auto">
          <a:xfrm>
            <a:off x="5008563" y="916180"/>
            <a:ext cx="29023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urw-din"/>
              </a:rPr>
              <a:t>SHARED MEMORY FOR READER PROCESS</a:t>
            </a:r>
            <a:endParaRPr kumimoji="0" lang="en-US" altLang="en-US" sz="600" b="1" i="0" u="none" strike="noStrike" cap="none" normalizeH="0" baseline="0" dirty="0">
              <a:ln>
                <a:noFill/>
              </a:ln>
              <a:effectLst/>
            </a:endParaRPr>
          </a:p>
        </p:txBody>
      </p:sp>
      <p:sp>
        <p:nvSpPr>
          <p:cNvPr id="9" name="Rectangle 2">
            <a:extLst>
              <a:ext uri="{FF2B5EF4-FFF2-40B4-BE49-F238E27FC236}">
                <a16:creationId xmlns:a16="http://schemas.microsoft.com/office/drawing/2014/main" id="{2A3FEAB4-5815-4551-9F15-761DBADB0EE1}"/>
              </a:ext>
            </a:extLst>
          </p:cNvPr>
          <p:cNvSpPr>
            <a:spLocks noChangeArrowheads="1"/>
          </p:cNvSpPr>
          <p:nvPr/>
        </p:nvSpPr>
        <p:spPr bwMode="auto">
          <a:xfrm>
            <a:off x="2189163" y="1738313"/>
            <a:ext cx="1905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10" name="Rectangle 1">
            <a:extLst>
              <a:ext uri="{FF2B5EF4-FFF2-40B4-BE49-F238E27FC236}">
                <a16:creationId xmlns:a16="http://schemas.microsoft.com/office/drawing/2014/main" id="{D30F959A-118B-4236-AC3E-0A86F63633F7}"/>
              </a:ext>
            </a:extLst>
          </p:cNvPr>
          <p:cNvSpPr>
            <a:spLocks noChangeArrowheads="1"/>
          </p:cNvSpPr>
          <p:nvPr/>
        </p:nvSpPr>
        <p:spPr bwMode="auto">
          <a:xfrm>
            <a:off x="484188" y="1214536"/>
            <a:ext cx="29023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urw-din"/>
              </a:rPr>
              <a:t>SHARED MEMORY FOR W</a:t>
            </a:r>
            <a:r>
              <a:rPr kumimoji="0" lang="en-US" altLang="en-US" sz="1200" b="1" u="none" strike="noStrike" cap="none" normalizeH="0" baseline="0" dirty="0">
                <a:ln>
                  <a:noFill/>
                </a:ln>
                <a:effectLst/>
                <a:latin typeface="urw-din"/>
              </a:rPr>
              <a:t>RITER</a:t>
            </a:r>
            <a:r>
              <a:rPr kumimoji="0" lang="en-US" altLang="en-US" sz="1200" b="1" i="0" u="none" strike="noStrike" cap="none" normalizeH="0" baseline="0" dirty="0">
                <a:ln>
                  <a:noFill/>
                </a:ln>
                <a:effectLst/>
                <a:latin typeface="urw-din"/>
              </a:rPr>
              <a:t> PROCESS</a:t>
            </a:r>
            <a:endParaRPr kumimoji="0" lang="en-US" altLang="en-US" sz="600" b="1" i="0" u="none" strike="noStrike" cap="none" normalizeH="0" baseline="0" dirty="0">
              <a:ln>
                <a:noFill/>
              </a:ln>
              <a:effectLst/>
            </a:endParaRPr>
          </a:p>
        </p:txBody>
      </p:sp>
    </p:spTree>
    <p:extLst>
      <p:ext uri="{BB962C8B-B14F-4D97-AF65-F5344CB8AC3E}">
        <p14:creationId xmlns:p14="http://schemas.microsoft.com/office/powerpoint/2010/main" val="4033964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lstStyle/>
          <a:p>
            <a:r>
              <a:rPr lang="en-US" dirty="0"/>
              <a:t>Calls explanation</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10</a:t>
            </a:fld>
            <a:endParaRPr lang="en-IN"/>
          </a:p>
        </p:txBody>
      </p:sp>
      <p:sp>
        <p:nvSpPr>
          <p:cNvPr id="4" name="Rectangle 1">
            <a:extLst>
              <a:ext uri="{FF2B5EF4-FFF2-40B4-BE49-F238E27FC236}">
                <a16:creationId xmlns:a16="http://schemas.microsoft.com/office/drawing/2014/main" id="{954D59C5-C50E-418D-AF58-F5729C456BD7}"/>
              </a:ext>
            </a:extLst>
          </p:cNvPr>
          <p:cNvSpPr>
            <a:spLocks noChangeArrowheads="1"/>
          </p:cNvSpPr>
          <p:nvPr/>
        </p:nvSpPr>
        <p:spPr bwMode="auto">
          <a:xfrm>
            <a:off x="245470" y="1163256"/>
            <a:ext cx="8721885" cy="551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fontAlgn="base"/>
            <a:r>
              <a:rPr lang="en-US" sz="2400" b="1" i="1" dirty="0" err="1">
                <a:solidFill>
                  <a:srgbClr val="273239"/>
                </a:solidFill>
                <a:effectLst/>
                <a:latin typeface="urw-din"/>
              </a:rPr>
              <a:t>ftok</a:t>
            </a:r>
            <a:r>
              <a:rPr lang="en-US" sz="2400" b="1" i="1" dirty="0">
                <a:solidFill>
                  <a:srgbClr val="273239"/>
                </a:solidFill>
                <a:effectLst/>
                <a:latin typeface="urw-din"/>
              </a:rPr>
              <a:t>()</a:t>
            </a:r>
            <a:r>
              <a:rPr lang="en-US" sz="2400" b="0" i="1" dirty="0">
                <a:solidFill>
                  <a:srgbClr val="273239"/>
                </a:solidFill>
                <a:effectLst/>
                <a:latin typeface="urw-din"/>
              </a:rPr>
              <a:t>: c</a:t>
            </a:r>
            <a:r>
              <a:rPr lang="en-US" sz="2400" i="1" dirty="0">
                <a:solidFill>
                  <a:srgbClr val="273239"/>
                </a:solidFill>
                <a:latin typeface="urw-din"/>
              </a:rPr>
              <a:t>onverts a pathname and a project identifier to a unique System V IPC key </a:t>
            </a:r>
          </a:p>
          <a:p>
            <a:pPr fontAlgn="base"/>
            <a:r>
              <a:rPr lang="en-US" sz="2400" b="1" i="1" dirty="0" err="1">
                <a:solidFill>
                  <a:srgbClr val="273239"/>
                </a:solidFill>
                <a:latin typeface="urw-din"/>
              </a:rPr>
              <a:t>shmget</a:t>
            </a:r>
            <a:r>
              <a:rPr lang="en-US" sz="2400" i="1" dirty="0">
                <a:solidFill>
                  <a:srgbClr val="273239"/>
                </a:solidFill>
                <a:latin typeface="urw-din"/>
              </a:rPr>
              <a:t>(): upon successful completion, </a:t>
            </a:r>
            <a:r>
              <a:rPr lang="en-US" sz="2400" i="1" dirty="0" err="1">
                <a:solidFill>
                  <a:srgbClr val="273239"/>
                </a:solidFill>
                <a:latin typeface="urw-din"/>
              </a:rPr>
              <a:t>shmget</a:t>
            </a:r>
            <a:r>
              <a:rPr lang="en-US" sz="2400" i="1" dirty="0">
                <a:solidFill>
                  <a:srgbClr val="273239"/>
                </a:solidFill>
                <a:latin typeface="urw-din"/>
              </a:rPr>
              <a:t>() returns an identifier for the shared memory segment.</a:t>
            </a:r>
          </a:p>
          <a:p>
            <a:pPr algn="l" fontAlgn="base"/>
            <a:r>
              <a:rPr lang="en-US" sz="2400" b="1" i="1" dirty="0" err="1">
                <a:solidFill>
                  <a:srgbClr val="273239"/>
                </a:solidFill>
                <a:effectLst/>
                <a:latin typeface="urw-din"/>
              </a:rPr>
              <a:t>shmat</a:t>
            </a:r>
            <a:r>
              <a:rPr lang="en-US" sz="2400" b="1" i="1" dirty="0">
                <a:solidFill>
                  <a:srgbClr val="273239"/>
                </a:solidFill>
                <a:effectLst/>
                <a:latin typeface="urw-din"/>
              </a:rPr>
              <a:t>()</a:t>
            </a:r>
            <a:r>
              <a:rPr lang="en-US" sz="2400" b="0" i="1" dirty="0">
                <a:solidFill>
                  <a:srgbClr val="273239"/>
                </a:solidFill>
                <a:effectLst/>
                <a:latin typeface="urw-din"/>
              </a:rPr>
              <a:t>: Before you can use a shared memory segment, you have to attach yourself to it using </a:t>
            </a:r>
            <a:r>
              <a:rPr lang="en-US" sz="2400" b="0" i="1" dirty="0" err="1">
                <a:solidFill>
                  <a:srgbClr val="273239"/>
                </a:solidFill>
                <a:effectLst/>
                <a:latin typeface="urw-din"/>
              </a:rPr>
              <a:t>shmat</a:t>
            </a:r>
            <a:r>
              <a:rPr lang="en-US" sz="2400" b="0" i="1" dirty="0">
                <a:solidFill>
                  <a:srgbClr val="273239"/>
                </a:solidFill>
                <a:effectLst/>
                <a:latin typeface="urw-din"/>
              </a:rPr>
              <a:t>(). </a:t>
            </a:r>
          </a:p>
          <a:p>
            <a:pPr algn="l" fontAlgn="base"/>
            <a:r>
              <a:rPr lang="en-US" sz="2400" b="0" i="1" dirty="0">
                <a:solidFill>
                  <a:srgbClr val="273239"/>
                </a:solidFill>
                <a:effectLst/>
                <a:latin typeface="urw-din"/>
              </a:rPr>
              <a:t>void *</a:t>
            </a:r>
            <a:r>
              <a:rPr lang="en-US" sz="2400" b="0" i="1" dirty="0" err="1">
                <a:solidFill>
                  <a:srgbClr val="273239"/>
                </a:solidFill>
                <a:effectLst/>
                <a:latin typeface="urw-din"/>
              </a:rPr>
              <a:t>shmat</a:t>
            </a:r>
            <a:r>
              <a:rPr lang="en-US" sz="2400" b="0" i="1" dirty="0">
                <a:solidFill>
                  <a:srgbClr val="273239"/>
                </a:solidFill>
                <a:effectLst/>
                <a:latin typeface="urw-din"/>
              </a:rPr>
              <a:t>(int </a:t>
            </a:r>
            <a:r>
              <a:rPr lang="en-US" sz="2400" b="0" i="1" dirty="0" err="1">
                <a:solidFill>
                  <a:srgbClr val="273239"/>
                </a:solidFill>
                <a:effectLst/>
                <a:latin typeface="urw-din"/>
              </a:rPr>
              <a:t>shmid</a:t>
            </a:r>
            <a:r>
              <a:rPr lang="en-US" sz="2400" b="0" i="1" dirty="0">
                <a:solidFill>
                  <a:srgbClr val="273239"/>
                </a:solidFill>
                <a:effectLst/>
                <a:latin typeface="urw-din"/>
              </a:rPr>
              <a:t> ,void *</a:t>
            </a:r>
            <a:r>
              <a:rPr lang="en-US" sz="2400" b="0" i="1" dirty="0" err="1">
                <a:solidFill>
                  <a:srgbClr val="273239"/>
                </a:solidFill>
                <a:effectLst/>
                <a:latin typeface="urw-din"/>
              </a:rPr>
              <a:t>shmaddr</a:t>
            </a:r>
            <a:r>
              <a:rPr lang="en-US" sz="2400" b="0" i="1" dirty="0">
                <a:solidFill>
                  <a:srgbClr val="273239"/>
                </a:solidFill>
                <a:effectLst/>
                <a:latin typeface="urw-din"/>
              </a:rPr>
              <a:t> ,int </a:t>
            </a:r>
            <a:r>
              <a:rPr lang="en-US" sz="2400" b="0" i="1" dirty="0" err="1">
                <a:solidFill>
                  <a:srgbClr val="273239"/>
                </a:solidFill>
                <a:effectLst/>
                <a:latin typeface="urw-din"/>
              </a:rPr>
              <a:t>shmflg</a:t>
            </a:r>
            <a:r>
              <a:rPr lang="en-US" sz="2400" b="0" i="1" dirty="0">
                <a:solidFill>
                  <a:srgbClr val="273239"/>
                </a:solidFill>
                <a:effectLst/>
                <a:latin typeface="urw-din"/>
              </a:rPr>
              <a:t>);</a:t>
            </a:r>
            <a:br>
              <a:rPr lang="en-US" sz="2400" b="0" i="1" dirty="0">
                <a:solidFill>
                  <a:srgbClr val="273239"/>
                </a:solidFill>
                <a:effectLst/>
                <a:latin typeface="urw-din"/>
              </a:rPr>
            </a:br>
            <a:r>
              <a:rPr lang="en-US" sz="2400" b="0" i="1" dirty="0" err="1">
                <a:solidFill>
                  <a:srgbClr val="273239"/>
                </a:solidFill>
                <a:effectLst/>
                <a:latin typeface="urw-din"/>
              </a:rPr>
              <a:t>shmid</a:t>
            </a:r>
            <a:r>
              <a:rPr lang="en-US" sz="2400" b="0" i="1" dirty="0">
                <a:solidFill>
                  <a:srgbClr val="273239"/>
                </a:solidFill>
                <a:effectLst/>
                <a:latin typeface="urw-din"/>
              </a:rPr>
              <a:t> is shared memory id. </a:t>
            </a:r>
            <a:r>
              <a:rPr lang="en-US" sz="2400" b="0" i="1" dirty="0" err="1">
                <a:solidFill>
                  <a:srgbClr val="273239"/>
                </a:solidFill>
                <a:effectLst/>
                <a:latin typeface="urw-din"/>
              </a:rPr>
              <a:t>shmaddr</a:t>
            </a:r>
            <a:r>
              <a:rPr lang="en-US" sz="2400" b="0" i="1" dirty="0">
                <a:solidFill>
                  <a:srgbClr val="273239"/>
                </a:solidFill>
                <a:effectLst/>
                <a:latin typeface="urw-din"/>
              </a:rPr>
              <a:t> specifies specific address to use but we should set it to zero and OS will automatically choose the address.</a:t>
            </a:r>
          </a:p>
          <a:p>
            <a:pPr algn="l" fontAlgn="base"/>
            <a:r>
              <a:rPr lang="en-US" sz="2400" b="1" i="1" dirty="0" err="1">
                <a:solidFill>
                  <a:srgbClr val="273239"/>
                </a:solidFill>
                <a:effectLst/>
                <a:latin typeface="urw-din"/>
              </a:rPr>
              <a:t>shmdt</a:t>
            </a:r>
            <a:r>
              <a:rPr lang="en-US" sz="2400" b="1" i="1" dirty="0">
                <a:solidFill>
                  <a:srgbClr val="273239"/>
                </a:solidFill>
                <a:effectLst/>
                <a:latin typeface="urw-din"/>
              </a:rPr>
              <a:t>()</a:t>
            </a:r>
            <a:r>
              <a:rPr lang="en-US" sz="2400" b="0" i="1" dirty="0">
                <a:solidFill>
                  <a:srgbClr val="273239"/>
                </a:solidFill>
                <a:effectLst/>
                <a:latin typeface="urw-din"/>
              </a:rPr>
              <a:t>: When you’re done with the shared memory segment, your program should detach itself from it using </a:t>
            </a:r>
            <a:r>
              <a:rPr lang="en-US" sz="2400" b="0" i="1" dirty="0" err="1">
                <a:solidFill>
                  <a:srgbClr val="273239"/>
                </a:solidFill>
                <a:effectLst/>
                <a:latin typeface="urw-din"/>
              </a:rPr>
              <a:t>shmdt</a:t>
            </a:r>
            <a:r>
              <a:rPr lang="en-US" sz="2400" b="0" i="1" dirty="0">
                <a:solidFill>
                  <a:srgbClr val="273239"/>
                </a:solidFill>
                <a:effectLst/>
                <a:latin typeface="urw-din"/>
              </a:rPr>
              <a:t>(). </a:t>
            </a:r>
          </a:p>
          <a:p>
            <a:pPr algn="l" fontAlgn="base"/>
            <a:r>
              <a:rPr lang="en-US" sz="2400" b="1" i="1" dirty="0" err="1">
                <a:solidFill>
                  <a:srgbClr val="273239"/>
                </a:solidFill>
                <a:effectLst/>
                <a:latin typeface="urw-din"/>
              </a:rPr>
              <a:t>shmctl</a:t>
            </a:r>
            <a:r>
              <a:rPr lang="en-US" sz="2400" b="1" i="1" dirty="0">
                <a:solidFill>
                  <a:srgbClr val="273239"/>
                </a:solidFill>
                <a:effectLst/>
                <a:latin typeface="urw-din"/>
              </a:rPr>
              <a:t>()</a:t>
            </a:r>
            <a:r>
              <a:rPr lang="en-US" sz="2400" b="0" i="1" dirty="0">
                <a:solidFill>
                  <a:srgbClr val="273239"/>
                </a:solidFill>
                <a:effectLst/>
                <a:latin typeface="urw-din"/>
              </a:rPr>
              <a:t>: when you detach from shared </a:t>
            </a:r>
            <a:r>
              <a:rPr lang="en-US" sz="2400" b="0" i="1" dirty="0" err="1">
                <a:solidFill>
                  <a:srgbClr val="273239"/>
                </a:solidFill>
                <a:effectLst/>
                <a:latin typeface="urw-din"/>
              </a:rPr>
              <a:t>memory,it</a:t>
            </a:r>
            <a:r>
              <a:rPr lang="en-US" sz="2400" b="0" i="1" dirty="0">
                <a:solidFill>
                  <a:srgbClr val="273239"/>
                </a:solidFill>
                <a:effectLst/>
                <a:latin typeface="urw-din"/>
              </a:rPr>
              <a:t> is not destroyed. </a:t>
            </a:r>
            <a:r>
              <a:rPr lang="en-US" sz="2400" i="1" dirty="0">
                <a:solidFill>
                  <a:srgbClr val="273239"/>
                </a:solidFill>
                <a:latin typeface="urw-din"/>
              </a:rPr>
              <a:t>T</a:t>
            </a:r>
            <a:r>
              <a:rPr lang="en-US" sz="2400" b="0" i="1" dirty="0">
                <a:solidFill>
                  <a:srgbClr val="273239"/>
                </a:solidFill>
                <a:effectLst/>
                <a:latin typeface="urw-din"/>
              </a:rPr>
              <a:t>o destroy it, </a:t>
            </a:r>
            <a:r>
              <a:rPr lang="en-US" sz="2400" b="0" i="1" dirty="0" err="1">
                <a:solidFill>
                  <a:srgbClr val="273239"/>
                </a:solidFill>
                <a:effectLst/>
                <a:latin typeface="urw-din"/>
              </a:rPr>
              <a:t>shmctl</a:t>
            </a:r>
            <a:r>
              <a:rPr lang="en-US" sz="2400" b="0" i="1" dirty="0">
                <a:solidFill>
                  <a:srgbClr val="273239"/>
                </a:solidFill>
                <a:effectLst/>
                <a:latin typeface="urw-din"/>
              </a:rPr>
              <a:t>() is used. </a:t>
            </a:r>
            <a:br>
              <a:rPr kumimoji="0" lang="en-US" altLang="en-US" sz="6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377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normAutofit/>
          </a:bodyPr>
          <a:lstStyle/>
          <a:p>
            <a:r>
              <a:rPr lang="en-US" dirty="0"/>
              <a:t>Shared Memory using </a:t>
            </a:r>
            <a:r>
              <a:rPr lang="en-US" dirty="0" err="1"/>
              <a:t>mmap</a:t>
            </a:r>
            <a:r>
              <a:rPr lang="en-US" dirty="0"/>
              <a:t>() system call</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11</a:t>
            </a:fld>
            <a:endParaRPr lang="en-IN"/>
          </a:p>
        </p:txBody>
      </p:sp>
      <p:sp>
        <p:nvSpPr>
          <p:cNvPr id="5" name="Rectangle 1">
            <a:extLst>
              <a:ext uri="{FF2B5EF4-FFF2-40B4-BE49-F238E27FC236}">
                <a16:creationId xmlns:a16="http://schemas.microsoft.com/office/drawing/2014/main" id="{FFDC5CDD-5E90-460B-8F79-0003575FB0C8}"/>
              </a:ext>
            </a:extLst>
          </p:cNvPr>
          <p:cNvSpPr>
            <a:spLocks noChangeArrowheads="1"/>
          </p:cNvSpPr>
          <p:nvPr/>
        </p:nvSpPr>
        <p:spPr bwMode="auto">
          <a:xfrm>
            <a:off x="287049" y="1324180"/>
            <a:ext cx="413818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a:t>
            </a:r>
            <a:r>
              <a:rPr kumimoji="0" lang="en-US" altLang="en-US" sz="1400" b="0" i="0" u="none" strike="noStrike" cap="none" normalizeH="0" baseline="0" dirty="0" err="1">
                <a:ln>
                  <a:noFill/>
                </a:ln>
                <a:solidFill>
                  <a:schemeClr val="tx1"/>
                </a:solidFill>
                <a:effectLst/>
                <a:latin typeface="inherit"/>
              </a:rPr>
              <a:t>stdio.h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a:t>
            </a:r>
            <a:r>
              <a:rPr kumimoji="0" lang="en-US" altLang="en-US" sz="1400" b="0" i="0" u="none" strike="noStrike" cap="none" normalizeH="0" baseline="0" dirty="0" err="1">
                <a:ln>
                  <a:noFill/>
                </a:ln>
                <a:solidFill>
                  <a:schemeClr val="tx1"/>
                </a:solidFill>
                <a:effectLst/>
                <a:latin typeface="inherit"/>
              </a:rPr>
              <a:t>stdlib.h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#include &lt;sys/</a:t>
            </a:r>
            <a:r>
              <a:rPr kumimoji="0" lang="en-US" altLang="en-US" sz="1400" b="0" i="0" u="none" strike="noStrike" cap="none" normalizeH="0" baseline="0" dirty="0" err="1">
                <a:ln>
                  <a:noFill/>
                </a:ln>
                <a:solidFill>
                  <a:schemeClr val="tx1"/>
                </a:solidFill>
                <a:effectLst/>
                <a:latin typeface="inherit"/>
              </a:rPr>
              <a:t>mman.h</a:t>
            </a:r>
            <a:r>
              <a:rPr kumimoji="0" lang="en-US" altLang="en-US" sz="14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void* </a:t>
            </a:r>
            <a:r>
              <a:rPr kumimoji="0" lang="en-US" altLang="en-US" sz="1400" b="0" i="0" u="none" strike="noStrike" cap="none" normalizeH="0" baseline="0" dirty="0" err="1">
                <a:ln>
                  <a:noFill/>
                </a:ln>
                <a:solidFill>
                  <a:schemeClr val="tx1"/>
                </a:solidFill>
                <a:effectLst/>
                <a:latin typeface="inherit"/>
              </a:rPr>
              <a:t>create_shared_memory</a:t>
            </a:r>
            <a:r>
              <a:rPr kumimoji="0" lang="en-US" altLang="en-US" sz="1400" b="0" i="0" u="none" strike="noStrike" cap="none" normalizeH="0" baseline="0" dirty="0">
                <a:ln>
                  <a:noFill/>
                </a:ln>
                <a:solidFill>
                  <a:schemeClr val="tx1"/>
                </a:solidFill>
                <a:effectLst/>
                <a:latin typeface="inherit"/>
              </a:rPr>
              <a:t>(</a:t>
            </a:r>
            <a:r>
              <a:rPr kumimoji="0" lang="en-US" altLang="en-US" sz="1400" b="0" i="0" u="none" strike="noStrike" cap="none" normalizeH="0" baseline="0" dirty="0" err="1">
                <a:ln>
                  <a:noFill/>
                </a:ln>
                <a:solidFill>
                  <a:schemeClr val="tx1"/>
                </a:solidFill>
                <a:effectLst/>
                <a:latin typeface="inherit"/>
              </a:rPr>
              <a:t>size_t</a:t>
            </a:r>
            <a:r>
              <a:rPr kumimoji="0" lang="en-US" altLang="en-US" sz="1400" b="0" i="0" u="none" strike="noStrike" cap="none" normalizeH="0" baseline="0" dirty="0">
                <a:ln>
                  <a:noFill/>
                </a:ln>
                <a:solidFill>
                  <a:schemeClr val="tx1"/>
                </a:solidFill>
                <a:effectLst/>
                <a:latin typeface="inherit"/>
              </a:rPr>
              <a:t> size)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Our memory buffer will be readable and writable: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int protection = PROT_READ | PROT_WRITE;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The buffer will be shared (meaning other processes can access it), but anonymous (meaning third-party processes cannot obtain an address for it), so only this process and its children will be able to use 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int visibility = MAP_SHARED | MAP_ANONYMOUS;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The remaining parameters to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 are not important for this use case,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 but the </a:t>
            </a:r>
            <a:r>
              <a:rPr kumimoji="0" lang="en-US" altLang="en-US" sz="1400" b="0" i="0" u="none" strike="noStrike" cap="none" normalizeH="0" baseline="0" dirty="0" err="1">
                <a:ln>
                  <a:noFill/>
                </a:ln>
                <a:solidFill>
                  <a:schemeClr val="tx1"/>
                </a:solidFill>
                <a:effectLst/>
                <a:latin typeface="inherit"/>
              </a:rPr>
              <a:t>manpage</a:t>
            </a:r>
            <a:r>
              <a:rPr kumimoji="0" lang="en-US" altLang="en-US" sz="1400" b="0" i="0" u="none" strike="noStrike" cap="none" normalizeH="0" baseline="0" dirty="0">
                <a:ln>
                  <a:noFill/>
                </a:ln>
                <a:solidFill>
                  <a:schemeClr val="tx1"/>
                </a:solidFill>
                <a:effectLst/>
                <a:latin typeface="inherit"/>
              </a:rPr>
              <a:t> for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 explains their purpose.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inherit"/>
              </a:rPr>
              <a:t>  return </a:t>
            </a:r>
            <a:r>
              <a:rPr kumimoji="0" lang="en-US" altLang="en-US" sz="1400" b="0" i="0" u="none" strike="noStrike" cap="none" normalizeH="0" baseline="0" dirty="0" err="1">
                <a:ln>
                  <a:noFill/>
                </a:ln>
                <a:solidFill>
                  <a:schemeClr val="tx1"/>
                </a:solidFill>
                <a:effectLst/>
                <a:latin typeface="inherit"/>
              </a:rPr>
              <a:t>mmap</a:t>
            </a:r>
            <a:r>
              <a:rPr kumimoji="0" lang="en-US" altLang="en-US" sz="1400" b="0" i="0" u="none" strike="noStrike" cap="none" normalizeH="0" baseline="0" dirty="0">
                <a:ln>
                  <a:noFill/>
                </a:ln>
                <a:solidFill>
                  <a:schemeClr val="tx1"/>
                </a:solidFill>
                <a:effectLst/>
                <a:latin typeface="inherit"/>
              </a:rPr>
              <a:t>(NULL, size, protection, visibility, -1,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inherit"/>
              </a:rPr>
              <a:t>}</a:t>
            </a:r>
          </a:p>
        </p:txBody>
      </p:sp>
      <p:sp>
        <p:nvSpPr>
          <p:cNvPr id="6" name="Rectangle 1">
            <a:extLst>
              <a:ext uri="{FF2B5EF4-FFF2-40B4-BE49-F238E27FC236}">
                <a16:creationId xmlns:a16="http://schemas.microsoft.com/office/drawing/2014/main" id="{C589EAC6-04FA-44BB-8343-CC064621381B}"/>
              </a:ext>
            </a:extLst>
          </p:cNvPr>
          <p:cNvSpPr>
            <a:spLocks noChangeArrowheads="1"/>
          </p:cNvSpPr>
          <p:nvPr/>
        </p:nvSpPr>
        <p:spPr bwMode="auto">
          <a:xfrm>
            <a:off x="4548622" y="979467"/>
            <a:ext cx="4138179"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#include &lt;</a:t>
            </a:r>
            <a:r>
              <a:rPr kumimoji="0" lang="en-US" altLang="en-US" sz="1300" b="0" i="0" u="none" strike="noStrike" cap="none" normalizeH="0" baseline="0" dirty="0" err="1">
                <a:ln>
                  <a:noFill/>
                </a:ln>
                <a:solidFill>
                  <a:schemeClr val="tx1"/>
                </a:solidFill>
                <a:effectLst/>
                <a:latin typeface="inherit"/>
              </a:rPr>
              <a:t>string.h</a:t>
            </a:r>
            <a:r>
              <a:rPr kumimoji="0" lang="en-US" altLang="en-US" sz="13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#include &lt;</a:t>
            </a:r>
            <a:r>
              <a:rPr kumimoji="0" lang="en-US" altLang="en-US" sz="1300" b="0" i="0" u="none" strike="noStrike" cap="none" normalizeH="0" baseline="0" dirty="0" err="1">
                <a:ln>
                  <a:noFill/>
                </a:ln>
                <a:solidFill>
                  <a:schemeClr val="tx1"/>
                </a:solidFill>
                <a:effectLst/>
                <a:latin typeface="inherit"/>
              </a:rPr>
              <a:t>unistd.h</a:t>
            </a:r>
            <a:r>
              <a:rPr kumimoji="0" lang="en-US" altLang="en-US" sz="1300" b="0" i="0" u="none" strike="noStrike" cap="none" normalizeH="0" baseline="0" dirty="0">
                <a:ln>
                  <a:noFill/>
                </a:ln>
                <a:solidFill>
                  <a:schemeClr val="tx1"/>
                </a:solidFill>
                <a:effectLst/>
                <a:latin typeface="inherit"/>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int main()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char </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 = "hello";  // parent process will write this message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char </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 = "goodbye"; // child process will then write this 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void*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 </a:t>
            </a:r>
            <a:r>
              <a:rPr kumimoji="0" lang="en-US" altLang="en-US" sz="1300" b="0" i="0" u="none" strike="noStrike" cap="none" normalizeH="0" baseline="0" dirty="0" err="1">
                <a:ln>
                  <a:noFill/>
                </a:ln>
                <a:solidFill>
                  <a:schemeClr val="tx1"/>
                </a:solidFill>
                <a:effectLst/>
                <a:latin typeface="inherit"/>
              </a:rPr>
              <a:t>create_shared_memory</a:t>
            </a:r>
            <a:r>
              <a:rPr kumimoji="0" lang="en-US" altLang="en-US" sz="1300" b="0" i="0" u="none" strike="noStrike" cap="none" normalizeH="0" baseline="0" dirty="0">
                <a:ln>
                  <a:noFill/>
                </a:ln>
                <a:solidFill>
                  <a:schemeClr val="tx1"/>
                </a:solidFill>
                <a:effectLst/>
                <a:latin typeface="inherit"/>
              </a:rPr>
              <a:t>(128);</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memcpy</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sizeof</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parent_message</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int </a:t>
            </a:r>
            <a:r>
              <a:rPr kumimoji="0" lang="en-US" altLang="en-US" sz="1300" b="0" i="0" u="none" strike="noStrike" cap="none" normalizeH="0" baseline="0" dirty="0" err="1">
                <a:ln>
                  <a:noFill/>
                </a:ln>
                <a:solidFill>
                  <a:schemeClr val="tx1"/>
                </a:solidFill>
                <a:effectLst/>
                <a:latin typeface="inherit"/>
              </a:rPr>
              <a:t>pid</a:t>
            </a:r>
            <a:r>
              <a:rPr kumimoji="0" lang="en-US" altLang="en-US" sz="1300" b="0" i="0" u="none" strike="noStrike" cap="none" normalizeH="0" baseline="0" dirty="0">
                <a:ln>
                  <a:noFill/>
                </a:ln>
                <a:solidFill>
                  <a:schemeClr val="tx1"/>
                </a:solidFill>
                <a:effectLst/>
                <a:latin typeface="inherit"/>
              </a:rPr>
              <a:t> = fork();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if (</a:t>
            </a:r>
            <a:r>
              <a:rPr kumimoji="0" lang="en-US" altLang="en-US" sz="1300" b="0" i="0" u="none" strike="noStrike" cap="none" normalizeH="0" baseline="0" dirty="0" err="1">
                <a:ln>
                  <a:noFill/>
                </a:ln>
                <a:solidFill>
                  <a:schemeClr val="tx1"/>
                </a:solidFill>
                <a:effectLst/>
                <a:latin typeface="inherit"/>
              </a:rPr>
              <a:t>pid</a:t>
            </a:r>
            <a:r>
              <a:rPr kumimoji="0" lang="en-US" altLang="en-US" sz="1300" b="0" i="0" u="none" strike="noStrike" cap="none" normalizeH="0" baseline="0" dirty="0">
                <a:ln>
                  <a:noFill/>
                </a:ln>
                <a:solidFill>
                  <a:schemeClr val="tx1"/>
                </a:solidFill>
                <a:effectLst/>
                <a:latin typeface="inherit"/>
              </a:rPr>
              <a: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("Child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memcpy</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sizeof</a:t>
            </a:r>
            <a:r>
              <a:rPr kumimoji="0" lang="en-US" altLang="en-US" sz="1300" b="0" i="0" u="none" strike="noStrike" cap="none" normalizeH="0" baseline="0" dirty="0">
                <a:ln>
                  <a:noFill/>
                </a:ln>
                <a:solidFill>
                  <a:schemeClr val="tx1"/>
                </a:solidFill>
                <a:effectLst/>
                <a:latin typeface="inherit"/>
              </a:rPr>
              <a:t>(</a:t>
            </a:r>
            <a:r>
              <a:rPr kumimoji="0" lang="en-US" altLang="en-US" sz="1300" b="0" i="0" u="none" strike="noStrike" cap="none" normalizeH="0" baseline="0" dirty="0" err="1">
                <a:ln>
                  <a:noFill/>
                </a:ln>
                <a:solidFill>
                  <a:schemeClr val="tx1"/>
                </a:solidFill>
                <a:effectLst/>
                <a:latin typeface="inherit"/>
              </a:rPr>
              <a:t>child_message</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("Child wrote: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 else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("Parent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sleep(1);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r>
              <a:rPr kumimoji="0" lang="en-US" altLang="en-US" sz="1300" b="0" i="0" u="none" strike="noStrike" cap="none" normalizeH="0" baseline="0" dirty="0" err="1">
                <a:ln>
                  <a:noFill/>
                </a:ln>
                <a:solidFill>
                  <a:schemeClr val="tx1"/>
                </a:solidFill>
                <a:effectLst/>
                <a:latin typeface="inherit"/>
              </a:rPr>
              <a:t>printf</a:t>
            </a:r>
            <a:r>
              <a:rPr kumimoji="0" lang="en-US" altLang="en-US" sz="1300" b="0" i="0" u="none" strike="noStrike" cap="none" normalizeH="0" baseline="0" dirty="0">
                <a:ln>
                  <a:noFill/>
                </a:ln>
                <a:solidFill>
                  <a:schemeClr val="tx1"/>
                </a:solidFill>
                <a:effectLst/>
                <a:latin typeface="inherit"/>
              </a:rPr>
              <a:t>("After 1s, parent read: %s\n", </a:t>
            </a:r>
            <a:r>
              <a:rPr kumimoji="0" lang="en-US" altLang="en-US" sz="1300" b="0" i="0" u="none" strike="noStrike" cap="none" normalizeH="0" baseline="0" dirty="0" err="1">
                <a:ln>
                  <a:noFill/>
                </a:ln>
                <a:solidFill>
                  <a:schemeClr val="tx1"/>
                </a:solidFill>
                <a:effectLst/>
                <a:latin typeface="inherit"/>
              </a:rPr>
              <a:t>shmem</a:t>
            </a:r>
            <a:r>
              <a:rPr kumimoji="0" lang="en-US" altLang="en-US" sz="1300" b="0" i="0" u="none" strike="noStrike" cap="none" normalizeH="0" baseline="0" dirty="0">
                <a:ln>
                  <a:noFill/>
                </a:ln>
                <a:solidFill>
                  <a:schemeClr val="tx1"/>
                </a:solidFill>
                <a:effectLst/>
                <a:latin typeface="inheri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herit"/>
              </a:rPr>
              <a:t>}</a:t>
            </a:r>
            <a:endParaRPr kumimoji="0" lang="en-US" altLang="en-US" sz="13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5231840"/>
      </p:ext>
    </p:extLst>
  </p:cSld>
  <p:clrMapOvr>
    <a:masterClrMapping/>
  </p:clrMapOvr>
</p:sld>
</file>

<file path=ppt/theme/theme1.xml><?xml version="1.0" encoding="utf-8"?>
<a:theme xmlns:a="http://schemas.openxmlformats.org/drawingml/2006/main" name="SITpresentation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AFC726DC-6753-4CA9-AC10-7605C2014B62}" vid="{F537F097-A130-4E18-A2FB-A0262DBDBE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1672</Words>
  <Application>Microsoft Office PowerPoint</Application>
  <PresentationFormat>On-screen Show (4:3)</PresentationFormat>
  <Paragraphs>185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Consolas</vt:lpstr>
      <vt:lpstr>Heltevica</vt:lpstr>
      <vt:lpstr>inherit</vt:lpstr>
      <vt:lpstr>urw-din</vt:lpstr>
      <vt:lpstr>SITpresentationTheme</vt:lpstr>
      <vt:lpstr>Using Shared memory in Linux</vt:lpstr>
      <vt:lpstr>Advantages of Shared Memory</vt:lpstr>
      <vt:lpstr>Disadvantages of Shared Memory</vt:lpstr>
      <vt:lpstr>Usage of Shared Memory</vt:lpstr>
      <vt:lpstr>Functions for using Shared Memory (old style)</vt:lpstr>
      <vt:lpstr>Creating Shared Memory (Old Style)</vt:lpstr>
      <vt:lpstr>Attaching to Shared Memory</vt:lpstr>
      <vt:lpstr>Shared Memory Control</vt:lpstr>
      <vt:lpstr>Sample code</vt:lpstr>
      <vt:lpstr>Calls explanation</vt:lpstr>
      <vt:lpstr>Shared Memory using mmap() system call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 Process Communication</dc:title>
  <dc:creator>Parag Narkhede</dc:creator>
  <cp:lastModifiedBy>Shripad Deshpande</cp:lastModifiedBy>
  <cp:revision>11</cp:revision>
  <dcterms:created xsi:type="dcterms:W3CDTF">2020-11-20T10:16:45Z</dcterms:created>
  <dcterms:modified xsi:type="dcterms:W3CDTF">2022-03-24T21:16:34Z</dcterms:modified>
</cp:coreProperties>
</file>