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00" r:id="rId2"/>
    <p:sldId id="283" r:id="rId3"/>
    <p:sldId id="290" r:id="rId4"/>
    <p:sldId id="291" r:id="rId5"/>
    <p:sldId id="292" r:id="rId6"/>
    <p:sldId id="293" r:id="rId7"/>
    <p:sldId id="299" r:id="rId8"/>
    <p:sldId id="298" r:id="rId9"/>
    <p:sldId id="294" r:id="rId10"/>
    <p:sldId id="296" r:id="rId11"/>
    <p:sldId id="29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28" autoAdjust="0"/>
  </p:normalViewPr>
  <p:slideViewPr>
    <p:cSldViewPr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0A66E-CF90-4D93-A881-2709D5B51061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65CB4-A102-4CFC-AF73-CA3B1F55B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238579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594B-7319-4482-9AE6-EC74EAE5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0">
                <a:solidFill>
                  <a:srgbClr val="332F6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3243-F8F1-4735-84CB-DA267F6B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AE67-A40B-4B1F-A27D-C82248E8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F67E-3AA0-4A75-BE19-C1FBBDF8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52C82-4A16-49D7-B656-0C87A0035C91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B0F06-65D7-4190-8F22-D7DE75D4ECA7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62228-2F01-4EEE-AD7A-2F409DF7C57C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410FE-2DC4-4765-BF39-99EFA09F0274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ADC20A-2C04-4929-9AFF-53516860E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1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B0FE-B0C9-46D8-967A-59F65C29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IN" sz="44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B0EF4-6523-4FDF-9387-11EDF9335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968" y="1231164"/>
            <a:ext cx="3990110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5B17C-E2ED-4325-9395-D7777E4E0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3009" y="1243731"/>
            <a:ext cx="4436918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CC4BF-0660-43CA-8A30-0CC8E64C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4424-C002-49F8-9B63-DD7D1B68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CBC22-DB28-4B66-B924-84922D89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F6B60-A9C1-4A07-B32C-8CCFFCF40A4A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25A20-BC26-4C02-90BC-3AB92E6F8C61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0637D2-E321-490D-B3C1-96A1BC775909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19C0D-B89C-4FFC-B92A-792486AF17A5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2B25-6E11-4856-AAF4-F22FE611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54B81-59A8-48C7-8518-D2398290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351E8-DFDA-4AD5-9E81-156C7B01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DAFD8-4E1C-423C-A8FA-9E4FEB75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D4527-3A5E-46B2-AA54-9FC0A20A1C84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CADB4-9D46-4FD2-9DBB-A9F7CA16CC48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78242-09F0-4E23-AD0E-752F68E18A56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36101-D9EE-4903-85CC-8CD4E2CD06E2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56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8D782-20C8-4598-A8F3-747E12CD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6E63E-6B58-4650-9F90-CE2F910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653B-179B-4F04-A161-ACBF7210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1DA5B-5A5B-4E48-A05F-AB42F70FFF5D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74A40-97D2-49BE-9BAC-8FBCC8F93CCD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30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284A5-AAC1-4617-9E19-A03F505F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77" y="182996"/>
            <a:ext cx="8827078" cy="93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981A-16BF-4617-8EAC-61D33DF23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77" y="1343892"/>
            <a:ext cx="8827077" cy="501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9CE9-5C11-4F6D-8B4A-88967385C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1F2E-40CA-479B-A67D-57AF48BE3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DC4F-E754-4B03-86E9-EA275293B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1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1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tevic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tevic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tevic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tevic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tevic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tevic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066800" y="1757551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POSIX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277" y="1143000"/>
            <a:ext cx="8827077" cy="521335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/>
              <a:t>An independent stream of instructions that can be scheduled to run by the OS.</a:t>
            </a:r>
          </a:p>
          <a:p>
            <a:pPr>
              <a:lnSpc>
                <a:spcPct val="80000"/>
              </a:lnSpc>
            </a:pPr>
            <a:r>
              <a:rPr lang="en-US" dirty="0"/>
              <a:t>“Function” that runs independently from main program.</a:t>
            </a:r>
          </a:p>
          <a:p>
            <a:pPr>
              <a:lnSpc>
                <a:spcPct val="80000"/>
              </a:lnSpc>
            </a:pPr>
            <a:r>
              <a:rPr lang="en-US" dirty="0"/>
              <a:t>Multi-threaded programs run several threads simultaneously.</a:t>
            </a:r>
          </a:p>
          <a:p>
            <a:pPr>
              <a:lnSpc>
                <a:spcPct val="80000"/>
              </a:lnSpc>
            </a:pPr>
            <a:r>
              <a:rPr lang="en-US" dirty="0"/>
              <a:t>A Thread exists within a process and uses the process resources.</a:t>
            </a:r>
          </a:p>
          <a:p>
            <a:r>
              <a:rPr lang="en-US" dirty="0"/>
              <a:t>Threads only duplicate the essential resources it needs to be independently schedulable.</a:t>
            </a:r>
          </a:p>
          <a:p>
            <a:r>
              <a:rPr lang="en-US" dirty="0"/>
              <a:t>A thread will die if the parent process dies.</a:t>
            </a:r>
          </a:p>
          <a:p>
            <a:r>
              <a:rPr lang="en-US" dirty="0"/>
              <a:t>A thread is “lightweight” because most of the overhead has already been accomplished through the creation of the process.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400" dirty="0"/>
              <a:t>Advantages and disadvantage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277" y="1143000"/>
            <a:ext cx="8827077" cy="5410200"/>
          </a:xfrm>
        </p:spPr>
        <p:txBody>
          <a:bodyPr>
            <a:normAutofit/>
          </a:bodyPr>
          <a:lstStyle/>
          <a:p>
            <a:pPr>
              <a:buFont typeface="Arial Black" pitchFamily="34" charset="0"/>
              <a:buChar char="☺"/>
              <a:defRPr/>
            </a:pPr>
            <a:r>
              <a:rPr lang="en-US" sz="3200" dirty="0">
                <a:solidFill>
                  <a:srgbClr val="000000"/>
                </a:solidFill>
              </a:rPr>
              <a:t>The overhead for creating a thread is less</a:t>
            </a:r>
          </a:p>
          <a:p>
            <a:pPr>
              <a:buFont typeface="Arial Black" pitchFamily="34" charset="0"/>
              <a:buChar char="☺"/>
              <a:defRPr/>
            </a:pPr>
            <a:r>
              <a:rPr lang="en-US" sz="3200" dirty="0">
                <a:solidFill>
                  <a:srgbClr val="000000"/>
                </a:solidFill>
              </a:rPr>
              <a:t>One process serves multiple clients</a:t>
            </a:r>
          </a:p>
          <a:p>
            <a:pPr>
              <a:buFont typeface="Arial Black" pitchFamily="34" charset="0"/>
              <a:buChar char="☺"/>
              <a:defRPr/>
            </a:pPr>
            <a:r>
              <a:rPr lang="en-US" sz="3200" dirty="0">
                <a:solidFill>
                  <a:srgbClr val="000000"/>
                </a:solidFill>
              </a:rPr>
              <a:t>Switching between threads easier</a:t>
            </a:r>
          </a:p>
          <a:p>
            <a:pPr>
              <a:buFont typeface="Arial Black" pitchFamily="34" charset="0"/>
              <a:buChar char="☻"/>
              <a:defRPr/>
            </a:pPr>
            <a:r>
              <a:rPr lang="en-US" sz="3200" dirty="0">
                <a:solidFill>
                  <a:srgbClr val="000000"/>
                </a:solidFill>
              </a:rPr>
              <a:t>Writing multithreaded programs require more careful thought</a:t>
            </a:r>
          </a:p>
          <a:p>
            <a:pPr>
              <a:buFont typeface="Arial Black" pitchFamily="34" charset="0"/>
              <a:buChar char="☻"/>
              <a:defRPr/>
            </a:pPr>
            <a:r>
              <a:rPr lang="en-US" sz="3200" dirty="0">
                <a:solidFill>
                  <a:srgbClr val="000000"/>
                </a:solidFill>
              </a:rPr>
              <a:t>More difficult to debug than single threaded programs</a:t>
            </a:r>
          </a:p>
          <a:p>
            <a:pPr>
              <a:buFont typeface="Arial Black" pitchFamily="34" charset="0"/>
              <a:buChar char="☻"/>
              <a:defRPr/>
            </a:pPr>
            <a:r>
              <a:rPr lang="en-US" sz="3200" dirty="0">
                <a:solidFill>
                  <a:srgbClr val="000000"/>
                </a:solidFill>
              </a:rPr>
              <a:t>For single processor machines, creating several threads may not necessarily improve performance</a:t>
            </a:r>
          </a:p>
          <a:p>
            <a:pPr>
              <a:buFont typeface="Arial Black" pitchFamily="34" charset="0"/>
              <a:buChar char="☻"/>
              <a:defRPr/>
            </a:pPr>
            <a:endParaRPr lang="en-US" sz="3200" dirty="0">
              <a:solidFill>
                <a:srgbClr val="000000"/>
              </a:solidFill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1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Threads Programming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277" y="1143000"/>
            <a:ext cx="8827077" cy="52133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Pipeline model – threads are run one after the other</a:t>
            </a:r>
          </a:p>
          <a:p>
            <a:r>
              <a:rPr lang="en-US" sz="3600" dirty="0">
                <a:solidFill>
                  <a:srgbClr val="000000"/>
                </a:solidFill>
              </a:rPr>
              <a:t>Master-slave model – master (main) thread doesn't do any work, it just waits for the slave threads to finish working</a:t>
            </a:r>
          </a:p>
          <a:p>
            <a:r>
              <a:rPr lang="en-US" sz="3600" dirty="0">
                <a:solidFill>
                  <a:srgbClr val="000000"/>
                </a:solidFill>
              </a:rPr>
              <a:t>Equal-worker (or peer) model – all threads work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POSIX Thread (</a:t>
            </a:r>
            <a:r>
              <a:rPr lang="en-US" dirty="0" err="1">
                <a:solidFill>
                  <a:srgbClr val="000000"/>
                </a:solidFill>
              </a:rPr>
              <a:t>PThread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277" y="1143000"/>
            <a:ext cx="8827077" cy="5213350"/>
          </a:xfrm>
        </p:spPr>
        <p:txBody>
          <a:bodyPr>
            <a:normAutofit/>
          </a:bodyPr>
          <a:lstStyle/>
          <a:p>
            <a:r>
              <a:rPr lang="en-US" dirty="0"/>
              <a:t>POSIX – Portable Operating System Interface for Unix.</a:t>
            </a:r>
          </a:p>
          <a:p>
            <a:r>
              <a:rPr lang="en-US" dirty="0"/>
              <a:t>For UNIX systems, implementations of threads that adhere to the IEEE POSIX 1003.1c standard are </a:t>
            </a:r>
            <a:r>
              <a:rPr lang="en-US" dirty="0" err="1"/>
              <a:t>Pthreads</a:t>
            </a:r>
            <a:r>
              <a:rPr lang="en-US" dirty="0"/>
              <a:t>.</a:t>
            </a:r>
          </a:p>
          <a:p>
            <a:r>
              <a:rPr lang="en-US" dirty="0" err="1"/>
              <a:t>Pthreads</a:t>
            </a:r>
            <a:r>
              <a:rPr lang="en-US" dirty="0"/>
              <a:t> are C language programming types defined in the </a:t>
            </a:r>
            <a:r>
              <a:rPr lang="en-US" dirty="0" err="1"/>
              <a:t>pthread.h</a:t>
            </a:r>
            <a:r>
              <a:rPr lang="en-US" dirty="0"/>
              <a:t> header/include file.</a:t>
            </a:r>
          </a:p>
          <a:p>
            <a:r>
              <a:rPr lang="en-US" dirty="0" err="1"/>
              <a:t>Pthreads</a:t>
            </a:r>
            <a:r>
              <a:rPr lang="en-US" dirty="0"/>
              <a:t> are best used with programs that can be organized into discrete, independent tasks which can execute concurrently.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Pthread</a:t>
            </a:r>
            <a:r>
              <a:rPr lang="en-US" dirty="0"/>
              <a:t> Management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The main() function comprises a single, default thread.</a:t>
            </a:r>
          </a:p>
          <a:p>
            <a:pPr>
              <a:lnSpc>
                <a:spcPct val="90000"/>
              </a:lnSpc>
            </a:pPr>
            <a:r>
              <a:rPr lang="en-US" sz="3200" dirty="0" err="1"/>
              <a:t>pthread_create</a:t>
            </a:r>
            <a:r>
              <a:rPr lang="en-US" sz="3200" dirty="0"/>
              <a:t>() creates a new thread and makes it executable.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The maximum number of threads that may be created by a process in implementation dependent.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Once created, threads are peers, and may create other threads.</a:t>
            </a:r>
          </a:p>
          <a:p>
            <a:pPr>
              <a:lnSpc>
                <a:spcPct val="9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Creating Threads</a:t>
            </a:r>
            <a:endParaRPr lang="en-US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pthread_create</a:t>
            </a:r>
            <a:r>
              <a:rPr lang="en-US" dirty="0"/>
              <a:t>() creates a new thread and makes it executable.</a:t>
            </a:r>
          </a:p>
          <a:p>
            <a:pPr>
              <a:buNone/>
            </a:pP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int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pthread_create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( 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pthread_t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*thread, 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pthread_attr_t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*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attr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,       void *(*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thread_function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)(void *), void *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arg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);</a:t>
            </a:r>
          </a:p>
          <a:p>
            <a:r>
              <a:rPr lang="en-US" dirty="0">
                <a:solidFill>
                  <a:srgbClr val="000000"/>
                </a:solidFill>
              </a:rPr>
              <a:t>1st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pointer to the identifier of the created thread</a:t>
            </a:r>
          </a:p>
          <a:p>
            <a:r>
              <a:rPr lang="en-US" dirty="0">
                <a:solidFill>
                  <a:srgbClr val="000000"/>
                </a:solidFill>
              </a:rPr>
              <a:t>2nd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thread attributes. If null, then the thread is created with default attributes</a:t>
            </a:r>
          </a:p>
          <a:p>
            <a:r>
              <a:rPr lang="en-US" dirty="0">
                <a:solidFill>
                  <a:srgbClr val="000000"/>
                </a:solidFill>
              </a:rPr>
              <a:t>3rd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pointer to the function the thread will execute</a:t>
            </a:r>
          </a:p>
          <a:p>
            <a:r>
              <a:rPr lang="en-US" dirty="0">
                <a:solidFill>
                  <a:srgbClr val="000000"/>
                </a:solidFill>
              </a:rPr>
              <a:t>4th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the arguments of the executed function</a:t>
            </a:r>
          </a:p>
          <a:p>
            <a:r>
              <a:rPr lang="en-US" dirty="0">
                <a:solidFill>
                  <a:srgbClr val="000000"/>
                </a:solidFill>
              </a:rPr>
              <a:t>returns 0 for success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Waiting threads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610600" cy="5029200"/>
          </a:xfrm>
        </p:spPr>
        <p:txBody>
          <a:bodyPr/>
          <a:lstStyle/>
          <a:p>
            <a:pPr eaLnBrk="1" hangingPunct="1">
              <a:buNone/>
            </a:pP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int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pthread_join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( 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pthread_t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thread, void **</a:t>
            </a:r>
            <a:r>
              <a:rPr lang="en-US" dirty="0" err="1">
                <a:solidFill>
                  <a:srgbClr val="22228B"/>
                </a:solidFill>
                <a:latin typeface="Verdana Ref" pitchFamily="34" charset="0"/>
              </a:rPr>
              <a:t>thread_return</a:t>
            </a:r>
            <a:r>
              <a:rPr lang="en-US" dirty="0">
                <a:solidFill>
                  <a:srgbClr val="22228B"/>
                </a:solidFill>
                <a:latin typeface="Verdana Ref" pitchFamily="34" charset="0"/>
              </a:rPr>
              <a:t> )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</a:rPr>
              <a:t>This function is called in main thread so it will wait for daughter thread to finish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</a:rPr>
              <a:t>1st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the thread to wait for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</a:rPr>
              <a:t>2nd </a:t>
            </a:r>
            <a:r>
              <a:rPr lang="en-US" dirty="0" err="1">
                <a:solidFill>
                  <a:srgbClr val="000000"/>
                </a:solidFill>
              </a:rPr>
              <a:t>arg</a:t>
            </a:r>
            <a:r>
              <a:rPr lang="en-US" dirty="0">
                <a:solidFill>
                  <a:srgbClr val="000000"/>
                </a:solidFill>
              </a:rPr>
              <a:t> – pointer to a pointer to the return value from the thread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</a:rPr>
              <a:t>returns 0 for success</a:t>
            </a:r>
          </a:p>
          <a:p>
            <a:pPr eaLnBrk="1" hangingPunct="1"/>
            <a:r>
              <a:rPr lang="en-US" dirty="0">
                <a:solidFill>
                  <a:srgbClr val="000000"/>
                </a:solidFill>
              </a:rPr>
              <a:t>threads should always be joined; otherwise, a thread might keep on running even when the main thread has already terminated</a:t>
            </a:r>
          </a:p>
          <a:p>
            <a:pPr eaLnBrk="1" hangingPunct="1"/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Terminating Threads</a:t>
            </a:r>
            <a:endParaRPr lang="en-US" sz="6600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277" y="1219200"/>
            <a:ext cx="8827077" cy="501245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Several ways to terminate a thread: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thread is complete and returns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</a:t>
            </a:r>
            <a:r>
              <a:rPr lang="en-US" dirty="0" err="1"/>
              <a:t>pthread_exit</a:t>
            </a:r>
            <a:r>
              <a:rPr lang="en-US" dirty="0"/>
              <a:t>() method is called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</a:t>
            </a:r>
            <a:r>
              <a:rPr lang="en-US" dirty="0" err="1"/>
              <a:t>pthread_cancel</a:t>
            </a:r>
            <a:r>
              <a:rPr lang="en-US" dirty="0"/>
              <a:t>() method is invoked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exit() method is called</a:t>
            </a:r>
          </a:p>
          <a:p>
            <a:pPr>
              <a:lnSpc>
                <a:spcPct val="90000"/>
              </a:lnSpc>
            </a:pPr>
            <a:r>
              <a:rPr lang="en-US" dirty="0"/>
              <a:t>The </a:t>
            </a:r>
            <a:r>
              <a:rPr lang="en-US" dirty="0" err="1"/>
              <a:t>pthread_exit</a:t>
            </a:r>
            <a:r>
              <a:rPr lang="en-US" dirty="0"/>
              <a:t>() routine is called after a thread has completed its work and is no longer required to exist.</a:t>
            </a:r>
          </a:p>
          <a:p>
            <a:r>
              <a:rPr lang="en-US" dirty="0"/>
              <a:t>If the main program finishes before the thread(s) do, the other threads will continue to execute if a </a:t>
            </a:r>
            <a:r>
              <a:rPr lang="en-US" dirty="0" err="1"/>
              <a:t>pthread_exit</a:t>
            </a:r>
            <a:r>
              <a:rPr lang="en-US" dirty="0"/>
              <a:t>() method exists.</a:t>
            </a:r>
          </a:p>
          <a:p>
            <a:r>
              <a:rPr lang="en-US" dirty="0"/>
              <a:t>The </a:t>
            </a:r>
            <a:r>
              <a:rPr lang="en-US" dirty="0" err="1"/>
              <a:t>pthread_exit</a:t>
            </a:r>
            <a:r>
              <a:rPr lang="en-US" dirty="0"/>
              <a:t>() method does not close files; any files opened inside the thread will remain open, so cleanup must be kept in mind.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6019800" cy="788987"/>
          </a:xfrm>
        </p:spPr>
        <p:txBody>
          <a:bodyPr/>
          <a:lstStyle/>
          <a:p>
            <a:r>
              <a:rPr lang="en-US" sz="4000" dirty="0" err="1"/>
              <a:t>Pthread</a:t>
            </a:r>
            <a:r>
              <a:rPr lang="en-US" sz="4000" dirty="0"/>
              <a:t> Example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43000"/>
            <a:ext cx="4191000" cy="5638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FF0000"/>
                </a:solidFill>
              </a:rPr>
              <a:t>#include &lt;</a:t>
            </a:r>
            <a:r>
              <a:rPr lang="en-US" sz="1800" dirty="0" err="1">
                <a:solidFill>
                  <a:srgbClr val="FF0000"/>
                </a:solidFill>
              </a:rPr>
              <a:t>pthread.h</a:t>
            </a:r>
            <a:r>
              <a:rPr lang="en-US" sz="1800" dirty="0">
                <a:solidFill>
                  <a:srgbClr val="FF0000"/>
                </a:solidFill>
              </a:rPr>
              <a:t>&gt;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stdio.h</a:t>
            </a:r>
            <a:r>
              <a:rPr lang="en-US" sz="1800" dirty="0"/>
              <a:t>&gt;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stdlib.h</a:t>
            </a:r>
            <a:r>
              <a:rPr lang="en-US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#define NUM_THREADS 5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void *</a:t>
            </a:r>
            <a:r>
              <a:rPr lang="en-US" sz="1800" dirty="0" err="1"/>
              <a:t>PrintHello</a:t>
            </a:r>
            <a:r>
              <a:rPr lang="en-US" sz="1800" dirty="0"/>
              <a:t>(void *</a:t>
            </a:r>
            <a:r>
              <a:rPr lang="en-US" sz="1800" dirty="0" err="1"/>
              <a:t>threadid</a:t>
            </a:r>
            <a:r>
              <a:rPr lang="en-US" sz="1800" dirty="0"/>
              <a:t>)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{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tid</a:t>
            </a:r>
            <a:r>
              <a:rPr lang="en-US" sz="18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   </a:t>
            </a:r>
            <a:r>
              <a:rPr lang="en-US" sz="1800" dirty="0" err="1"/>
              <a:t>tid</a:t>
            </a:r>
            <a:r>
              <a:rPr lang="en-US" sz="1800" dirty="0"/>
              <a:t> = (</a:t>
            </a:r>
            <a:r>
              <a:rPr lang="en-US" sz="1800" dirty="0" err="1"/>
              <a:t>int</a:t>
            </a:r>
            <a:r>
              <a:rPr lang="en-US" sz="1800" dirty="0"/>
              <a:t>)</a:t>
            </a:r>
            <a:r>
              <a:rPr lang="en-US" sz="1800" dirty="0" err="1"/>
              <a:t>threadid</a:t>
            </a:r>
            <a:r>
              <a:rPr lang="en-US" sz="1800" dirty="0"/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   </a:t>
            </a:r>
            <a:r>
              <a:rPr lang="en-US" sz="1800" dirty="0" err="1"/>
              <a:t>printf</a:t>
            </a:r>
            <a:r>
              <a:rPr lang="en-US" sz="1800" dirty="0"/>
              <a:t>("Hello World! It's me, thread #%d!\n", </a:t>
            </a:r>
            <a:r>
              <a:rPr lang="en-US" sz="1800" dirty="0" err="1"/>
              <a:t>tid</a:t>
            </a:r>
            <a:r>
              <a:rPr lang="en-US" sz="1800" dirty="0"/>
              <a:t>);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   </a:t>
            </a:r>
            <a:r>
              <a:rPr lang="en-US" sz="1800" dirty="0" err="1">
                <a:solidFill>
                  <a:srgbClr val="FF0000"/>
                </a:solidFill>
              </a:rPr>
              <a:t>pthread_exit</a:t>
            </a:r>
            <a:r>
              <a:rPr lang="en-US" sz="1800" dirty="0">
                <a:solidFill>
                  <a:srgbClr val="FF0000"/>
                </a:solidFill>
              </a:rPr>
              <a:t>(NULL);</a:t>
            </a:r>
            <a:r>
              <a:rPr lang="en-US" sz="18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/>
              <a:t>}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endParaRPr lang="en-US" sz="12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2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343400" y="990600"/>
            <a:ext cx="4800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int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main 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int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argc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, char *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argv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[])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{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pthread_t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threads[NUM_THREADS];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int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rc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, t;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for(t=0; t&lt;NUM_THREADS; t++)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{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printf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("In main: creating thread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>
                <a:latin typeface="Heltevica"/>
              </a:rPr>
              <a:t> 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%d\n", t);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rc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pthread_create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(&amp;threads[t],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latin typeface="Heltevica"/>
              </a:rPr>
              <a:t>        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NULL,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PrintHello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, (void *)t);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if 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rc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{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printf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("ERROR; return code from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>
                <a:latin typeface="Heltevica"/>
              </a:rPr>
              <a:t>     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pthread_create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() is %d\n",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rc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);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  exit(-1);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   }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}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pthread_exit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(NULL);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n-ea"/>
                <a:cs typeface="+mn-cs"/>
              </a:rPr>
              <a:t>}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tevic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Pthread Example - Output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In main: creating thread 0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In main: creating thread 1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Hello World! It's me, thread #0!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In main: creating thread 2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Hello World! It's me, thread #1!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Hello World! It's me, thread #2!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In main: creating thread 3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In main: creating thread 4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Hello World! It's me, thread #3!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Hello World! It's me, thread #4</a:t>
            </a:r>
            <a:r>
              <a:rPr lang="en-US" sz="2800" dirty="0"/>
              <a:t>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presentation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9373934A-9758-4286-A45B-5F131CACE0BD}" vid="{1C888272-DC3C-4536-B28E-19F3F7FDC4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SITpresentationTheme</Template>
  <TotalTime>1824</TotalTime>
  <Words>906</Words>
  <Application>Microsoft Office PowerPoint</Application>
  <PresentationFormat>On-screen Show (4:3)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Heltevica</vt:lpstr>
      <vt:lpstr>Times New Roman</vt:lpstr>
      <vt:lpstr>Verdana Ref</vt:lpstr>
      <vt:lpstr>Wingdings</vt:lpstr>
      <vt:lpstr>SITpresentationTheme</vt:lpstr>
      <vt:lpstr>PowerPoint Presentation</vt:lpstr>
      <vt:lpstr>Thread</vt:lpstr>
      <vt:lpstr>Advantages and disadvantage of Threads</vt:lpstr>
      <vt:lpstr>Threads Programming Model</vt:lpstr>
      <vt:lpstr>POSIX Thread (PThread)</vt:lpstr>
      <vt:lpstr>Pthread Management</vt:lpstr>
      <vt:lpstr>Creating Threads</vt:lpstr>
      <vt:lpstr>Waiting threads</vt:lpstr>
      <vt:lpstr>Terminating Threads</vt:lpstr>
      <vt:lpstr>Pthread Example</vt:lpstr>
      <vt:lpstr>Pthread Example -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shripad</dc:creator>
  <cp:lastModifiedBy>deshpande.shripad2@gmail.com</cp:lastModifiedBy>
  <cp:revision>33</cp:revision>
  <dcterms:created xsi:type="dcterms:W3CDTF">2020-06-22T05:24:12Z</dcterms:created>
  <dcterms:modified xsi:type="dcterms:W3CDTF">2024-05-15T05:32:47Z</dcterms:modified>
</cp:coreProperties>
</file>