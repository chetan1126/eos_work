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FAC6-ECE1-4725-8965-68BA834B7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E2059-82FA-4C99-9220-34B9940B1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0CA5E-3E20-49FF-982E-D3100FB72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3257D-D587-42CB-8EDE-EE4A0259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81739-FC7E-4692-8815-09DD16EA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43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A6A9-5B5B-499B-9902-374B1DE2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E74BA-2CAE-4CB8-AD19-2230B826B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FFAA0-AE4F-4846-A933-4CB72B55B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8ACAE-38E3-47B8-A61D-B9D6FC47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43D7A-0533-4083-B5DD-CAC9CD13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67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88BD-3844-4EA7-989D-C038ADB1A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27021-6D95-4893-A2F9-931FAC8F9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EEFB6-52E6-4A72-80F6-5911194C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84F52-4ADB-4882-9B70-97CE556C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78A77-F25D-4432-944A-37AC0864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89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293F-9DE3-4098-BAF3-77DCA5B5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2B0DF-AAA4-4216-924C-E2E2435F1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BC404-BC20-4355-A064-CF9B0BCCB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8F297-FFCC-402F-A0B0-C0A3C2C1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58376-7BD2-4A05-BA1E-C39B5312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8D9B8-24AC-4896-AD4E-F961CAC7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10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563A-6482-45A6-A07D-09A11CC78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4FB1F-92D1-4E21-A06A-4D0E4B4F4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5404F-3584-4B2F-9E07-BAEB04BBC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C19899-1E53-4949-B496-D3F9EAF0A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4C056-E750-4F9B-9021-C233BA0CD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C032CA-081A-49CE-87BB-895B8AFF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0DF41A-74B6-411B-A06E-C20E418F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041C11-AD2D-4683-933B-5AD3E6A4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11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DC9B-72F6-4970-A50A-B0FA57F0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2B011-B83A-4431-9471-ECE6AFB8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1BB8E5-DB59-4F92-A478-E20848EB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F0B12-1B18-42B8-8327-49A04287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46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90D2C3-EF44-4255-B8DB-C1394BB8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B04A9-9C94-4F6D-9479-332CAEEA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0B06D-5272-48D8-9A84-998145FD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19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A536-75C8-48E4-AA59-7682633BA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8171B-60B0-462B-896C-46C97E5FC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5ED89-86ED-438E-AC56-5C3FB151A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BFB9F-4787-4B43-BFE2-459073DD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EF979-994E-4E1B-95FB-948946B68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B0E7E-442C-42EE-87AB-DBAE8780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548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86A0-3BB9-46AE-BBD4-7008D4F9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F8668-7E86-4D43-A714-807A5F7E8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6BBE3-93A9-44BA-BEFD-F3D6E459B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CA59E-CB35-496C-9694-D8F5CE682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381FD-A0C4-4F2F-9590-D7193AA2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8D2DC-ABBA-484C-829B-2E35A93B4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12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6B1F-EEB2-4873-83CF-5532F747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6548D-A09D-41BF-83BA-EF942E28D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F118-37CE-4B23-921E-C029638E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3A04E-24F5-48EC-AA16-5AA652C9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51117-8185-4C5D-B173-0134E6C00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61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9F2D68-DE51-46EE-8CF4-877F622F5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0EC45-3BA0-47E9-A53D-C3AE2514A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11116-1EE9-430F-8A87-419AF8BD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DAF40-BA9A-4FD0-B964-BFFE1058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EB0D0-06F3-427B-9FE5-DB64FC31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52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6D0B1C-AD15-496C-AEAF-2CF8ED48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EC69E-653F-4A4C-88DB-0F7867513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97443-B8A7-4FE9-B828-C797758A7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7B75F-1375-4D1A-9507-C593F92660CE}" type="datetimeFigureOut">
              <a:rPr lang="en-IN" smtClean="0"/>
              <a:t>21-01-2022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FC62C-7FF9-4286-8D54-968A4753B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84F93-53B1-4328-B700-D1CF7C643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2E700-5155-41A3-9E01-AAF12C9AF4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85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rama.link/NySnaxuV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eagleboard.org/pocket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limex.com/Products/DIY-Laptop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bootlin.com/training/kerne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9" Type="http://schemas.openxmlformats.org/officeDocument/2006/relationships/image" Target="../media/image51.png"/><Relationship Id="rId21" Type="http://schemas.openxmlformats.org/officeDocument/2006/relationships/image" Target="../media/image33.png"/><Relationship Id="rId34" Type="http://schemas.openxmlformats.org/officeDocument/2006/relationships/image" Target="../media/image46.png"/><Relationship Id="rId42" Type="http://schemas.openxmlformats.org/officeDocument/2006/relationships/image" Target="../media/image54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41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9.png"/><Relationship Id="rId40" Type="http://schemas.openxmlformats.org/officeDocument/2006/relationships/image" Target="../media/image52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4" Type="http://schemas.openxmlformats.org/officeDocument/2006/relationships/image" Target="../media/image56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43" Type="http://schemas.openxmlformats.org/officeDocument/2006/relationships/image" Target="../media/image55.png"/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inyurl.com/f4zxj5kw" TargetMode="External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echtown.com/flatpak-vs-snap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ackages.ubuntu.com/" TargetMode="External"/><Relationship Id="rId2" Type="http://schemas.openxmlformats.org/officeDocument/2006/relationships/hyperlink" Target="https://packages.debian.org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bian.org/doc/manuals/debian-reference/ch02.en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io/tio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90959" y="2929239"/>
            <a:ext cx="8398699" cy="697953"/>
          </a:xfrm>
          <a:prstGeom prst="rect">
            <a:avLst/>
          </a:prstGeom>
        </p:spPr>
        <p:txBody>
          <a:bodyPr vert="horz" wrap="square" lIns="0" tIns="3086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41"/>
              </a:spcBef>
            </a:pPr>
            <a:r>
              <a:rPr sz="4333" spc="-296" dirty="0">
                <a:hlinkClick r:id="rId2" action="ppaction://hlinksldjump"/>
              </a:rPr>
              <a:t>Embedded</a:t>
            </a:r>
            <a:r>
              <a:rPr sz="4333" spc="11" dirty="0">
                <a:hlinkClick r:id="rId2" action="ppaction://hlinksldjump"/>
              </a:rPr>
              <a:t> </a:t>
            </a:r>
            <a:r>
              <a:rPr sz="4333" spc="-349" dirty="0">
                <a:hlinkClick r:id="rId2" action="ppaction://hlinksldjump"/>
              </a:rPr>
              <a:t>hardware</a:t>
            </a:r>
            <a:r>
              <a:rPr sz="4333" spc="11" dirty="0">
                <a:hlinkClick r:id="rId2" action="ppaction://hlinksldjump"/>
              </a:rPr>
              <a:t> </a:t>
            </a:r>
            <a:r>
              <a:rPr sz="4333" spc="-241" dirty="0">
                <a:hlinkClick r:id="rId2" action="ppaction://hlinksldjump"/>
              </a:rPr>
              <a:t>for</a:t>
            </a:r>
            <a:r>
              <a:rPr sz="4333" dirty="0">
                <a:hlinkClick r:id="rId2" action="ppaction://hlinksldjump"/>
              </a:rPr>
              <a:t> </a:t>
            </a:r>
            <a:r>
              <a:rPr sz="4333" spc="-169" dirty="0">
                <a:hlinkClick r:id="rId2" action="ppaction://hlinksldjump"/>
              </a:rPr>
              <a:t>Linux</a:t>
            </a:r>
            <a:r>
              <a:rPr sz="4333" spc="21" dirty="0">
                <a:hlinkClick r:id="rId2" action="ppaction://hlinksldjump"/>
              </a:rPr>
              <a:t> </a:t>
            </a:r>
            <a:r>
              <a:rPr sz="4333" spc="-317" dirty="0">
                <a:hlinkClick r:id="rId2" action="ppaction://hlinksldjump"/>
              </a:rPr>
              <a:t>systems</a:t>
            </a:r>
            <a:endParaRPr sz="4333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4638209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37" dirty="0"/>
              <a:t>Processor</a:t>
            </a:r>
            <a:r>
              <a:rPr sz="2959" spc="-42" dirty="0"/>
              <a:t> </a:t>
            </a:r>
            <a:r>
              <a:rPr sz="2959" spc="-180" dirty="0"/>
              <a:t>and</a:t>
            </a:r>
            <a:r>
              <a:rPr sz="2959" spc="-32" dirty="0"/>
              <a:t> </a:t>
            </a:r>
            <a:r>
              <a:rPr sz="2959" spc="-127" dirty="0"/>
              <a:t>architecture</a:t>
            </a:r>
            <a:r>
              <a:rPr sz="2959" spc="-32" dirty="0"/>
              <a:t> </a:t>
            </a:r>
            <a:r>
              <a:rPr sz="2959" spc="-85" dirty="0"/>
              <a:t>(1)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83306" y="1098671"/>
            <a:ext cx="10546020" cy="4988192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80524" marR="64419">
              <a:lnSpc>
                <a:spcPct val="102600"/>
              </a:lnSpc>
              <a:spcBef>
                <a:spcPts val="116"/>
              </a:spcBef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most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other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architecture-dependent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components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support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wide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range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32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64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bit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architectures</a:t>
            </a:r>
            <a:endParaRPr sz="2325">
              <a:latin typeface="Tahoma"/>
              <a:cs typeface="Tahoma"/>
            </a:endParaRPr>
          </a:p>
          <a:p>
            <a:pPr marL="665668" marR="1128683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16" dirty="0">
                <a:latin typeface="Tahoma"/>
                <a:cs typeface="Tahoma"/>
              </a:rPr>
              <a:t>x86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x86-64,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found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127" dirty="0">
                <a:latin typeface="Tahoma"/>
                <a:cs typeface="Tahoma"/>
              </a:rPr>
              <a:t>PC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platforms,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but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also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embedded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systems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(multimedia,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industrial)</a:t>
            </a:r>
            <a:endParaRPr sz="2325">
              <a:latin typeface="Tahoma"/>
              <a:cs typeface="Tahoma"/>
            </a:endParaRPr>
          </a:p>
          <a:p>
            <a:pPr marL="665668" marR="3076030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85" dirty="0">
                <a:latin typeface="Tahoma"/>
                <a:cs typeface="Tahoma"/>
              </a:rPr>
              <a:t>ARM, </a:t>
            </a:r>
            <a:r>
              <a:rPr sz="2325" spc="-53" dirty="0">
                <a:latin typeface="Tahoma"/>
                <a:cs typeface="Tahoma"/>
              </a:rPr>
              <a:t>with </a:t>
            </a:r>
            <a:r>
              <a:rPr sz="2325" spc="-116" dirty="0">
                <a:latin typeface="Tahoma"/>
                <a:cs typeface="Tahoma"/>
              </a:rPr>
              <a:t>hundreds </a:t>
            </a:r>
            <a:r>
              <a:rPr sz="2325" spc="-74" dirty="0">
                <a:latin typeface="Tahoma"/>
                <a:cs typeface="Tahoma"/>
              </a:rPr>
              <a:t>of </a:t>
            </a:r>
            <a:r>
              <a:rPr sz="2325" spc="-85" dirty="0">
                <a:latin typeface="Tahoma"/>
                <a:cs typeface="Tahoma"/>
              </a:rPr>
              <a:t>different </a:t>
            </a:r>
            <a:r>
              <a:rPr sz="2325" i="1" spc="-148" dirty="0">
                <a:latin typeface="Arial"/>
                <a:cs typeface="Arial"/>
              </a:rPr>
              <a:t>System</a:t>
            </a:r>
            <a:r>
              <a:rPr sz="2325" i="1" spc="349" dirty="0">
                <a:latin typeface="Arial"/>
                <a:cs typeface="Arial"/>
              </a:rPr>
              <a:t> </a:t>
            </a:r>
            <a:r>
              <a:rPr sz="2325" i="1" spc="-127" dirty="0">
                <a:latin typeface="Arial"/>
                <a:cs typeface="Arial"/>
              </a:rPr>
              <a:t>on</a:t>
            </a:r>
            <a:r>
              <a:rPr sz="2325" i="1" spc="391" dirty="0">
                <a:latin typeface="Arial"/>
                <a:cs typeface="Arial"/>
              </a:rPr>
              <a:t> </a:t>
            </a:r>
            <a:r>
              <a:rPr sz="2325" i="1" spc="-106" dirty="0">
                <a:latin typeface="Arial"/>
                <a:cs typeface="Arial"/>
              </a:rPr>
              <a:t>Chip</a:t>
            </a:r>
            <a:r>
              <a:rPr sz="2325" spc="-106" dirty="0">
                <a:latin typeface="Tahoma"/>
                <a:cs typeface="Tahoma"/>
              </a:rPr>
              <a:t>s </a:t>
            </a:r>
            <a:r>
              <a:rPr sz="2325" spc="-95" dirty="0">
                <a:latin typeface="Tahoma"/>
                <a:cs typeface="Tahoma"/>
              </a:rPr>
              <a:t> </a:t>
            </a:r>
            <a:r>
              <a:rPr sz="2325" spc="-169" dirty="0">
                <a:latin typeface="Tahoma"/>
                <a:cs typeface="Tahoma"/>
              </a:rPr>
              <a:t>(</a:t>
            </a:r>
            <a:r>
              <a:rPr sz="2325" i="1" spc="-169" dirty="0">
                <a:latin typeface="Arial"/>
                <a:cs typeface="Arial"/>
              </a:rPr>
              <a:t>SoC</a:t>
            </a:r>
            <a:r>
              <a:rPr sz="2325" spc="-169" dirty="0">
                <a:latin typeface="Tahoma"/>
                <a:cs typeface="Tahoma"/>
              </a:rPr>
              <a:t>: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06" dirty="0">
                <a:latin typeface="Tahoma"/>
                <a:cs typeface="Tahoma"/>
              </a:rPr>
              <a:t>CPU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95" dirty="0">
                <a:latin typeface="Tahoma"/>
                <a:cs typeface="Tahoma"/>
              </a:rPr>
              <a:t>+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on-chip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devices,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sorts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products)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6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21" dirty="0">
                <a:latin typeface="Tahoma"/>
                <a:cs typeface="Tahoma"/>
              </a:rPr>
              <a:t>RISC-V,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rising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architecture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free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instruction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set</a:t>
            </a:r>
            <a:endParaRPr sz="2325">
              <a:latin typeface="Tahoma"/>
              <a:cs typeface="Tahoma"/>
            </a:endParaRPr>
          </a:p>
          <a:p>
            <a:pPr marL="665668">
              <a:spcBef>
                <a:spcPts val="74"/>
              </a:spcBef>
            </a:pPr>
            <a:r>
              <a:rPr sz="2325" spc="-63" dirty="0">
                <a:latin typeface="Tahoma"/>
                <a:cs typeface="Tahoma"/>
              </a:rPr>
              <a:t>(from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high-end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cloud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computing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smallest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embedded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systems)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697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42" dirty="0">
                <a:latin typeface="Tahoma"/>
                <a:cs typeface="Tahoma"/>
              </a:rPr>
              <a:t>PowerPC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(mainly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real-time,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industrial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applications)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42" dirty="0">
                <a:latin typeface="Tahoma"/>
                <a:cs typeface="Tahoma"/>
              </a:rPr>
              <a:t>MIPS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(mainly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networking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applications)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42" dirty="0">
                <a:latin typeface="Tahoma"/>
                <a:cs typeface="Tahoma"/>
              </a:rPr>
              <a:t>Microblaze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(Xilinx),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Nios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201" dirty="0">
                <a:latin typeface="Tahoma"/>
                <a:cs typeface="Tahoma"/>
              </a:rPr>
              <a:t>II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(Altera):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soft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cores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53" dirty="0">
                <a:latin typeface="Tahoma"/>
                <a:cs typeface="Tahoma"/>
              </a:rPr>
              <a:t>FPGAs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6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85" dirty="0">
                <a:latin typeface="Tahoma"/>
                <a:cs typeface="Tahoma"/>
              </a:rPr>
              <a:t>Others:</a:t>
            </a:r>
            <a:r>
              <a:rPr sz="2325" spc="275" dirty="0">
                <a:latin typeface="Tahoma"/>
                <a:cs typeface="Tahoma"/>
              </a:rPr>
              <a:t> </a:t>
            </a:r>
            <a:r>
              <a:rPr sz="2325" spc="42" dirty="0">
                <a:latin typeface="Tahoma"/>
                <a:cs typeface="Tahoma"/>
              </a:rPr>
              <a:t>ARC,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m68k,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Xtensa,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SuperH...</a:t>
            </a:r>
            <a:endParaRPr sz="2325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4638209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37" dirty="0"/>
              <a:t>Processor</a:t>
            </a:r>
            <a:r>
              <a:rPr sz="2959" spc="-42" dirty="0"/>
              <a:t> </a:t>
            </a:r>
            <a:r>
              <a:rPr sz="2959" spc="-180" dirty="0"/>
              <a:t>and</a:t>
            </a:r>
            <a:r>
              <a:rPr sz="2959" spc="-32" dirty="0"/>
              <a:t> </a:t>
            </a:r>
            <a:r>
              <a:rPr sz="2959" spc="-127" dirty="0"/>
              <a:t>architecture</a:t>
            </a:r>
            <a:r>
              <a:rPr sz="2959" spc="-32" dirty="0"/>
              <a:t> </a:t>
            </a:r>
            <a:r>
              <a:rPr sz="2959" spc="-85" dirty="0"/>
              <a:t>(2)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0" y="2340199"/>
            <a:ext cx="10162187" cy="1987948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453618" marR="245599" indent="-374438">
              <a:lnSpc>
                <a:spcPct val="102600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dirty="0">
                <a:latin typeface="Tahoma"/>
                <a:cs typeface="Tahoma"/>
              </a:rPr>
              <a:t>Both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69" dirty="0">
                <a:latin typeface="Tahoma"/>
                <a:cs typeface="Tahoma"/>
              </a:rPr>
              <a:t>MMU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32" dirty="0">
                <a:latin typeface="Tahoma"/>
                <a:cs typeface="Tahoma"/>
              </a:rPr>
              <a:t>no-MMU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architectures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supported,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even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though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32" dirty="0">
                <a:latin typeface="Tahoma"/>
                <a:cs typeface="Tahoma"/>
              </a:rPr>
              <a:t>no-MMU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architectures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have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few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limitations.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does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not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support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small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microcontrollers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(8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16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bit)</a:t>
            </a:r>
            <a:endParaRPr sz="2325">
              <a:latin typeface="Tahoma"/>
              <a:cs typeface="Tahoma"/>
            </a:endParaRPr>
          </a:p>
          <a:p>
            <a:pPr marL="453618" marR="6441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95" dirty="0">
                <a:latin typeface="Tahoma"/>
                <a:cs typeface="Tahoma"/>
              </a:rPr>
              <a:t>Besides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toolchain,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bootloader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other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components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generally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b="1" spc="-74" dirty="0">
                <a:latin typeface="Arial"/>
                <a:cs typeface="Arial"/>
              </a:rPr>
              <a:t>architecture-independent</a:t>
            </a:r>
            <a:endParaRPr sz="2325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0"/>
            <a:ext cx="2710990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106" dirty="0"/>
              <a:t>RAM</a:t>
            </a:r>
            <a:r>
              <a:rPr sz="2959" spc="21" dirty="0"/>
              <a:t> </a:t>
            </a:r>
            <a:r>
              <a:rPr sz="2959" spc="-180" dirty="0"/>
              <a:t>and</a:t>
            </a:r>
            <a:r>
              <a:rPr sz="2959" spc="21" dirty="0"/>
              <a:t> </a:t>
            </a:r>
            <a:r>
              <a:rPr sz="2959" spc="-116" dirty="0"/>
              <a:t>st</a:t>
            </a:r>
            <a:r>
              <a:rPr sz="2959" spc="-241" dirty="0"/>
              <a:t>o</a:t>
            </a:r>
            <a:r>
              <a:rPr sz="2959" spc="-201" dirty="0"/>
              <a:t>rage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89" y="1532941"/>
            <a:ext cx="10548705" cy="4016067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453618" marR="120787" indent="-374438">
              <a:lnSpc>
                <a:spcPct val="102600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b="1" spc="11" dirty="0">
                <a:latin typeface="Arial"/>
                <a:cs typeface="Arial"/>
              </a:rPr>
              <a:t>RAM</a:t>
            </a:r>
            <a:r>
              <a:rPr sz="2325" spc="11" dirty="0">
                <a:latin typeface="Tahoma"/>
                <a:cs typeface="Tahoma"/>
              </a:rPr>
              <a:t>: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very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basic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system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work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within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8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90" dirty="0">
                <a:latin typeface="Tahoma"/>
                <a:cs typeface="Tahoma"/>
              </a:rPr>
              <a:t>MB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85" dirty="0">
                <a:latin typeface="Tahoma"/>
                <a:cs typeface="Tahoma"/>
              </a:rPr>
              <a:t>RAM,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but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more </a:t>
            </a:r>
            <a:r>
              <a:rPr sz="2325" spc="-127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realistic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system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will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usually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require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least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32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190" dirty="0">
                <a:latin typeface="Tahoma"/>
                <a:cs typeface="Tahoma"/>
              </a:rPr>
              <a:t>MB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85" dirty="0">
                <a:latin typeface="Tahoma"/>
                <a:cs typeface="Tahoma"/>
              </a:rPr>
              <a:t>RAM.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Depends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type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size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applications.</a:t>
            </a:r>
            <a:endParaRPr sz="2325">
              <a:latin typeface="Tahoma"/>
              <a:cs typeface="Tahoma"/>
            </a:endParaRPr>
          </a:p>
          <a:p>
            <a:pPr marL="453618" marR="64419" indent="-374438">
              <a:lnSpc>
                <a:spcPts val="2536"/>
              </a:lnSpc>
              <a:spcBef>
                <a:spcPts val="66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b="1" spc="-106" dirty="0">
                <a:latin typeface="Arial"/>
                <a:cs typeface="Arial"/>
              </a:rPr>
              <a:t>Storage</a:t>
            </a:r>
            <a:r>
              <a:rPr sz="2325" spc="-106" dirty="0">
                <a:latin typeface="Tahoma"/>
                <a:cs typeface="Tahoma"/>
              </a:rPr>
              <a:t>:</a:t>
            </a:r>
            <a:r>
              <a:rPr sz="2325" spc="306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very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basic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system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work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within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4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190" dirty="0">
                <a:latin typeface="Tahoma"/>
                <a:cs typeface="Tahoma"/>
              </a:rPr>
              <a:t>MB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storage,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but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usually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more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needed.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b="1" spc="-63" dirty="0">
                <a:latin typeface="Arial"/>
                <a:cs typeface="Arial"/>
              </a:rPr>
              <a:t>Block</a:t>
            </a:r>
            <a:r>
              <a:rPr sz="2114" b="1" spc="180" dirty="0">
                <a:latin typeface="Arial"/>
                <a:cs typeface="Arial"/>
              </a:rPr>
              <a:t> </a:t>
            </a:r>
            <a:r>
              <a:rPr sz="2114" b="1" spc="-106" dirty="0">
                <a:latin typeface="Arial"/>
                <a:cs typeface="Arial"/>
              </a:rPr>
              <a:t>storage</a:t>
            </a:r>
            <a:r>
              <a:rPr sz="2114" spc="-106" dirty="0">
                <a:latin typeface="Tahoma"/>
                <a:cs typeface="Tahoma"/>
              </a:rPr>
              <a:t>:</a:t>
            </a:r>
            <a:r>
              <a:rPr sz="2114" spc="264" dirty="0">
                <a:latin typeface="Tahoma"/>
                <a:cs typeface="Tahoma"/>
              </a:rPr>
              <a:t> </a:t>
            </a:r>
            <a:r>
              <a:rPr sz="2114" spc="106" dirty="0">
                <a:latin typeface="Tahoma"/>
                <a:cs typeface="Tahoma"/>
              </a:rPr>
              <a:t>SD/MMC/eMMC,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63" dirty="0">
                <a:latin typeface="Tahoma"/>
                <a:cs typeface="Tahoma"/>
              </a:rPr>
              <a:t>USB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mass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storage,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11" dirty="0">
                <a:latin typeface="Tahoma"/>
                <a:cs typeface="Tahoma"/>
              </a:rPr>
              <a:t>SATA,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etc,</a:t>
            </a:r>
            <a:endParaRPr sz="2114">
              <a:latin typeface="Tahoma"/>
              <a:cs typeface="Tahoma"/>
            </a:endParaRPr>
          </a:p>
          <a:p>
            <a:pPr marL="1040106" marR="625406" lvl="1" indent="-355649">
              <a:lnSpc>
                <a:spcPts val="2536"/>
              </a:lnSpc>
              <a:spcBef>
                <a:spcPts val="85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b="1" spc="-95" dirty="0">
                <a:latin typeface="Arial"/>
                <a:cs typeface="Arial"/>
              </a:rPr>
              <a:t>Raw</a:t>
            </a:r>
            <a:r>
              <a:rPr sz="2114" b="1" spc="190" dirty="0">
                <a:latin typeface="Arial"/>
                <a:cs typeface="Arial"/>
              </a:rPr>
              <a:t> </a:t>
            </a:r>
            <a:r>
              <a:rPr sz="2114" b="1" spc="-106" dirty="0">
                <a:latin typeface="Arial"/>
                <a:cs typeface="Arial"/>
              </a:rPr>
              <a:t>flash</a:t>
            </a:r>
            <a:r>
              <a:rPr sz="2114" b="1" spc="190" dirty="0">
                <a:latin typeface="Arial"/>
                <a:cs typeface="Arial"/>
              </a:rPr>
              <a:t> </a:t>
            </a:r>
            <a:r>
              <a:rPr sz="2114" b="1" spc="-106" dirty="0">
                <a:latin typeface="Arial"/>
                <a:cs typeface="Arial"/>
              </a:rPr>
              <a:t>storage</a:t>
            </a:r>
            <a:r>
              <a:rPr sz="2114" b="1" spc="116" dirty="0">
                <a:latin typeface="Arial"/>
                <a:cs typeface="Arial"/>
              </a:rPr>
              <a:t> </a:t>
            </a:r>
            <a:r>
              <a:rPr sz="2114" spc="-63" dirty="0">
                <a:latin typeface="Tahoma"/>
                <a:cs typeface="Tahoma"/>
              </a:rPr>
              <a:t>is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supported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too,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both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95" dirty="0">
                <a:latin typeface="Tahoma"/>
                <a:cs typeface="Tahoma"/>
              </a:rPr>
              <a:t>NAND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53" dirty="0">
                <a:latin typeface="Tahoma"/>
                <a:cs typeface="Tahoma"/>
              </a:rPr>
              <a:t>NOR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flash,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with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specific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filesystems</a:t>
            </a:r>
            <a:endParaRPr sz="2114">
              <a:latin typeface="Tahoma"/>
              <a:cs typeface="Tahoma"/>
            </a:endParaRPr>
          </a:p>
          <a:p>
            <a:pPr marL="453618" marR="269757" indent="-374438">
              <a:lnSpc>
                <a:spcPct val="102600"/>
              </a:lnSpc>
              <a:spcBef>
                <a:spcPts val="581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dirty="0">
                <a:latin typeface="Tahoma"/>
                <a:cs typeface="Tahoma"/>
              </a:rPr>
              <a:t>Not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necessarily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interesting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too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restrictive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amount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RAM/storage: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having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flexibility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this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level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allows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re-use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many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existing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components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 </a:t>
            </a:r>
            <a:r>
              <a:rPr sz="2325" spc="-12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possible.</a:t>
            </a:r>
            <a:endParaRPr sz="2325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2418418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27" dirty="0"/>
              <a:t>Communication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0" y="1422895"/>
            <a:ext cx="9142211" cy="4152720"/>
          </a:xfrm>
          <a:prstGeom prst="rect">
            <a:avLst/>
          </a:prstGeom>
        </p:spPr>
        <p:txBody>
          <a:bodyPr vert="horz" wrap="square" lIns="0" tIns="76498" rIns="0" bIns="0" rtlCol="0">
            <a:spAutoFit/>
          </a:bodyPr>
          <a:lstStyle/>
          <a:p>
            <a:pPr marL="453618" indent="-374438">
              <a:spcBef>
                <a:spcPts val="60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has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support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many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common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communication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buses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85" dirty="0">
                <a:latin typeface="Tahoma"/>
                <a:cs typeface="Tahoma"/>
              </a:rPr>
              <a:t>I2C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11" dirty="0">
                <a:latin typeface="Tahoma"/>
                <a:cs typeface="Tahoma"/>
              </a:rPr>
              <a:t>SPI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85" dirty="0">
                <a:latin typeface="Tahoma"/>
                <a:cs typeface="Tahoma"/>
              </a:rPr>
              <a:t>1-wire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21" dirty="0">
                <a:latin typeface="Tahoma"/>
                <a:cs typeface="Tahoma"/>
              </a:rPr>
              <a:t>SDIO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11" dirty="0">
                <a:latin typeface="Tahoma"/>
                <a:cs typeface="Tahoma"/>
              </a:rPr>
              <a:t>PCI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63" dirty="0">
                <a:latin typeface="Tahoma"/>
                <a:cs typeface="Tahoma"/>
              </a:rPr>
              <a:t>USB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95" dirty="0">
                <a:latin typeface="Tahoma"/>
                <a:cs typeface="Tahoma"/>
              </a:rPr>
              <a:t>CAN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(mainly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used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automotive)</a:t>
            </a:r>
            <a:endParaRPr sz="2114">
              <a:latin typeface="Tahoma"/>
              <a:cs typeface="Tahoma"/>
            </a:endParaRPr>
          </a:p>
          <a:p>
            <a:pPr marL="453618" marR="3975219" indent="-454963" algn="r"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21" dirty="0">
                <a:latin typeface="Tahoma"/>
                <a:cs typeface="Tahoma"/>
              </a:rPr>
              <a:t>And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also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extensive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networking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support</a:t>
            </a:r>
            <a:endParaRPr sz="2325">
              <a:latin typeface="Tahoma"/>
              <a:cs typeface="Tahoma"/>
            </a:endParaRPr>
          </a:p>
          <a:p>
            <a:pPr marL="355649" marR="3963140" lvl="1" indent="-355649" algn="r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355649" algn="l"/>
              </a:tabLst>
            </a:pPr>
            <a:r>
              <a:rPr sz="2114" spc="-53" dirty="0">
                <a:latin typeface="Tahoma"/>
                <a:cs typeface="Tahoma"/>
              </a:rPr>
              <a:t>Ethernet,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dirty="0">
                <a:latin typeface="Tahoma"/>
                <a:cs typeface="Tahoma"/>
              </a:rPr>
              <a:t>Wifi,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32" dirty="0">
                <a:latin typeface="Tahoma"/>
                <a:cs typeface="Tahoma"/>
              </a:rPr>
              <a:t>Bluetooth,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53" dirty="0">
                <a:latin typeface="Tahoma"/>
                <a:cs typeface="Tahoma"/>
              </a:rPr>
              <a:t>CAN,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etc.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IPv4,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IPv6,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53" dirty="0">
                <a:latin typeface="Tahoma"/>
                <a:cs typeface="Tahoma"/>
              </a:rPr>
              <a:t>TCP,</a:t>
            </a:r>
            <a:r>
              <a:rPr sz="2114" spc="21" dirty="0">
                <a:latin typeface="Tahoma"/>
                <a:cs typeface="Tahoma"/>
              </a:rPr>
              <a:t> UDP,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42" dirty="0">
                <a:latin typeface="Tahoma"/>
                <a:cs typeface="Tahoma"/>
              </a:rPr>
              <a:t>SCTP,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32" dirty="0">
                <a:latin typeface="Tahoma"/>
                <a:cs typeface="Tahoma"/>
              </a:rPr>
              <a:t>DCCP,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etc.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Firewalling,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advanced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routing,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multicast</a:t>
            </a:r>
            <a:endParaRPr sz="2114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4921387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69" dirty="0"/>
              <a:t>Types</a:t>
            </a:r>
            <a:r>
              <a:rPr sz="2959" dirty="0"/>
              <a:t> </a:t>
            </a:r>
            <a:r>
              <a:rPr sz="2959" spc="-127" dirty="0"/>
              <a:t>of</a:t>
            </a:r>
            <a:r>
              <a:rPr sz="2959" spc="11" dirty="0"/>
              <a:t> </a:t>
            </a:r>
            <a:r>
              <a:rPr sz="2959" spc="-222" dirty="0"/>
              <a:t>hardware</a:t>
            </a:r>
            <a:r>
              <a:rPr sz="2959" spc="11" dirty="0"/>
              <a:t> </a:t>
            </a:r>
            <a:r>
              <a:rPr sz="2959" spc="-137" dirty="0"/>
              <a:t>platforms</a:t>
            </a:r>
            <a:r>
              <a:rPr sz="2959" spc="11" dirty="0"/>
              <a:t> </a:t>
            </a:r>
            <a:r>
              <a:rPr sz="2959" spc="-85" dirty="0"/>
              <a:t>(1)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41165" y="2192408"/>
            <a:ext cx="7625667" cy="3008997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453618" marR="484488" indent="-374438">
              <a:lnSpc>
                <a:spcPct val="102600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b="1" spc="-74" dirty="0">
                <a:latin typeface="Arial"/>
                <a:cs typeface="Arial"/>
              </a:rPr>
              <a:t>Evaluation</a:t>
            </a:r>
            <a:r>
              <a:rPr sz="2325" b="1" spc="-63" dirty="0">
                <a:latin typeface="Arial"/>
                <a:cs typeface="Arial"/>
              </a:rPr>
              <a:t> </a:t>
            </a:r>
            <a:r>
              <a:rPr sz="2325" b="1" spc="-95" dirty="0">
                <a:latin typeface="Arial"/>
                <a:cs typeface="Arial"/>
              </a:rPr>
              <a:t>platforms </a:t>
            </a:r>
            <a:r>
              <a:rPr sz="2325" spc="-85" dirty="0">
                <a:latin typeface="Tahoma"/>
                <a:cs typeface="Tahoma"/>
              </a:rPr>
              <a:t>from the </a:t>
            </a:r>
            <a:r>
              <a:rPr sz="2325" spc="-21" dirty="0">
                <a:latin typeface="Tahoma"/>
                <a:cs typeface="Tahoma"/>
              </a:rPr>
              <a:t>SoC </a:t>
            </a:r>
            <a:r>
              <a:rPr sz="2325" spc="-116" dirty="0">
                <a:latin typeface="Tahoma"/>
                <a:cs typeface="Tahoma"/>
              </a:rPr>
              <a:t>vendor.</a:t>
            </a:r>
            <a:r>
              <a:rPr sz="2325" spc="-106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Usually </a:t>
            </a:r>
            <a:r>
              <a:rPr sz="2325" spc="-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expensive,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but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many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peripherals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built-in.</a:t>
            </a:r>
            <a:r>
              <a:rPr sz="2325" spc="317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Generally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unsuitable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real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products,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but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best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product </a:t>
            </a:r>
            <a:r>
              <a:rPr sz="2325" spc="-6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development.</a:t>
            </a:r>
            <a:endParaRPr sz="2325">
              <a:latin typeface="Tahoma"/>
              <a:cs typeface="Tahoma"/>
            </a:endParaRPr>
          </a:p>
          <a:p>
            <a:pPr marL="453618" marR="6441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b="1" spc="-85" dirty="0">
                <a:latin typeface="Arial"/>
                <a:cs typeface="Arial"/>
              </a:rPr>
              <a:t>Component</a:t>
            </a:r>
            <a:r>
              <a:rPr sz="2325" b="1" spc="180" dirty="0">
                <a:latin typeface="Arial"/>
                <a:cs typeface="Arial"/>
              </a:rPr>
              <a:t> </a:t>
            </a:r>
            <a:r>
              <a:rPr sz="2325" b="1" spc="-148" dirty="0">
                <a:latin typeface="Arial"/>
                <a:cs typeface="Arial"/>
              </a:rPr>
              <a:t>on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42" dirty="0">
                <a:latin typeface="Arial"/>
                <a:cs typeface="Arial"/>
              </a:rPr>
              <a:t>Module</a:t>
            </a:r>
            <a:r>
              <a:rPr sz="2325" spc="-42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small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board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only </a:t>
            </a:r>
            <a:r>
              <a:rPr sz="2325" spc="-63" dirty="0">
                <a:latin typeface="Tahoma"/>
                <a:cs typeface="Tahoma"/>
              </a:rPr>
              <a:t> </a:t>
            </a:r>
            <a:r>
              <a:rPr sz="2325" spc="63" dirty="0">
                <a:latin typeface="Tahoma"/>
                <a:cs typeface="Tahoma"/>
              </a:rPr>
              <a:t>CPU/RAM/flash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few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other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core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components,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 </a:t>
            </a:r>
            <a:r>
              <a:rPr sz="2325" spc="-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connectors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access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other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peripherals.</a:t>
            </a:r>
            <a:r>
              <a:rPr sz="2325" spc="285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Can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used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build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products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small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medium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quantities.</a:t>
            </a:r>
            <a:endParaRPr sz="2325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983" y="980979"/>
            <a:ext cx="2592816" cy="2148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79661" y="3142464"/>
            <a:ext cx="2219791" cy="897782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lnSpc>
                <a:spcPts val="2018"/>
              </a:lnSpc>
              <a:spcBef>
                <a:spcPts val="201"/>
              </a:spcBef>
            </a:pPr>
            <a:r>
              <a:rPr sz="1691" dirty="0">
                <a:latin typeface="Microsoft Sans Serif"/>
                <a:cs typeface="Microsoft Sans Serif"/>
              </a:rPr>
              <a:t>STM32MP157C-EV1</a:t>
            </a:r>
            <a:endParaRPr sz="1691">
              <a:latin typeface="Microsoft Sans Serif"/>
              <a:cs typeface="Microsoft Sans Serif"/>
            </a:endParaRPr>
          </a:p>
          <a:p>
            <a:pPr marL="26841">
              <a:lnSpc>
                <a:spcPts val="1942"/>
              </a:lnSpc>
            </a:pPr>
            <a:r>
              <a:rPr sz="1691" spc="-21" dirty="0">
                <a:latin typeface="Microsoft Sans Serif"/>
                <a:cs typeface="Microsoft Sans Serif"/>
              </a:rPr>
              <a:t>evaluation</a:t>
            </a:r>
            <a:r>
              <a:rPr sz="1691" spc="74" dirty="0">
                <a:latin typeface="Microsoft Sans Serif"/>
                <a:cs typeface="Microsoft Sans Serif"/>
              </a:rPr>
              <a:t> </a:t>
            </a:r>
            <a:r>
              <a:rPr sz="1691" spc="-32" dirty="0">
                <a:latin typeface="Microsoft Sans Serif"/>
                <a:cs typeface="Microsoft Sans Serif"/>
              </a:rPr>
              <a:t>board</a:t>
            </a:r>
            <a:endParaRPr sz="1691">
              <a:latin typeface="Microsoft Sans Serif"/>
              <a:cs typeface="Microsoft Sans Serif"/>
            </a:endParaRPr>
          </a:p>
          <a:p>
            <a:pPr marL="26841">
              <a:lnSpc>
                <a:spcPts val="1427"/>
              </a:lnSpc>
            </a:pPr>
            <a:r>
              <a:rPr sz="1268" spc="-42" dirty="0">
                <a:latin typeface="Microsoft Sans Serif"/>
                <a:cs typeface="Microsoft Sans Serif"/>
              </a:rPr>
              <a:t>Image</a:t>
            </a:r>
            <a:r>
              <a:rPr sz="1268" spc="63" dirty="0">
                <a:latin typeface="Microsoft Sans Serif"/>
                <a:cs typeface="Microsoft Sans Serif"/>
              </a:rPr>
              <a:t> </a:t>
            </a:r>
            <a:r>
              <a:rPr sz="1268" spc="-21" dirty="0">
                <a:latin typeface="Microsoft Sans Serif"/>
                <a:cs typeface="Microsoft Sans Serif"/>
              </a:rPr>
              <a:t>credits</a:t>
            </a:r>
            <a:r>
              <a:rPr sz="1268" spc="74" dirty="0">
                <a:latin typeface="Microsoft Sans Serif"/>
                <a:cs typeface="Microsoft Sans Serif"/>
              </a:rPr>
              <a:t> </a:t>
            </a:r>
            <a:r>
              <a:rPr sz="1268" spc="21" dirty="0">
                <a:latin typeface="Microsoft Sans Serif"/>
                <a:cs typeface="Microsoft Sans Serif"/>
              </a:rPr>
              <a:t>(st.com):</a:t>
            </a:r>
            <a:endParaRPr sz="1268">
              <a:latin typeface="Microsoft Sans Serif"/>
              <a:cs typeface="Microsoft Sans Serif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3F3FBF"/>
                </a:solidFill>
                <a:latin typeface="SimSun"/>
                <a:cs typeface="SimSun"/>
                <a:hlinkClick r:id="rId3"/>
              </a:rPr>
              <a:t>https://frama.link/NySnaxuV</a:t>
            </a:r>
            <a:endParaRPr sz="1268">
              <a:latin typeface="SimSun"/>
              <a:cs typeface="SimSu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06504" y="4446710"/>
            <a:ext cx="2663020" cy="12072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979661" y="5667227"/>
            <a:ext cx="2461364" cy="654125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lnSpc>
                <a:spcPts val="1966"/>
              </a:lnSpc>
              <a:spcBef>
                <a:spcPts val="201"/>
              </a:spcBef>
            </a:pPr>
            <a:r>
              <a:rPr sz="1691" spc="-42" dirty="0">
                <a:latin typeface="Microsoft Sans Serif"/>
                <a:cs typeface="Microsoft Sans Serif"/>
              </a:rPr>
              <a:t>PocketBeagle</a:t>
            </a:r>
            <a:endParaRPr sz="1691">
              <a:latin typeface="Microsoft Sans Serif"/>
              <a:cs typeface="Microsoft Sans Serif"/>
            </a:endParaRPr>
          </a:p>
          <a:p>
            <a:pPr marL="26841">
              <a:lnSpc>
                <a:spcPts val="1427"/>
              </a:lnSpc>
            </a:pPr>
            <a:r>
              <a:rPr sz="1268" spc="-42" dirty="0">
                <a:latin typeface="Microsoft Sans Serif"/>
                <a:cs typeface="Microsoft Sans Serif"/>
              </a:rPr>
              <a:t>Image</a:t>
            </a:r>
            <a:r>
              <a:rPr sz="1268" spc="74" dirty="0">
                <a:latin typeface="Microsoft Sans Serif"/>
                <a:cs typeface="Microsoft Sans Serif"/>
              </a:rPr>
              <a:t> </a:t>
            </a:r>
            <a:r>
              <a:rPr sz="1268" spc="-21" dirty="0">
                <a:latin typeface="Microsoft Sans Serif"/>
                <a:cs typeface="Microsoft Sans Serif"/>
              </a:rPr>
              <a:t>credits</a:t>
            </a:r>
            <a:r>
              <a:rPr sz="1268" spc="85" dirty="0">
                <a:latin typeface="Microsoft Sans Serif"/>
                <a:cs typeface="Microsoft Sans Serif"/>
              </a:rPr>
              <a:t> </a:t>
            </a:r>
            <a:r>
              <a:rPr sz="1268" spc="-11" dirty="0">
                <a:latin typeface="Microsoft Sans Serif"/>
                <a:cs typeface="Microsoft Sans Serif"/>
              </a:rPr>
              <a:t>(Beagleboard.org):</a:t>
            </a:r>
            <a:endParaRPr sz="1268">
              <a:latin typeface="Microsoft Sans Serif"/>
              <a:cs typeface="Microsoft Sans Serif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3F3FBF"/>
                </a:solidFill>
                <a:latin typeface="SimSun"/>
                <a:cs typeface="SimSun"/>
                <a:hlinkClick r:id="rId5"/>
              </a:rPr>
              <a:t>https://beagleboard.org/pocket</a:t>
            </a:r>
            <a:endParaRPr sz="1268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4921387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69" dirty="0"/>
              <a:t>Types</a:t>
            </a:r>
            <a:r>
              <a:rPr sz="2959" dirty="0"/>
              <a:t> </a:t>
            </a:r>
            <a:r>
              <a:rPr sz="2959" spc="-127" dirty="0"/>
              <a:t>of</a:t>
            </a:r>
            <a:r>
              <a:rPr sz="2959" spc="11" dirty="0"/>
              <a:t> </a:t>
            </a:r>
            <a:r>
              <a:rPr sz="2959" spc="-222" dirty="0"/>
              <a:t>hardware</a:t>
            </a:r>
            <a:r>
              <a:rPr sz="2959" spc="11" dirty="0"/>
              <a:t> </a:t>
            </a:r>
            <a:r>
              <a:rPr sz="2959" spc="-137" dirty="0"/>
              <a:t>platforms</a:t>
            </a:r>
            <a:r>
              <a:rPr sz="2959" spc="11" dirty="0"/>
              <a:t> </a:t>
            </a:r>
            <a:r>
              <a:rPr sz="2959" spc="-85" dirty="0"/>
              <a:t>(2)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41166" y="2338963"/>
            <a:ext cx="7875290" cy="3008997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453618" marR="64419" indent="-374438">
              <a:lnSpc>
                <a:spcPct val="102600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b="1" spc="-85" dirty="0">
                <a:latin typeface="Arial"/>
                <a:cs typeface="Arial"/>
              </a:rPr>
              <a:t>Community</a:t>
            </a:r>
            <a:r>
              <a:rPr sz="2325" b="1" spc="-74" dirty="0">
                <a:latin typeface="Arial"/>
                <a:cs typeface="Arial"/>
              </a:rPr>
              <a:t> </a:t>
            </a:r>
            <a:r>
              <a:rPr sz="2325" b="1" spc="-95" dirty="0">
                <a:latin typeface="Arial"/>
                <a:cs typeface="Arial"/>
              </a:rPr>
              <a:t>development</a:t>
            </a:r>
            <a:r>
              <a:rPr sz="2325" b="1" spc="-85" dirty="0">
                <a:latin typeface="Arial"/>
                <a:cs typeface="Arial"/>
              </a:rPr>
              <a:t> platforms</a:t>
            </a:r>
            <a:r>
              <a:rPr sz="2325" spc="-85" dirty="0">
                <a:latin typeface="Tahoma"/>
                <a:cs typeface="Tahoma"/>
              </a:rPr>
              <a:t>, </a:t>
            </a:r>
            <a:r>
              <a:rPr sz="2325" spc="-32" dirty="0">
                <a:latin typeface="Tahoma"/>
                <a:cs typeface="Tahoma"/>
              </a:rPr>
              <a:t>to </a:t>
            </a:r>
            <a:r>
              <a:rPr sz="2325" spc="-137" dirty="0">
                <a:latin typeface="Tahoma"/>
                <a:cs typeface="Tahoma"/>
              </a:rPr>
              <a:t>make </a:t>
            </a:r>
            <a:r>
              <a:rPr sz="2325" spc="-116" dirty="0">
                <a:latin typeface="Tahoma"/>
                <a:cs typeface="Tahoma"/>
              </a:rPr>
              <a:t>a </a:t>
            </a:r>
            <a:r>
              <a:rPr sz="2325" spc="-63" dirty="0">
                <a:latin typeface="Tahoma"/>
                <a:cs typeface="Tahoma"/>
              </a:rPr>
              <a:t>particular </a:t>
            </a:r>
            <a:r>
              <a:rPr sz="2325" spc="-708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SoC </a:t>
            </a:r>
            <a:r>
              <a:rPr sz="2325" spc="-85" dirty="0">
                <a:latin typeface="Tahoma"/>
                <a:cs typeface="Tahoma"/>
              </a:rPr>
              <a:t>popular </a:t>
            </a:r>
            <a:r>
              <a:rPr sz="2325" spc="-106" dirty="0">
                <a:latin typeface="Tahoma"/>
                <a:cs typeface="Tahoma"/>
              </a:rPr>
              <a:t>and </a:t>
            </a:r>
            <a:r>
              <a:rPr sz="2325" spc="-95" dirty="0">
                <a:latin typeface="Tahoma"/>
                <a:cs typeface="Tahoma"/>
              </a:rPr>
              <a:t>easily </a:t>
            </a:r>
            <a:r>
              <a:rPr sz="2325" spc="-74" dirty="0">
                <a:latin typeface="Tahoma"/>
                <a:cs typeface="Tahoma"/>
              </a:rPr>
              <a:t>available.</a:t>
            </a:r>
            <a:r>
              <a:rPr sz="2325" spc="57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These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43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ready-to-use </a:t>
            </a:r>
            <a:r>
              <a:rPr sz="2325" spc="-95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 low </a:t>
            </a:r>
            <a:r>
              <a:rPr sz="2325" spc="-74" dirty="0">
                <a:latin typeface="Tahoma"/>
                <a:cs typeface="Tahoma"/>
              </a:rPr>
              <a:t>cost, </a:t>
            </a:r>
            <a:r>
              <a:rPr sz="2325" spc="-53" dirty="0">
                <a:latin typeface="Tahoma"/>
                <a:cs typeface="Tahoma"/>
              </a:rPr>
              <a:t>but </a:t>
            </a:r>
            <a:r>
              <a:rPr sz="2325" spc="-85" dirty="0">
                <a:latin typeface="Tahoma"/>
                <a:cs typeface="Tahoma"/>
              </a:rPr>
              <a:t>usually </a:t>
            </a:r>
            <a:r>
              <a:rPr sz="2325" spc="-137" dirty="0">
                <a:latin typeface="Tahoma"/>
                <a:cs typeface="Tahoma"/>
              </a:rPr>
              <a:t>have</a:t>
            </a:r>
            <a:r>
              <a:rPr sz="2325" spc="-127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fewer</a:t>
            </a:r>
            <a:r>
              <a:rPr sz="2325" spc="-13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peripherals </a:t>
            </a:r>
            <a:r>
              <a:rPr sz="2325" spc="-74" dirty="0">
                <a:latin typeface="Tahoma"/>
                <a:cs typeface="Tahoma"/>
              </a:rPr>
              <a:t>than </a:t>
            </a:r>
            <a:r>
              <a:rPr sz="2325" spc="-6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evaluation </a:t>
            </a:r>
            <a:r>
              <a:rPr sz="2325" spc="-74" dirty="0">
                <a:latin typeface="Tahoma"/>
                <a:cs typeface="Tahoma"/>
              </a:rPr>
              <a:t>platforms.</a:t>
            </a:r>
            <a:r>
              <a:rPr sz="2325" spc="-63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To </a:t>
            </a:r>
            <a:r>
              <a:rPr sz="2325" spc="-148" dirty="0">
                <a:latin typeface="Tahoma"/>
                <a:cs typeface="Tahoma"/>
              </a:rPr>
              <a:t>some</a:t>
            </a:r>
            <a:r>
              <a:rPr sz="2325" spc="-137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extent, </a:t>
            </a:r>
            <a:r>
              <a:rPr sz="2325" spc="-95" dirty="0">
                <a:latin typeface="Tahoma"/>
                <a:cs typeface="Tahoma"/>
              </a:rPr>
              <a:t>can also </a:t>
            </a:r>
            <a:r>
              <a:rPr sz="2325" spc="-116" dirty="0">
                <a:latin typeface="Tahoma"/>
                <a:cs typeface="Tahoma"/>
              </a:rPr>
              <a:t>be </a:t>
            </a:r>
            <a:r>
              <a:rPr sz="2325" spc="-148" dirty="0">
                <a:latin typeface="Tahoma"/>
                <a:cs typeface="Tahoma"/>
              </a:rPr>
              <a:t>used</a:t>
            </a:r>
            <a:r>
              <a:rPr sz="2325" spc="-13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 </a:t>
            </a:r>
            <a:r>
              <a:rPr sz="2325" spc="-85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real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products.</a:t>
            </a:r>
            <a:endParaRPr sz="2325">
              <a:latin typeface="Tahoma"/>
              <a:cs typeface="Tahoma"/>
            </a:endParaRPr>
          </a:p>
          <a:p>
            <a:pPr marL="453618" marR="139576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b="1" spc="-95" dirty="0">
                <a:latin typeface="Arial"/>
                <a:cs typeface="Arial"/>
              </a:rPr>
              <a:t>Custom</a:t>
            </a:r>
            <a:r>
              <a:rPr sz="2325" b="1" spc="-85" dirty="0">
                <a:latin typeface="Arial"/>
                <a:cs typeface="Arial"/>
              </a:rPr>
              <a:t> </a:t>
            </a:r>
            <a:r>
              <a:rPr sz="2325" b="1" spc="-63" dirty="0">
                <a:latin typeface="Arial"/>
                <a:cs typeface="Arial"/>
              </a:rPr>
              <a:t>platform</a:t>
            </a:r>
            <a:r>
              <a:rPr sz="2325" spc="-63" dirty="0">
                <a:latin typeface="Tahoma"/>
                <a:cs typeface="Tahoma"/>
              </a:rPr>
              <a:t>.</a:t>
            </a:r>
            <a:r>
              <a:rPr sz="2325" spc="-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Schematics </a:t>
            </a:r>
            <a:r>
              <a:rPr sz="2325" spc="-95" dirty="0">
                <a:latin typeface="Tahoma"/>
                <a:cs typeface="Tahoma"/>
              </a:rPr>
              <a:t>for </a:t>
            </a:r>
            <a:r>
              <a:rPr sz="2325" spc="-85" dirty="0">
                <a:latin typeface="Tahoma"/>
                <a:cs typeface="Tahoma"/>
              </a:rPr>
              <a:t>evaluation </a:t>
            </a:r>
            <a:r>
              <a:rPr sz="2325" spc="-106" dirty="0">
                <a:latin typeface="Tahoma"/>
                <a:cs typeface="Tahoma"/>
              </a:rPr>
              <a:t>boards </a:t>
            </a:r>
            <a:r>
              <a:rPr sz="2325" spc="-116" dirty="0">
                <a:latin typeface="Tahoma"/>
                <a:cs typeface="Tahoma"/>
              </a:rPr>
              <a:t>or </a:t>
            </a:r>
            <a:r>
              <a:rPr sz="2325" spc="-106" dirty="0">
                <a:latin typeface="Tahoma"/>
                <a:cs typeface="Tahoma"/>
              </a:rPr>
              <a:t> development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platforms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more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more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commonly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freely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available,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making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32" dirty="0">
                <a:latin typeface="Tahoma"/>
                <a:cs typeface="Tahoma"/>
              </a:rPr>
              <a:t>it </a:t>
            </a:r>
            <a:r>
              <a:rPr sz="2325" spc="-116" dirty="0">
                <a:latin typeface="Tahoma"/>
                <a:cs typeface="Tahoma"/>
              </a:rPr>
              <a:t>easier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develop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custom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platforms.</a:t>
            </a:r>
            <a:endParaRPr sz="2325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6504" y="820111"/>
            <a:ext cx="2742699" cy="19528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79661" y="2786170"/>
            <a:ext cx="2595572" cy="54955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 marR="10737">
              <a:lnSpc>
                <a:spcPts val="2008"/>
              </a:lnSpc>
              <a:spcBef>
                <a:spcPts val="285"/>
              </a:spcBef>
            </a:pPr>
            <a:r>
              <a:rPr sz="1691" spc="-53" dirty="0">
                <a:latin typeface="Microsoft Sans Serif"/>
                <a:cs typeface="Microsoft Sans Serif"/>
              </a:rPr>
              <a:t>Beaglebone</a:t>
            </a:r>
            <a:r>
              <a:rPr sz="1691" spc="63" dirty="0">
                <a:latin typeface="Microsoft Sans Serif"/>
                <a:cs typeface="Microsoft Sans Serif"/>
              </a:rPr>
              <a:t> </a:t>
            </a:r>
            <a:r>
              <a:rPr sz="1691" dirty="0">
                <a:latin typeface="Microsoft Sans Serif"/>
                <a:cs typeface="Microsoft Sans Serif"/>
              </a:rPr>
              <a:t>Black</a:t>
            </a:r>
            <a:r>
              <a:rPr sz="1691" spc="74" dirty="0">
                <a:latin typeface="Microsoft Sans Serif"/>
                <a:cs typeface="Microsoft Sans Serif"/>
              </a:rPr>
              <a:t> </a:t>
            </a:r>
            <a:r>
              <a:rPr sz="1691" spc="-53" dirty="0">
                <a:latin typeface="Microsoft Sans Serif"/>
                <a:cs typeface="Microsoft Sans Serif"/>
              </a:rPr>
              <a:t>Wireless </a:t>
            </a:r>
            <a:r>
              <a:rPr sz="1691" spc="-412" dirty="0">
                <a:latin typeface="Microsoft Sans Serif"/>
                <a:cs typeface="Microsoft Sans Serif"/>
              </a:rPr>
              <a:t> </a:t>
            </a:r>
            <a:r>
              <a:rPr sz="1691" spc="-32" dirty="0">
                <a:latin typeface="Microsoft Sans Serif"/>
                <a:cs typeface="Microsoft Sans Serif"/>
              </a:rPr>
              <a:t>board</a:t>
            </a:r>
            <a:endParaRPr sz="1691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22224" y="3860266"/>
            <a:ext cx="1735822" cy="15694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979662" y="5656358"/>
            <a:ext cx="2621071" cy="908623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 marR="263046">
              <a:lnSpc>
                <a:spcPts val="2008"/>
              </a:lnSpc>
              <a:spcBef>
                <a:spcPts val="285"/>
              </a:spcBef>
            </a:pPr>
            <a:r>
              <a:rPr sz="1691" spc="-11" dirty="0">
                <a:latin typeface="Microsoft Sans Serif"/>
                <a:cs typeface="Microsoft Sans Serif"/>
              </a:rPr>
              <a:t>Olimex</a:t>
            </a:r>
            <a:r>
              <a:rPr sz="1691" spc="85" dirty="0">
                <a:latin typeface="Microsoft Sans Serif"/>
                <a:cs typeface="Microsoft Sans Serif"/>
              </a:rPr>
              <a:t> </a:t>
            </a:r>
            <a:r>
              <a:rPr sz="1691" spc="-32" dirty="0">
                <a:latin typeface="Microsoft Sans Serif"/>
                <a:cs typeface="Microsoft Sans Serif"/>
              </a:rPr>
              <a:t>Open</a:t>
            </a:r>
            <a:r>
              <a:rPr sz="1691" spc="95" dirty="0">
                <a:latin typeface="Microsoft Sans Serif"/>
                <a:cs typeface="Microsoft Sans Serif"/>
              </a:rPr>
              <a:t> </a:t>
            </a:r>
            <a:r>
              <a:rPr sz="1691" spc="-53" dirty="0">
                <a:latin typeface="Microsoft Sans Serif"/>
                <a:cs typeface="Microsoft Sans Serif"/>
              </a:rPr>
              <a:t>hardware </a:t>
            </a:r>
            <a:r>
              <a:rPr sz="1691" spc="-42" dirty="0">
                <a:latin typeface="Microsoft Sans Serif"/>
                <a:cs typeface="Microsoft Sans Serif"/>
              </a:rPr>
              <a:t> </a:t>
            </a:r>
            <a:r>
              <a:rPr sz="1691" spc="42" dirty="0">
                <a:latin typeface="Microsoft Sans Serif"/>
                <a:cs typeface="Microsoft Sans Serif"/>
              </a:rPr>
              <a:t>ARM</a:t>
            </a:r>
            <a:r>
              <a:rPr sz="1691" spc="116" dirty="0">
                <a:latin typeface="Microsoft Sans Serif"/>
                <a:cs typeface="Microsoft Sans Serif"/>
              </a:rPr>
              <a:t> </a:t>
            </a:r>
            <a:r>
              <a:rPr sz="1691" dirty="0">
                <a:latin typeface="Microsoft Sans Serif"/>
                <a:cs typeface="Microsoft Sans Serif"/>
              </a:rPr>
              <a:t>laptop</a:t>
            </a:r>
            <a:r>
              <a:rPr sz="1691" spc="127" dirty="0">
                <a:latin typeface="Microsoft Sans Serif"/>
                <a:cs typeface="Microsoft Sans Serif"/>
              </a:rPr>
              <a:t> </a:t>
            </a:r>
            <a:r>
              <a:rPr sz="1691" spc="-21" dirty="0">
                <a:latin typeface="Microsoft Sans Serif"/>
                <a:cs typeface="Microsoft Sans Serif"/>
              </a:rPr>
              <a:t>main</a:t>
            </a:r>
            <a:r>
              <a:rPr sz="1691" spc="127" dirty="0">
                <a:latin typeface="Microsoft Sans Serif"/>
                <a:cs typeface="Microsoft Sans Serif"/>
              </a:rPr>
              <a:t> </a:t>
            </a:r>
            <a:r>
              <a:rPr sz="1691" spc="-32" dirty="0">
                <a:latin typeface="Microsoft Sans Serif"/>
                <a:cs typeface="Microsoft Sans Serif"/>
              </a:rPr>
              <a:t>board</a:t>
            </a:r>
            <a:endParaRPr sz="1691">
              <a:latin typeface="Microsoft Sans Serif"/>
              <a:cs typeface="Microsoft Sans Serif"/>
            </a:endParaRPr>
          </a:p>
          <a:p>
            <a:pPr marL="26841">
              <a:lnSpc>
                <a:spcPts val="1300"/>
              </a:lnSpc>
            </a:pPr>
            <a:r>
              <a:rPr sz="1268" spc="-42" dirty="0">
                <a:latin typeface="Microsoft Sans Serif"/>
                <a:cs typeface="Microsoft Sans Serif"/>
              </a:rPr>
              <a:t>Image</a:t>
            </a:r>
            <a:r>
              <a:rPr sz="1268" spc="95" dirty="0">
                <a:latin typeface="Microsoft Sans Serif"/>
                <a:cs typeface="Microsoft Sans Serif"/>
              </a:rPr>
              <a:t> </a:t>
            </a:r>
            <a:r>
              <a:rPr sz="1268" spc="-21" dirty="0">
                <a:latin typeface="Microsoft Sans Serif"/>
                <a:cs typeface="Microsoft Sans Serif"/>
              </a:rPr>
              <a:t>credits</a:t>
            </a:r>
            <a:r>
              <a:rPr sz="1268" spc="95" dirty="0">
                <a:latin typeface="Microsoft Sans Serif"/>
                <a:cs typeface="Microsoft Sans Serif"/>
              </a:rPr>
              <a:t> </a:t>
            </a:r>
            <a:r>
              <a:rPr sz="1268" spc="11" dirty="0">
                <a:latin typeface="Microsoft Sans Serif"/>
                <a:cs typeface="Microsoft Sans Serif"/>
              </a:rPr>
              <a:t>(Olimex):</a:t>
            </a:r>
            <a:endParaRPr sz="1268">
              <a:latin typeface="Microsoft Sans Serif"/>
              <a:cs typeface="Microsoft Sans Serif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3F3FBF"/>
                </a:solidFill>
                <a:latin typeface="SimSun"/>
                <a:cs typeface="SimSun"/>
                <a:hlinkClick r:id="rId4"/>
              </a:rPr>
              <a:t>https://www.olimex.com/Products/</a:t>
            </a:r>
            <a:endParaRPr sz="1268">
              <a:latin typeface="SimSun"/>
              <a:cs typeface="SimSu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79661" y="6525445"/>
            <a:ext cx="950189" cy="220866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268" dirty="0">
                <a:solidFill>
                  <a:srgbClr val="3F3FBF"/>
                </a:solidFill>
                <a:latin typeface="SimSun"/>
                <a:cs typeface="SimSun"/>
                <a:hlinkClick r:id="rId4"/>
              </a:rPr>
              <a:t>DIY-Laptop/</a:t>
            </a:r>
            <a:endParaRPr sz="1268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5189802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74" dirty="0"/>
              <a:t>Criteria</a:t>
            </a:r>
            <a:r>
              <a:rPr sz="2959" spc="11" dirty="0"/>
              <a:t> </a:t>
            </a:r>
            <a:r>
              <a:rPr sz="2959" spc="-148" dirty="0"/>
              <a:t>for</a:t>
            </a:r>
            <a:r>
              <a:rPr sz="2959" spc="11" dirty="0"/>
              <a:t> </a:t>
            </a:r>
            <a:r>
              <a:rPr sz="2959" spc="-159" dirty="0"/>
              <a:t>choosing</a:t>
            </a:r>
            <a:r>
              <a:rPr sz="2959" spc="11" dirty="0"/>
              <a:t> </a:t>
            </a:r>
            <a:r>
              <a:rPr sz="2959" spc="-148" dirty="0"/>
              <a:t>the</a:t>
            </a:r>
            <a:r>
              <a:rPr sz="2959" spc="11" dirty="0"/>
              <a:t> </a:t>
            </a:r>
            <a:r>
              <a:rPr sz="2959" spc="-222" dirty="0"/>
              <a:t>hardware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0" y="1458106"/>
            <a:ext cx="10511126" cy="4274984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453618" marR="130179" indent="-374438">
              <a:lnSpc>
                <a:spcPct val="102600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53" dirty="0">
                <a:latin typeface="Tahoma"/>
                <a:cs typeface="Tahoma"/>
              </a:rPr>
              <a:t>Make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sure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SoC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you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plan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use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already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supported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by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has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open-source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bootloader.</a:t>
            </a:r>
            <a:endParaRPr sz="2325">
              <a:latin typeface="Tahoma"/>
              <a:cs typeface="Tahoma"/>
            </a:endParaRPr>
          </a:p>
          <a:p>
            <a:pPr marL="453618" marR="95287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63" dirty="0">
                <a:latin typeface="Tahoma"/>
                <a:cs typeface="Tahoma"/>
              </a:rPr>
              <a:t>Having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support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official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versions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projects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(kernel,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bootloader)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lot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better:</a:t>
            </a:r>
            <a:r>
              <a:rPr sz="2325" spc="-74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quality </a:t>
            </a:r>
            <a:r>
              <a:rPr sz="2325" spc="-74" dirty="0">
                <a:latin typeface="Tahoma"/>
                <a:cs typeface="Tahoma"/>
              </a:rPr>
              <a:t>is </a:t>
            </a:r>
            <a:r>
              <a:rPr sz="2325" spc="-63" dirty="0">
                <a:latin typeface="Tahoma"/>
                <a:cs typeface="Tahoma"/>
              </a:rPr>
              <a:t>better, </a:t>
            </a:r>
            <a:r>
              <a:rPr sz="2325" spc="-159" dirty="0">
                <a:latin typeface="Tahoma"/>
                <a:cs typeface="Tahoma"/>
              </a:rPr>
              <a:t>new</a:t>
            </a:r>
            <a:r>
              <a:rPr sz="2325" spc="-148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versions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-137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available, </a:t>
            </a:r>
            <a:r>
              <a:rPr sz="2325" spc="-106" dirty="0">
                <a:latin typeface="Tahoma"/>
                <a:cs typeface="Tahoma"/>
              </a:rPr>
              <a:t>and </a:t>
            </a:r>
            <a:r>
              <a:rPr sz="2325" spc="-63" dirty="0">
                <a:latin typeface="Tahoma"/>
                <a:cs typeface="Tahoma"/>
              </a:rPr>
              <a:t>Long </a:t>
            </a:r>
            <a:r>
              <a:rPr sz="2325" spc="-95" dirty="0">
                <a:latin typeface="Tahoma"/>
                <a:cs typeface="Tahoma"/>
              </a:rPr>
              <a:t>Term </a:t>
            </a:r>
            <a:r>
              <a:rPr sz="2325" spc="-63" dirty="0">
                <a:latin typeface="Tahoma"/>
                <a:cs typeface="Tahoma"/>
              </a:rPr>
              <a:t>Support </a:t>
            </a:r>
            <a:r>
              <a:rPr sz="2325" spc="-53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releases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available.</a:t>
            </a:r>
            <a:endParaRPr sz="2325">
              <a:latin typeface="Tahoma"/>
              <a:cs typeface="Tahoma"/>
            </a:endParaRPr>
          </a:p>
          <a:p>
            <a:pPr marL="453618" marR="64419" indent="-374438" algn="just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116" dirty="0">
                <a:latin typeface="Tahoma"/>
                <a:cs typeface="Tahoma"/>
              </a:rPr>
              <a:t>Some </a:t>
            </a:r>
            <a:r>
              <a:rPr sz="2325" spc="-21" dirty="0">
                <a:latin typeface="Tahoma"/>
                <a:cs typeface="Tahoma"/>
              </a:rPr>
              <a:t>SoC </a:t>
            </a:r>
            <a:r>
              <a:rPr sz="2325" spc="-127" dirty="0">
                <a:latin typeface="Tahoma"/>
                <a:cs typeface="Tahoma"/>
              </a:rPr>
              <a:t>vendors </a:t>
            </a:r>
            <a:r>
              <a:rPr sz="2325" spc="-53" dirty="0">
                <a:latin typeface="Tahoma"/>
                <a:cs typeface="Tahoma"/>
              </a:rPr>
              <a:t>and/or </a:t>
            </a:r>
            <a:r>
              <a:rPr sz="2325" spc="-95" dirty="0">
                <a:latin typeface="Tahoma"/>
                <a:cs typeface="Tahoma"/>
              </a:rPr>
              <a:t>board </a:t>
            </a:r>
            <a:r>
              <a:rPr sz="2325" spc="-127" dirty="0">
                <a:latin typeface="Tahoma"/>
                <a:cs typeface="Tahoma"/>
              </a:rPr>
              <a:t>vendors </a:t>
            </a:r>
            <a:r>
              <a:rPr sz="2325" spc="-106" dirty="0">
                <a:latin typeface="Tahoma"/>
                <a:cs typeface="Tahoma"/>
              </a:rPr>
              <a:t>do </a:t>
            </a:r>
            <a:r>
              <a:rPr sz="2325" spc="-63" dirty="0">
                <a:latin typeface="Tahoma"/>
                <a:cs typeface="Tahoma"/>
              </a:rPr>
              <a:t>not contribute their </a:t>
            </a:r>
            <a:r>
              <a:rPr sz="2325" spc="-127" dirty="0">
                <a:latin typeface="Tahoma"/>
                <a:cs typeface="Tahoma"/>
              </a:rPr>
              <a:t>changes </a:t>
            </a:r>
            <a:r>
              <a:rPr sz="2325" spc="-74" dirty="0">
                <a:latin typeface="Tahoma"/>
                <a:cs typeface="Tahoma"/>
              </a:rPr>
              <a:t>back </a:t>
            </a:r>
            <a:r>
              <a:rPr sz="2325" spc="-32" dirty="0">
                <a:latin typeface="Tahoma"/>
                <a:cs typeface="Tahoma"/>
              </a:rPr>
              <a:t>to </a:t>
            </a:r>
            <a:r>
              <a:rPr sz="2325" spc="-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mainline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kernel.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Ask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them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so,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use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another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product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" dirty="0">
                <a:latin typeface="Tahoma"/>
                <a:cs typeface="Tahoma"/>
              </a:rPr>
              <a:t>if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you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can. </a:t>
            </a:r>
            <a:r>
              <a:rPr sz="2325" spc="-74" dirty="0">
                <a:latin typeface="Tahoma"/>
                <a:cs typeface="Tahoma"/>
              </a:rPr>
              <a:t> </a:t>
            </a:r>
            <a:r>
              <a:rPr sz="2325" spc="137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good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measurement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90" dirty="0">
                <a:latin typeface="Tahoma"/>
                <a:cs typeface="Tahoma"/>
              </a:rPr>
              <a:t>see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delta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between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their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kernel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official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one.</a:t>
            </a:r>
            <a:endParaRPr sz="2325">
              <a:latin typeface="Tahoma"/>
              <a:cs typeface="Tahoma"/>
            </a:endParaRPr>
          </a:p>
          <a:p>
            <a:pPr marL="453618" marR="197285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b="1" spc="-85" dirty="0">
                <a:latin typeface="Arial"/>
                <a:cs typeface="Arial"/>
              </a:rPr>
              <a:t>Between </a:t>
            </a:r>
            <a:r>
              <a:rPr sz="2325" b="1" spc="-106" dirty="0">
                <a:latin typeface="Arial"/>
                <a:cs typeface="Arial"/>
              </a:rPr>
              <a:t>properly</a:t>
            </a:r>
            <a:r>
              <a:rPr sz="2325" b="1" spc="-95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supported</a:t>
            </a:r>
            <a:r>
              <a:rPr sz="2325" b="1" spc="-106" dirty="0">
                <a:latin typeface="Arial"/>
                <a:cs typeface="Arial"/>
              </a:rPr>
              <a:t> </a:t>
            </a:r>
            <a:r>
              <a:rPr sz="2325" b="1" spc="-127" dirty="0">
                <a:latin typeface="Arial"/>
                <a:cs typeface="Arial"/>
              </a:rPr>
              <a:t>hardware</a:t>
            </a:r>
            <a:r>
              <a:rPr sz="2325" b="1" spc="-116" dirty="0">
                <a:latin typeface="Arial"/>
                <a:cs typeface="Arial"/>
              </a:rPr>
              <a:t> </a:t>
            </a:r>
            <a:r>
              <a:rPr sz="2325" b="1" spc="-95" dirty="0">
                <a:latin typeface="Arial"/>
                <a:cs typeface="Arial"/>
              </a:rPr>
              <a:t>in</a:t>
            </a:r>
            <a:r>
              <a:rPr sz="2325" b="1" spc="-85" dirty="0">
                <a:latin typeface="Arial"/>
                <a:cs typeface="Arial"/>
              </a:rPr>
              <a:t> </a:t>
            </a:r>
            <a:r>
              <a:rPr sz="2325" b="1" spc="-32" dirty="0">
                <a:latin typeface="Arial"/>
                <a:cs typeface="Arial"/>
              </a:rPr>
              <a:t>the </a:t>
            </a:r>
            <a:r>
              <a:rPr sz="2325" b="1" spc="-85" dirty="0">
                <a:latin typeface="Arial"/>
                <a:cs typeface="Arial"/>
              </a:rPr>
              <a:t>official </a:t>
            </a:r>
            <a:r>
              <a:rPr sz="2325" b="1" spc="-116" dirty="0">
                <a:latin typeface="Arial"/>
                <a:cs typeface="Arial"/>
              </a:rPr>
              <a:t>Linux</a:t>
            </a:r>
            <a:r>
              <a:rPr sz="2325" b="1" spc="-106" dirty="0">
                <a:latin typeface="Arial"/>
                <a:cs typeface="Arial"/>
              </a:rPr>
              <a:t> kernel</a:t>
            </a:r>
            <a:r>
              <a:rPr sz="2325" b="1" spc="-95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and </a:t>
            </a:r>
            <a:r>
              <a:rPr sz="2325" b="1" spc="-106" dirty="0">
                <a:latin typeface="Arial"/>
                <a:cs typeface="Arial"/>
              </a:rPr>
              <a:t> poorly-supported</a:t>
            </a:r>
            <a:r>
              <a:rPr sz="2325" b="1" spc="211" dirty="0">
                <a:latin typeface="Arial"/>
                <a:cs typeface="Arial"/>
              </a:rPr>
              <a:t> </a:t>
            </a:r>
            <a:r>
              <a:rPr sz="2325" b="1" spc="-106" dirty="0">
                <a:latin typeface="Arial"/>
                <a:cs typeface="Arial"/>
              </a:rPr>
              <a:t>hardware,</a:t>
            </a:r>
            <a:r>
              <a:rPr sz="2325" b="1" spc="211" dirty="0">
                <a:latin typeface="Arial"/>
                <a:cs typeface="Arial"/>
              </a:rPr>
              <a:t> </a:t>
            </a:r>
            <a:r>
              <a:rPr sz="2325" b="1" spc="-53" dirty="0">
                <a:latin typeface="Arial"/>
                <a:cs typeface="Arial"/>
              </a:rPr>
              <a:t>there</a:t>
            </a:r>
            <a:r>
              <a:rPr sz="2325" b="1" spc="211" dirty="0">
                <a:latin typeface="Arial"/>
                <a:cs typeface="Arial"/>
              </a:rPr>
              <a:t> </a:t>
            </a:r>
            <a:r>
              <a:rPr sz="2325" b="1" spc="-74" dirty="0">
                <a:latin typeface="Arial"/>
                <a:cs typeface="Arial"/>
              </a:rPr>
              <a:t>will</a:t>
            </a:r>
            <a:r>
              <a:rPr sz="2325" b="1" spc="222" dirty="0">
                <a:latin typeface="Arial"/>
                <a:cs typeface="Arial"/>
              </a:rPr>
              <a:t> </a:t>
            </a:r>
            <a:r>
              <a:rPr sz="2325" b="1" spc="-95" dirty="0">
                <a:latin typeface="Arial"/>
                <a:cs typeface="Arial"/>
              </a:rPr>
              <a:t>be</a:t>
            </a:r>
            <a:r>
              <a:rPr sz="2325" b="1" spc="211" dirty="0">
                <a:latin typeface="Arial"/>
                <a:cs typeface="Arial"/>
              </a:rPr>
              <a:t> </a:t>
            </a:r>
            <a:r>
              <a:rPr sz="2325" b="1" spc="-137" dirty="0">
                <a:latin typeface="Arial"/>
                <a:cs typeface="Arial"/>
              </a:rPr>
              <a:t>huge</a:t>
            </a:r>
            <a:r>
              <a:rPr sz="2325" b="1" spc="211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differences</a:t>
            </a:r>
            <a:r>
              <a:rPr sz="2325" b="1" spc="211" dirty="0">
                <a:latin typeface="Arial"/>
                <a:cs typeface="Arial"/>
              </a:rPr>
              <a:t> </a:t>
            </a:r>
            <a:r>
              <a:rPr sz="2325" b="1" spc="-95" dirty="0">
                <a:latin typeface="Arial"/>
                <a:cs typeface="Arial"/>
              </a:rPr>
              <a:t>in</a:t>
            </a:r>
            <a:r>
              <a:rPr sz="2325" b="1" spc="222" dirty="0">
                <a:latin typeface="Arial"/>
                <a:cs typeface="Arial"/>
              </a:rPr>
              <a:t> </a:t>
            </a:r>
            <a:r>
              <a:rPr sz="2325" b="1" spc="-95" dirty="0">
                <a:latin typeface="Arial"/>
                <a:cs typeface="Arial"/>
              </a:rPr>
              <a:t>development </a:t>
            </a:r>
            <a:r>
              <a:rPr sz="2325" b="1" spc="-613" dirty="0">
                <a:latin typeface="Arial"/>
                <a:cs typeface="Arial"/>
              </a:rPr>
              <a:t> </a:t>
            </a:r>
            <a:r>
              <a:rPr sz="2325" b="1" spc="-21" dirty="0">
                <a:latin typeface="Arial"/>
                <a:cs typeface="Arial"/>
              </a:rPr>
              <a:t>time</a:t>
            </a:r>
            <a:r>
              <a:rPr sz="2325" b="1" spc="180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and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85" dirty="0">
                <a:latin typeface="Arial"/>
                <a:cs typeface="Arial"/>
              </a:rPr>
              <a:t>cost.</a:t>
            </a:r>
            <a:endParaRPr sz="2325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9282" y="2929241"/>
            <a:ext cx="8061841" cy="697953"/>
          </a:xfrm>
          <a:prstGeom prst="rect">
            <a:avLst/>
          </a:prstGeom>
        </p:spPr>
        <p:txBody>
          <a:bodyPr vert="horz" wrap="square" lIns="0" tIns="3086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41"/>
              </a:spcBef>
            </a:pPr>
            <a:r>
              <a:rPr sz="4333" spc="-296" dirty="0">
                <a:hlinkClick r:id="rId2" action="ppaction://hlinksldjump"/>
              </a:rPr>
              <a:t>Embedded</a:t>
            </a:r>
            <a:r>
              <a:rPr sz="4333" spc="21" dirty="0">
                <a:hlinkClick r:id="rId2" action="ppaction://hlinksldjump"/>
              </a:rPr>
              <a:t> </a:t>
            </a:r>
            <a:r>
              <a:rPr sz="4333" spc="-169" dirty="0">
                <a:hlinkClick r:id="rId2" action="ppaction://hlinksldjump"/>
              </a:rPr>
              <a:t>Linux</a:t>
            </a:r>
            <a:r>
              <a:rPr sz="4333" spc="21" dirty="0">
                <a:hlinkClick r:id="rId2" action="ppaction://hlinksldjump"/>
              </a:rPr>
              <a:t> </a:t>
            </a:r>
            <a:r>
              <a:rPr sz="4333" spc="-306" dirty="0">
                <a:hlinkClick r:id="rId2" action="ppaction://hlinksldjump"/>
              </a:rPr>
              <a:t>system</a:t>
            </a:r>
            <a:r>
              <a:rPr sz="4333" spc="21" dirty="0">
                <a:hlinkClick r:id="rId2" action="ppaction://hlinksldjump"/>
              </a:rPr>
              <a:t> </a:t>
            </a:r>
            <a:r>
              <a:rPr sz="4333" spc="-222" dirty="0">
                <a:hlinkClick r:id="rId2" action="ppaction://hlinksldjump"/>
              </a:rPr>
              <a:t>architecture</a:t>
            </a:r>
            <a:endParaRPr sz="4333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7735" y="59286"/>
            <a:ext cx="2438549" cy="491971"/>
          </a:xfrm>
          <a:prstGeom prst="rect">
            <a:avLst/>
          </a:prstGeom>
        </p:spPr>
        <p:txBody>
          <a:bodyPr vert="horz" wrap="square" lIns="0" tIns="36236" rIns="0" bIns="0" rtlCol="0">
            <a:spAutoFit/>
          </a:bodyPr>
          <a:lstStyle/>
          <a:p>
            <a:pPr marL="26841">
              <a:spcBef>
                <a:spcPts val="285"/>
              </a:spcBef>
            </a:pPr>
            <a:r>
              <a:rPr sz="2959" spc="-95" dirty="0">
                <a:latin typeface="Tahoma"/>
                <a:cs typeface="Tahoma"/>
              </a:rPr>
              <a:t>Host</a:t>
            </a:r>
            <a:r>
              <a:rPr sz="2959" spc="-53" dirty="0">
                <a:latin typeface="Tahoma"/>
                <a:cs typeface="Tahoma"/>
              </a:rPr>
              <a:t> </a:t>
            </a:r>
            <a:r>
              <a:rPr sz="2959" spc="-180" dirty="0">
                <a:latin typeface="Tahoma"/>
                <a:cs typeface="Tahoma"/>
              </a:rPr>
              <a:t>and</a:t>
            </a:r>
            <a:r>
              <a:rPr sz="2959" spc="-42" dirty="0">
                <a:latin typeface="Tahoma"/>
                <a:cs typeface="Tahoma"/>
              </a:rPr>
              <a:t> </a:t>
            </a:r>
            <a:r>
              <a:rPr sz="2959" spc="-137" dirty="0">
                <a:latin typeface="Tahoma"/>
                <a:cs typeface="Tahoma"/>
              </a:rPr>
              <a:t>target</a:t>
            </a:r>
            <a:endParaRPr sz="2959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27877" y="1446998"/>
            <a:ext cx="2003717" cy="4822073"/>
            <a:chOff x="816130" y="684644"/>
            <a:chExt cx="948055" cy="2281555"/>
          </a:xfrm>
        </p:grpSpPr>
        <p:sp>
          <p:nvSpPr>
            <p:cNvPr id="4" name="object 4"/>
            <p:cNvSpPr/>
            <p:nvPr/>
          </p:nvSpPr>
          <p:spPr>
            <a:xfrm>
              <a:off x="821979" y="690493"/>
              <a:ext cx="935990" cy="2270125"/>
            </a:xfrm>
            <a:custGeom>
              <a:avLst/>
              <a:gdLst/>
              <a:ahLst/>
              <a:cxnLst/>
              <a:rect l="l" t="t" r="r" b="b"/>
              <a:pathLst>
                <a:path w="935989" h="2270125">
                  <a:moveTo>
                    <a:pt x="935898" y="0"/>
                  </a:moveTo>
                  <a:lnTo>
                    <a:pt x="0" y="0"/>
                  </a:lnTo>
                  <a:lnTo>
                    <a:pt x="0" y="2269556"/>
                  </a:lnTo>
                  <a:lnTo>
                    <a:pt x="935898" y="2269556"/>
                  </a:lnTo>
                  <a:lnTo>
                    <a:pt x="935898" y="0"/>
                  </a:lnTo>
                  <a:close/>
                </a:path>
              </a:pathLst>
            </a:custGeom>
            <a:solidFill>
              <a:srgbClr val="ACD8E6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/>
            <p:cNvSpPr/>
            <p:nvPr/>
          </p:nvSpPr>
          <p:spPr>
            <a:xfrm>
              <a:off x="821979" y="690493"/>
              <a:ext cx="935990" cy="2270125"/>
            </a:xfrm>
            <a:custGeom>
              <a:avLst/>
              <a:gdLst/>
              <a:ahLst/>
              <a:cxnLst/>
              <a:rect l="l" t="t" r="r" b="b"/>
              <a:pathLst>
                <a:path w="935989" h="2270125">
                  <a:moveTo>
                    <a:pt x="0" y="2269556"/>
                  </a:moveTo>
                  <a:lnTo>
                    <a:pt x="935898" y="2269556"/>
                  </a:lnTo>
                  <a:lnTo>
                    <a:pt x="935898" y="0"/>
                  </a:lnTo>
                  <a:lnTo>
                    <a:pt x="0" y="0"/>
                  </a:lnTo>
                  <a:lnTo>
                    <a:pt x="0" y="2269556"/>
                  </a:lnTo>
                  <a:close/>
                </a:path>
              </a:pathLst>
            </a:custGeom>
            <a:ln w="11698">
              <a:solidFill>
                <a:srgbClr val="5CAB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/>
            <p:cNvSpPr/>
            <p:nvPr/>
          </p:nvSpPr>
          <p:spPr>
            <a:xfrm>
              <a:off x="927267" y="803354"/>
              <a:ext cx="702310" cy="757555"/>
            </a:xfrm>
            <a:custGeom>
              <a:avLst/>
              <a:gdLst/>
              <a:ahLst/>
              <a:cxnLst/>
              <a:rect l="l" t="t" r="r" b="b"/>
              <a:pathLst>
                <a:path w="702310" h="757555">
                  <a:moveTo>
                    <a:pt x="701923" y="0"/>
                  </a:moveTo>
                  <a:lnTo>
                    <a:pt x="0" y="0"/>
                  </a:lnTo>
                  <a:lnTo>
                    <a:pt x="0" y="756979"/>
                  </a:lnTo>
                  <a:lnTo>
                    <a:pt x="701923" y="756979"/>
                  </a:lnTo>
                  <a:lnTo>
                    <a:pt x="701923" y="0"/>
                  </a:lnTo>
                  <a:close/>
                </a:path>
              </a:pathLst>
            </a:custGeom>
            <a:solidFill>
              <a:srgbClr val="FFD191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/>
            <p:cNvSpPr/>
            <p:nvPr/>
          </p:nvSpPr>
          <p:spPr>
            <a:xfrm>
              <a:off x="927267" y="803354"/>
              <a:ext cx="702310" cy="757555"/>
            </a:xfrm>
            <a:custGeom>
              <a:avLst/>
              <a:gdLst/>
              <a:ahLst/>
              <a:cxnLst/>
              <a:rect l="l" t="t" r="r" b="b"/>
              <a:pathLst>
                <a:path w="702310" h="757555">
                  <a:moveTo>
                    <a:pt x="0" y="756979"/>
                  </a:moveTo>
                  <a:lnTo>
                    <a:pt x="701923" y="756979"/>
                  </a:lnTo>
                  <a:lnTo>
                    <a:pt x="701923" y="0"/>
                  </a:lnTo>
                  <a:lnTo>
                    <a:pt x="0" y="0"/>
                  </a:lnTo>
                  <a:lnTo>
                    <a:pt x="0" y="756979"/>
                  </a:lnTo>
                  <a:close/>
                </a:path>
              </a:pathLst>
            </a:custGeom>
            <a:ln w="11698">
              <a:solidFill>
                <a:srgbClr val="A24803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/>
            <p:cNvSpPr/>
            <p:nvPr/>
          </p:nvSpPr>
          <p:spPr>
            <a:xfrm>
              <a:off x="1196759" y="980096"/>
              <a:ext cx="163195" cy="51435"/>
            </a:xfrm>
            <a:custGeom>
              <a:avLst/>
              <a:gdLst/>
              <a:ahLst/>
              <a:cxnLst/>
              <a:rect l="l" t="t" r="r" b="b"/>
              <a:pathLst>
                <a:path w="163194" h="51434">
                  <a:moveTo>
                    <a:pt x="44475" y="0"/>
                  </a:moveTo>
                  <a:lnTo>
                    <a:pt x="0" y="0"/>
                  </a:lnTo>
                  <a:lnTo>
                    <a:pt x="0" y="4762"/>
                  </a:lnTo>
                  <a:lnTo>
                    <a:pt x="10680" y="4762"/>
                  </a:lnTo>
                  <a:lnTo>
                    <a:pt x="11557" y="4686"/>
                  </a:lnTo>
                  <a:lnTo>
                    <a:pt x="19024" y="4686"/>
                  </a:lnTo>
                  <a:lnTo>
                    <a:pt x="19024" y="50355"/>
                  </a:lnTo>
                  <a:lnTo>
                    <a:pt x="25527" y="50355"/>
                  </a:lnTo>
                  <a:lnTo>
                    <a:pt x="25527" y="4686"/>
                  </a:lnTo>
                  <a:lnTo>
                    <a:pt x="32918" y="4686"/>
                  </a:lnTo>
                  <a:lnTo>
                    <a:pt x="33782" y="4762"/>
                  </a:lnTo>
                  <a:lnTo>
                    <a:pt x="44475" y="4762"/>
                  </a:lnTo>
                  <a:lnTo>
                    <a:pt x="44475" y="0"/>
                  </a:lnTo>
                  <a:close/>
                </a:path>
                <a:path w="163194" h="51434">
                  <a:moveTo>
                    <a:pt x="76377" y="24345"/>
                  </a:moveTo>
                  <a:lnTo>
                    <a:pt x="73202" y="20929"/>
                  </a:lnTo>
                  <a:lnTo>
                    <a:pt x="70675" y="18211"/>
                  </a:lnTo>
                  <a:lnTo>
                    <a:pt x="70675" y="24777"/>
                  </a:lnTo>
                  <a:lnTo>
                    <a:pt x="70675" y="42278"/>
                  </a:lnTo>
                  <a:lnTo>
                    <a:pt x="65709" y="46647"/>
                  </a:lnTo>
                  <a:lnTo>
                    <a:pt x="55232" y="46647"/>
                  </a:lnTo>
                  <a:lnTo>
                    <a:pt x="49974" y="42506"/>
                  </a:lnTo>
                  <a:lnTo>
                    <a:pt x="49974" y="24561"/>
                  </a:lnTo>
                  <a:lnTo>
                    <a:pt x="55537" y="20929"/>
                  </a:lnTo>
                  <a:lnTo>
                    <a:pt x="65405" y="20929"/>
                  </a:lnTo>
                  <a:lnTo>
                    <a:pt x="70675" y="24777"/>
                  </a:lnTo>
                  <a:lnTo>
                    <a:pt x="70675" y="18211"/>
                  </a:lnTo>
                  <a:lnTo>
                    <a:pt x="69062" y="16459"/>
                  </a:lnTo>
                  <a:lnTo>
                    <a:pt x="51358" y="16459"/>
                  </a:lnTo>
                  <a:lnTo>
                    <a:pt x="44259" y="24561"/>
                  </a:lnTo>
                  <a:lnTo>
                    <a:pt x="44259" y="44069"/>
                  </a:lnTo>
                  <a:lnTo>
                    <a:pt x="51727" y="51320"/>
                  </a:lnTo>
                  <a:lnTo>
                    <a:pt x="69062" y="51320"/>
                  </a:lnTo>
                  <a:lnTo>
                    <a:pt x="73672" y="46647"/>
                  </a:lnTo>
                  <a:lnTo>
                    <a:pt x="76377" y="43916"/>
                  </a:lnTo>
                  <a:lnTo>
                    <a:pt x="76377" y="24345"/>
                  </a:lnTo>
                  <a:close/>
                </a:path>
                <a:path w="163194" h="51434">
                  <a:moveTo>
                    <a:pt x="115824" y="24345"/>
                  </a:moveTo>
                  <a:lnTo>
                    <a:pt x="112649" y="20929"/>
                  </a:lnTo>
                  <a:lnTo>
                    <a:pt x="110121" y="18211"/>
                  </a:lnTo>
                  <a:lnTo>
                    <a:pt x="110121" y="24777"/>
                  </a:lnTo>
                  <a:lnTo>
                    <a:pt x="110121" y="42278"/>
                  </a:lnTo>
                  <a:lnTo>
                    <a:pt x="105156" y="46647"/>
                  </a:lnTo>
                  <a:lnTo>
                    <a:pt x="94678" y="46647"/>
                  </a:lnTo>
                  <a:lnTo>
                    <a:pt x="89420" y="42506"/>
                  </a:lnTo>
                  <a:lnTo>
                    <a:pt x="89420" y="24561"/>
                  </a:lnTo>
                  <a:lnTo>
                    <a:pt x="94983" y="20929"/>
                  </a:lnTo>
                  <a:lnTo>
                    <a:pt x="104851" y="20929"/>
                  </a:lnTo>
                  <a:lnTo>
                    <a:pt x="110121" y="24777"/>
                  </a:lnTo>
                  <a:lnTo>
                    <a:pt x="110121" y="18211"/>
                  </a:lnTo>
                  <a:lnTo>
                    <a:pt x="108508" y="16459"/>
                  </a:lnTo>
                  <a:lnTo>
                    <a:pt x="90805" y="16459"/>
                  </a:lnTo>
                  <a:lnTo>
                    <a:pt x="83705" y="24561"/>
                  </a:lnTo>
                  <a:lnTo>
                    <a:pt x="83705" y="44069"/>
                  </a:lnTo>
                  <a:lnTo>
                    <a:pt x="91173" y="51320"/>
                  </a:lnTo>
                  <a:lnTo>
                    <a:pt x="108508" y="51320"/>
                  </a:lnTo>
                  <a:lnTo>
                    <a:pt x="113118" y="46647"/>
                  </a:lnTo>
                  <a:lnTo>
                    <a:pt x="115824" y="43916"/>
                  </a:lnTo>
                  <a:lnTo>
                    <a:pt x="115824" y="24345"/>
                  </a:lnTo>
                  <a:close/>
                </a:path>
                <a:path w="163194" h="51434">
                  <a:moveTo>
                    <a:pt x="130327" y="0"/>
                  </a:moveTo>
                  <a:lnTo>
                    <a:pt x="124853" y="0"/>
                  </a:lnTo>
                  <a:lnTo>
                    <a:pt x="124853" y="50355"/>
                  </a:lnTo>
                  <a:lnTo>
                    <a:pt x="130327" y="50355"/>
                  </a:lnTo>
                  <a:lnTo>
                    <a:pt x="130327" y="0"/>
                  </a:lnTo>
                  <a:close/>
                </a:path>
                <a:path w="163194" h="51434">
                  <a:moveTo>
                    <a:pt x="163068" y="37007"/>
                  </a:moveTo>
                  <a:lnTo>
                    <a:pt x="160375" y="34493"/>
                  </a:lnTo>
                  <a:lnTo>
                    <a:pt x="160223" y="34277"/>
                  </a:lnTo>
                  <a:lnTo>
                    <a:pt x="157365" y="31686"/>
                  </a:lnTo>
                  <a:lnTo>
                    <a:pt x="155397" y="31229"/>
                  </a:lnTo>
                  <a:lnTo>
                    <a:pt x="151739" y="30568"/>
                  </a:lnTo>
                  <a:lnTo>
                    <a:pt x="147713" y="29743"/>
                  </a:lnTo>
                  <a:lnTo>
                    <a:pt x="144348" y="29006"/>
                  </a:lnTo>
                  <a:lnTo>
                    <a:pt x="144348" y="20789"/>
                  </a:lnTo>
                  <a:lnTo>
                    <a:pt x="152920" y="20789"/>
                  </a:lnTo>
                  <a:lnTo>
                    <a:pt x="156794" y="21082"/>
                  </a:lnTo>
                  <a:lnTo>
                    <a:pt x="160947" y="23596"/>
                  </a:lnTo>
                  <a:lnTo>
                    <a:pt x="161836" y="18808"/>
                  </a:lnTo>
                  <a:lnTo>
                    <a:pt x="158026" y="17056"/>
                  </a:lnTo>
                  <a:lnTo>
                    <a:pt x="155028" y="16459"/>
                  </a:lnTo>
                  <a:lnTo>
                    <a:pt x="139166" y="16459"/>
                  </a:lnTo>
                  <a:lnTo>
                    <a:pt x="139166" y="29743"/>
                  </a:lnTo>
                  <a:lnTo>
                    <a:pt x="141274" y="32131"/>
                  </a:lnTo>
                  <a:lnTo>
                    <a:pt x="143116" y="33528"/>
                  </a:lnTo>
                  <a:lnTo>
                    <a:pt x="145376" y="35166"/>
                  </a:lnTo>
                  <a:lnTo>
                    <a:pt x="146977" y="35445"/>
                  </a:lnTo>
                  <a:lnTo>
                    <a:pt x="153644" y="36791"/>
                  </a:lnTo>
                  <a:lnTo>
                    <a:pt x="157886" y="37680"/>
                  </a:lnTo>
                  <a:lnTo>
                    <a:pt x="157886" y="46723"/>
                  </a:lnTo>
                  <a:lnTo>
                    <a:pt x="145084" y="46723"/>
                  </a:lnTo>
                  <a:lnTo>
                    <a:pt x="140995" y="43992"/>
                  </a:lnTo>
                  <a:lnTo>
                    <a:pt x="139674" y="43091"/>
                  </a:lnTo>
                  <a:lnTo>
                    <a:pt x="138798" y="48120"/>
                  </a:lnTo>
                  <a:lnTo>
                    <a:pt x="141135" y="49276"/>
                  </a:lnTo>
                  <a:lnTo>
                    <a:pt x="145148" y="51320"/>
                  </a:lnTo>
                  <a:lnTo>
                    <a:pt x="156425" y="51320"/>
                  </a:lnTo>
                  <a:lnTo>
                    <a:pt x="159562" y="48996"/>
                  </a:lnTo>
                  <a:lnTo>
                    <a:pt x="161836" y="47244"/>
                  </a:lnTo>
                  <a:lnTo>
                    <a:pt x="163068" y="44272"/>
                  </a:lnTo>
                  <a:lnTo>
                    <a:pt x="163068" y="41097"/>
                  </a:lnTo>
                  <a:lnTo>
                    <a:pt x="163068" y="370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9090" y="1073677"/>
              <a:ext cx="258841" cy="6488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291" y="1167267"/>
              <a:ext cx="278421" cy="6519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54163" y="1305153"/>
              <a:ext cx="47625" cy="6350"/>
            </a:xfrm>
            <a:custGeom>
              <a:avLst/>
              <a:gdLst/>
              <a:ahLst/>
              <a:cxnLst/>
              <a:rect l="l" t="t" r="r" b="b"/>
              <a:pathLst>
                <a:path w="47625" h="6350">
                  <a:moveTo>
                    <a:pt x="6057" y="0"/>
                  </a:moveTo>
                  <a:lnTo>
                    <a:pt x="0" y="0"/>
                  </a:lnTo>
                  <a:lnTo>
                    <a:pt x="0" y="6070"/>
                  </a:lnTo>
                  <a:lnTo>
                    <a:pt x="6057" y="6070"/>
                  </a:lnTo>
                  <a:lnTo>
                    <a:pt x="6057" y="0"/>
                  </a:lnTo>
                  <a:close/>
                </a:path>
                <a:path w="47625" h="6350">
                  <a:moveTo>
                    <a:pt x="26809" y="0"/>
                  </a:moveTo>
                  <a:lnTo>
                    <a:pt x="20739" y="0"/>
                  </a:lnTo>
                  <a:lnTo>
                    <a:pt x="20739" y="6070"/>
                  </a:lnTo>
                  <a:lnTo>
                    <a:pt x="26809" y="6070"/>
                  </a:lnTo>
                  <a:lnTo>
                    <a:pt x="26809" y="0"/>
                  </a:lnTo>
                  <a:close/>
                </a:path>
                <a:path w="47625" h="6350">
                  <a:moveTo>
                    <a:pt x="47548" y="0"/>
                  </a:moveTo>
                  <a:lnTo>
                    <a:pt x="41478" y="0"/>
                  </a:lnTo>
                  <a:lnTo>
                    <a:pt x="41478" y="6070"/>
                  </a:lnTo>
                  <a:lnTo>
                    <a:pt x="47548" y="6070"/>
                  </a:lnTo>
                  <a:lnTo>
                    <a:pt x="475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12" name="object 12"/>
          <p:cNvSpPr/>
          <p:nvPr/>
        </p:nvSpPr>
        <p:spPr>
          <a:xfrm>
            <a:off x="1735089" y="1169778"/>
            <a:ext cx="1111238" cy="181180"/>
          </a:xfrm>
          <a:custGeom>
            <a:avLst/>
            <a:gdLst/>
            <a:ahLst/>
            <a:cxnLst/>
            <a:rect l="l" t="t" r="r" b="b"/>
            <a:pathLst>
              <a:path w="525780" h="85725">
                <a:moveTo>
                  <a:pt x="55054" y="34010"/>
                </a:moveTo>
                <a:lnTo>
                  <a:pt x="52755" y="20815"/>
                </a:lnTo>
                <a:lnTo>
                  <a:pt x="46736" y="10515"/>
                </a:lnTo>
                <a:lnTo>
                  <a:pt x="46736" y="34010"/>
                </a:lnTo>
                <a:lnTo>
                  <a:pt x="44958" y="45186"/>
                </a:lnTo>
                <a:lnTo>
                  <a:pt x="40017" y="53835"/>
                </a:lnTo>
                <a:lnTo>
                  <a:pt x="32537" y="59436"/>
                </a:lnTo>
                <a:lnTo>
                  <a:pt x="23126" y="61417"/>
                </a:lnTo>
                <a:lnTo>
                  <a:pt x="8331" y="61417"/>
                </a:lnTo>
                <a:lnTo>
                  <a:pt x="8331" y="5435"/>
                </a:lnTo>
                <a:lnTo>
                  <a:pt x="23126" y="5435"/>
                </a:lnTo>
                <a:lnTo>
                  <a:pt x="32537" y="7518"/>
                </a:lnTo>
                <a:lnTo>
                  <a:pt x="40017" y="13373"/>
                </a:lnTo>
                <a:lnTo>
                  <a:pt x="44958" y="22402"/>
                </a:lnTo>
                <a:lnTo>
                  <a:pt x="46736" y="34010"/>
                </a:lnTo>
                <a:lnTo>
                  <a:pt x="46736" y="10515"/>
                </a:lnTo>
                <a:lnTo>
                  <a:pt x="46443" y="10007"/>
                </a:lnTo>
                <a:lnTo>
                  <a:pt x="40551" y="5435"/>
                </a:lnTo>
                <a:lnTo>
                  <a:pt x="37020" y="2692"/>
                </a:lnTo>
                <a:lnTo>
                  <a:pt x="25349" y="0"/>
                </a:lnTo>
                <a:lnTo>
                  <a:pt x="0" y="0"/>
                </a:lnTo>
                <a:lnTo>
                  <a:pt x="0" y="66827"/>
                </a:lnTo>
                <a:lnTo>
                  <a:pt x="25463" y="66827"/>
                </a:lnTo>
                <a:lnTo>
                  <a:pt x="37020" y="64262"/>
                </a:lnTo>
                <a:lnTo>
                  <a:pt x="40830" y="61417"/>
                </a:lnTo>
                <a:lnTo>
                  <a:pt x="46431" y="57238"/>
                </a:lnTo>
                <a:lnTo>
                  <a:pt x="52743" y="46799"/>
                </a:lnTo>
                <a:lnTo>
                  <a:pt x="55054" y="34010"/>
                </a:lnTo>
                <a:close/>
              </a:path>
              <a:path w="525780" h="85725">
                <a:moveTo>
                  <a:pt x="102362" y="45529"/>
                </a:moveTo>
                <a:lnTo>
                  <a:pt x="102336" y="40208"/>
                </a:lnTo>
                <a:lnTo>
                  <a:pt x="102273" y="35052"/>
                </a:lnTo>
                <a:lnTo>
                  <a:pt x="97739" y="28194"/>
                </a:lnTo>
                <a:lnTo>
                  <a:pt x="96850" y="26860"/>
                </a:lnTo>
                <a:lnTo>
                  <a:pt x="96850" y="40208"/>
                </a:lnTo>
                <a:lnTo>
                  <a:pt x="72948" y="40208"/>
                </a:lnTo>
                <a:lnTo>
                  <a:pt x="74498" y="32969"/>
                </a:lnTo>
                <a:lnTo>
                  <a:pt x="79629" y="28194"/>
                </a:lnTo>
                <a:lnTo>
                  <a:pt x="90170" y="28194"/>
                </a:lnTo>
                <a:lnTo>
                  <a:pt x="95592" y="31432"/>
                </a:lnTo>
                <a:lnTo>
                  <a:pt x="96850" y="40208"/>
                </a:lnTo>
                <a:lnTo>
                  <a:pt x="96850" y="26860"/>
                </a:lnTo>
                <a:lnTo>
                  <a:pt x="94538" y="23355"/>
                </a:lnTo>
                <a:lnTo>
                  <a:pt x="88633" y="22275"/>
                </a:lnTo>
                <a:lnTo>
                  <a:pt x="85140" y="22275"/>
                </a:lnTo>
                <a:lnTo>
                  <a:pt x="77571" y="24066"/>
                </a:lnTo>
                <a:lnTo>
                  <a:pt x="71386" y="28930"/>
                </a:lnTo>
                <a:lnTo>
                  <a:pt x="67221" y="36106"/>
                </a:lnTo>
                <a:lnTo>
                  <a:pt x="65697" y="44856"/>
                </a:lnTo>
                <a:lnTo>
                  <a:pt x="67322" y="53835"/>
                </a:lnTo>
                <a:lnTo>
                  <a:pt x="71793" y="61125"/>
                </a:lnTo>
                <a:lnTo>
                  <a:pt x="78422" y="66014"/>
                </a:lnTo>
                <a:lnTo>
                  <a:pt x="86588" y="67792"/>
                </a:lnTo>
                <a:lnTo>
                  <a:pt x="92684" y="67792"/>
                </a:lnTo>
                <a:lnTo>
                  <a:pt x="98209" y="65481"/>
                </a:lnTo>
                <a:lnTo>
                  <a:pt x="101981" y="62776"/>
                </a:lnTo>
                <a:lnTo>
                  <a:pt x="101892" y="61899"/>
                </a:lnTo>
                <a:lnTo>
                  <a:pt x="101384" y="56476"/>
                </a:lnTo>
                <a:lnTo>
                  <a:pt x="95300" y="61518"/>
                </a:lnTo>
                <a:lnTo>
                  <a:pt x="88925" y="61899"/>
                </a:lnTo>
                <a:lnTo>
                  <a:pt x="78943" y="61899"/>
                </a:lnTo>
                <a:lnTo>
                  <a:pt x="72758" y="55029"/>
                </a:lnTo>
                <a:lnTo>
                  <a:pt x="72466" y="45529"/>
                </a:lnTo>
                <a:lnTo>
                  <a:pt x="102362" y="45529"/>
                </a:lnTo>
                <a:close/>
              </a:path>
              <a:path w="525780" h="85725">
                <a:moveTo>
                  <a:pt x="149288" y="24218"/>
                </a:moveTo>
                <a:lnTo>
                  <a:pt x="142036" y="24218"/>
                </a:lnTo>
                <a:lnTo>
                  <a:pt x="134378" y="44196"/>
                </a:lnTo>
                <a:lnTo>
                  <a:pt x="129362" y="57238"/>
                </a:lnTo>
                <a:lnTo>
                  <a:pt x="128587" y="61747"/>
                </a:lnTo>
                <a:lnTo>
                  <a:pt x="127901" y="58293"/>
                </a:lnTo>
                <a:lnTo>
                  <a:pt x="125399" y="51663"/>
                </a:lnTo>
                <a:lnTo>
                  <a:pt x="124421" y="49085"/>
                </a:lnTo>
                <a:lnTo>
                  <a:pt x="115049" y="24218"/>
                </a:lnTo>
                <a:lnTo>
                  <a:pt x="107492" y="24218"/>
                </a:lnTo>
                <a:lnTo>
                  <a:pt x="124142" y="66827"/>
                </a:lnTo>
                <a:lnTo>
                  <a:pt x="132638" y="66827"/>
                </a:lnTo>
                <a:lnTo>
                  <a:pt x="149288" y="24218"/>
                </a:lnTo>
                <a:close/>
              </a:path>
              <a:path w="525780" h="85725">
                <a:moveTo>
                  <a:pt x="191770" y="45529"/>
                </a:moveTo>
                <a:lnTo>
                  <a:pt x="191744" y="40208"/>
                </a:lnTo>
                <a:lnTo>
                  <a:pt x="191681" y="35052"/>
                </a:lnTo>
                <a:lnTo>
                  <a:pt x="187147" y="28194"/>
                </a:lnTo>
                <a:lnTo>
                  <a:pt x="186258" y="26860"/>
                </a:lnTo>
                <a:lnTo>
                  <a:pt x="186258" y="40208"/>
                </a:lnTo>
                <a:lnTo>
                  <a:pt x="162369" y="40208"/>
                </a:lnTo>
                <a:lnTo>
                  <a:pt x="163906" y="32969"/>
                </a:lnTo>
                <a:lnTo>
                  <a:pt x="169037" y="28194"/>
                </a:lnTo>
                <a:lnTo>
                  <a:pt x="179590" y="28194"/>
                </a:lnTo>
                <a:lnTo>
                  <a:pt x="185000" y="31432"/>
                </a:lnTo>
                <a:lnTo>
                  <a:pt x="186258" y="40208"/>
                </a:lnTo>
                <a:lnTo>
                  <a:pt x="186258" y="26860"/>
                </a:lnTo>
                <a:lnTo>
                  <a:pt x="183946" y="23355"/>
                </a:lnTo>
                <a:lnTo>
                  <a:pt x="178041" y="22275"/>
                </a:lnTo>
                <a:lnTo>
                  <a:pt x="174548" y="22275"/>
                </a:lnTo>
                <a:lnTo>
                  <a:pt x="166979" y="24066"/>
                </a:lnTo>
                <a:lnTo>
                  <a:pt x="160807" y="28930"/>
                </a:lnTo>
                <a:lnTo>
                  <a:pt x="156629" y="36106"/>
                </a:lnTo>
                <a:lnTo>
                  <a:pt x="155105" y="44856"/>
                </a:lnTo>
                <a:lnTo>
                  <a:pt x="156730" y="53835"/>
                </a:lnTo>
                <a:lnTo>
                  <a:pt x="161201" y="61125"/>
                </a:lnTo>
                <a:lnTo>
                  <a:pt x="167843" y="66014"/>
                </a:lnTo>
                <a:lnTo>
                  <a:pt x="175996" y="67792"/>
                </a:lnTo>
                <a:lnTo>
                  <a:pt x="182105" y="67792"/>
                </a:lnTo>
                <a:lnTo>
                  <a:pt x="187617" y="65481"/>
                </a:lnTo>
                <a:lnTo>
                  <a:pt x="191389" y="62776"/>
                </a:lnTo>
                <a:lnTo>
                  <a:pt x="191312" y="61899"/>
                </a:lnTo>
                <a:lnTo>
                  <a:pt x="190804" y="56476"/>
                </a:lnTo>
                <a:lnTo>
                  <a:pt x="184721" y="61518"/>
                </a:lnTo>
                <a:lnTo>
                  <a:pt x="178333" y="61899"/>
                </a:lnTo>
                <a:lnTo>
                  <a:pt x="168363" y="61899"/>
                </a:lnTo>
                <a:lnTo>
                  <a:pt x="162166" y="55029"/>
                </a:lnTo>
                <a:lnTo>
                  <a:pt x="161886" y="45529"/>
                </a:lnTo>
                <a:lnTo>
                  <a:pt x="191770" y="45529"/>
                </a:lnTo>
                <a:close/>
              </a:path>
              <a:path w="525780" h="85725">
                <a:moveTo>
                  <a:pt x="210642" y="0"/>
                </a:moveTo>
                <a:lnTo>
                  <a:pt x="203377" y="0"/>
                </a:lnTo>
                <a:lnTo>
                  <a:pt x="203377" y="66827"/>
                </a:lnTo>
                <a:lnTo>
                  <a:pt x="210642" y="66827"/>
                </a:lnTo>
                <a:lnTo>
                  <a:pt x="210642" y="0"/>
                </a:lnTo>
                <a:close/>
              </a:path>
              <a:path w="525780" h="85725">
                <a:moveTo>
                  <a:pt x="264591" y="45529"/>
                </a:moveTo>
                <a:lnTo>
                  <a:pt x="262902" y="36449"/>
                </a:lnTo>
                <a:lnTo>
                  <a:pt x="258318" y="29057"/>
                </a:lnTo>
                <a:lnTo>
                  <a:pt x="257149" y="28194"/>
                </a:lnTo>
                <a:lnTo>
                  <a:pt x="257048" y="33210"/>
                </a:lnTo>
                <a:lnTo>
                  <a:pt x="257048" y="55930"/>
                </a:lnTo>
                <a:lnTo>
                  <a:pt x="250469" y="61607"/>
                </a:lnTo>
                <a:lnTo>
                  <a:pt x="236626" y="61607"/>
                </a:lnTo>
                <a:lnTo>
                  <a:pt x="229666" y="56222"/>
                </a:lnTo>
                <a:lnTo>
                  <a:pt x="229666" y="32905"/>
                </a:lnTo>
                <a:lnTo>
                  <a:pt x="237020" y="28194"/>
                </a:lnTo>
                <a:lnTo>
                  <a:pt x="250075" y="28194"/>
                </a:lnTo>
                <a:lnTo>
                  <a:pt x="257048" y="33210"/>
                </a:lnTo>
                <a:lnTo>
                  <a:pt x="257048" y="28130"/>
                </a:lnTo>
                <a:lnTo>
                  <a:pt x="251574" y="24091"/>
                </a:lnTo>
                <a:lnTo>
                  <a:pt x="243408" y="22275"/>
                </a:lnTo>
                <a:lnTo>
                  <a:pt x="235051" y="24142"/>
                </a:lnTo>
                <a:lnTo>
                  <a:pt x="228295" y="29171"/>
                </a:lnTo>
                <a:lnTo>
                  <a:pt x="223761" y="36563"/>
                </a:lnTo>
                <a:lnTo>
                  <a:pt x="222110" y="45529"/>
                </a:lnTo>
                <a:lnTo>
                  <a:pt x="223837" y="54368"/>
                </a:lnTo>
                <a:lnTo>
                  <a:pt x="228460" y="61429"/>
                </a:lnTo>
                <a:lnTo>
                  <a:pt x="235216" y="66103"/>
                </a:lnTo>
                <a:lnTo>
                  <a:pt x="243306" y="67792"/>
                </a:lnTo>
                <a:lnTo>
                  <a:pt x="251536" y="66078"/>
                </a:lnTo>
                <a:lnTo>
                  <a:pt x="257949" y="61607"/>
                </a:lnTo>
                <a:lnTo>
                  <a:pt x="258305" y="61353"/>
                </a:lnTo>
                <a:lnTo>
                  <a:pt x="262902" y="54292"/>
                </a:lnTo>
                <a:lnTo>
                  <a:pt x="264591" y="45529"/>
                </a:lnTo>
                <a:close/>
              </a:path>
              <a:path w="525780" h="85725">
                <a:moveTo>
                  <a:pt x="315036" y="45427"/>
                </a:moveTo>
                <a:lnTo>
                  <a:pt x="313931" y="37147"/>
                </a:lnTo>
                <a:lnTo>
                  <a:pt x="310832" y="30060"/>
                </a:lnTo>
                <a:lnTo>
                  <a:pt x="310235" y="29451"/>
                </a:lnTo>
                <a:lnTo>
                  <a:pt x="309854" y="29057"/>
                </a:lnTo>
                <a:lnTo>
                  <a:pt x="307492" y="26657"/>
                </a:lnTo>
                <a:lnTo>
                  <a:pt x="307492" y="36690"/>
                </a:lnTo>
                <a:lnTo>
                  <a:pt x="307492" y="55245"/>
                </a:lnTo>
                <a:lnTo>
                  <a:pt x="300621" y="61899"/>
                </a:lnTo>
                <a:lnTo>
                  <a:pt x="289598" y="61899"/>
                </a:lnTo>
                <a:lnTo>
                  <a:pt x="286981" y="60007"/>
                </a:lnTo>
                <a:lnTo>
                  <a:pt x="285038" y="57429"/>
                </a:lnTo>
                <a:lnTo>
                  <a:pt x="284073" y="56007"/>
                </a:lnTo>
                <a:lnTo>
                  <a:pt x="284073" y="34963"/>
                </a:lnTo>
                <a:lnTo>
                  <a:pt x="286397" y="31635"/>
                </a:lnTo>
                <a:lnTo>
                  <a:pt x="290169" y="29451"/>
                </a:lnTo>
                <a:lnTo>
                  <a:pt x="301688" y="29451"/>
                </a:lnTo>
                <a:lnTo>
                  <a:pt x="307492" y="36690"/>
                </a:lnTo>
                <a:lnTo>
                  <a:pt x="307492" y="26657"/>
                </a:lnTo>
                <a:lnTo>
                  <a:pt x="305981" y="25107"/>
                </a:lnTo>
                <a:lnTo>
                  <a:pt x="299656" y="23253"/>
                </a:lnTo>
                <a:lnTo>
                  <a:pt x="293852" y="23253"/>
                </a:lnTo>
                <a:lnTo>
                  <a:pt x="288226" y="25298"/>
                </a:lnTo>
                <a:lnTo>
                  <a:pt x="283781" y="29057"/>
                </a:lnTo>
                <a:lnTo>
                  <a:pt x="283781" y="24320"/>
                </a:lnTo>
                <a:lnTo>
                  <a:pt x="276529" y="24320"/>
                </a:lnTo>
                <a:lnTo>
                  <a:pt x="276529" y="85229"/>
                </a:lnTo>
                <a:lnTo>
                  <a:pt x="284073" y="85229"/>
                </a:lnTo>
                <a:lnTo>
                  <a:pt x="284073" y="62293"/>
                </a:lnTo>
                <a:lnTo>
                  <a:pt x="287083" y="65087"/>
                </a:lnTo>
                <a:lnTo>
                  <a:pt x="291338" y="67792"/>
                </a:lnTo>
                <a:lnTo>
                  <a:pt x="297141" y="67792"/>
                </a:lnTo>
                <a:lnTo>
                  <a:pt x="313563" y="54394"/>
                </a:lnTo>
                <a:lnTo>
                  <a:pt x="315036" y="45427"/>
                </a:lnTo>
                <a:close/>
              </a:path>
              <a:path w="525780" h="85725">
                <a:moveTo>
                  <a:pt x="388708" y="31927"/>
                </a:moveTo>
                <a:lnTo>
                  <a:pt x="387172" y="23253"/>
                </a:lnTo>
                <a:lnTo>
                  <a:pt x="369658" y="23253"/>
                </a:lnTo>
                <a:lnTo>
                  <a:pt x="364617" y="25971"/>
                </a:lnTo>
                <a:lnTo>
                  <a:pt x="361048" y="31165"/>
                </a:lnTo>
                <a:lnTo>
                  <a:pt x="358521" y="23837"/>
                </a:lnTo>
                <a:lnTo>
                  <a:pt x="351764" y="23253"/>
                </a:lnTo>
                <a:lnTo>
                  <a:pt x="341693" y="23253"/>
                </a:lnTo>
                <a:lnTo>
                  <a:pt x="337146" y="27228"/>
                </a:lnTo>
                <a:lnTo>
                  <a:pt x="334543" y="30695"/>
                </a:lnTo>
                <a:lnTo>
                  <a:pt x="334543" y="23736"/>
                </a:lnTo>
                <a:lnTo>
                  <a:pt x="327558" y="23736"/>
                </a:lnTo>
                <a:lnTo>
                  <a:pt x="327558" y="66827"/>
                </a:lnTo>
                <a:lnTo>
                  <a:pt x="335114" y="66827"/>
                </a:lnTo>
                <a:lnTo>
                  <a:pt x="335114" y="36918"/>
                </a:lnTo>
                <a:lnTo>
                  <a:pt x="337731" y="29159"/>
                </a:lnTo>
                <a:lnTo>
                  <a:pt x="353885" y="29159"/>
                </a:lnTo>
                <a:lnTo>
                  <a:pt x="354368" y="35369"/>
                </a:lnTo>
                <a:lnTo>
                  <a:pt x="354368" y="66827"/>
                </a:lnTo>
                <a:lnTo>
                  <a:pt x="361911" y="66827"/>
                </a:lnTo>
                <a:lnTo>
                  <a:pt x="361911" y="36918"/>
                </a:lnTo>
                <a:lnTo>
                  <a:pt x="364528" y="29159"/>
                </a:lnTo>
                <a:lnTo>
                  <a:pt x="380682" y="29159"/>
                </a:lnTo>
                <a:lnTo>
                  <a:pt x="381165" y="35369"/>
                </a:lnTo>
                <a:lnTo>
                  <a:pt x="381165" y="66827"/>
                </a:lnTo>
                <a:lnTo>
                  <a:pt x="388708" y="66827"/>
                </a:lnTo>
                <a:lnTo>
                  <a:pt x="388708" y="31927"/>
                </a:lnTo>
                <a:close/>
              </a:path>
              <a:path w="525780" h="85725">
                <a:moveTo>
                  <a:pt x="438378" y="45529"/>
                </a:moveTo>
                <a:lnTo>
                  <a:pt x="438353" y="40208"/>
                </a:lnTo>
                <a:lnTo>
                  <a:pt x="438289" y="35052"/>
                </a:lnTo>
                <a:lnTo>
                  <a:pt x="433755" y="28194"/>
                </a:lnTo>
                <a:lnTo>
                  <a:pt x="432866" y="26860"/>
                </a:lnTo>
                <a:lnTo>
                  <a:pt x="432866" y="40208"/>
                </a:lnTo>
                <a:lnTo>
                  <a:pt x="408978" y="40208"/>
                </a:lnTo>
                <a:lnTo>
                  <a:pt x="410514" y="32969"/>
                </a:lnTo>
                <a:lnTo>
                  <a:pt x="415658" y="28194"/>
                </a:lnTo>
                <a:lnTo>
                  <a:pt x="426199" y="28194"/>
                </a:lnTo>
                <a:lnTo>
                  <a:pt x="431622" y="31432"/>
                </a:lnTo>
                <a:lnTo>
                  <a:pt x="432866" y="40208"/>
                </a:lnTo>
                <a:lnTo>
                  <a:pt x="432866" y="26860"/>
                </a:lnTo>
                <a:lnTo>
                  <a:pt x="430555" y="23355"/>
                </a:lnTo>
                <a:lnTo>
                  <a:pt x="424649" y="22275"/>
                </a:lnTo>
                <a:lnTo>
                  <a:pt x="421157" y="22275"/>
                </a:lnTo>
                <a:lnTo>
                  <a:pt x="413588" y="24066"/>
                </a:lnTo>
                <a:lnTo>
                  <a:pt x="407416" y="28930"/>
                </a:lnTo>
                <a:lnTo>
                  <a:pt x="403237" y="36106"/>
                </a:lnTo>
                <a:lnTo>
                  <a:pt x="401713" y="44856"/>
                </a:lnTo>
                <a:lnTo>
                  <a:pt x="403352" y="53835"/>
                </a:lnTo>
                <a:lnTo>
                  <a:pt x="407809" y="61125"/>
                </a:lnTo>
                <a:lnTo>
                  <a:pt x="414451" y="66014"/>
                </a:lnTo>
                <a:lnTo>
                  <a:pt x="422617" y="67792"/>
                </a:lnTo>
                <a:lnTo>
                  <a:pt x="428713" y="67792"/>
                </a:lnTo>
                <a:lnTo>
                  <a:pt x="434238" y="65481"/>
                </a:lnTo>
                <a:lnTo>
                  <a:pt x="437997" y="62776"/>
                </a:lnTo>
                <a:lnTo>
                  <a:pt x="437921" y="61899"/>
                </a:lnTo>
                <a:lnTo>
                  <a:pt x="437413" y="56476"/>
                </a:lnTo>
                <a:lnTo>
                  <a:pt x="431330" y="61518"/>
                </a:lnTo>
                <a:lnTo>
                  <a:pt x="424942" y="61899"/>
                </a:lnTo>
                <a:lnTo>
                  <a:pt x="414972" y="61899"/>
                </a:lnTo>
                <a:lnTo>
                  <a:pt x="408787" y="55029"/>
                </a:lnTo>
                <a:lnTo>
                  <a:pt x="408495" y="45529"/>
                </a:lnTo>
                <a:lnTo>
                  <a:pt x="438378" y="45529"/>
                </a:lnTo>
                <a:close/>
              </a:path>
              <a:path w="525780" h="85725">
                <a:moveTo>
                  <a:pt x="484251" y="32029"/>
                </a:moveTo>
                <a:lnTo>
                  <a:pt x="482803" y="23253"/>
                </a:lnTo>
                <a:lnTo>
                  <a:pt x="462280" y="23253"/>
                </a:lnTo>
                <a:lnTo>
                  <a:pt x="457542" y="29832"/>
                </a:lnTo>
                <a:lnTo>
                  <a:pt x="456971" y="30594"/>
                </a:lnTo>
                <a:lnTo>
                  <a:pt x="456971" y="23736"/>
                </a:lnTo>
                <a:lnTo>
                  <a:pt x="449986" y="23736"/>
                </a:lnTo>
                <a:lnTo>
                  <a:pt x="449986" y="66827"/>
                </a:lnTo>
                <a:lnTo>
                  <a:pt x="457542" y="66827"/>
                </a:lnTo>
                <a:lnTo>
                  <a:pt x="457542" y="37096"/>
                </a:lnTo>
                <a:lnTo>
                  <a:pt x="459968" y="29159"/>
                </a:lnTo>
                <a:lnTo>
                  <a:pt x="476605" y="29159"/>
                </a:lnTo>
                <a:lnTo>
                  <a:pt x="476707" y="35941"/>
                </a:lnTo>
                <a:lnTo>
                  <a:pt x="476707" y="66827"/>
                </a:lnTo>
                <a:lnTo>
                  <a:pt x="484251" y="66827"/>
                </a:lnTo>
                <a:lnTo>
                  <a:pt x="484251" y="32029"/>
                </a:lnTo>
                <a:close/>
              </a:path>
              <a:path w="525780" h="85725">
                <a:moveTo>
                  <a:pt x="525411" y="64135"/>
                </a:moveTo>
                <a:lnTo>
                  <a:pt x="523875" y="58458"/>
                </a:lnTo>
                <a:lnTo>
                  <a:pt x="521360" y="60477"/>
                </a:lnTo>
                <a:lnTo>
                  <a:pt x="518261" y="61607"/>
                </a:lnTo>
                <a:lnTo>
                  <a:pt x="511581" y="61607"/>
                </a:lnTo>
                <a:lnTo>
                  <a:pt x="510222" y="58750"/>
                </a:lnTo>
                <a:lnTo>
                  <a:pt x="510222" y="29832"/>
                </a:lnTo>
                <a:lnTo>
                  <a:pt x="523875" y="29832"/>
                </a:lnTo>
                <a:lnTo>
                  <a:pt x="523875" y="24218"/>
                </a:lnTo>
                <a:lnTo>
                  <a:pt x="510222" y="24218"/>
                </a:lnTo>
                <a:lnTo>
                  <a:pt x="510222" y="11633"/>
                </a:lnTo>
                <a:lnTo>
                  <a:pt x="503555" y="11633"/>
                </a:lnTo>
                <a:lnTo>
                  <a:pt x="503555" y="24218"/>
                </a:lnTo>
                <a:lnTo>
                  <a:pt x="495134" y="24218"/>
                </a:lnTo>
                <a:lnTo>
                  <a:pt x="495134" y="29832"/>
                </a:lnTo>
                <a:lnTo>
                  <a:pt x="503262" y="29832"/>
                </a:lnTo>
                <a:lnTo>
                  <a:pt x="503262" y="61036"/>
                </a:lnTo>
                <a:lnTo>
                  <a:pt x="504621" y="67792"/>
                </a:lnTo>
                <a:lnTo>
                  <a:pt x="518058" y="67792"/>
                </a:lnTo>
                <a:lnTo>
                  <a:pt x="522986" y="65392"/>
                </a:lnTo>
                <a:lnTo>
                  <a:pt x="525411" y="64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3804"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2435" y="1165687"/>
            <a:ext cx="233810" cy="147368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5027466" y="1182137"/>
            <a:ext cx="3733651" cy="2340578"/>
            <a:chOff x="2377325" y="559326"/>
            <a:chExt cx="1766570" cy="110744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8511" y="559326"/>
              <a:ext cx="726389" cy="868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3963" y="568063"/>
              <a:ext cx="301543" cy="7747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77325" y="684059"/>
              <a:ext cx="1766508" cy="982694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60494" y="1168515"/>
            <a:ext cx="480452" cy="15146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64650" y="5272961"/>
            <a:ext cx="1487321" cy="243951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027466" y="5747968"/>
            <a:ext cx="3733651" cy="519383"/>
            <a:chOff x="2377325" y="2719640"/>
            <a:chExt cx="1766570" cy="245745"/>
          </a:xfrm>
        </p:grpSpPr>
        <p:sp>
          <p:nvSpPr>
            <p:cNvPr id="21" name="object 21"/>
            <p:cNvSpPr/>
            <p:nvPr/>
          </p:nvSpPr>
          <p:spPr>
            <a:xfrm>
              <a:off x="2383174" y="2725489"/>
              <a:ext cx="1755139" cy="234315"/>
            </a:xfrm>
            <a:custGeom>
              <a:avLst/>
              <a:gdLst/>
              <a:ahLst/>
              <a:cxnLst/>
              <a:rect l="l" t="t" r="r" b="b"/>
              <a:pathLst>
                <a:path w="1755139" h="234314">
                  <a:moveTo>
                    <a:pt x="1754809" y="0"/>
                  </a:moveTo>
                  <a:lnTo>
                    <a:pt x="0" y="0"/>
                  </a:lnTo>
                  <a:lnTo>
                    <a:pt x="0" y="233975"/>
                  </a:lnTo>
                  <a:lnTo>
                    <a:pt x="1754809" y="233975"/>
                  </a:lnTo>
                  <a:lnTo>
                    <a:pt x="1754809" y="0"/>
                  </a:lnTo>
                  <a:close/>
                </a:path>
              </a:pathLst>
            </a:custGeom>
            <a:solidFill>
              <a:srgbClr val="FFABAB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/>
            <p:cNvSpPr/>
            <p:nvPr/>
          </p:nvSpPr>
          <p:spPr>
            <a:xfrm>
              <a:off x="2383174" y="2725489"/>
              <a:ext cx="1755139" cy="234315"/>
            </a:xfrm>
            <a:custGeom>
              <a:avLst/>
              <a:gdLst/>
              <a:ahLst/>
              <a:cxnLst/>
              <a:rect l="l" t="t" r="r" b="b"/>
              <a:pathLst>
                <a:path w="1755139" h="234314">
                  <a:moveTo>
                    <a:pt x="0" y="233975"/>
                  </a:moveTo>
                  <a:lnTo>
                    <a:pt x="1754809" y="233975"/>
                  </a:lnTo>
                  <a:lnTo>
                    <a:pt x="1754809" y="0"/>
                  </a:lnTo>
                  <a:lnTo>
                    <a:pt x="0" y="0"/>
                  </a:lnTo>
                  <a:lnTo>
                    <a:pt x="0" y="233975"/>
                  </a:lnTo>
                  <a:close/>
                </a:path>
              </a:pathLst>
            </a:custGeom>
            <a:ln w="11698">
              <a:solidFill>
                <a:srgbClr val="CC1F1A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/>
            <p:cNvSpPr/>
            <p:nvPr/>
          </p:nvSpPr>
          <p:spPr>
            <a:xfrm>
              <a:off x="3120771" y="2823705"/>
              <a:ext cx="283210" cy="51435"/>
            </a:xfrm>
            <a:custGeom>
              <a:avLst/>
              <a:gdLst/>
              <a:ahLst/>
              <a:cxnLst/>
              <a:rect l="l" t="t" r="r" b="b"/>
              <a:pathLst>
                <a:path w="283210" h="51435">
                  <a:moveTo>
                    <a:pt x="37947" y="0"/>
                  </a:moveTo>
                  <a:lnTo>
                    <a:pt x="31445" y="0"/>
                  </a:lnTo>
                  <a:lnTo>
                    <a:pt x="31445" y="21704"/>
                  </a:lnTo>
                  <a:lnTo>
                    <a:pt x="6502" y="21704"/>
                  </a:lnTo>
                  <a:lnTo>
                    <a:pt x="6502" y="0"/>
                  </a:lnTo>
                  <a:lnTo>
                    <a:pt x="0" y="0"/>
                  </a:lnTo>
                  <a:lnTo>
                    <a:pt x="0" y="50368"/>
                  </a:lnTo>
                  <a:lnTo>
                    <a:pt x="6502" y="50368"/>
                  </a:lnTo>
                  <a:lnTo>
                    <a:pt x="6502" y="26149"/>
                  </a:lnTo>
                  <a:lnTo>
                    <a:pt x="31445" y="26149"/>
                  </a:lnTo>
                  <a:lnTo>
                    <a:pt x="31445" y="50368"/>
                  </a:lnTo>
                  <a:lnTo>
                    <a:pt x="37947" y="50368"/>
                  </a:lnTo>
                  <a:lnTo>
                    <a:pt x="37947" y="0"/>
                  </a:lnTo>
                  <a:close/>
                </a:path>
                <a:path w="283210" h="51435">
                  <a:moveTo>
                    <a:pt x="75920" y="21590"/>
                  </a:moveTo>
                  <a:lnTo>
                    <a:pt x="75095" y="20802"/>
                  </a:lnTo>
                  <a:lnTo>
                    <a:pt x="70573" y="16471"/>
                  </a:lnTo>
                  <a:lnTo>
                    <a:pt x="59105" y="16471"/>
                  </a:lnTo>
                  <a:lnTo>
                    <a:pt x="55803" y="17653"/>
                  </a:lnTo>
                  <a:lnTo>
                    <a:pt x="52374" y="19621"/>
                  </a:lnTo>
                  <a:lnTo>
                    <a:pt x="52806" y="24396"/>
                  </a:lnTo>
                  <a:lnTo>
                    <a:pt x="56603" y="21729"/>
                  </a:lnTo>
                  <a:lnTo>
                    <a:pt x="60274" y="20802"/>
                  </a:lnTo>
                  <a:lnTo>
                    <a:pt x="67297" y="20802"/>
                  </a:lnTo>
                  <a:lnTo>
                    <a:pt x="70218" y="23672"/>
                  </a:lnTo>
                  <a:lnTo>
                    <a:pt x="70218" y="32118"/>
                  </a:lnTo>
                  <a:lnTo>
                    <a:pt x="70218" y="35852"/>
                  </a:lnTo>
                  <a:lnTo>
                    <a:pt x="70218" y="43967"/>
                  </a:lnTo>
                  <a:lnTo>
                    <a:pt x="67729" y="45415"/>
                  </a:lnTo>
                  <a:lnTo>
                    <a:pt x="65608" y="46812"/>
                  </a:lnTo>
                  <a:lnTo>
                    <a:pt x="62826" y="46888"/>
                  </a:lnTo>
                  <a:lnTo>
                    <a:pt x="58508" y="46888"/>
                  </a:lnTo>
                  <a:lnTo>
                    <a:pt x="55219" y="45110"/>
                  </a:lnTo>
                  <a:lnTo>
                    <a:pt x="55219" y="36537"/>
                  </a:lnTo>
                  <a:lnTo>
                    <a:pt x="70218" y="35852"/>
                  </a:lnTo>
                  <a:lnTo>
                    <a:pt x="70218" y="32118"/>
                  </a:lnTo>
                  <a:lnTo>
                    <a:pt x="59245" y="32270"/>
                  </a:lnTo>
                  <a:lnTo>
                    <a:pt x="49949" y="35344"/>
                  </a:lnTo>
                  <a:lnTo>
                    <a:pt x="49974" y="45415"/>
                  </a:lnTo>
                  <a:lnTo>
                    <a:pt x="51930" y="51333"/>
                  </a:lnTo>
                  <a:lnTo>
                    <a:pt x="59309" y="51333"/>
                  </a:lnTo>
                  <a:lnTo>
                    <a:pt x="66192" y="51193"/>
                  </a:lnTo>
                  <a:lnTo>
                    <a:pt x="70446" y="47904"/>
                  </a:lnTo>
                  <a:lnTo>
                    <a:pt x="70446" y="50533"/>
                  </a:lnTo>
                  <a:lnTo>
                    <a:pt x="75920" y="50533"/>
                  </a:lnTo>
                  <a:lnTo>
                    <a:pt x="75920" y="47904"/>
                  </a:lnTo>
                  <a:lnTo>
                    <a:pt x="75920" y="46888"/>
                  </a:lnTo>
                  <a:lnTo>
                    <a:pt x="75920" y="35852"/>
                  </a:lnTo>
                  <a:lnTo>
                    <a:pt x="75920" y="21590"/>
                  </a:lnTo>
                  <a:close/>
                </a:path>
                <a:path w="283210" h="51435">
                  <a:moveTo>
                    <a:pt x="103822" y="16471"/>
                  </a:moveTo>
                  <a:lnTo>
                    <a:pt x="97307" y="16560"/>
                  </a:lnTo>
                  <a:lnTo>
                    <a:pt x="93294" y="20205"/>
                  </a:lnTo>
                  <a:lnTo>
                    <a:pt x="91020" y="23622"/>
                  </a:lnTo>
                  <a:lnTo>
                    <a:pt x="91020" y="16852"/>
                  </a:lnTo>
                  <a:lnTo>
                    <a:pt x="85902" y="16852"/>
                  </a:lnTo>
                  <a:lnTo>
                    <a:pt x="85902" y="50368"/>
                  </a:lnTo>
                  <a:lnTo>
                    <a:pt x="91376" y="50368"/>
                  </a:lnTo>
                  <a:lnTo>
                    <a:pt x="91376" y="26987"/>
                  </a:lnTo>
                  <a:lnTo>
                    <a:pt x="96647" y="21615"/>
                  </a:lnTo>
                  <a:lnTo>
                    <a:pt x="103822" y="21463"/>
                  </a:lnTo>
                  <a:lnTo>
                    <a:pt x="103822" y="16471"/>
                  </a:lnTo>
                  <a:close/>
                </a:path>
                <a:path w="283210" h="51435">
                  <a:moveTo>
                    <a:pt x="137350" y="0"/>
                  </a:moveTo>
                  <a:lnTo>
                    <a:pt x="131876" y="0"/>
                  </a:lnTo>
                  <a:lnTo>
                    <a:pt x="131876" y="20739"/>
                  </a:lnTo>
                  <a:lnTo>
                    <a:pt x="131648" y="20535"/>
                  </a:lnTo>
                  <a:lnTo>
                    <a:pt x="131648" y="25184"/>
                  </a:lnTo>
                  <a:lnTo>
                    <a:pt x="131572" y="42430"/>
                  </a:lnTo>
                  <a:lnTo>
                    <a:pt x="129247" y="44551"/>
                  </a:lnTo>
                  <a:lnTo>
                    <a:pt x="127558" y="46215"/>
                  </a:lnTo>
                  <a:lnTo>
                    <a:pt x="125730" y="46888"/>
                  </a:lnTo>
                  <a:lnTo>
                    <a:pt x="119291" y="46888"/>
                  </a:lnTo>
                  <a:lnTo>
                    <a:pt x="113944" y="43180"/>
                  </a:lnTo>
                  <a:lnTo>
                    <a:pt x="113944" y="24015"/>
                  </a:lnTo>
                  <a:lnTo>
                    <a:pt x="120243" y="20929"/>
                  </a:lnTo>
                  <a:lnTo>
                    <a:pt x="124561" y="20929"/>
                  </a:lnTo>
                  <a:lnTo>
                    <a:pt x="127850" y="21170"/>
                  </a:lnTo>
                  <a:lnTo>
                    <a:pt x="130048" y="22860"/>
                  </a:lnTo>
                  <a:lnTo>
                    <a:pt x="131648" y="25184"/>
                  </a:lnTo>
                  <a:lnTo>
                    <a:pt x="131648" y="20535"/>
                  </a:lnTo>
                  <a:lnTo>
                    <a:pt x="127990" y="17284"/>
                  </a:lnTo>
                  <a:lnTo>
                    <a:pt x="123901" y="16471"/>
                  </a:lnTo>
                  <a:lnTo>
                    <a:pt x="113944" y="16471"/>
                  </a:lnTo>
                  <a:lnTo>
                    <a:pt x="108356" y="24015"/>
                  </a:lnTo>
                  <a:lnTo>
                    <a:pt x="108242" y="43611"/>
                  </a:lnTo>
                  <a:lnTo>
                    <a:pt x="113893" y="51333"/>
                  </a:lnTo>
                  <a:lnTo>
                    <a:pt x="123240" y="51333"/>
                  </a:lnTo>
                  <a:lnTo>
                    <a:pt x="127558" y="50685"/>
                  </a:lnTo>
                  <a:lnTo>
                    <a:pt x="131483" y="46888"/>
                  </a:lnTo>
                  <a:lnTo>
                    <a:pt x="131648" y="46723"/>
                  </a:lnTo>
                  <a:lnTo>
                    <a:pt x="131648" y="50533"/>
                  </a:lnTo>
                  <a:lnTo>
                    <a:pt x="137350" y="49987"/>
                  </a:lnTo>
                  <a:lnTo>
                    <a:pt x="137350" y="46723"/>
                  </a:lnTo>
                  <a:lnTo>
                    <a:pt x="137350" y="20929"/>
                  </a:lnTo>
                  <a:lnTo>
                    <a:pt x="137350" y="20739"/>
                  </a:lnTo>
                  <a:lnTo>
                    <a:pt x="137350" y="0"/>
                  </a:lnTo>
                  <a:close/>
                </a:path>
                <a:path w="283210" h="51435">
                  <a:moveTo>
                    <a:pt x="193040" y="17437"/>
                  </a:moveTo>
                  <a:lnTo>
                    <a:pt x="187706" y="17437"/>
                  </a:lnTo>
                  <a:lnTo>
                    <a:pt x="183019" y="33159"/>
                  </a:lnTo>
                  <a:lnTo>
                    <a:pt x="180035" y="43180"/>
                  </a:lnTo>
                  <a:lnTo>
                    <a:pt x="179666" y="46367"/>
                  </a:lnTo>
                  <a:lnTo>
                    <a:pt x="179285" y="44069"/>
                  </a:lnTo>
                  <a:lnTo>
                    <a:pt x="177469" y="37477"/>
                  </a:lnTo>
                  <a:lnTo>
                    <a:pt x="176212" y="33235"/>
                  </a:lnTo>
                  <a:lnTo>
                    <a:pt x="171462" y="17437"/>
                  </a:lnTo>
                  <a:lnTo>
                    <a:pt x="166344" y="17437"/>
                  </a:lnTo>
                  <a:lnTo>
                    <a:pt x="162166" y="31394"/>
                  </a:lnTo>
                  <a:lnTo>
                    <a:pt x="161366" y="33972"/>
                  </a:lnTo>
                  <a:lnTo>
                    <a:pt x="158889" y="42506"/>
                  </a:lnTo>
                  <a:lnTo>
                    <a:pt x="158597" y="46291"/>
                  </a:lnTo>
                  <a:lnTo>
                    <a:pt x="158165" y="42735"/>
                  </a:lnTo>
                  <a:lnTo>
                    <a:pt x="155740" y="34353"/>
                  </a:lnTo>
                  <a:lnTo>
                    <a:pt x="154571" y="30264"/>
                  </a:lnTo>
                  <a:lnTo>
                    <a:pt x="150761" y="17437"/>
                  </a:lnTo>
                  <a:lnTo>
                    <a:pt x="145211" y="17437"/>
                  </a:lnTo>
                  <a:lnTo>
                    <a:pt x="155219" y="50368"/>
                  </a:lnTo>
                  <a:lnTo>
                    <a:pt x="161010" y="50368"/>
                  </a:lnTo>
                  <a:lnTo>
                    <a:pt x="165544" y="35102"/>
                  </a:lnTo>
                  <a:lnTo>
                    <a:pt x="166560" y="31673"/>
                  </a:lnTo>
                  <a:lnTo>
                    <a:pt x="168617" y="24333"/>
                  </a:lnTo>
                  <a:lnTo>
                    <a:pt x="168833" y="21602"/>
                  </a:lnTo>
                  <a:lnTo>
                    <a:pt x="169049" y="23672"/>
                  </a:lnTo>
                  <a:lnTo>
                    <a:pt x="170294" y="28790"/>
                  </a:lnTo>
                  <a:lnTo>
                    <a:pt x="171246" y="31978"/>
                  </a:lnTo>
                  <a:lnTo>
                    <a:pt x="176593" y="50368"/>
                  </a:lnTo>
                  <a:lnTo>
                    <a:pt x="183019" y="50368"/>
                  </a:lnTo>
                  <a:lnTo>
                    <a:pt x="193040" y="17437"/>
                  </a:lnTo>
                  <a:close/>
                </a:path>
                <a:path w="283210" h="51435">
                  <a:moveTo>
                    <a:pt x="223189" y="21590"/>
                  </a:moveTo>
                  <a:lnTo>
                    <a:pt x="222364" y="20802"/>
                  </a:lnTo>
                  <a:lnTo>
                    <a:pt x="217843" y="16471"/>
                  </a:lnTo>
                  <a:lnTo>
                    <a:pt x="206375" y="16471"/>
                  </a:lnTo>
                  <a:lnTo>
                    <a:pt x="203073" y="17653"/>
                  </a:lnTo>
                  <a:lnTo>
                    <a:pt x="199631" y="19621"/>
                  </a:lnTo>
                  <a:lnTo>
                    <a:pt x="200075" y="24396"/>
                  </a:lnTo>
                  <a:lnTo>
                    <a:pt x="203873" y="21729"/>
                  </a:lnTo>
                  <a:lnTo>
                    <a:pt x="207530" y="20802"/>
                  </a:lnTo>
                  <a:lnTo>
                    <a:pt x="214553" y="20802"/>
                  </a:lnTo>
                  <a:lnTo>
                    <a:pt x="217474" y="23672"/>
                  </a:lnTo>
                  <a:lnTo>
                    <a:pt x="217474" y="32118"/>
                  </a:lnTo>
                  <a:lnTo>
                    <a:pt x="217474" y="35852"/>
                  </a:lnTo>
                  <a:lnTo>
                    <a:pt x="217474" y="43967"/>
                  </a:lnTo>
                  <a:lnTo>
                    <a:pt x="214998" y="45415"/>
                  </a:lnTo>
                  <a:lnTo>
                    <a:pt x="212877" y="46812"/>
                  </a:lnTo>
                  <a:lnTo>
                    <a:pt x="210096" y="46888"/>
                  </a:lnTo>
                  <a:lnTo>
                    <a:pt x="205778" y="46888"/>
                  </a:lnTo>
                  <a:lnTo>
                    <a:pt x="202488" y="45110"/>
                  </a:lnTo>
                  <a:lnTo>
                    <a:pt x="202488" y="36537"/>
                  </a:lnTo>
                  <a:lnTo>
                    <a:pt x="217474" y="35852"/>
                  </a:lnTo>
                  <a:lnTo>
                    <a:pt x="217474" y="32118"/>
                  </a:lnTo>
                  <a:lnTo>
                    <a:pt x="206514" y="32270"/>
                  </a:lnTo>
                  <a:lnTo>
                    <a:pt x="197218" y="35344"/>
                  </a:lnTo>
                  <a:lnTo>
                    <a:pt x="197243" y="45415"/>
                  </a:lnTo>
                  <a:lnTo>
                    <a:pt x="199199" y="51333"/>
                  </a:lnTo>
                  <a:lnTo>
                    <a:pt x="206578" y="51333"/>
                  </a:lnTo>
                  <a:lnTo>
                    <a:pt x="213448" y="51193"/>
                  </a:lnTo>
                  <a:lnTo>
                    <a:pt x="217703" y="47904"/>
                  </a:lnTo>
                  <a:lnTo>
                    <a:pt x="217703" y="50533"/>
                  </a:lnTo>
                  <a:lnTo>
                    <a:pt x="223189" y="50533"/>
                  </a:lnTo>
                  <a:lnTo>
                    <a:pt x="223189" y="47904"/>
                  </a:lnTo>
                  <a:lnTo>
                    <a:pt x="223189" y="46888"/>
                  </a:lnTo>
                  <a:lnTo>
                    <a:pt x="223189" y="35852"/>
                  </a:lnTo>
                  <a:lnTo>
                    <a:pt x="223189" y="21590"/>
                  </a:lnTo>
                  <a:close/>
                </a:path>
                <a:path w="283210" h="51435">
                  <a:moveTo>
                    <a:pt x="251091" y="16471"/>
                  </a:moveTo>
                  <a:lnTo>
                    <a:pt x="244576" y="16560"/>
                  </a:lnTo>
                  <a:lnTo>
                    <a:pt x="240550" y="20205"/>
                  </a:lnTo>
                  <a:lnTo>
                    <a:pt x="238277" y="23622"/>
                  </a:lnTo>
                  <a:lnTo>
                    <a:pt x="238277" y="16852"/>
                  </a:lnTo>
                  <a:lnTo>
                    <a:pt x="233172" y="16852"/>
                  </a:lnTo>
                  <a:lnTo>
                    <a:pt x="233172" y="50368"/>
                  </a:lnTo>
                  <a:lnTo>
                    <a:pt x="238645" y="50368"/>
                  </a:lnTo>
                  <a:lnTo>
                    <a:pt x="238645" y="26987"/>
                  </a:lnTo>
                  <a:lnTo>
                    <a:pt x="243916" y="21615"/>
                  </a:lnTo>
                  <a:lnTo>
                    <a:pt x="251091" y="21463"/>
                  </a:lnTo>
                  <a:lnTo>
                    <a:pt x="251091" y="16471"/>
                  </a:lnTo>
                  <a:close/>
                </a:path>
                <a:path w="283210" h="51435">
                  <a:moveTo>
                    <a:pt x="283159" y="34048"/>
                  </a:moveTo>
                  <a:lnTo>
                    <a:pt x="283133" y="30022"/>
                  </a:lnTo>
                  <a:lnTo>
                    <a:pt x="283095" y="26136"/>
                  </a:lnTo>
                  <a:lnTo>
                    <a:pt x="279654" y="20929"/>
                  </a:lnTo>
                  <a:lnTo>
                    <a:pt x="278993" y="19939"/>
                  </a:lnTo>
                  <a:lnTo>
                    <a:pt x="278993" y="30022"/>
                  </a:lnTo>
                  <a:lnTo>
                    <a:pt x="260921" y="30022"/>
                  </a:lnTo>
                  <a:lnTo>
                    <a:pt x="262089" y="24549"/>
                  </a:lnTo>
                  <a:lnTo>
                    <a:pt x="265976" y="20929"/>
                  </a:lnTo>
                  <a:lnTo>
                    <a:pt x="273939" y="20929"/>
                  </a:lnTo>
                  <a:lnTo>
                    <a:pt x="278041" y="23393"/>
                  </a:lnTo>
                  <a:lnTo>
                    <a:pt x="278993" y="30022"/>
                  </a:lnTo>
                  <a:lnTo>
                    <a:pt x="278993" y="19939"/>
                  </a:lnTo>
                  <a:lnTo>
                    <a:pt x="277241" y="17284"/>
                  </a:lnTo>
                  <a:lnTo>
                    <a:pt x="272770" y="16471"/>
                  </a:lnTo>
                  <a:lnTo>
                    <a:pt x="262026" y="16471"/>
                  </a:lnTo>
                  <a:lnTo>
                    <a:pt x="255447" y="24180"/>
                  </a:lnTo>
                  <a:lnTo>
                    <a:pt x="255447" y="43535"/>
                  </a:lnTo>
                  <a:lnTo>
                    <a:pt x="262470" y="51333"/>
                  </a:lnTo>
                  <a:lnTo>
                    <a:pt x="275844" y="51333"/>
                  </a:lnTo>
                  <a:lnTo>
                    <a:pt x="280022" y="49593"/>
                  </a:lnTo>
                  <a:lnTo>
                    <a:pt x="282867" y="47536"/>
                  </a:lnTo>
                  <a:lnTo>
                    <a:pt x="282803" y="46888"/>
                  </a:lnTo>
                  <a:lnTo>
                    <a:pt x="282422" y="42633"/>
                  </a:lnTo>
                  <a:lnTo>
                    <a:pt x="277825" y="46583"/>
                  </a:lnTo>
                  <a:lnTo>
                    <a:pt x="272999" y="46888"/>
                  </a:lnTo>
                  <a:lnTo>
                    <a:pt x="265468" y="46888"/>
                  </a:lnTo>
                  <a:lnTo>
                    <a:pt x="260769" y="41490"/>
                  </a:lnTo>
                  <a:lnTo>
                    <a:pt x="260565" y="34048"/>
                  </a:lnTo>
                  <a:lnTo>
                    <a:pt x="283159" y="34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027466" y="3621590"/>
            <a:ext cx="3733651" cy="2003717"/>
            <a:chOff x="2377325" y="1713548"/>
            <a:chExt cx="1766570" cy="948055"/>
          </a:xfrm>
        </p:grpSpPr>
        <p:sp>
          <p:nvSpPr>
            <p:cNvPr id="25" name="object 25"/>
            <p:cNvSpPr/>
            <p:nvPr/>
          </p:nvSpPr>
          <p:spPr>
            <a:xfrm>
              <a:off x="2383174" y="2421322"/>
              <a:ext cx="1755139" cy="234315"/>
            </a:xfrm>
            <a:custGeom>
              <a:avLst/>
              <a:gdLst/>
              <a:ahLst/>
              <a:cxnLst/>
              <a:rect l="l" t="t" r="r" b="b"/>
              <a:pathLst>
                <a:path w="1755139" h="234314">
                  <a:moveTo>
                    <a:pt x="1754809" y="0"/>
                  </a:moveTo>
                  <a:lnTo>
                    <a:pt x="0" y="0"/>
                  </a:lnTo>
                  <a:lnTo>
                    <a:pt x="0" y="233975"/>
                  </a:lnTo>
                  <a:lnTo>
                    <a:pt x="1754809" y="233975"/>
                  </a:lnTo>
                  <a:lnTo>
                    <a:pt x="1754809" y="0"/>
                  </a:lnTo>
                  <a:close/>
                </a:path>
              </a:pathLst>
            </a:custGeom>
            <a:solidFill>
              <a:srgbClr val="FFF8A7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/>
            <p:cNvSpPr/>
            <p:nvPr/>
          </p:nvSpPr>
          <p:spPr>
            <a:xfrm>
              <a:off x="2383174" y="2421322"/>
              <a:ext cx="1755139" cy="234315"/>
            </a:xfrm>
            <a:custGeom>
              <a:avLst/>
              <a:gdLst/>
              <a:ahLst/>
              <a:cxnLst/>
              <a:rect l="l" t="t" r="r" b="b"/>
              <a:pathLst>
                <a:path w="1755139" h="234314">
                  <a:moveTo>
                    <a:pt x="0" y="233975"/>
                  </a:moveTo>
                  <a:lnTo>
                    <a:pt x="1754809" y="233975"/>
                  </a:lnTo>
                  <a:lnTo>
                    <a:pt x="1754809" y="0"/>
                  </a:lnTo>
                  <a:lnTo>
                    <a:pt x="0" y="0"/>
                  </a:lnTo>
                  <a:lnTo>
                    <a:pt x="0" y="233975"/>
                  </a:lnTo>
                  <a:close/>
                </a:path>
              </a:pathLst>
            </a:custGeom>
            <a:ln w="11698">
              <a:solidFill>
                <a:srgbClr val="D9CB2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/>
            <p:cNvSpPr/>
            <p:nvPr/>
          </p:nvSpPr>
          <p:spPr>
            <a:xfrm>
              <a:off x="3096272" y="2519540"/>
              <a:ext cx="334010" cy="51435"/>
            </a:xfrm>
            <a:custGeom>
              <a:avLst/>
              <a:gdLst/>
              <a:ahLst/>
              <a:cxnLst/>
              <a:rect l="l" t="t" r="r" b="b"/>
              <a:pathLst>
                <a:path w="334010" h="51435">
                  <a:moveTo>
                    <a:pt x="37528" y="30403"/>
                  </a:moveTo>
                  <a:lnTo>
                    <a:pt x="32258" y="26149"/>
                  </a:lnTo>
                  <a:lnTo>
                    <a:pt x="31597" y="25628"/>
                  </a:lnTo>
                  <a:lnTo>
                    <a:pt x="31597" y="30695"/>
                  </a:lnTo>
                  <a:lnTo>
                    <a:pt x="31597" y="42011"/>
                  </a:lnTo>
                  <a:lnTo>
                    <a:pt x="25158" y="46278"/>
                  </a:lnTo>
                  <a:lnTo>
                    <a:pt x="6057" y="46278"/>
                  </a:lnTo>
                  <a:lnTo>
                    <a:pt x="6057" y="26149"/>
                  </a:lnTo>
                  <a:lnTo>
                    <a:pt x="16675" y="26149"/>
                  </a:lnTo>
                  <a:lnTo>
                    <a:pt x="24434" y="26238"/>
                  </a:lnTo>
                  <a:lnTo>
                    <a:pt x="31597" y="30695"/>
                  </a:lnTo>
                  <a:lnTo>
                    <a:pt x="31597" y="25628"/>
                  </a:lnTo>
                  <a:lnTo>
                    <a:pt x="31153" y="25260"/>
                  </a:lnTo>
                  <a:lnTo>
                    <a:pt x="23406" y="24028"/>
                  </a:lnTo>
                  <a:lnTo>
                    <a:pt x="30060" y="22364"/>
                  </a:lnTo>
                  <a:lnTo>
                    <a:pt x="30937" y="21704"/>
                  </a:lnTo>
                  <a:lnTo>
                    <a:pt x="35547" y="18161"/>
                  </a:lnTo>
                  <a:lnTo>
                    <a:pt x="35547" y="5994"/>
                  </a:lnTo>
                  <a:lnTo>
                    <a:pt x="32461" y="3632"/>
                  </a:lnTo>
                  <a:lnTo>
                    <a:pt x="29845" y="1638"/>
                  </a:lnTo>
                  <a:lnTo>
                    <a:pt x="29845" y="7505"/>
                  </a:lnTo>
                  <a:lnTo>
                    <a:pt x="29845" y="16865"/>
                  </a:lnTo>
                  <a:lnTo>
                    <a:pt x="24650" y="21704"/>
                  </a:lnTo>
                  <a:lnTo>
                    <a:pt x="6057" y="21704"/>
                  </a:lnTo>
                  <a:lnTo>
                    <a:pt x="6057" y="4102"/>
                  </a:lnTo>
                  <a:lnTo>
                    <a:pt x="15278" y="4102"/>
                  </a:lnTo>
                  <a:lnTo>
                    <a:pt x="23406" y="3632"/>
                  </a:lnTo>
                  <a:lnTo>
                    <a:pt x="29845" y="7505"/>
                  </a:lnTo>
                  <a:lnTo>
                    <a:pt x="29845" y="1638"/>
                  </a:lnTo>
                  <a:lnTo>
                    <a:pt x="27711" y="0"/>
                  </a:lnTo>
                  <a:lnTo>
                    <a:pt x="0" y="0"/>
                  </a:lnTo>
                  <a:lnTo>
                    <a:pt x="0" y="50368"/>
                  </a:lnTo>
                  <a:lnTo>
                    <a:pt x="19304" y="50368"/>
                  </a:lnTo>
                  <a:lnTo>
                    <a:pt x="29845" y="50292"/>
                  </a:lnTo>
                  <a:lnTo>
                    <a:pt x="34518" y="46278"/>
                  </a:lnTo>
                  <a:lnTo>
                    <a:pt x="37528" y="43700"/>
                  </a:lnTo>
                  <a:lnTo>
                    <a:pt x="37528" y="30403"/>
                  </a:lnTo>
                  <a:close/>
                </a:path>
                <a:path w="334010" h="51435">
                  <a:moveTo>
                    <a:pt x="77165" y="24345"/>
                  </a:moveTo>
                  <a:lnTo>
                    <a:pt x="73990" y="20929"/>
                  </a:lnTo>
                  <a:lnTo>
                    <a:pt x="71462" y="18211"/>
                  </a:lnTo>
                  <a:lnTo>
                    <a:pt x="71462" y="24790"/>
                  </a:lnTo>
                  <a:lnTo>
                    <a:pt x="71462" y="42278"/>
                  </a:lnTo>
                  <a:lnTo>
                    <a:pt x="66497" y="46659"/>
                  </a:lnTo>
                  <a:lnTo>
                    <a:pt x="56032" y="46659"/>
                  </a:lnTo>
                  <a:lnTo>
                    <a:pt x="50761" y="42506"/>
                  </a:lnTo>
                  <a:lnTo>
                    <a:pt x="50761" y="24561"/>
                  </a:lnTo>
                  <a:lnTo>
                    <a:pt x="56337" y="20929"/>
                  </a:lnTo>
                  <a:lnTo>
                    <a:pt x="66205" y="20929"/>
                  </a:lnTo>
                  <a:lnTo>
                    <a:pt x="71462" y="24790"/>
                  </a:lnTo>
                  <a:lnTo>
                    <a:pt x="71462" y="18211"/>
                  </a:lnTo>
                  <a:lnTo>
                    <a:pt x="69862" y="16471"/>
                  </a:lnTo>
                  <a:lnTo>
                    <a:pt x="52158" y="16471"/>
                  </a:lnTo>
                  <a:lnTo>
                    <a:pt x="45059" y="24561"/>
                  </a:lnTo>
                  <a:lnTo>
                    <a:pt x="45059" y="44069"/>
                  </a:lnTo>
                  <a:lnTo>
                    <a:pt x="52514" y="51333"/>
                  </a:lnTo>
                  <a:lnTo>
                    <a:pt x="69862" y="51333"/>
                  </a:lnTo>
                  <a:lnTo>
                    <a:pt x="74472" y="46659"/>
                  </a:lnTo>
                  <a:lnTo>
                    <a:pt x="77165" y="43916"/>
                  </a:lnTo>
                  <a:lnTo>
                    <a:pt x="77165" y="24345"/>
                  </a:lnTo>
                  <a:close/>
                </a:path>
                <a:path w="334010" h="51435">
                  <a:moveTo>
                    <a:pt x="116611" y="24345"/>
                  </a:moveTo>
                  <a:lnTo>
                    <a:pt x="113449" y="20929"/>
                  </a:lnTo>
                  <a:lnTo>
                    <a:pt x="110909" y="18199"/>
                  </a:lnTo>
                  <a:lnTo>
                    <a:pt x="110909" y="24790"/>
                  </a:lnTo>
                  <a:lnTo>
                    <a:pt x="110909" y="42278"/>
                  </a:lnTo>
                  <a:lnTo>
                    <a:pt x="105943" y="46659"/>
                  </a:lnTo>
                  <a:lnTo>
                    <a:pt x="95478" y="46659"/>
                  </a:lnTo>
                  <a:lnTo>
                    <a:pt x="90208" y="42506"/>
                  </a:lnTo>
                  <a:lnTo>
                    <a:pt x="90208" y="24561"/>
                  </a:lnTo>
                  <a:lnTo>
                    <a:pt x="95783" y="20929"/>
                  </a:lnTo>
                  <a:lnTo>
                    <a:pt x="105651" y="20929"/>
                  </a:lnTo>
                  <a:lnTo>
                    <a:pt x="110909" y="24790"/>
                  </a:lnTo>
                  <a:lnTo>
                    <a:pt x="110909" y="18199"/>
                  </a:lnTo>
                  <a:lnTo>
                    <a:pt x="109308" y="16471"/>
                  </a:lnTo>
                  <a:lnTo>
                    <a:pt x="91605" y="16471"/>
                  </a:lnTo>
                  <a:lnTo>
                    <a:pt x="84505" y="24561"/>
                  </a:lnTo>
                  <a:lnTo>
                    <a:pt x="84505" y="44069"/>
                  </a:lnTo>
                  <a:lnTo>
                    <a:pt x="91960" y="51333"/>
                  </a:lnTo>
                  <a:lnTo>
                    <a:pt x="109308" y="51333"/>
                  </a:lnTo>
                  <a:lnTo>
                    <a:pt x="113919" y="46659"/>
                  </a:lnTo>
                  <a:lnTo>
                    <a:pt x="116611" y="43916"/>
                  </a:lnTo>
                  <a:lnTo>
                    <a:pt x="116611" y="24345"/>
                  </a:lnTo>
                  <a:close/>
                </a:path>
                <a:path w="334010" h="51435">
                  <a:moveTo>
                    <a:pt x="144005" y="48564"/>
                  </a:moveTo>
                  <a:lnTo>
                    <a:pt x="142836" y="44183"/>
                  </a:lnTo>
                  <a:lnTo>
                    <a:pt x="140919" y="45758"/>
                  </a:lnTo>
                  <a:lnTo>
                    <a:pt x="138582" y="46659"/>
                  </a:lnTo>
                  <a:lnTo>
                    <a:pt x="133540" y="46659"/>
                  </a:lnTo>
                  <a:lnTo>
                    <a:pt x="132511" y="44411"/>
                  </a:lnTo>
                  <a:lnTo>
                    <a:pt x="132511" y="21678"/>
                  </a:lnTo>
                  <a:lnTo>
                    <a:pt x="142836" y="21678"/>
                  </a:lnTo>
                  <a:lnTo>
                    <a:pt x="142836" y="17437"/>
                  </a:lnTo>
                  <a:lnTo>
                    <a:pt x="132511" y="17437"/>
                  </a:lnTo>
                  <a:lnTo>
                    <a:pt x="132511" y="7747"/>
                  </a:lnTo>
                  <a:lnTo>
                    <a:pt x="127469" y="7747"/>
                  </a:lnTo>
                  <a:lnTo>
                    <a:pt x="127469" y="17437"/>
                  </a:lnTo>
                  <a:lnTo>
                    <a:pt x="121107" y="17437"/>
                  </a:lnTo>
                  <a:lnTo>
                    <a:pt x="121107" y="21678"/>
                  </a:lnTo>
                  <a:lnTo>
                    <a:pt x="127241" y="21678"/>
                  </a:lnTo>
                  <a:lnTo>
                    <a:pt x="127241" y="46202"/>
                  </a:lnTo>
                  <a:lnTo>
                    <a:pt x="128270" y="51333"/>
                  </a:lnTo>
                  <a:lnTo>
                    <a:pt x="138442" y="51333"/>
                  </a:lnTo>
                  <a:lnTo>
                    <a:pt x="142163" y="49517"/>
                  </a:lnTo>
                  <a:lnTo>
                    <a:pt x="144005" y="48564"/>
                  </a:lnTo>
                  <a:close/>
                </a:path>
                <a:path w="334010" h="51435">
                  <a:moveTo>
                    <a:pt x="158000" y="0"/>
                  </a:moveTo>
                  <a:lnTo>
                    <a:pt x="152527" y="0"/>
                  </a:lnTo>
                  <a:lnTo>
                    <a:pt x="152527" y="50368"/>
                  </a:lnTo>
                  <a:lnTo>
                    <a:pt x="158000" y="50368"/>
                  </a:lnTo>
                  <a:lnTo>
                    <a:pt x="158000" y="0"/>
                  </a:lnTo>
                  <a:close/>
                </a:path>
                <a:path w="334010" h="51435">
                  <a:moveTo>
                    <a:pt x="198716" y="24345"/>
                  </a:moveTo>
                  <a:lnTo>
                    <a:pt x="195554" y="20929"/>
                  </a:lnTo>
                  <a:lnTo>
                    <a:pt x="193014" y="18199"/>
                  </a:lnTo>
                  <a:lnTo>
                    <a:pt x="193014" y="24790"/>
                  </a:lnTo>
                  <a:lnTo>
                    <a:pt x="193014" y="42278"/>
                  </a:lnTo>
                  <a:lnTo>
                    <a:pt x="188048" y="46659"/>
                  </a:lnTo>
                  <a:lnTo>
                    <a:pt x="177584" y="46659"/>
                  </a:lnTo>
                  <a:lnTo>
                    <a:pt x="172313" y="42506"/>
                  </a:lnTo>
                  <a:lnTo>
                    <a:pt x="172313" y="24561"/>
                  </a:lnTo>
                  <a:lnTo>
                    <a:pt x="177888" y="20929"/>
                  </a:lnTo>
                  <a:lnTo>
                    <a:pt x="187756" y="20929"/>
                  </a:lnTo>
                  <a:lnTo>
                    <a:pt x="193014" y="24790"/>
                  </a:lnTo>
                  <a:lnTo>
                    <a:pt x="193014" y="18199"/>
                  </a:lnTo>
                  <a:lnTo>
                    <a:pt x="191414" y="16471"/>
                  </a:lnTo>
                  <a:lnTo>
                    <a:pt x="173710" y="16471"/>
                  </a:lnTo>
                  <a:lnTo>
                    <a:pt x="166611" y="24561"/>
                  </a:lnTo>
                  <a:lnTo>
                    <a:pt x="166611" y="44069"/>
                  </a:lnTo>
                  <a:lnTo>
                    <a:pt x="174066" y="51333"/>
                  </a:lnTo>
                  <a:lnTo>
                    <a:pt x="191414" y="51333"/>
                  </a:lnTo>
                  <a:lnTo>
                    <a:pt x="196024" y="46659"/>
                  </a:lnTo>
                  <a:lnTo>
                    <a:pt x="198716" y="43916"/>
                  </a:lnTo>
                  <a:lnTo>
                    <a:pt x="198716" y="24345"/>
                  </a:lnTo>
                  <a:close/>
                </a:path>
                <a:path w="334010" h="51435">
                  <a:moveTo>
                    <a:pt x="231736" y="21577"/>
                  </a:moveTo>
                  <a:lnTo>
                    <a:pt x="230911" y="20789"/>
                  </a:lnTo>
                  <a:lnTo>
                    <a:pt x="226390" y="16471"/>
                  </a:lnTo>
                  <a:lnTo>
                    <a:pt x="214922" y="16471"/>
                  </a:lnTo>
                  <a:lnTo>
                    <a:pt x="211620" y="17640"/>
                  </a:lnTo>
                  <a:lnTo>
                    <a:pt x="208191" y="19608"/>
                  </a:lnTo>
                  <a:lnTo>
                    <a:pt x="208622" y="24396"/>
                  </a:lnTo>
                  <a:lnTo>
                    <a:pt x="212420" y="21729"/>
                  </a:lnTo>
                  <a:lnTo>
                    <a:pt x="216090" y="20789"/>
                  </a:lnTo>
                  <a:lnTo>
                    <a:pt x="223113" y="20789"/>
                  </a:lnTo>
                  <a:lnTo>
                    <a:pt x="226034" y="23672"/>
                  </a:lnTo>
                  <a:lnTo>
                    <a:pt x="226034" y="32118"/>
                  </a:lnTo>
                  <a:lnTo>
                    <a:pt x="226034" y="35852"/>
                  </a:lnTo>
                  <a:lnTo>
                    <a:pt x="226034" y="43967"/>
                  </a:lnTo>
                  <a:lnTo>
                    <a:pt x="223545" y="45415"/>
                  </a:lnTo>
                  <a:lnTo>
                    <a:pt x="221424" y="46812"/>
                  </a:lnTo>
                  <a:lnTo>
                    <a:pt x="218643" y="46888"/>
                  </a:lnTo>
                  <a:lnTo>
                    <a:pt x="214325" y="46888"/>
                  </a:lnTo>
                  <a:lnTo>
                    <a:pt x="211035" y="45110"/>
                  </a:lnTo>
                  <a:lnTo>
                    <a:pt x="211035" y="36537"/>
                  </a:lnTo>
                  <a:lnTo>
                    <a:pt x="226034" y="35852"/>
                  </a:lnTo>
                  <a:lnTo>
                    <a:pt x="226034" y="32118"/>
                  </a:lnTo>
                  <a:lnTo>
                    <a:pt x="215061" y="32270"/>
                  </a:lnTo>
                  <a:lnTo>
                    <a:pt x="205765" y="35331"/>
                  </a:lnTo>
                  <a:lnTo>
                    <a:pt x="205790" y="45415"/>
                  </a:lnTo>
                  <a:lnTo>
                    <a:pt x="207746" y="51333"/>
                  </a:lnTo>
                  <a:lnTo>
                    <a:pt x="215125" y="51333"/>
                  </a:lnTo>
                  <a:lnTo>
                    <a:pt x="221996" y="51193"/>
                  </a:lnTo>
                  <a:lnTo>
                    <a:pt x="226250" y="47891"/>
                  </a:lnTo>
                  <a:lnTo>
                    <a:pt x="226250" y="50533"/>
                  </a:lnTo>
                  <a:lnTo>
                    <a:pt x="231736" y="50533"/>
                  </a:lnTo>
                  <a:lnTo>
                    <a:pt x="231736" y="47891"/>
                  </a:lnTo>
                  <a:lnTo>
                    <a:pt x="231736" y="46888"/>
                  </a:lnTo>
                  <a:lnTo>
                    <a:pt x="231736" y="35852"/>
                  </a:lnTo>
                  <a:lnTo>
                    <a:pt x="231736" y="21577"/>
                  </a:lnTo>
                  <a:close/>
                </a:path>
                <a:path w="334010" h="51435">
                  <a:moveTo>
                    <a:pt x="269506" y="0"/>
                  </a:moveTo>
                  <a:lnTo>
                    <a:pt x="264020" y="0"/>
                  </a:lnTo>
                  <a:lnTo>
                    <a:pt x="264020" y="20739"/>
                  </a:lnTo>
                  <a:lnTo>
                    <a:pt x="263791" y="20535"/>
                  </a:lnTo>
                  <a:lnTo>
                    <a:pt x="263791" y="25184"/>
                  </a:lnTo>
                  <a:lnTo>
                    <a:pt x="263728" y="42430"/>
                  </a:lnTo>
                  <a:lnTo>
                    <a:pt x="261391" y="44551"/>
                  </a:lnTo>
                  <a:lnTo>
                    <a:pt x="259689" y="46215"/>
                  </a:lnTo>
                  <a:lnTo>
                    <a:pt x="257886" y="46888"/>
                  </a:lnTo>
                  <a:lnTo>
                    <a:pt x="251434" y="46888"/>
                  </a:lnTo>
                  <a:lnTo>
                    <a:pt x="246087" y="43180"/>
                  </a:lnTo>
                  <a:lnTo>
                    <a:pt x="246087" y="24015"/>
                  </a:lnTo>
                  <a:lnTo>
                    <a:pt x="252387" y="20929"/>
                  </a:lnTo>
                  <a:lnTo>
                    <a:pt x="256705" y="20929"/>
                  </a:lnTo>
                  <a:lnTo>
                    <a:pt x="259994" y="21170"/>
                  </a:lnTo>
                  <a:lnTo>
                    <a:pt x="262191" y="22847"/>
                  </a:lnTo>
                  <a:lnTo>
                    <a:pt x="263791" y="25184"/>
                  </a:lnTo>
                  <a:lnTo>
                    <a:pt x="263791" y="20535"/>
                  </a:lnTo>
                  <a:lnTo>
                    <a:pt x="260134" y="17284"/>
                  </a:lnTo>
                  <a:lnTo>
                    <a:pt x="256044" y="16471"/>
                  </a:lnTo>
                  <a:lnTo>
                    <a:pt x="246087" y="16471"/>
                  </a:lnTo>
                  <a:lnTo>
                    <a:pt x="240499" y="24015"/>
                  </a:lnTo>
                  <a:lnTo>
                    <a:pt x="240385" y="43611"/>
                  </a:lnTo>
                  <a:lnTo>
                    <a:pt x="246037" y="51333"/>
                  </a:lnTo>
                  <a:lnTo>
                    <a:pt x="255384" y="51333"/>
                  </a:lnTo>
                  <a:lnTo>
                    <a:pt x="259689" y="50685"/>
                  </a:lnTo>
                  <a:lnTo>
                    <a:pt x="263626" y="46888"/>
                  </a:lnTo>
                  <a:lnTo>
                    <a:pt x="263791" y="46710"/>
                  </a:lnTo>
                  <a:lnTo>
                    <a:pt x="263791" y="50533"/>
                  </a:lnTo>
                  <a:lnTo>
                    <a:pt x="269506" y="49987"/>
                  </a:lnTo>
                  <a:lnTo>
                    <a:pt x="269506" y="46710"/>
                  </a:lnTo>
                  <a:lnTo>
                    <a:pt x="269506" y="20929"/>
                  </a:lnTo>
                  <a:lnTo>
                    <a:pt x="269506" y="20739"/>
                  </a:lnTo>
                  <a:lnTo>
                    <a:pt x="269506" y="0"/>
                  </a:lnTo>
                  <a:close/>
                </a:path>
                <a:path w="334010" h="51435">
                  <a:moveTo>
                    <a:pt x="306603" y="34048"/>
                  </a:moveTo>
                  <a:lnTo>
                    <a:pt x="306590" y="30022"/>
                  </a:lnTo>
                  <a:lnTo>
                    <a:pt x="306539" y="26136"/>
                  </a:lnTo>
                  <a:lnTo>
                    <a:pt x="303098" y="20929"/>
                  </a:lnTo>
                  <a:lnTo>
                    <a:pt x="302437" y="19939"/>
                  </a:lnTo>
                  <a:lnTo>
                    <a:pt x="302437" y="30022"/>
                  </a:lnTo>
                  <a:lnTo>
                    <a:pt x="284378" y="30022"/>
                  </a:lnTo>
                  <a:lnTo>
                    <a:pt x="285534" y="24549"/>
                  </a:lnTo>
                  <a:lnTo>
                    <a:pt x="289433" y="20929"/>
                  </a:lnTo>
                  <a:lnTo>
                    <a:pt x="297383" y="20929"/>
                  </a:lnTo>
                  <a:lnTo>
                    <a:pt x="301485" y="23393"/>
                  </a:lnTo>
                  <a:lnTo>
                    <a:pt x="302437" y="30022"/>
                  </a:lnTo>
                  <a:lnTo>
                    <a:pt x="302437" y="19939"/>
                  </a:lnTo>
                  <a:lnTo>
                    <a:pt x="300685" y="17284"/>
                  </a:lnTo>
                  <a:lnTo>
                    <a:pt x="296227" y="16471"/>
                  </a:lnTo>
                  <a:lnTo>
                    <a:pt x="285483" y="16471"/>
                  </a:lnTo>
                  <a:lnTo>
                    <a:pt x="278892" y="24180"/>
                  </a:lnTo>
                  <a:lnTo>
                    <a:pt x="278892" y="43535"/>
                  </a:lnTo>
                  <a:lnTo>
                    <a:pt x="285915" y="51333"/>
                  </a:lnTo>
                  <a:lnTo>
                    <a:pt x="299288" y="51333"/>
                  </a:lnTo>
                  <a:lnTo>
                    <a:pt x="303466" y="49593"/>
                  </a:lnTo>
                  <a:lnTo>
                    <a:pt x="306324" y="47536"/>
                  </a:lnTo>
                  <a:lnTo>
                    <a:pt x="306260" y="46888"/>
                  </a:lnTo>
                  <a:lnTo>
                    <a:pt x="305879" y="42633"/>
                  </a:lnTo>
                  <a:lnTo>
                    <a:pt x="301269" y="46583"/>
                  </a:lnTo>
                  <a:lnTo>
                    <a:pt x="296456" y="46888"/>
                  </a:lnTo>
                  <a:lnTo>
                    <a:pt x="288912" y="46888"/>
                  </a:lnTo>
                  <a:lnTo>
                    <a:pt x="284226" y="41490"/>
                  </a:lnTo>
                  <a:lnTo>
                    <a:pt x="284010" y="34048"/>
                  </a:lnTo>
                  <a:lnTo>
                    <a:pt x="306603" y="34048"/>
                  </a:lnTo>
                  <a:close/>
                </a:path>
                <a:path w="334010" h="51435">
                  <a:moveTo>
                    <a:pt x="333552" y="16471"/>
                  </a:moveTo>
                  <a:lnTo>
                    <a:pt x="327050" y="16560"/>
                  </a:lnTo>
                  <a:lnTo>
                    <a:pt x="323024" y="20205"/>
                  </a:lnTo>
                  <a:lnTo>
                    <a:pt x="320751" y="23622"/>
                  </a:lnTo>
                  <a:lnTo>
                    <a:pt x="320751" y="16840"/>
                  </a:lnTo>
                  <a:lnTo>
                    <a:pt x="315645" y="16840"/>
                  </a:lnTo>
                  <a:lnTo>
                    <a:pt x="315645" y="50368"/>
                  </a:lnTo>
                  <a:lnTo>
                    <a:pt x="321119" y="50368"/>
                  </a:lnTo>
                  <a:lnTo>
                    <a:pt x="321119" y="26987"/>
                  </a:lnTo>
                  <a:lnTo>
                    <a:pt x="326390" y="21615"/>
                  </a:lnTo>
                  <a:lnTo>
                    <a:pt x="333552" y="21463"/>
                  </a:lnTo>
                  <a:lnTo>
                    <a:pt x="333552" y="16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77325" y="1713548"/>
              <a:ext cx="1766508" cy="666829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0"/>
            <a:ext cx="3282714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80" dirty="0"/>
              <a:t>Software</a:t>
            </a:r>
            <a:r>
              <a:rPr sz="2959" spc="-32" dirty="0"/>
              <a:t> </a:t>
            </a:r>
            <a:r>
              <a:rPr sz="2959" spc="-169" dirty="0"/>
              <a:t>components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1" y="1134160"/>
            <a:ext cx="10380945" cy="4921135"/>
          </a:xfrm>
          <a:prstGeom prst="rect">
            <a:avLst/>
          </a:prstGeom>
        </p:spPr>
        <p:txBody>
          <a:bodyPr vert="horz" wrap="square" lIns="0" tIns="76498" rIns="0" bIns="0" rtlCol="0">
            <a:spAutoFit/>
          </a:bodyPr>
          <a:lstStyle/>
          <a:p>
            <a:pPr marL="453618" indent="-374438">
              <a:spcBef>
                <a:spcPts val="60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63" dirty="0">
                <a:latin typeface="Tahoma"/>
                <a:cs typeface="Tahoma"/>
              </a:rPr>
              <a:t>Cross-compilation</a:t>
            </a:r>
            <a:r>
              <a:rPr sz="2325" spc="-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toolchain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Compiler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that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runs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on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development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machine,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but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generates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code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for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target</a:t>
            </a:r>
            <a:endParaRPr sz="2114">
              <a:latin typeface="Tahoma"/>
              <a:cs typeface="Tahoma"/>
            </a:endParaRPr>
          </a:p>
          <a:p>
            <a:pPr marL="453618" indent="-374438"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53" dirty="0">
                <a:latin typeface="Tahoma"/>
                <a:cs typeface="Tahoma"/>
              </a:rPr>
              <a:t>Bootloader</a:t>
            </a:r>
            <a:endParaRPr sz="2325">
              <a:latin typeface="Tahoma"/>
              <a:cs typeface="Tahoma"/>
            </a:endParaRPr>
          </a:p>
          <a:p>
            <a:pPr marL="1040106" marR="185206" lvl="1" indent="-355649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Started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by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hardware,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responsible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for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basic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initialization,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loading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executing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kernel</a:t>
            </a:r>
            <a:endParaRPr sz="2114">
              <a:latin typeface="Tahoma"/>
              <a:cs typeface="Tahoma"/>
            </a:endParaRPr>
          </a:p>
          <a:p>
            <a:pPr marL="453618" indent="-374438">
              <a:spcBef>
                <a:spcPts val="40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-53" dirty="0">
                <a:latin typeface="Tahoma"/>
                <a:cs typeface="Tahoma"/>
              </a:rPr>
              <a:t> Kernel</a:t>
            </a:r>
            <a:endParaRPr sz="2325">
              <a:latin typeface="Tahoma"/>
              <a:cs typeface="Tahoma"/>
            </a:endParaRPr>
          </a:p>
          <a:p>
            <a:pPr marL="1040106" marR="174469" lvl="1" indent="-355649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53" dirty="0">
                <a:latin typeface="Tahoma"/>
                <a:cs typeface="Tahoma"/>
              </a:rPr>
              <a:t>Contains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process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memory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management,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network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stack,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device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drivers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provides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services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user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space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applications</a:t>
            </a:r>
            <a:endParaRPr sz="2114">
              <a:latin typeface="Tahoma"/>
              <a:cs typeface="Tahoma"/>
            </a:endParaRPr>
          </a:p>
          <a:p>
            <a:pPr marL="453618" indent="-374438">
              <a:spcBef>
                <a:spcPts val="40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74" dirty="0">
                <a:latin typeface="Tahoma"/>
                <a:cs typeface="Tahoma"/>
              </a:rPr>
              <a:t>C</a:t>
            </a:r>
            <a:r>
              <a:rPr sz="2325" spc="-6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library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11" dirty="0">
                <a:latin typeface="Tahoma"/>
                <a:cs typeface="Tahoma"/>
              </a:rPr>
              <a:t>Of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course,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library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74" dirty="0">
                <a:latin typeface="Tahoma"/>
                <a:cs typeface="Tahoma"/>
              </a:rPr>
              <a:t>C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functions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21" dirty="0">
                <a:latin typeface="Tahoma"/>
                <a:cs typeface="Tahoma"/>
              </a:rPr>
              <a:t>Also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interface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between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kernel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user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space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applications</a:t>
            </a:r>
            <a:endParaRPr sz="2114">
              <a:latin typeface="Tahoma"/>
              <a:cs typeface="Tahoma"/>
            </a:endParaRPr>
          </a:p>
          <a:p>
            <a:pPr marL="453618" marR="6813702" indent="-454963" algn="r"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85" dirty="0">
                <a:latin typeface="Tahoma"/>
                <a:cs typeface="Tahoma"/>
              </a:rPr>
              <a:t>Libraries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applications</a:t>
            </a:r>
            <a:endParaRPr sz="2325">
              <a:latin typeface="Tahoma"/>
              <a:cs typeface="Tahoma"/>
            </a:endParaRPr>
          </a:p>
          <a:p>
            <a:pPr marL="355649" marR="6739888" lvl="1" indent="-355649" algn="r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355649" algn="l"/>
              </a:tabLst>
            </a:pPr>
            <a:r>
              <a:rPr sz="2114" spc="-42" dirty="0">
                <a:latin typeface="Tahoma"/>
                <a:cs typeface="Tahoma"/>
              </a:rPr>
              <a:t>Third-party</a:t>
            </a:r>
            <a:r>
              <a:rPr sz="2114" spc="-11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or</a:t>
            </a:r>
            <a:r>
              <a:rPr sz="2114" spc="-11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in-house</a:t>
            </a:r>
            <a:endParaRPr sz="2114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1"/>
            <a:ext cx="3404843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80" dirty="0"/>
              <a:t>Embedded</a:t>
            </a:r>
            <a:r>
              <a:rPr sz="2959" spc="-21" dirty="0"/>
              <a:t> </a:t>
            </a:r>
            <a:r>
              <a:rPr sz="2959" spc="-95" dirty="0"/>
              <a:t>Linux</a:t>
            </a:r>
            <a:r>
              <a:rPr sz="2959" spc="-21" dirty="0"/>
              <a:t> </a:t>
            </a:r>
            <a:r>
              <a:rPr sz="2959" spc="-201" dirty="0"/>
              <a:t>work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83307" y="1285998"/>
            <a:ext cx="10217212" cy="4239656"/>
          </a:xfrm>
          <a:prstGeom prst="rect">
            <a:avLst/>
          </a:prstGeom>
        </p:spPr>
        <p:txBody>
          <a:bodyPr vert="horz" wrap="square" lIns="0" tIns="154339" rIns="0" bIns="0" rtlCol="0">
            <a:spAutoFit/>
          </a:bodyPr>
          <a:lstStyle/>
          <a:p>
            <a:pPr marL="80524">
              <a:spcBef>
                <a:spcPts val="1215"/>
              </a:spcBef>
            </a:pPr>
            <a:r>
              <a:rPr sz="2325" spc="-95" dirty="0">
                <a:latin typeface="Tahoma"/>
                <a:cs typeface="Tahoma"/>
              </a:rPr>
              <a:t>Several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distinct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tasks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needed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when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deploying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embedded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product: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993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b="1" spc="-95" dirty="0">
                <a:latin typeface="Arial"/>
                <a:cs typeface="Arial"/>
              </a:rPr>
              <a:t>Board</a:t>
            </a:r>
            <a:r>
              <a:rPr sz="2325" b="1" spc="169" dirty="0">
                <a:latin typeface="Arial"/>
                <a:cs typeface="Arial"/>
              </a:rPr>
              <a:t> </a:t>
            </a:r>
            <a:r>
              <a:rPr sz="2325" b="1" spc="-85" dirty="0">
                <a:latin typeface="Arial"/>
                <a:cs typeface="Arial"/>
              </a:rPr>
              <a:t>Support</a:t>
            </a:r>
            <a:r>
              <a:rPr sz="2325" b="1" spc="180" dirty="0">
                <a:latin typeface="Arial"/>
                <a:cs typeface="Arial"/>
              </a:rPr>
              <a:t> </a:t>
            </a:r>
            <a:r>
              <a:rPr sz="2325" b="1" spc="-106" dirty="0">
                <a:latin typeface="Arial"/>
                <a:cs typeface="Arial"/>
              </a:rPr>
              <a:t>Package</a:t>
            </a:r>
            <a:r>
              <a:rPr sz="2325" b="1" spc="169" dirty="0">
                <a:latin typeface="Arial"/>
                <a:cs typeface="Arial"/>
              </a:rPr>
              <a:t> </a:t>
            </a:r>
            <a:r>
              <a:rPr sz="2325" b="1" spc="-95" dirty="0">
                <a:latin typeface="Arial"/>
                <a:cs typeface="Arial"/>
              </a:rPr>
              <a:t>development</a:t>
            </a:r>
            <a:endParaRPr sz="2325">
              <a:latin typeface="Arial"/>
              <a:cs typeface="Arial"/>
            </a:endParaRPr>
          </a:p>
          <a:p>
            <a:pPr marL="1250812" marR="64419" lvl="1" indent="-355649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127" dirty="0">
                <a:latin typeface="Tahoma"/>
                <a:cs typeface="Tahoma"/>
              </a:rPr>
              <a:t>A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106" dirty="0">
                <a:latin typeface="Tahoma"/>
                <a:cs typeface="Tahoma"/>
              </a:rPr>
              <a:t>BSP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contains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bootloader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kernel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with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suitable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device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drivers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for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targeted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hardware</a:t>
            </a:r>
            <a:endParaRPr sz="2114">
              <a:latin typeface="Tahoma"/>
              <a:cs typeface="Tahoma"/>
            </a:endParaRPr>
          </a:p>
          <a:p>
            <a:pPr marL="1250812" lvl="1" indent="-355649">
              <a:lnSpc>
                <a:spcPts val="2515"/>
              </a:lnSpc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-63" dirty="0">
                <a:latin typeface="Tahoma"/>
                <a:cs typeface="Tahoma"/>
              </a:rPr>
              <a:t>Purpose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our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i="1" spc="-85" dirty="0">
                <a:solidFill>
                  <a:srgbClr val="3F3FBF"/>
                </a:solidFill>
                <a:latin typeface="Arial"/>
                <a:cs typeface="Arial"/>
                <a:hlinkClick r:id="rId2"/>
              </a:rPr>
              <a:t>Kernel</a:t>
            </a:r>
            <a:r>
              <a:rPr sz="2114" i="1" spc="106" dirty="0">
                <a:solidFill>
                  <a:srgbClr val="3F3FBF"/>
                </a:solidFill>
                <a:latin typeface="Arial"/>
                <a:cs typeface="Arial"/>
                <a:hlinkClick r:id="rId2"/>
              </a:rPr>
              <a:t> </a:t>
            </a:r>
            <a:r>
              <a:rPr sz="2114" i="1" spc="-95" dirty="0">
                <a:solidFill>
                  <a:srgbClr val="3F3FBF"/>
                </a:solidFill>
                <a:latin typeface="Arial"/>
                <a:cs typeface="Arial"/>
                <a:hlinkClick r:id="rId2"/>
              </a:rPr>
              <a:t>Development</a:t>
            </a:r>
            <a:r>
              <a:rPr sz="2114" i="1" spc="106" dirty="0">
                <a:solidFill>
                  <a:srgbClr val="3F3FBF"/>
                </a:solidFill>
                <a:latin typeface="Arial"/>
                <a:cs typeface="Arial"/>
                <a:hlinkClick r:id="rId2"/>
              </a:rPr>
              <a:t> </a:t>
            </a:r>
            <a:r>
              <a:rPr sz="2114" i="1" spc="-137" dirty="0">
                <a:solidFill>
                  <a:srgbClr val="3F3FBF"/>
                </a:solidFill>
                <a:latin typeface="Arial"/>
                <a:cs typeface="Arial"/>
                <a:hlinkClick r:id="rId2"/>
              </a:rPr>
              <a:t>course</a:t>
            </a:r>
            <a:endParaRPr sz="2114">
              <a:latin typeface="Arial"/>
              <a:cs typeface="Arial"/>
            </a:endParaRPr>
          </a:p>
          <a:p>
            <a:pPr marL="665668" indent="-375780"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b="1" spc="-106" dirty="0">
                <a:latin typeface="Arial"/>
                <a:cs typeface="Arial"/>
              </a:rPr>
              <a:t>System</a:t>
            </a:r>
            <a:r>
              <a:rPr sz="2325" b="1" spc="127" dirty="0">
                <a:latin typeface="Arial"/>
                <a:cs typeface="Arial"/>
              </a:rPr>
              <a:t> </a:t>
            </a:r>
            <a:r>
              <a:rPr sz="2325" b="1" spc="-63" dirty="0">
                <a:latin typeface="Arial"/>
                <a:cs typeface="Arial"/>
              </a:rPr>
              <a:t>integration</a:t>
            </a:r>
            <a:endParaRPr sz="2325">
              <a:latin typeface="Arial"/>
              <a:cs typeface="Arial"/>
            </a:endParaRPr>
          </a:p>
          <a:p>
            <a:pPr marL="1250812" marR="787797" lvl="1" indent="-355649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-95" dirty="0">
                <a:latin typeface="Tahoma"/>
                <a:cs typeface="Tahoma"/>
              </a:rPr>
              <a:t>Integrate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all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components,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bootloader,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kernel,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third-party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libraries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applications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in-house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applications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32" dirty="0">
                <a:latin typeface="Tahoma"/>
                <a:cs typeface="Tahoma"/>
              </a:rPr>
              <a:t>into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working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system</a:t>
            </a:r>
            <a:endParaRPr sz="2114">
              <a:latin typeface="Tahoma"/>
              <a:cs typeface="Tahoma"/>
            </a:endParaRPr>
          </a:p>
          <a:p>
            <a:pPr marL="1250812" lvl="1" indent="-355649">
              <a:lnSpc>
                <a:spcPts val="2515"/>
              </a:lnSpc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-63" dirty="0">
                <a:latin typeface="Tahoma"/>
                <a:cs typeface="Tahoma"/>
              </a:rPr>
              <a:t>Purpose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i="1" spc="-42" dirty="0">
                <a:latin typeface="Arial"/>
                <a:cs typeface="Arial"/>
              </a:rPr>
              <a:t>this</a:t>
            </a:r>
            <a:r>
              <a:rPr sz="2114" i="1" spc="85" dirty="0">
                <a:latin typeface="Arial"/>
                <a:cs typeface="Arial"/>
              </a:rPr>
              <a:t> </a:t>
            </a:r>
            <a:r>
              <a:rPr sz="2114" spc="-106" dirty="0">
                <a:latin typeface="Tahoma"/>
                <a:cs typeface="Tahoma"/>
              </a:rPr>
              <a:t>course</a:t>
            </a:r>
            <a:endParaRPr sz="2114">
              <a:latin typeface="Tahoma"/>
              <a:cs typeface="Tahoma"/>
            </a:endParaRPr>
          </a:p>
          <a:p>
            <a:pPr marL="665668" indent="-375780"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b="1" spc="-74" dirty="0">
                <a:latin typeface="Arial"/>
                <a:cs typeface="Arial"/>
              </a:rPr>
              <a:t>Development</a:t>
            </a:r>
            <a:r>
              <a:rPr sz="2325" b="1" spc="180" dirty="0">
                <a:latin typeface="Arial"/>
                <a:cs typeface="Arial"/>
              </a:rPr>
              <a:t> </a:t>
            </a:r>
            <a:r>
              <a:rPr sz="2325" b="1" spc="-85" dirty="0">
                <a:latin typeface="Arial"/>
                <a:cs typeface="Arial"/>
              </a:rPr>
              <a:t>of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106" dirty="0">
                <a:latin typeface="Arial"/>
                <a:cs typeface="Arial"/>
              </a:rPr>
              <a:t>applications</a:t>
            </a:r>
            <a:endParaRPr sz="2325">
              <a:latin typeface="Arial"/>
              <a:cs typeface="Arial"/>
            </a:endParaRPr>
          </a:p>
          <a:p>
            <a:pPr marL="1250812" lvl="1" indent="-355649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-53" dirty="0">
                <a:latin typeface="Tahoma"/>
                <a:cs typeface="Tahoma"/>
              </a:rPr>
              <a:t>Normal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32" dirty="0">
                <a:latin typeface="Tahoma"/>
                <a:cs typeface="Tahoma"/>
              </a:rPr>
              <a:t>Linux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applications,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but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using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specifically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chosen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libraries</a:t>
            </a:r>
            <a:endParaRPr sz="2114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16263" y="2901584"/>
            <a:ext cx="9796682" cy="642310"/>
          </a:xfrm>
          <a:prstGeom prst="rect">
            <a:avLst/>
          </a:prstGeom>
        </p:spPr>
        <p:txBody>
          <a:bodyPr vert="horz" wrap="square" lIns="0" tIns="22815" rIns="0" bIns="0" rtlCol="0">
            <a:spAutoFit/>
          </a:bodyPr>
          <a:lstStyle/>
          <a:p>
            <a:pPr marL="26841" marR="10737">
              <a:lnSpc>
                <a:spcPct val="101200"/>
              </a:lnSpc>
              <a:spcBef>
                <a:spcPts val="180"/>
              </a:spcBef>
            </a:pPr>
            <a:r>
              <a:rPr sz="4333" spc="-232" dirty="0">
                <a:latin typeface="Tahoma"/>
                <a:cs typeface="Tahoma"/>
                <a:hlinkClick r:id="rId2" action="ppaction://hlinksldjump"/>
              </a:rPr>
              <a:t>Em</a:t>
            </a:r>
            <a:r>
              <a:rPr sz="4333" spc="-85" dirty="0">
                <a:latin typeface="Tahoma"/>
                <a:cs typeface="Tahoma"/>
                <a:hlinkClick r:id="rId2" action="ppaction://hlinksldjump"/>
              </a:rPr>
              <a:t>b</a:t>
            </a:r>
            <a:r>
              <a:rPr sz="4333" spc="-359" dirty="0">
                <a:latin typeface="Tahoma"/>
                <a:cs typeface="Tahoma"/>
                <a:hlinkClick r:id="rId2" action="ppaction://hlinksldjump"/>
              </a:rPr>
              <a:t>edded</a:t>
            </a:r>
            <a:r>
              <a:rPr sz="4333" spc="11" dirty="0">
                <a:latin typeface="Tahoma"/>
                <a:cs typeface="Tahoma"/>
                <a:hlinkClick r:id="rId2" action="ppaction://hlinksldjump"/>
              </a:rPr>
              <a:t> </a:t>
            </a:r>
            <a:r>
              <a:rPr sz="4333" spc="-159" dirty="0">
                <a:latin typeface="Tahoma"/>
                <a:cs typeface="Tahoma"/>
                <a:hlinkClick r:id="rId2" action="ppaction://hlinksldjump"/>
              </a:rPr>
              <a:t>Linux </a:t>
            </a:r>
            <a:r>
              <a:rPr sz="4333" spc="-116" dirty="0">
                <a:latin typeface="Tahoma"/>
                <a:cs typeface="Tahoma"/>
              </a:rPr>
              <a:t> </a:t>
            </a:r>
            <a:r>
              <a:rPr sz="4333" spc="-296" dirty="0">
                <a:latin typeface="Tahoma"/>
                <a:cs typeface="Tahoma"/>
                <a:hlinkClick r:id="rId2" action="ppaction://hlinksldjump"/>
              </a:rPr>
              <a:t>development </a:t>
            </a:r>
            <a:r>
              <a:rPr sz="4333" spc="-285" dirty="0">
                <a:latin typeface="Tahoma"/>
                <a:cs typeface="Tahoma"/>
              </a:rPr>
              <a:t> </a:t>
            </a:r>
            <a:r>
              <a:rPr sz="4333" spc="-275" dirty="0">
                <a:latin typeface="Tahoma"/>
                <a:cs typeface="Tahoma"/>
                <a:hlinkClick r:id="rId2" action="ppaction://hlinksldjump"/>
              </a:rPr>
              <a:t>environment</a:t>
            </a:r>
            <a:endParaRPr sz="4333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117" y="6684831"/>
            <a:ext cx="3488246" cy="173169"/>
          </a:xfrm>
          <a:prstGeom prst="rect">
            <a:avLst/>
          </a:prstGeom>
        </p:spPr>
        <p:txBody>
          <a:bodyPr vert="horz" wrap="square" lIns="0" tIns="26841" rIns="0" bIns="0" rtlCol="0">
            <a:spAutoFit/>
          </a:bodyPr>
          <a:lstStyle/>
          <a:p>
            <a:pPr marL="26841" marR="1462859">
              <a:lnSpc>
                <a:spcPct val="124500"/>
              </a:lnSpc>
              <a:spcBef>
                <a:spcPts val="211"/>
              </a:spcBef>
            </a:pPr>
            <a:r>
              <a:rPr lang="en-US" sz="845" spc="-42" dirty="0">
                <a:latin typeface="Microsoft Sans Serif"/>
                <a:cs typeface="Microsoft Sans Serif"/>
              </a:rPr>
              <a:t>These slides are taken from www.bootlin.com</a:t>
            </a:r>
            <a:endParaRPr sz="845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0"/>
            <a:ext cx="4011458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80" dirty="0"/>
              <a:t>Embedded</a:t>
            </a:r>
            <a:r>
              <a:rPr sz="2959" spc="11" dirty="0"/>
              <a:t> </a:t>
            </a:r>
            <a:r>
              <a:rPr sz="2959" spc="-95" dirty="0"/>
              <a:t>Linux</a:t>
            </a:r>
            <a:r>
              <a:rPr sz="2959" spc="11" dirty="0"/>
              <a:t> </a:t>
            </a:r>
            <a:r>
              <a:rPr sz="2959" spc="-137" dirty="0"/>
              <a:t>solutions</a:t>
            </a:r>
            <a:endParaRPr sz="2959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47733" y="840508"/>
            <a:ext cx="10137503" cy="4294795"/>
          </a:xfrm>
          <a:prstGeom prst="rect">
            <a:avLst/>
          </a:prstGeom>
        </p:spPr>
        <p:txBody>
          <a:bodyPr vert="horz" wrap="square" lIns="0" tIns="776634" rIns="0" bIns="0" rtlCol="0">
            <a:spAutoFit/>
          </a:bodyPr>
          <a:lstStyle/>
          <a:p>
            <a:pPr marL="652247" indent="-374438">
              <a:lnSpc>
                <a:spcPct val="100000"/>
              </a:lnSpc>
              <a:spcBef>
                <a:spcPts val="602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116" dirty="0"/>
              <a:t>Two</a:t>
            </a:r>
            <a:r>
              <a:rPr sz="2325" spc="32" dirty="0"/>
              <a:t> </a:t>
            </a:r>
            <a:r>
              <a:rPr sz="2325" spc="-169" dirty="0"/>
              <a:t>ways</a:t>
            </a:r>
            <a:r>
              <a:rPr sz="2325" spc="32" dirty="0"/>
              <a:t> </a:t>
            </a:r>
            <a:r>
              <a:rPr sz="2325" spc="-32" dirty="0"/>
              <a:t>to</a:t>
            </a:r>
            <a:r>
              <a:rPr sz="2325" spc="32" dirty="0"/>
              <a:t> </a:t>
            </a:r>
            <a:r>
              <a:rPr sz="2325" spc="-74" dirty="0"/>
              <a:t>switch</a:t>
            </a:r>
            <a:r>
              <a:rPr sz="2325" spc="32" dirty="0"/>
              <a:t> </a:t>
            </a:r>
            <a:r>
              <a:rPr sz="2325" spc="-32" dirty="0"/>
              <a:t>to</a:t>
            </a:r>
            <a:r>
              <a:rPr sz="2325" spc="42" dirty="0"/>
              <a:t> </a:t>
            </a:r>
            <a:r>
              <a:rPr sz="2325" spc="-137" dirty="0"/>
              <a:t>embedded</a:t>
            </a:r>
            <a:r>
              <a:rPr sz="2325" spc="32" dirty="0"/>
              <a:t> </a:t>
            </a:r>
            <a:r>
              <a:rPr sz="2325" spc="-42" dirty="0"/>
              <a:t>Linux</a:t>
            </a:r>
            <a:endParaRPr sz="2325" dirty="0"/>
          </a:p>
          <a:p>
            <a:pPr marL="1238733" marR="64419" lvl="1" indent="-355649">
              <a:lnSpc>
                <a:spcPct val="100000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85" dirty="0">
                <a:latin typeface="Tahoma"/>
                <a:cs typeface="Tahoma"/>
              </a:rPr>
              <a:t>Use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b="1" spc="-116" dirty="0">
                <a:latin typeface="Arial"/>
                <a:cs typeface="Arial"/>
              </a:rPr>
              <a:t>solutions</a:t>
            </a:r>
            <a:r>
              <a:rPr sz="2114" b="1" spc="180" dirty="0">
                <a:latin typeface="Arial"/>
                <a:cs typeface="Arial"/>
              </a:rPr>
              <a:t> </a:t>
            </a:r>
            <a:r>
              <a:rPr sz="2114" b="1" spc="-106" dirty="0">
                <a:latin typeface="Arial"/>
                <a:cs typeface="Arial"/>
              </a:rPr>
              <a:t>provided</a:t>
            </a:r>
            <a:r>
              <a:rPr sz="2114" b="1" spc="169" dirty="0">
                <a:latin typeface="Arial"/>
                <a:cs typeface="Arial"/>
              </a:rPr>
              <a:t> </a:t>
            </a:r>
            <a:r>
              <a:rPr sz="2114" b="1" spc="-106" dirty="0">
                <a:latin typeface="Arial"/>
                <a:cs typeface="Arial"/>
              </a:rPr>
              <a:t>and</a:t>
            </a:r>
            <a:r>
              <a:rPr sz="2114" b="1" spc="180" dirty="0">
                <a:latin typeface="Arial"/>
                <a:cs typeface="Arial"/>
              </a:rPr>
              <a:t> </a:t>
            </a:r>
            <a:r>
              <a:rPr sz="2114" b="1" spc="-95" dirty="0">
                <a:latin typeface="Arial"/>
                <a:cs typeface="Arial"/>
              </a:rPr>
              <a:t>supported</a:t>
            </a:r>
            <a:r>
              <a:rPr sz="2114" b="1" spc="169" dirty="0">
                <a:latin typeface="Arial"/>
                <a:cs typeface="Arial"/>
              </a:rPr>
              <a:t> </a:t>
            </a:r>
            <a:r>
              <a:rPr sz="2114" b="1" spc="-148" dirty="0">
                <a:latin typeface="Arial"/>
                <a:cs typeface="Arial"/>
              </a:rPr>
              <a:t>by</a:t>
            </a:r>
            <a:r>
              <a:rPr sz="2114" b="1" spc="180" dirty="0">
                <a:latin typeface="Arial"/>
                <a:cs typeface="Arial"/>
              </a:rPr>
              <a:t> </a:t>
            </a:r>
            <a:r>
              <a:rPr sz="2114" b="1" spc="-148" dirty="0">
                <a:latin typeface="Arial"/>
                <a:cs typeface="Arial"/>
              </a:rPr>
              <a:t>vendors</a:t>
            </a:r>
            <a:r>
              <a:rPr sz="2114" b="1" spc="106" dirty="0">
                <a:latin typeface="Arial"/>
                <a:cs typeface="Arial"/>
              </a:rPr>
              <a:t> </a:t>
            </a:r>
            <a:r>
              <a:rPr sz="2114" spc="-63" dirty="0">
                <a:latin typeface="Tahoma"/>
                <a:cs typeface="Tahoma"/>
              </a:rPr>
              <a:t>like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latin typeface="Tahoma"/>
                <a:cs typeface="Tahoma"/>
              </a:rPr>
              <a:t>MontaVista,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Wind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River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or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TimeSys.</a:t>
            </a:r>
            <a:r>
              <a:rPr sz="2114" spc="275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These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solutions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come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with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their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own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development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tools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environment. </a:t>
            </a:r>
            <a:r>
              <a:rPr sz="2114" spc="-74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They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37" dirty="0">
                <a:latin typeface="Tahoma"/>
                <a:cs typeface="Tahoma"/>
              </a:rPr>
              <a:t>use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mix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of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open-source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components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proprietary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tools.</a:t>
            </a:r>
            <a:endParaRPr sz="2114" dirty="0">
              <a:latin typeface="Tahoma"/>
              <a:cs typeface="Tahoma"/>
            </a:endParaRPr>
          </a:p>
          <a:p>
            <a:pPr marL="1238733" lvl="1" indent="-355649">
              <a:lnSpc>
                <a:spcPts val="2504"/>
              </a:lnSpc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85" dirty="0">
                <a:latin typeface="Tahoma"/>
                <a:cs typeface="Tahoma"/>
              </a:rPr>
              <a:t>Use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b="1" spc="-85" dirty="0">
                <a:latin typeface="Arial"/>
                <a:cs typeface="Arial"/>
              </a:rPr>
              <a:t>community</a:t>
            </a:r>
            <a:r>
              <a:rPr sz="2114" b="1" spc="169" dirty="0">
                <a:latin typeface="Arial"/>
                <a:cs typeface="Arial"/>
              </a:rPr>
              <a:t> </a:t>
            </a:r>
            <a:r>
              <a:rPr sz="2114" b="1" spc="-116" dirty="0">
                <a:latin typeface="Arial"/>
                <a:cs typeface="Arial"/>
              </a:rPr>
              <a:t>solutions</a:t>
            </a:r>
            <a:r>
              <a:rPr sz="2114" spc="-116" dirty="0">
                <a:latin typeface="Tahoma"/>
                <a:cs typeface="Tahoma"/>
              </a:rPr>
              <a:t>.</a:t>
            </a:r>
            <a:r>
              <a:rPr sz="2114" spc="285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They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are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completely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open,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supported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by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community.</a:t>
            </a:r>
            <a:endParaRPr sz="2114" dirty="0">
              <a:latin typeface="Tahoma"/>
              <a:cs typeface="Tahoma"/>
            </a:endParaRPr>
          </a:p>
          <a:p>
            <a:pPr marL="652247" marR="151654" indent="-374438">
              <a:lnSpc>
                <a:spcPts val="2536"/>
              </a:lnSpc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169" dirty="0"/>
              <a:t>In</a:t>
            </a:r>
            <a:r>
              <a:rPr sz="2325" spc="42" dirty="0"/>
              <a:t> </a:t>
            </a:r>
            <a:r>
              <a:rPr sz="2325" dirty="0"/>
              <a:t>Bootlin</a:t>
            </a:r>
            <a:r>
              <a:rPr sz="2325" spc="42" dirty="0"/>
              <a:t> </a:t>
            </a:r>
            <a:r>
              <a:rPr sz="2325" spc="-53" dirty="0"/>
              <a:t>training</a:t>
            </a:r>
            <a:r>
              <a:rPr sz="2325" spc="42" dirty="0"/>
              <a:t> </a:t>
            </a:r>
            <a:r>
              <a:rPr sz="2325" spc="-127" dirty="0"/>
              <a:t>sessions,</a:t>
            </a:r>
            <a:r>
              <a:rPr sz="2325" spc="42" dirty="0"/>
              <a:t> </a:t>
            </a:r>
            <a:r>
              <a:rPr sz="2325" spc="-211" dirty="0"/>
              <a:t>we</a:t>
            </a:r>
            <a:r>
              <a:rPr sz="2325" spc="42" dirty="0"/>
              <a:t> </a:t>
            </a:r>
            <a:r>
              <a:rPr sz="2325" spc="-106" dirty="0"/>
              <a:t>do</a:t>
            </a:r>
            <a:r>
              <a:rPr sz="2325" spc="53" dirty="0"/>
              <a:t> </a:t>
            </a:r>
            <a:r>
              <a:rPr sz="2325" spc="-63" dirty="0"/>
              <a:t>not</a:t>
            </a:r>
            <a:r>
              <a:rPr sz="2325" spc="42" dirty="0"/>
              <a:t> </a:t>
            </a:r>
            <a:r>
              <a:rPr sz="2325" spc="-106" dirty="0"/>
              <a:t>promote</a:t>
            </a:r>
            <a:r>
              <a:rPr sz="2325" spc="42" dirty="0"/>
              <a:t> </a:t>
            </a:r>
            <a:r>
              <a:rPr sz="2325" spc="-116" dirty="0"/>
              <a:t>a</a:t>
            </a:r>
            <a:r>
              <a:rPr sz="2325" spc="42" dirty="0"/>
              <a:t> </a:t>
            </a:r>
            <a:r>
              <a:rPr sz="2325" spc="-63" dirty="0"/>
              <a:t>particular</a:t>
            </a:r>
            <a:r>
              <a:rPr sz="2325" spc="42" dirty="0"/>
              <a:t> </a:t>
            </a:r>
            <a:r>
              <a:rPr sz="2325" spc="-116" dirty="0"/>
              <a:t>vendor,</a:t>
            </a:r>
            <a:r>
              <a:rPr sz="2325" spc="42" dirty="0"/>
              <a:t> </a:t>
            </a:r>
            <a:r>
              <a:rPr sz="2325" spc="-106" dirty="0"/>
              <a:t>and</a:t>
            </a:r>
            <a:r>
              <a:rPr sz="2325" spc="53" dirty="0"/>
              <a:t> </a:t>
            </a:r>
            <a:r>
              <a:rPr sz="2325" spc="-116" dirty="0"/>
              <a:t>therefore </a:t>
            </a:r>
            <a:r>
              <a:rPr sz="2325" spc="-697" dirty="0"/>
              <a:t> </a:t>
            </a:r>
            <a:r>
              <a:rPr sz="2325" spc="-159" dirty="0"/>
              <a:t>use</a:t>
            </a:r>
            <a:r>
              <a:rPr sz="2325" spc="21" dirty="0"/>
              <a:t> </a:t>
            </a:r>
            <a:r>
              <a:rPr sz="2325" spc="-85" dirty="0"/>
              <a:t>community</a:t>
            </a:r>
            <a:r>
              <a:rPr sz="2325" spc="32" dirty="0"/>
              <a:t> </a:t>
            </a:r>
            <a:r>
              <a:rPr sz="2325" spc="-74" dirty="0"/>
              <a:t>solutions</a:t>
            </a:r>
            <a:endParaRPr sz="2325" dirty="0"/>
          </a:p>
          <a:p>
            <a:pPr marL="1238733" lvl="1" indent="-355649">
              <a:lnSpc>
                <a:spcPct val="100000"/>
              </a:lnSpc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106" dirty="0">
                <a:latin typeface="Tahoma"/>
                <a:cs typeface="Tahoma"/>
              </a:rPr>
              <a:t>However,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knowing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concepts,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switching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vendor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solutions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will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be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27" dirty="0">
                <a:latin typeface="Tahoma"/>
                <a:cs typeface="Tahoma"/>
              </a:rPr>
              <a:t>easy</a:t>
            </a:r>
            <a:endParaRPr sz="2114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4002066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32" dirty="0"/>
              <a:t>OS</a:t>
            </a:r>
            <a:r>
              <a:rPr sz="2959" spc="-21" dirty="0"/>
              <a:t> </a:t>
            </a:r>
            <a:r>
              <a:rPr sz="2959" spc="-148" dirty="0"/>
              <a:t>for</a:t>
            </a:r>
            <a:r>
              <a:rPr sz="2959" spc="-11" dirty="0"/>
              <a:t> </a:t>
            </a:r>
            <a:r>
              <a:rPr sz="2959" spc="-95" dirty="0"/>
              <a:t>Linux</a:t>
            </a:r>
            <a:r>
              <a:rPr sz="2959" spc="-11" dirty="0"/>
              <a:t> </a:t>
            </a:r>
            <a:r>
              <a:rPr sz="2959" spc="-180" dirty="0"/>
              <a:t>development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83306" y="837397"/>
            <a:ext cx="10784910" cy="3681873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80524" marR="971660">
              <a:lnSpc>
                <a:spcPct val="102600"/>
              </a:lnSpc>
              <a:spcBef>
                <a:spcPts val="116"/>
              </a:spcBef>
            </a:pPr>
            <a:r>
              <a:rPr sz="2325" spc="-95" dirty="0">
                <a:latin typeface="Tahoma"/>
                <a:cs typeface="Tahoma"/>
              </a:rPr>
              <a:t>We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strongly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recommend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use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21" dirty="0">
                <a:latin typeface="Tahoma"/>
                <a:cs typeface="Tahoma"/>
              </a:rPr>
              <a:t>GNU/Linux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desktop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operating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system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embedded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developers,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multiple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reasons.</a:t>
            </a:r>
            <a:endParaRPr sz="2325">
              <a:latin typeface="Tahoma"/>
              <a:cs typeface="Tahoma"/>
            </a:endParaRPr>
          </a:p>
          <a:p>
            <a:pPr marL="665668" marR="352965" indent="-374438">
              <a:lnSpc>
                <a:spcPct val="102600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53" dirty="0">
                <a:latin typeface="Tahoma"/>
                <a:cs typeface="Tahoma"/>
              </a:rPr>
              <a:t>All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community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tools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developed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designed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run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Linux.</a:t>
            </a:r>
            <a:r>
              <a:rPr sz="2325" spc="317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Trying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use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them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other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operating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systems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(Windows,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21" dirty="0">
                <a:latin typeface="Tahoma"/>
                <a:cs typeface="Tahoma"/>
              </a:rPr>
              <a:t>Mac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11" dirty="0">
                <a:latin typeface="Tahoma"/>
                <a:cs typeface="Tahoma"/>
              </a:rPr>
              <a:t>OS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95" dirty="0">
                <a:latin typeface="Tahoma"/>
                <a:cs typeface="Tahoma"/>
              </a:rPr>
              <a:t>X)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will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lead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trouble.</a:t>
            </a:r>
            <a:endParaRPr sz="2325">
              <a:latin typeface="Tahoma"/>
              <a:cs typeface="Tahoma"/>
            </a:endParaRPr>
          </a:p>
          <a:p>
            <a:pPr marL="665668" marR="208021" indent="-374438">
              <a:lnSpc>
                <a:spcPct val="102600"/>
              </a:lnSpc>
              <a:spcBef>
                <a:spcPts val="21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1" dirty="0">
                <a:latin typeface="Tahoma"/>
                <a:cs typeface="Tahoma"/>
              </a:rPr>
              <a:t>As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also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runs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embedded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device,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all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knowledge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gained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from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using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desktop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will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apply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similarly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embedded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device.</a:t>
            </a:r>
            <a:endParaRPr sz="2325">
              <a:latin typeface="Tahoma"/>
              <a:cs typeface="Tahoma"/>
            </a:endParaRPr>
          </a:p>
          <a:p>
            <a:pPr marL="665668" marR="64419" indent="-374438">
              <a:lnSpc>
                <a:spcPct val="102600"/>
              </a:lnSpc>
              <a:spcBef>
                <a:spcPts val="11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137" dirty="0">
                <a:latin typeface="Tahoma"/>
                <a:cs typeface="Tahoma"/>
              </a:rPr>
              <a:t>If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you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stuck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Windows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desktop,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least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you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should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use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21" dirty="0">
                <a:latin typeface="Tahoma"/>
                <a:cs typeface="Tahoma"/>
              </a:rPr>
              <a:t>GNU/Linux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virtual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machine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(such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VirtualBox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which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open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source),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though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there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could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small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performance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penalty.</a:t>
            </a:r>
            <a:r>
              <a:rPr sz="2325" spc="285" dirty="0">
                <a:latin typeface="Tahoma"/>
                <a:cs typeface="Tahoma"/>
              </a:rPr>
              <a:t> </a:t>
            </a:r>
            <a:r>
              <a:rPr sz="2325" spc="11" dirty="0">
                <a:latin typeface="Tahoma"/>
                <a:cs typeface="Tahoma"/>
              </a:rPr>
              <a:t>With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Windows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10,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you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also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run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your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favorite </a:t>
            </a:r>
            <a:r>
              <a:rPr sz="2325" spc="-6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native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distro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through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Windows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Subsystem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dirty="0">
                <a:latin typeface="Tahoma"/>
                <a:cs typeface="Tahoma"/>
              </a:rPr>
              <a:t>(WSL2)</a:t>
            </a:r>
            <a:endParaRPr sz="2325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55049" y="5313678"/>
            <a:ext cx="2608993" cy="389202"/>
            <a:chOff x="2390376" y="2514157"/>
            <a:chExt cx="1234440" cy="184150"/>
          </a:xfrm>
        </p:grpSpPr>
        <p:sp>
          <p:nvSpPr>
            <p:cNvPr id="5" name="object 5"/>
            <p:cNvSpPr/>
            <p:nvPr/>
          </p:nvSpPr>
          <p:spPr>
            <a:xfrm>
              <a:off x="2490045" y="2604741"/>
              <a:ext cx="1035050" cy="3175"/>
            </a:xfrm>
            <a:custGeom>
              <a:avLst/>
              <a:gdLst/>
              <a:ahLst/>
              <a:cxnLst/>
              <a:rect l="l" t="t" r="r" b="b"/>
              <a:pathLst>
                <a:path w="1035050" h="3175">
                  <a:moveTo>
                    <a:pt x="0" y="2650"/>
                  </a:moveTo>
                  <a:lnTo>
                    <a:pt x="1034966" y="0"/>
                  </a:lnTo>
                </a:path>
              </a:pathLst>
            </a:custGeom>
            <a:ln w="144974">
              <a:solidFill>
                <a:srgbClr val="ACD8E6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0376" y="2516758"/>
              <a:ext cx="181261" cy="1812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3419" y="2514157"/>
              <a:ext cx="181264" cy="18121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493096" y="5365593"/>
            <a:ext cx="226808" cy="237216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</a:pPr>
            <a:r>
              <a:rPr sz="1374" dirty="0">
                <a:latin typeface="Cambria"/>
                <a:cs typeface="Cambria"/>
              </a:rPr>
              <a:t>:-)</a:t>
            </a:r>
            <a:endParaRPr sz="1374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26865" y="4712744"/>
            <a:ext cx="1338048" cy="1631962"/>
            <a:chOff x="1620003" y="2229826"/>
            <a:chExt cx="633095" cy="772160"/>
          </a:xfrm>
        </p:grpSpPr>
        <p:sp>
          <p:nvSpPr>
            <p:cNvPr id="10" name="object 10"/>
            <p:cNvSpPr/>
            <p:nvPr/>
          </p:nvSpPr>
          <p:spPr>
            <a:xfrm>
              <a:off x="1729123" y="2380401"/>
              <a:ext cx="417830" cy="560705"/>
            </a:xfrm>
            <a:custGeom>
              <a:avLst/>
              <a:gdLst/>
              <a:ahLst/>
              <a:cxnLst/>
              <a:rect l="l" t="t" r="r" b="b"/>
              <a:pathLst>
                <a:path w="417830" h="560705">
                  <a:moveTo>
                    <a:pt x="201837" y="560346"/>
                  </a:moveTo>
                  <a:lnTo>
                    <a:pt x="152661" y="554818"/>
                  </a:lnTo>
                  <a:lnTo>
                    <a:pt x="106333" y="536728"/>
                  </a:lnTo>
                  <a:lnTo>
                    <a:pt x="71237" y="514052"/>
                  </a:lnTo>
                  <a:lnTo>
                    <a:pt x="41166" y="485130"/>
                  </a:lnTo>
                  <a:lnTo>
                    <a:pt x="18004" y="450391"/>
                  </a:lnTo>
                  <a:lnTo>
                    <a:pt x="3680" y="411257"/>
                  </a:lnTo>
                  <a:lnTo>
                    <a:pt x="0" y="385846"/>
                  </a:lnTo>
                  <a:lnTo>
                    <a:pt x="183" y="360154"/>
                  </a:lnTo>
                  <a:lnTo>
                    <a:pt x="11033" y="309898"/>
                  </a:lnTo>
                  <a:lnTo>
                    <a:pt x="33101" y="259281"/>
                  </a:lnTo>
                  <a:lnTo>
                    <a:pt x="40164" y="242278"/>
                  </a:lnTo>
                  <a:lnTo>
                    <a:pt x="46679" y="223220"/>
                  </a:lnTo>
                  <a:lnTo>
                    <a:pt x="52695" y="203974"/>
                  </a:lnTo>
                  <a:lnTo>
                    <a:pt x="59290" y="184988"/>
                  </a:lnTo>
                  <a:lnTo>
                    <a:pt x="67540" y="166712"/>
                  </a:lnTo>
                  <a:lnTo>
                    <a:pt x="76949" y="151075"/>
                  </a:lnTo>
                  <a:lnTo>
                    <a:pt x="87207" y="135922"/>
                  </a:lnTo>
                  <a:lnTo>
                    <a:pt x="97032" y="120566"/>
                  </a:lnTo>
                  <a:lnTo>
                    <a:pt x="105136" y="104321"/>
                  </a:lnTo>
                  <a:lnTo>
                    <a:pt x="108694" y="94048"/>
                  </a:lnTo>
                  <a:lnTo>
                    <a:pt x="111498" y="83533"/>
                  </a:lnTo>
                  <a:lnTo>
                    <a:pt x="113943" y="72900"/>
                  </a:lnTo>
                  <a:lnTo>
                    <a:pt x="116423" y="62277"/>
                  </a:lnTo>
                  <a:lnTo>
                    <a:pt x="134372" y="23028"/>
                  </a:lnTo>
                  <a:lnTo>
                    <a:pt x="167628" y="3159"/>
                  </a:lnTo>
                  <a:lnTo>
                    <a:pt x="193633" y="0"/>
                  </a:lnTo>
                  <a:lnTo>
                    <a:pt x="206710" y="760"/>
                  </a:lnTo>
                  <a:lnTo>
                    <a:pt x="252853" y="10481"/>
                  </a:lnTo>
                  <a:lnTo>
                    <a:pt x="289311" y="23553"/>
                  </a:lnTo>
                  <a:lnTo>
                    <a:pt x="322329" y="49004"/>
                  </a:lnTo>
                  <a:lnTo>
                    <a:pt x="346938" y="90807"/>
                  </a:lnTo>
                  <a:lnTo>
                    <a:pt x="356926" y="112980"/>
                  </a:lnTo>
                  <a:lnTo>
                    <a:pt x="363276" y="126416"/>
                  </a:lnTo>
                  <a:lnTo>
                    <a:pt x="382684" y="166712"/>
                  </a:lnTo>
                  <a:lnTo>
                    <a:pt x="403051" y="219998"/>
                  </a:lnTo>
                  <a:lnTo>
                    <a:pt x="415380" y="275743"/>
                  </a:lnTo>
                  <a:lnTo>
                    <a:pt x="417733" y="304259"/>
                  </a:lnTo>
                  <a:lnTo>
                    <a:pt x="417170" y="332861"/>
                  </a:lnTo>
                  <a:lnTo>
                    <a:pt x="406352" y="388817"/>
                  </a:lnTo>
                  <a:lnTo>
                    <a:pt x="378117" y="446544"/>
                  </a:lnTo>
                  <a:lnTo>
                    <a:pt x="336601" y="495931"/>
                  </a:lnTo>
                  <a:lnTo>
                    <a:pt x="307198" y="520584"/>
                  </a:lnTo>
                  <a:lnTo>
                    <a:pt x="274517" y="540606"/>
                  </a:lnTo>
                  <a:lnTo>
                    <a:pt x="239187" y="554395"/>
                  </a:lnTo>
                  <a:lnTo>
                    <a:pt x="201837" y="560346"/>
                  </a:lnTo>
                  <a:close/>
                </a:path>
              </a:pathLst>
            </a:custGeom>
            <a:solidFill>
              <a:srgbClr val="020204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5833" y="2825602"/>
              <a:ext cx="380165" cy="1378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29637" y="2229826"/>
              <a:ext cx="233045" cy="295275"/>
            </a:xfrm>
            <a:custGeom>
              <a:avLst/>
              <a:gdLst/>
              <a:ahLst/>
              <a:cxnLst/>
              <a:rect l="l" t="t" r="r" b="b"/>
              <a:pathLst>
                <a:path w="233044" h="295275">
                  <a:moveTo>
                    <a:pt x="95628" y="295023"/>
                  </a:moveTo>
                  <a:lnTo>
                    <a:pt x="67430" y="293708"/>
                  </a:lnTo>
                  <a:lnTo>
                    <a:pt x="59920" y="293417"/>
                  </a:lnTo>
                  <a:lnTo>
                    <a:pt x="52383" y="293317"/>
                  </a:lnTo>
                  <a:lnTo>
                    <a:pt x="37453" y="291447"/>
                  </a:lnTo>
                  <a:lnTo>
                    <a:pt x="4173" y="258733"/>
                  </a:lnTo>
                  <a:lnTo>
                    <a:pt x="5098" y="251635"/>
                  </a:lnTo>
                  <a:lnTo>
                    <a:pt x="5148" y="238311"/>
                  </a:lnTo>
                  <a:lnTo>
                    <a:pt x="2553" y="196054"/>
                  </a:lnTo>
                  <a:lnTo>
                    <a:pt x="2291" y="181242"/>
                  </a:lnTo>
                  <a:lnTo>
                    <a:pt x="1904" y="166435"/>
                  </a:lnTo>
                  <a:lnTo>
                    <a:pt x="1231" y="152202"/>
                  </a:lnTo>
                  <a:lnTo>
                    <a:pt x="489" y="137972"/>
                  </a:lnTo>
                  <a:lnTo>
                    <a:pt x="0" y="123742"/>
                  </a:lnTo>
                  <a:lnTo>
                    <a:pt x="3344" y="80662"/>
                  </a:lnTo>
                  <a:lnTo>
                    <a:pt x="19975" y="40858"/>
                  </a:lnTo>
                  <a:lnTo>
                    <a:pt x="52139" y="12124"/>
                  </a:lnTo>
                  <a:lnTo>
                    <a:pt x="91137" y="593"/>
                  </a:lnTo>
                  <a:lnTo>
                    <a:pt x="104789" y="0"/>
                  </a:lnTo>
                  <a:lnTo>
                    <a:pt x="123235" y="1543"/>
                  </a:lnTo>
                  <a:lnTo>
                    <a:pt x="174191" y="22205"/>
                  </a:lnTo>
                  <a:lnTo>
                    <a:pt x="205572" y="56011"/>
                  </a:lnTo>
                  <a:lnTo>
                    <a:pt x="221633" y="92046"/>
                  </a:lnTo>
                  <a:lnTo>
                    <a:pt x="227175" y="132075"/>
                  </a:lnTo>
                  <a:lnTo>
                    <a:pt x="227783" y="152438"/>
                  </a:lnTo>
                  <a:lnTo>
                    <a:pt x="228430" y="172785"/>
                  </a:lnTo>
                  <a:lnTo>
                    <a:pt x="229804" y="191995"/>
                  </a:lnTo>
                  <a:lnTo>
                    <a:pt x="231449" y="211195"/>
                  </a:lnTo>
                  <a:lnTo>
                    <a:pt x="232587" y="230393"/>
                  </a:lnTo>
                  <a:lnTo>
                    <a:pt x="226637" y="270713"/>
                  </a:lnTo>
                  <a:lnTo>
                    <a:pt x="186200" y="283404"/>
                  </a:lnTo>
                  <a:lnTo>
                    <a:pt x="178044" y="283505"/>
                  </a:lnTo>
                  <a:lnTo>
                    <a:pt x="169908" y="283940"/>
                  </a:lnTo>
                  <a:lnTo>
                    <a:pt x="158255" y="285731"/>
                  </a:lnTo>
                  <a:lnTo>
                    <a:pt x="146748" y="288427"/>
                  </a:lnTo>
                  <a:lnTo>
                    <a:pt x="135263" y="291302"/>
                  </a:lnTo>
                  <a:lnTo>
                    <a:pt x="123675" y="293629"/>
                  </a:lnTo>
                  <a:lnTo>
                    <a:pt x="109694" y="294955"/>
                  </a:lnTo>
                  <a:lnTo>
                    <a:pt x="95628" y="295023"/>
                  </a:lnTo>
                  <a:close/>
                </a:path>
              </a:pathLst>
            </a:custGeom>
            <a:solidFill>
              <a:srgbClr val="020204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/>
            <p:cNvSpPr/>
            <p:nvPr/>
          </p:nvSpPr>
          <p:spPr>
            <a:xfrm>
              <a:off x="1766331" y="2436481"/>
              <a:ext cx="318135" cy="474980"/>
            </a:xfrm>
            <a:custGeom>
              <a:avLst/>
              <a:gdLst/>
              <a:ahLst/>
              <a:cxnLst/>
              <a:rect l="l" t="t" r="r" b="b"/>
              <a:pathLst>
                <a:path w="318135" h="474980">
                  <a:moveTo>
                    <a:pt x="151049" y="474467"/>
                  </a:moveTo>
                  <a:lnTo>
                    <a:pt x="88632" y="460369"/>
                  </a:lnTo>
                  <a:lnTo>
                    <a:pt x="44625" y="426986"/>
                  </a:lnTo>
                  <a:lnTo>
                    <a:pt x="15315" y="380779"/>
                  </a:lnTo>
                  <a:lnTo>
                    <a:pt x="1954" y="332099"/>
                  </a:lnTo>
                  <a:lnTo>
                    <a:pt x="0" y="306829"/>
                  </a:lnTo>
                  <a:lnTo>
                    <a:pt x="1019" y="281498"/>
                  </a:lnTo>
                  <a:lnTo>
                    <a:pt x="8586" y="240878"/>
                  </a:lnTo>
                  <a:lnTo>
                    <a:pt x="22494" y="201918"/>
                  </a:lnTo>
                  <a:lnTo>
                    <a:pt x="41531" y="165682"/>
                  </a:lnTo>
                  <a:lnTo>
                    <a:pt x="48955" y="154224"/>
                  </a:lnTo>
                  <a:lnTo>
                    <a:pt x="48572" y="147076"/>
                  </a:lnTo>
                  <a:lnTo>
                    <a:pt x="61340" y="104457"/>
                  </a:lnTo>
                  <a:lnTo>
                    <a:pt x="78478" y="79122"/>
                  </a:lnTo>
                  <a:lnTo>
                    <a:pt x="82227" y="73229"/>
                  </a:lnTo>
                  <a:lnTo>
                    <a:pt x="89694" y="35512"/>
                  </a:lnTo>
                  <a:lnTo>
                    <a:pt x="89859" y="31256"/>
                  </a:lnTo>
                  <a:lnTo>
                    <a:pt x="117597" y="342"/>
                  </a:lnTo>
                  <a:lnTo>
                    <a:pt x="129625" y="0"/>
                  </a:lnTo>
                  <a:lnTo>
                    <a:pt x="136839" y="453"/>
                  </a:lnTo>
                  <a:lnTo>
                    <a:pt x="144055" y="1085"/>
                  </a:lnTo>
                  <a:lnTo>
                    <a:pt x="151276" y="1561"/>
                  </a:lnTo>
                  <a:lnTo>
                    <a:pt x="195280" y="1600"/>
                  </a:lnTo>
                  <a:lnTo>
                    <a:pt x="228450" y="22413"/>
                  </a:lnTo>
                  <a:lnTo>
                    <a:pt x="235550" y="38666"/>
                  </a:lnTo>
                  <a:lnTo>
                    <a:pt x="237839" y="44122"/>
                  </a:lnTo>
                  <a:lnTo>
                    <a:pt x="242315" y="53948"/>
                  </a:lnTo>
                  <a:lnTo>
                    <a:pt x="247164" y="63606"/>
                  </a:lnTo>
                  <a:lnTo>
                    <a:pt x="252148" y="73343"/>
                  </a:lnTo>
                  <a:lnTo>
                    <a:pt x="256810" y="82952"/>
                  </a:lnTo>
                  <a:lnTo>
                    <a:pt x="262578" y="96771"/>
                  </a:lnTo>
                  <a:lnTo>
                    <a:pt x="267347" y="110965"/>
                  </a:lnTo>
                  <a:lnTo>
                    <a:pt x="271097" y="125461"/>
                  </a:lnTo>
                  <a:lnTo>
                    <a:pt x="273807" y="140189"/>
                  </a:lnTo>
                  <a:lnTo>
                    <a:pt x="281650" y="148967"/>
                  </a:lnTo>
                  <a:lnTo>
                    <a:pt x="312036" y="210550"/>
                  </a:lnTo>
                  <a:lnTo>
                    <a:pt x="317788" y="278509"/>
                  </a:lnTo>
                  <a:lnTo>
                    <a:pt x="314946" y="312801"/>
                  </a:lnTo>
                  <a:lnTo>
                    <a:pt x="307966" y="351446"/>
                  </a:lnTo>
                  <a:lnTo>
                    <a:pt x="292584" y="387033"/>
                  </a:lnTo>
                  <a:lnTo>
                    <a:pt x="265751" y="417448"/>
                  </a:lnTo>
                  <a:lnTo>
                    <a:pt x="227335" y="450367"/>
                  </a:lnTo>
                  <a:lnTo>
                    <a:pt x="182962" y="470546"/>
                  </a:lnTo>
                  <a:lnTo>
                    <a:pt x="151049" y="474467"/>
                  </a:lnTo>
                  <a:close/>
                </a:path>
                <a:path w="318135" h="474980">
                  <a:moveTo>
                    <a:pt x="195280" y="1600"/>
                  </a:moveTo>
                  <a:lnTo>
                    <a:pt x="160359" y="1600"/>
                  </a:lnTo>
                  <a:lnTo>
                    <a:pt x="178528" y="953"/>
                  </a:lnTo>
                  <a:lnTo>
                    <a:pt x="187605" y="1063"/>
                  </a:lnTo>
                  <a:lnTo>
                    <a:pt x="193651" y="1367"/>
                  </a:lnTo>
                  <a:lnTo>
                    <a:pt x="195280" y="1600"/>
                  </a:lnTo>
                  <a:close/>
                </a:path>
              </a:pathLst>
            </a:custGeom>
            <a:solidFill>
              <a:srgbClr val="FDFDFB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4726" y="2426067"/>
              <a:ext cx="187219" cy="1208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9116" y="2424197"/>
              <a:ext cx="186551" cy="847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36595" y="2336647"/>
              <a:ext cx="169679" cy="14020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76191" y="2376607"/>
              <a:ext cx="78358" cy="575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5354" y="2250292"/>
              <a:ext cx="77181" cy="1629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60012" y="2366229"/>
              <a:ext cx="24047" cy="2378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31724" y="2338769"/>
              <a:ext cx="68573" cy="3386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9035" y="2323220"/>
              <a:ext cx="43705" cy="7438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45399" y="2365961"/>
              <a:ext cx="155255" cy="13504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77734" y="2452247"/>
              <a:ext cx="46197" cy="354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38465" y="2411108"/>
              <a:ext cx="161184" cy="6984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45205" y="2394140"/>
              <a:ext cx="153083" cy="7738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52855" y="2337594"/>
              <a:ext cx="36126" cy="2579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85214" y="2401758"/>
              <a:ext cx="174665" cy="9215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033135" y="2487956"/>
              <a:ext cx="157480" cy="307975"/>
            </a:xfrm>
            <a:custGeom>
              <a:avLst/>
              <a:gdLst/>
              <a:ahLst/>
              <a:cxnLst/>
              <a:rect l="l" t="t" r="r" b="b"/>
              <a:pathLst>
                <a:path w="157480" h="307975">
                  <a:moveTo>
                    <a:pt x="96895" y="307693"/>
                  </a:moveTo>
                  <a:lnTo>
                    <a:pt x="83427" y="303692"/>
                  </a:lnTo>
                  <a:lnTo>
                    <a:pt x="77126" y="299416"/>
                  </a:lnTo>
                  <a:lnTo>
                    <a:pt x="70796" y="287787"/>
                  </a:lnTo>
                  <a:lnTo>
                    <a:pt x="70270" y="281319"/>
                  </a:lnTo>
                  <a:lnTo>
                    <a:pt x="71945" y="269097"/>
                  </a:lnTo>
                  <a:lnTo>
                    <a:pt x="80098" y="246535"/>
                  </a:lnTo>
                  <a:lnTo>
                    <a:pt x="83870" y="235560"/>
                  </a:lnTo>
                  <a:lnTo>
                    <a:pt x="93696" y="190318"/>
                  </a:lnTo>
                  <a:lnTo>
                    <a:pt x="93900" y="178743"/>
                  </a:lnTo>
                  <a:lnTo>
                    <a:pt x="92826" y="167223"/>
                  </a:lnTo>
                  <a:lnTo>
                    <a:pt x="75047" y="126856"/>
                  </a:lnTo>
                  <a:lnTo>
                    <a:pt x="41811" y="101366"/>
                  </a:lnTo>
                  <a:lnTo>
                    <a:pt x="34516" y="95960"/>
                  </a:lnTo>
                  <a:lnTo>
                    <a:pt x="9070" y="62161"/>
                  </a:lnTo>
                  <a:lnTo>
                    <a:pt x="0" y="32636"/>
                  </a:lnTo>
                  <a:lnTo>
                    <a:pt x="585" y="24329"/>
                  </a:lnTo>
                  <a:lnTo>
                    <a:pt x="7255" y="9845"/>
                  </a:lnTo>
                  <a:lnTo>
                    <a:pt x="13528" y="3799"/>
                  </a:lnTo>
                  <a:lnTo>
                    <a:pt x="27017" y="0"/>
                  </a:lnTo>
                  <a:lnTo>
                    <a:pt x="33347" y="653"/>
                  </a:lnTo>
                  <a:lnTo>
                    <a:pt x="65068" y="27163"/>
                  </a:lnTo>
                  <a:lnTo>
                    <a:pt x="70072" y="34756"/>
                  </a:lnTo>
                  <a:lnTo>
                    <a:pt x="75206" y="42248"/>
                  </a:lnTo>
                  <a:lnTo>
                    <a:pt x="83353" y="52433"/>
                  </a:lnTo>
                  <a:lnTo>
                    <a:pt x="92070" y="62163"/>
                  </a:lnTo>
                  <a:lnTo>
                    <a:pt x="100820" y="71859"/>
                  </a:lnTo>
                  <a:lnTo>
                    <a:pt x="109080" y="81956"/>
                  </a:lnTo>
                  <a:lnTo>
                    <a:pt x="128805" y="116654"/>
                  </a:lnTo>
                  <a:lnTo>
                    <a:pt x="145726" y="163276"/>
                  </a:lnTo>
                  <a:lnTo>
                    <a:pt x="155899" y="211760"/>
                  </a:lnTo>
                  <a:lnTo>
                    <a:pt x="156915" y="224482"/>
                  </a:lnTo>
                  <a:lnTo>
                    <a:pt x="156836" y="238307"/>
                  </a:lnTo>
                  <a:lnTo>
                    <a:pt x="146393" y="276538"/>
                  </a:lnTo>
                  <a:lnTo>
                    <a:pt x="117672" y="304275"/>
                  </a:lnTo>
                  <a:lnTo>
                    <a:pt x="104123" y="307656"/>
                  </a:lnTo>
                  <a:lnTo>
                    <a:pt x="96895" y="307693"/>
                  </a:lnTo>
                  <a:close/>
                </a:path>
              </a:pathLst>
            </a:custGeom>
            <a:solidFill>
              <a:srgbClr val="020204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56154" y="2571923"/>
              <a:ext cx="85504" cy="22223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78627" y="2534524"/>
              <a:ext cx="108797" cy="10179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11393" y="2527045"/>
              <a:ext cx="163878" cy="11360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12286" y="2506475"/>
              <a:ext cx="118449" cy="2878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003021" y="2764528"/>
              <a:ext cx="217614" cy="23684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033154" y="2757679"/>
              <a:ext cx="219538" cy="22631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33154" y="2758918"/>
              <a:ext cx="219538" cy="20252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066599" y="2596233"/>
              <a:ext cx="56250" cy="6625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062859" y="2753308"/>
              <a:ext cx="121122" cy="10871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072209" y="2766398"/>
              <a:ext cx="102258" cy="6495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86015" y="2735285"/>
              <a:ext cx="91923" cy="7598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704764" y="2500218"/>
              <a:ext cx="155575" cy="365125"/>
            </a:xfrm>
            <a:custGeom>
              <a:avLst/>
              <a:gdLst/>
              <a:ahLst/>
              <a:cxnLst/>
              <a:rect l="l" t="t" r="r" b="b"/>
              <a:pathLst>
                <a:path w="155575" h="365125">
                  <a:moveTo>
                    <a:pt x="135581" y="365048"/>
                  </a:moveTo>
                  <a:lnTo>
                    <a:pt x="90345" y="348842"/>
                  </a:lnTo>
                  <a:lnTo>
                    <a:pt x="53959" y="322149"/>
                  </a:lnTo>
                  <a:lnTo>
                    <a:pt x="22881" y="286524"/>
                  </a:lnTo>
                  <a:lnTo>
                    <a:pt x="4423" y="252774"/>
                  </a:lnTo>
                  <a:lnTo>
                    <a:pt x="0" y="230898"/>
                  </a:lnTo>
                  <a:lnTo>
                    <a:pt x="1206" y="223595"/>
                  </a:lnTo>
                  <a:lnTo>
                    <a:pt x="16179" y="189117"/>
                  </a:lnTo>
                  <a:lnTo>
                    <a:pt x="20663" y="180564"/>
                  </a:lnTo>
                  <a:lnTo>
                    <a:pt x="37609" y="144094"/>
                  </a:lnTo>
                  <a:lnTo>
                    <a:pt x="49244" y="106532"/>
                  </a:lnTo>
                  <a:lnTo>
                    <a:pt x="51926" y="97731"/>
                  </a:lnTo>
                  <a:lnTo>
                    <a:pt x="72537" y="62175"/>
                  </a:lnTo>
                  <a:lnTo>
                    <a:pt x="122209" y="0"/>
                  </a:lnTo>
                  <a:lnTo>
                    <a:pt x="120837" y="7821"/>
                  </a:lnTo>
                  <a:lnTo>
                    <a:pt x="112554" y="51205"/>
                  </a:lnTo>
                  <a:lnTo>
                    <a:pt x="92057" y="89940"/>
                  </a:lnTo>
                  <a:lnTo>
                    <a:pt x="84459" y="99308"/>
                  </a:lnTo>
                  <a:lnTo>
                    <a:pt x="77271" y="108963"/>
                  </a:lnTo>
                  <a:lnTo>
                    <a:pt x="72202" y="117172"/>
                  </a:lnTo>
                  <a:lnTo>
                    <a:pt x="67676" y="125696"/>
                  </a:lnTo>
                  <a:lnTo>
                    <a:pt x="63474" y="134402"/>
                  </a:lnTo>
                  <a:lnTo>
                    <a:pt x="59379" y="143158"/>
                  </a:lnTo>
                  <a:lnTo>
                    <a:pt x="56205" y="149887"/>
                  </a:lnTo>
                  <a:lnTo>
                    <a:pt x="52924" y="156569"/>
                  </a:lnTo>
                  <a:lnTo>
                    <a:pt x="50441" y="163580"/>
                  </a:lnTo>
                  <a:lnTo>
                    <a:pt x="46683" y="177289"/>
                  </a:lnTo>
                  <a:lnTo>
                    <a:pt x="44875" y="191394"/>
                  </a:lnTo>
                  <a:lnTo>
                    <a:pt x="44924" y="205642"/>
                  </a:lnTo>
                  <a:lnTo>
                    <a:pt x="57120" y="245421"/>
                  </a:lnTo>
                  <a:lnTo>
                    <a:pt x="95771" y="280352"/>
                  </a:lnTo>
                  <a:lnTo>
                    <a:pt x="132046" y="309539"/>
                  </a:lnTo>
                  <a:lnTo>
                    <a:pt x="138742" y="315226"/>
                  </a:lnTo>
                  <a:lnTo>
                    <a:pt x="155380" y="346533"/>
                  </a:lnTo>
                  <a:lnTo>
                    <a:pt x="154495" y="351512"/>
                  </a:lnTo>
                  <a:lnTo>
                    <a:pt x="149790" y="358778"/>
                  </a:lnTo>
                  <a:lnTo>
                    <a:pt x="146616" y="361288"/>
                  </a:lnTo>
                  <a:lnTo>
                    <a:pt x="139505" y="364415"/>
                  </a:lnTo>
                  <a:lnTo>
                    <a:pt x="135581" y="365048"/>
                  </a:lnTo>
                  <a:close/>
                </a:path>
              </a:pathLst>
            </a:custGeom>
            <a:solidFill>
              <a:srgbClr val="020204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28138" y="2588753"/>
              <a:ext cx="69480" cy="17549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20003" y="2743506"/>
              <a:ext cx="241800" cy="23970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763668" y="2772008"/>
              <a:ext cx="80188" cy="145443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8163234" y="5193241"/>
            <a:ext cx="590513" cy="720694"/>
            <a:chOff x="3861008" y="2457172"/>
            <a:chExt cx="279400" cy="340995"/>
          </a:xfrm>
        </p:grpSpPr>
        <p:sp>
          <p:nvSpPr>
            <p:cNvPr id="45" name="object 45"/>
            <p:cNvSpPr/>
            <p:nvPr/>
          </p:nvSpPr>
          <p:spPr>
            <a:xfrm>
              <a:off x="3909212" y="2457183"/>
              <a:ext cx="184150" cy="323850"/>
            </a:xfrm>
            <a:custGeom>
              <a:avLst/>
              <a:gdLst/>
              <a:ahLst/>
              <a:cxnLst/>
              <a:rect l="l" t="t" r="r" b="b"/>
              <a:pathLst>
                <a:path w="184150" h="323850">
                  <a:moveTo>
                    <a:pt x="184061" y="200596"/>
                  </a:moveTo>
                  <a:lnTo>
                    <a:pt x="173469" y="151536"/>
                  </a:lnTo>
                  <a:lnTo>
                    <a:pt x="160058" y="122199"/>
                  </a:lnTo>
                  <a:lnTo>
                    <a:pt x="157264" y="116268"/>
                  </a:lnTo>
                  <a:lnTo>
                    <a:pt x="154279" y="109778"/>
                  </a:lnTo>
                  <a:lnTo>
                    <a:pt x="151574" y="103149"/>
                  </a:lnTo>
                  <a:lnTo>
                    <a:pt x="146291" y="93865"/>
                  </a:lnTo>
                  <a:lnTo>
                    <a:pt x="146253" y="93192"/>
                  </a:lnTo>
                  <a:lnTo>
                    <a:pt x="145542" y="84721"/>
                  </a:lnTo>
                  <a:lnTo>
                    <a:pt x="144932" y="76250"/>
                  </a:lnTo>
                  <a:lnTo>
                    <a:pt x="140411" y="35052"/>
                  </a:lnTo>
                  <a:lnTo>
                    <a:pt x="114046" y="5664"/>
                  </a:lnTo>
                  <a:lnTo>
                    <a:pt x="82397" y="0"/>
                  </a:lnTo>
                  <a:lnTo>
                    <a:pt x="74269" y="1625"/>
                  </a:lnTo>
                  <a:lnTo>
                    <a:pt x="45986" y="31229"/>
                  </a:lnTo>
                  <a:lnTo>
                    <a:pt x="43980" y="56730"/>
                  </a:lnTo>
                  <a:lnTo>
                    <a:pt x="44754" y="65087"/>
                  </a:lnTo>
                  <a:lnTo>
                    <a:pt x="45059" y="73456"/>
                  </a:lnTo>
                  <a:lnTo>
                    <a:pt x="45237" y="79984"/>
                  </a:lnTo>
                  <a:lnTo>
                    <a:pt x="45351" y="86512"/>
                  </a:lnTo>
                  <a:lnTo>
                    <a:pt x="45542" y="93040"/>
                  </a:lnTo>
                  <a:lnTo>
                    <a:pt x="45935" y="99555"/>
                  </a:lnTo>
                  <a:lnTo>
                    <a:pt x="46177" y="102349"/>
                  </a:lnTo>
                  <a:lnTo>
                    <a:pt x="46494" y="105143"/>
                  </a:lnTo>
                  <a:lnTo>
                    <a:pt x="46482" y="111010"/>
                  </a:lnTo>
                  <a:lnTo>
                    <a:pt x="33845" y="133070"/>
                  </a:lnTo>
                  <a:lnTo>
                    <a:pt x="29730" y="139903"/>
                  </a:lnTo>
                  <a:lnTo>
                    <a:pt x="26060" y="148018"/>
                  </a:lnTo>
                  <a:lnTo>
                    <a:pt x="23152" y="156387"/>
                  </a:lnTo>
                  <a:lnTo>
                    <a:pt x="20497" y="164871"/>
                  </a:lnTo>
                  <a:lnTo>
                    <a:pt x="17614" y="173278"/>
                  </a:lnTo>
                  <a:lnTo>
                    <a:pt x="14503" y="180771"/>
                  </a:lnTo>
                  <a:lnTo>
                    <a:pt x="11188" y="188023"/>
                  </a:lnTo>
                  <a:lnTo>
                    <a:pt x="7785" y="195541"/>
                  </a:lnTo>
                  <a:lnTo>
                    <a:pt x="4787" y="203073"/>
                  </a:lnTo>
                  <a:lnTo>
                    <a:pt x="1663" y="213995"/>
                  </a:lnTo>
                  <a:lnTo>
                    <a:pt x="0" y="225234"/>
                  </a:lnTo>
                  <a:lnTo>
                    <a:pt x="114" y="237871"/>
                  </a:lnTo>
                  <a:lnTo>
                    <a:pt x="16624" y="278422"/>
                  </a:lnTo>
                  <a:lnTo>
                    <a:pt x="15405" y="280936"/>
                  </a:lnTo>
                  <a:lnTo>
                    <a:pt x="10172" y="289966"/>
                  </a:lnTo>
                  <a:lnTo>
                    <a:pt x="6096" y="295440"/>
                  </a:lnTo>
                  <a:lnTo>
                    <a:pt x="3251" y="305003"/>
                  </a:lnTo>
                  <a:lnTo>
                    <a:pt x="2971" y="307568"/>
                  </a:lnTo>
                  <a:lnTo>
                    <a:pt x="2984" y="308991"/>
                  </a:lnTo>
                  <a:lnTo>
                    <a:pt x="4102" y="314960"/>
                  </a:lnTo>
                  <a:lnTo>
                    <a:pt x="18567" y="323494"/>
                  </a:lnTo>
                  <a:lnTo>
                    <a:pt x="29019" y="323265"/>
                  </a:lnTo>
                  <a:lnTo>
                    <a:pt x="37045" y="320751"/>
                  </a:lnTo>
                  <a:lnTo>
                    <a:pt x="49784" y="317411"/>
                  </a:lnTo>
                  <a:lnTo>
                    <a:pt x="54571" y="316293"/>
                  </a:lnTo>
                  <a:lnTo>
                    <a:pt x="64401" y="314261"/>
                  </a:lnTo>
                  <a:lnTo>
                    <a:pt x="69481" y="313347"/>
                  </a:lnTo>
                  <a:lnTo>
                    <a:pt x="76428" y="313194"/>
                  </a:lnTo>
                  <a:lnTo>
                    <a:pt x="78270" y="313245"/>
                  </a:lnTo>
                  <a:lnTo>
                    <a:pt x="78536" y="313194"/>
                  </a:lnTo>
                  <a:lnTo>
                    <a:pt x="78955" y="313105"/>
                  </a:lnTo>
                  <a:lnTo>
                    <a:pt x="88887" y="313486"/>
                  </a:lnTo>
                  <a:lnTo>
                    <a:pt x="89242" y="313436"/>
                  </a:lnTo>
                  <a:lnTo>
                    <a:pt x="139674" y="321703"/>
                  </a:lnTo>
                  <a:lnTo>
                    <a:pt x="145935" y="322872"/>
                  </a:lnTo>
                  <a:lnTo>
                    <a:pt x="152260" y="323443"/>
                  </a:lnTo>
                  <a:lnTo>
                    <a:pt x="154495" y="323519"/>
                  </a:lnTo>
                  <a:lnTo>
                    <a:pt x="156743" y="323405"/>
                  </a:lnTo>
                  <a:lnTo>
                    <a:pt x="170472" y="308394"/>
                  </a:lnTo>
                  <a:lnTo>
                    <a:pt x="170091" y="304977"/>
                  </a:lnTo>
                  <a:lnTo>
                    <a:pt x="167208" y="295402"/>
                  </a:lnTo>
                  <a:lnTo>
                    <a:pt x="163093" y="289941"/>
                  </a:lnTo>
                  <a:lnTo>
                    <a:pt x="157734" y="280936"/>
                  </a:lnTo>
                  <a:lnTo>
                    <a:pt x="155994" y="277520"/>
                  </a:lnTo>
                  <a:lnTo>
                    <a:pt x="155752" y="277164"/>
                  </a:lnTo>
                  <a:lnTo>
                    <a:pt x="158051" y="274713"/>
                  </a:lnTo>
                  <a:lnTo>
                    <a:pt x="179044" y="237871"/>
                  </a:lnTo>
                  <a:lnTo>
                    <a:pt x="183819" y="213207"/>
                  </a:lnTo>
                  <a:lnTo>
                    <a:pt x="184061" y="200596"/>
                  </a:lnTo>
                  <a:close/>
                </a:path>
              </a:pathLst>
            </a:custGeom>
            <a:solidFill>
              <a:srgbClr val="020204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/>
            <p:cNvSpPr/>
            <p:nvPr/>
          </p:nvSpPr>
          <p:spPr>
            <a:xfrm>
              <a:off x="3925540" y="2548136"/>
              <a:ext cx="140335" cy="209550"/>
            </a:xfrm>
            <a:custGeom>
              <a:avLst/>
              <a:gdLst/>
              <a:ahLst/>
              <a:cxnLst/>
              <a:rect l="l" t="t" r="r" b="b"/>
              <a:pathLst>
                <a:path w="140335" h="209550">
                  <a:moveTo>
                    <a:pt x="66588" y="209389"/>
                  </a:moveTo>
                  <a:lnTo>
                    <a:pt x="29559" y="197698"/>
                  </a:lnTo>
                  <a:lnTo>
                    <a:pt x="3093" y="157559"/>
                  </a:lnTo>
                  <a:lnTo>
                    <a:pt x="0" y="135488"/>
                  </a:lnTo>
                  <a:lnTo>
                    <a:pt x="450" y="124321"/>
                  </a:lnTo>
                  <a:lnTo>
                    <a:pt x="13149" y="81898"/>
                  </a:lnTo>
                  <a:lnTo>
                    <a:pt x="21583" y="68213"/>
                  </a:lnTo>
                  <a:lnTo>
                    <a:pt x="21147" y="64027"/>
                  </a:lnTo>
                  <a:lnTo>
                    <a:pt x="21546" y="59751"/>
                  </a:lnTo>
                  <a:lnTo>
                    <a:pt x="24750" y="49057"/>
                  </a:lnTo>
                  <a:lnTo>
                    <a:pt x="28821" y="43243"/>
                  </a:lnTo>
                  <a:lnTo>
                    <a:pt x="37565" y="30961"/>
                  </a:lnTo>
                  <a:lnTo>
                    <a:pt x="39622" y="23461"/>
                  </a:lnTo>
                  <a:lnTo>
                    <a:pt x="39398" y="19634"/>
                  </a:lnTo>
                  <a:lnTo>
                    <a:pt x="39612" y="14004"/>
                  </a:lnTo>
                  <a:lnTo>
                    <a:pt x="39777" y="12124"/>
                  </a:lnTo>
                  <a:lnTo>
                    <a:pt x="58204" y="0"/>
                  </a:lnTo>
                  <a:lnTo>
                    <a:pt x="62440" y="750"/>
                  </a:lnTo>
                  <a:lnTo>
                    <a:pt x="72025" y="1129"/>
                  </a:lnTo>
                  <a:lnTo>
                    <a:pt x="87492" y="1129"/>
                  </a:lnTo>
                  <a:lnTo>
                    <a:pt x="88036" y="1206"/>
                  </a:lnTo>
                  <a:lnTo>
                    <a:pt x="103834" y="17278"/>
                  </a:lnTo>
                  <a:lnTo>
                    <a:pt x="107309" y="25526"/>
                  </a:lnTo>
                  <a:lnTo>
                    <a:pt x="120701" y="62029"/>
                  </a:lnTo>
                  <a:lnTo>
                    <a:pt x="125513" y="66996"/>
                  </a:lnTo>
                  <a:lnTo>
                    <a:pt x="139868" y="107847"/>
                  </a:lnTo>
                  <a:lnTo>
                    <a:pt x="139982" y="124321"/>
                  </a:lnTo>
                  <a:lnTo>
                    <a:pt x="138837" y="138121"/>
                  </a:lnTo>
                  <a:lnTo>
                    <a:pt x="125707" y="175842"/>
                  </a:lnTo>
                  <a:lnTo>
                    <a:pt x="93888" y="202635"/>
                  </a:lnTo>
                  <a:lnTo>
                    <a:pt x="80655" y="207660"/>
                  </a:lnTo>
                  <a:lnTo>
                    <a:pt x="66588" y="209389"/>
                  </a:lnTo>
                  <a:close/>
                </a:path>
                <a:path w="140335" h="209550">
                  <a:moveTo>
                    <a:pt x="87492" y="1129"/>
                  </a:moveTo>
                  <a:lnTo>
                    <a:pt x="72025" y="1129"/>
                  </a:lnTo>
                  <a:lnTo>
                    <a:pt x="77370" y="428"/>
                  </a:lnTo>
                  <a:lnTo>
                    <a:pt x="85366" y="827"/>
                  </a:lnTo>
                  <a:lnTo>
                    <a:pt x="87492" y="1129"/>
                  </a:lnTo>
                  <a:close/>
                </a:path>
              </a:pathLst>
            </a:custGeom>
            <a:solidFill>
              <a:srgbClr val="FDFDFB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47" name="object 4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953377" y="2542004"/>
              <a:ext cx="84401" cy="5512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957116" y="2504357"/>
              <a:ext cx="74797" cy="6216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973968" y="2465336"/>
              <a:ext cx="64715" cy="8201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57116" y="2495255"/>
              <a:ext cx="76707" cy="8155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960283" y="2504075"/>
              <a:ext cx="67512" cy="5974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930937" y="2532654"/>
              <a:ext cx="182085" cy="17406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030044" y="2693470"/>
              <a:ext cx="95932" cy="10441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043134" y="2687860"/>
              <a:ext cx="96866" cy="10233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945897" y="2579403"/>
              <a:ext cx="7692" cy="1137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058094" y="2618672"/>
              <a:ext cx="47888" cy="8186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066268" y="2680095"/>
              <a:ext cx="41275" cy="34290"/>
            </a:xfrm>
            <a:custGeom>
              <a:avLst/>
              <a:gdLst/>
              <a:ahLst/>
              <a:cxnLst/>
              <a:rect l="l" t="t" r="r" b="b"/>
              <a:pathLst>
                <a:path w="41275" h="34289">
                  <a:moveTo>
                    <a:pt x="13223" y="33823"/>
                  </a:moveTo>
                  <a:lnTo>
                    <a:pt x="0" y="16555"/>
                  </a:lnTo>
                  <a:lnTo>
                    <a:pt x="475" y="12805"/>
                  </a:lnTo>
                  <a:lnTo>
                    <a:pt x="14440" y="0"/>
                  </a:lnTo>
                  <a:lnTo>
                    <a:pt x="17070" y="271"/>
                  </a:lnTo>
                  <a:lnTo>
                    <a:pt x="22057" y="1119"/>
                  </a:lnTo>
                  <a:lnTo>
                    <a:pt x="24482" y="1675"/>
                  </a:lnTo>
                  <a:lnTo>
                    <a:pt x="29506" y="2617"/>
                  </a:lnTo>
                  <a:lnTo>
                    <a:pt x="40726" y="10918"/>
                  </a:lnTo>
                  <a:lnTo>
                    <a:pt x="40685" y="12805"/>
                  </a:lnTo>
                  <a:lnTo>
                    <a:pt x="17529" y="33766"/>
                  </a:lnTo>
                  <a:lnTo>
                    <a:pt x="13223" y="33823"/>
                  </a:lnTo>
                  <a:close/>
                </a:path>
              </a:pathLst>
            </a:custGeom>
            <a:solidFill>
              <a:srgbClr val="020204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58" name="object 5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898398" y="2576457"/>
              <a:ext cx="68497" cy="16093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861008" y="2683707"/>
              <a:ext cx="107431" cy="105836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4059775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27" dirty="0"/>
              <a:t>Desktop</a:t>
            </a:r>
            <a:r>
              <a:rPr sz="2959" spc="-53" dirty="0"/>
              <a:t> </a:t>
            </a:r>
            <a:r>
              <a:rPr sz="2959" spc="-95" dirty="0"/>
              <a:t>Linux</a:t>
            </a:r>
            <a:r>
              <a:rPr sz="2959" spc="-42" dirty="0"/>
              <a:t> </a:t>
            </a:r>
            <a:r>
              <a:rPr sz="2959" spc="-95" dirty="0"/>
              <a:t>distribution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41165" y="1526553"/>
            <a:ext cx="7045890" cy="4103314"/>
          </a:xfrm>
          <a:prstGeom prst="rect">
            <a:avLst/>
          </a:prstGeom>
        </p:spPr>
        <p:txBody>
          <a:bodyPr vert="horz" wrap="square" lIns="0" tIns="61733" rIns="0" bIns="0" rtlCol="0">
            <a:spAutoFit/>
          </a:bodyPr>
          <a:lstStyle/>
          <a:p>
            <a:pPr marL="453618" marR="245599" indent="-374438">
              <a:lnSpc>
                <a:spcPts val="2536"/>
              </a:lnSpc>
              <a:spcBef>
                <a:spcPts val="48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b="1" spc="-95" dirty="0">
                <a:latin typeface="Arial"/>
                <a:cs typeface="Arial"/>
              </a:rPr>
              <a:t>Any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good</a:t>
            </a:r>
            <a:r>
              <a:rPr sz="2325" b="1" spc="201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and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95" dirty="0">
                <a:latin typeface="Arial"/>
                <a:cs typeface="Arial"/>
              </a:rPr>
              <a:t>sufficiently</a:t>
            </a:r>
            <a:r>
              <a:rPr sz="2325" b="1" spc="201" dirty="0">
                <a:latin typeface="Arial"/>
                <a:cs typeface="Arial"/>
              </a:rPr>
              <a:t> </a:t>
            </a:r>
            <a:r>
              <a:rPr sz="2325" b="1" spc="-74" dirty="0">
                <a:latin typeface="Arial"/>
                <a:cs typeface="Arial"/>
              </a:rPr>
              <a:t>recent</a:t>
            </a:r>
            <a:r>
              <a:rPr sz="2325" b="1" spc="201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Linux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desktop </a:t>
            </a:r>
            <a:r>
              <a:rPr sz="2325" b="1" spc="-613" dirty="0">
                <a:latin typeface="Arial"/>
                <a:cs typeface="Arial"/>
              </a:rPr>
              <a:t> </a:t>
            </a:r>
            <a:r>
              <a:rPr sz="2325" b="1" spc="-74" dirty="0">
                <a:latin typeface="Arial"/>
                <a:cs typeface="Arial"/>
              </a:rPr>
              <a:t>distribution</a:t>
            </a:r>
            <a:r>
              <a:rPr sz="2325" b="1" spc="106" dirty="0">
                <a:latin typeface="Arial"/>
                <a:cs typeface="Arial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be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used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development </a:t>
            </a:r>
            <a:r>
              <a:rPr sz="2325" spc="-95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workstation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spcBef>
                <a:spcPts val="306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42" dirty="0">
                <a:latin typeface="Tahoma"/>
                <a:cs typeface="Tahoma"/>
              </a:rPr>
              <a:t>Ubuntu,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Debian,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Fedora,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openSUSE,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Red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" dirty="0">
                <a:latin typeface="Tahoma"/>
                <a:cs typeface="Tahoma"/>
              </a:rPr>
              <a:t>Hat,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etc.</a:t>
            </a:r>
            <a:endParaRPr sz="2114">
              <a:latin typeface="Tahoma"/>
              <a:cs typeface="Tahoma"/>
            </a:endParaRPr>
          </a:p>
          <a:p>
            <a:pPr marL="453618" marR="144944" indent="-374438">
              <a:lnSpc>
                <a:spcPct val="102699"/>
              </a:lnSpc>
              <a:spcBef>
                <a:spcPts val="67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106" dirty="0">
                <a:latin typeface="Tahoma"/>
                <a:cs typeface="Tahoma"/>
              </a:rPr>
              <a:t>We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have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chosen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Ubuntu,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32" dirty="0">
                <a:latin typeface="Tahoma"/>
                <a:cs typeface="Tahoma"/>
              </a:rPr>
              <a:t> it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b="1" spc="-106" dirty="0">
                <a:latin typeface="Arial"/>
                <a:cs typeface="Arial"/>
              </a:rPr>
              <a:t>widely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180" dirty="0">
                <a:latin typeface="Arial"/>
                <a:cs typeface="Arial"/>
              </a:rPr>
              <a:t>used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116" dirty="0">
                <a:latin typeface="Arial"/>
                <a:cs typeface="Arial"/>
              </a:rPr>
              <a:t>and </a:t>
            </a:r>
            <a:r>
              <a:rPr sz="2325" b="1" spc="-613" dirty="0">
                <a:latin typeface="Arial"/>
                <a:cs typeface="Arial"/>
              </a:rPr>
              <a:t> </a:t>
            </a:r>
            <a:r>
              <a:rPr sz="2325" b="1" spc="-169" dirty="0">
                <a:latin typeface="Arial"/>
                <a:cs typeface="Arial"/>
              </a:rPr>
              <a:t>easy</a:t>
            </a:r>
            <a:r>
              <a:rPr sz="2325" b="1" spc="180" dirty="0">
                <a:latin typeface="Arial"/>
                <a:cs typeface="Arial"/>
              </a:rPr>
              <a:t> </a:t>
            </a:r>
            <a:r>
              <a:rPr sz="2325" b="1" dirty="0">
                <a:latin typeface="Arial"/>
                <a:cs typeface="Arial"/>
              </a:rPr>
              <a:t>to</a:t>
            </a:r>
            <a:r>
              <a:rPr sz="2325" b="1" spc="190" dirty="0">
                <a:latin typeface="Arial"/>
                <a:cs typeface="Arial"/>
              </a:rPr>
              <a:t> </a:t>
            </a:r>
            <a:r>
              <a:rPr sz="2325" b="1" spc="-190" dirty="0">
                <a:latin typeface="Arial"/>
                <a:cs typeface="Arial"/>
              </a:rPr>
              <a:t>use</a:t>
            </a:r>
            <a:r>
              <a:rPr sz="2325" b="1" spc="116" dirty="0">
                <a:latin typeface="Arial"/>
                <a:cs typeface="Arial"/>
              </a:rPr>
              <a:t> </a:t>
            </a:r>
            <a:r>
              <a:rPr sz="2325" spc="-95" dirty="0">
                <a:latin typeface="Tahoma"/>
                <a:cs typeface="Tahoma"/>
              </a:rPr>
              <a:t>desktop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distribution</a:t>
            </a:r>
            <a:endParaRPr sz="2325">
              <a:latin typeface="Tahoma"/>
              <a:cs typeface="Tahoma"/>
            </a:endParaRPr>
          </a:p>
          <a:p>
            <a:pPr marL="453618" marR="6441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Ubuntu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setup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training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laptops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has </a:t>
            </a:r>
            <a:r>
              <a:rPr sz="2325" spc="-116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intentionally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been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left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untouched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after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normal </a:t>
            </a:r>
            <a:r>
              <a:rPr sz="2325" spc="-85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installation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process.</a:t>
            </a:r>
            <a:r>
              <a:rPr sz="2325" spc="296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Learning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embedded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also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about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learning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tools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needed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development </a:t>
            </a:r>
            <a:r>
              <a:rPr sz="2325" spc="-95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workstation!</a:t>
            </a:r>
            <a:endParaRPr sz="2325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282681" y="2935796"/>
            <a:ext cx="1068289" cy="645538"/>
            <a:chOff x="4863820" y="1389066"/>
            <a:chExt cx="505459" cy="3054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5848" y="1389066"/>
              <a:ext cx="162874" cy="1628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63820" y="1425918"/>
              <a:ext cx="120650" cy="268605"/>
            </a:xfrm>
            <a:custGeom>
              <a:avLst/>
              <a:gdLst/>
              <a:ahLst/>
              <a:cxnLst/>
              <a:rect l="l" t="t" r="r" b="b"/>
              <a:pathLst>
                <a:path w="120650" h="268605">
                  <a:moveTo>
                    <a:pt x="70193" y="268352"/>
                  </a:moveTo>
                  <a:lnTo>
                    <a:pt x="29899" y="260173"/>
                  </a:lnTo>
                  <a:lnTo>
                    <a:pt x="5246" y="228980"/>
                  </a:lnTo>
                  <a:lnTo>
                    <a:pt x="0" y="186145"/>
                  </a:lnTo>
                  <a:lnTo>
                    <a:pt x="0" y="6204"/>
                  </a:lnTo>
                  <a:lnTo>
                    <a:pt x="36065" y="0"/>
                  </a:lnTo>
                  <a:lnTo>
                    <a:pt x="36065" y="62434"/>
                  </a:lnTo>
                  <a:lnTo>
                    <a:pt x="112461" y="62434"/>
                  </a:lnTo>
                  <a:lnTo>
                    <a:pt x="112461" y="92688"/>
                  </a:lnTo>
                  <a:lnTo>
                    <a:pt x="36065" y="92688"/>
                  </a:lnTo>
                  <a:lnTo>
                    <a:pt x="36074" y="195925"/>
                  </a:lnTo>
                  <a:lnTo>
                    <a:pt x="52355" y="232672"/>
                  </a:lnTo>
                  <a:lnTo>
                    <a:pt x="67086" y="236556"/>
                  </a:lnTo>
                  <a:lnTo>
                    <a:pt x="115193" y="236556"/>
                  </a:lnTo>
                  <a:lnTo>
                    <a:pt x="120604" y="257105"/>
                  </a:lnTo>
                  <a:lnTo>
                    <a:pt x="78686" y="268086"/>
                  </a:lnTo>
                  <a:lnTo>
                    <a:pt x="70193" y="268352"/>
                  </a:lnTo>
                  <a:close/>
                </a:path>
                <a:path w="120650" h="268605">
                  <a:moveTo>
                    <a:pt x="115193" y="236556"/>
                  </a:moveTo>
                  <a:lnTo>
                    <a:pt x="73291" y="236556"/>
                  </a:lnTo>
                  <a:lnTo>
                    <a:pt x="81192" y="236325"/>
                  </a:lnTo>
                  <a:lnTo>
                    <a:pt x="88223" y="235635"/>
                  </a:lnTo>
                  <a:lnTo>
                    <a:pt x="112844" y="227637"/>
                  </a:lnTo>
                  <a:lnTo>
                    <a:pt x="115193" y="236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9624" y="1488352"/>
              <a:ext cx="162872" cy="205918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3864" y="3145636"/>
            <a:ext cx="344230" cy="43520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927926" y="2935816"/>
            <a:ext cx="801218" cy="646880"/>
            <a:chOff x="4222820" y="1389076"/>
            <a:chExt cx="379095" cy="306070"/>
          </a:xfrm>
        </p:grpSpPr>
        <p:sp>
          <p:nvSpPr>
            <p:cNvPr id="10" name="object 10"/>
            <p:cNvSpPr/>
            <p:nvPr/>
          </p:nvSpPr>
          <p:spPr>
            <a:xfrm>
              <a:off x="4222820" y="1389076"/>
              <a:ext cx="177800" cy="306070"/>
            </a:xfrm>
            <a:custGeom>
              <a:avLst/>
              <a:gdLst/>
              <a:ahLst/>
              <a:cxnLst/>
              <a:rect l="l" t="t" r="r" b="b"/>
              <a:pathLst>
                <a:path w="177800" h="306069">
                  <a:moveTo>
                    <a:pt x="76386" y="305578"/>
                  </a:moveTo>
                  <a:lnTo>
                    <a:pt x="31796" y="302087"/>
                  </a:lnTo>
                  <a:lnTo>
                    <a:pt x="0" y="295116"/>
                  </a:lnTo>
                  <a:lnTo>
                    <a:pt x="0" y="6204"/>
                  </a:lnTo>
                  <a:lnTo>
                    <a:pt x="36063" y="0"/>
                  </a:lnTo>
                  <a:lnTo>
                    <a:pt x="36063" y="108194"/>
                  </a:lnTo>
                  <a:lnTo>
                    <a:pt x="135843" y="108194"/>
                  </a:lnTo>
                  <a:lnTo>
                    <a:pt x="141005" y="111687"/>
                  </a:lnTo>
                  <a:lnTo>
                    <a:pt x="147803" y="117504"/>
                  </a:lnTo>
                  <a:lnTo>
                    <a:pt x="153943" y="124094"/>
                  </a:lnTo>
                  <a:lnTo>
                    <a:pt x="155682" y="126423"/>
                  </a:lnTo>
                  <a:lnTo>
                    <a:pt x="82207" y="126423"/>
                  </a:lnTo>
                  <a:lnTo>
                    <a:pt x="74984" y="126738"/>
                  </a:lnTo>
                  <a:lnTo>
                    <a:pt x="36063" y="141929"/>
                  </a:lnTo>
                  <a:lnTo>
                    <a:pt x="36063" y="269514"/>
                  </a:lnTo>
                  <a:lnTo>
                    <a:pt x="39675" y="270551"/>
                  </a:lnTo>
                  <a:lnTo>
                    <a:pt x="44785" y="271526"/>
                  </a:lnTo>
                  <a:lnTo>
                    <a:pt x="57971" y="273333"/>
                  </a:lnTo>
                  <a:lnTo>
                    <a:pt x="66178" y="273781"/>
                  </a:lnTo>
                  <a:lnTo>
                    <a:pt x="153098" y="273781"/>
                  </a:lnTo>
                  <a:lnTo>
                    <a:pt x="150070" y="277271"/>
                  </a:lnTo>
                  <a:lnTo>
                    <a:pt x="108675" y="301433"/>
                  </a:lnTo>
                  <a:lnTo>
                    <a:pt x="87731" y="305117"/>
                  </a:lnTo>
                  <a:lnTo>
                    <a:pt x="76386" y="305578"/>
                  </a:lnTo>
                  <a:close/>
                </a:path>
                <a:path w="177800" h="306069">
                  <a:moveTo>
                    <a:pt x="135843" y="108194"/>
                  </a:moveTo>
                  <a:lnTo>
                    <a:pt x="36063" y="108194"/>
                  </a:lnTo>
                  <a:lnTo>
                    <a:pt x="40452" y="105358"/>
                  </a:lnTo>
                  <a:lnTo>
                    <a:pt x="78389" y="94917"/>
                  </a:lnTo>
                  <a:lnTo>
                    <a:pt x="86859" y="94626"/>
                  </a:lnTo>
                  <a:lnTo>
                    <a:pt x="97414" y="95110"/>
                  </a:lnTo>
                  <a:lnTo>
                    <a:pt x="135843" y="108194"/>
                  </a:lnTo>
                  <a:close/>
                </a:path>
                <a:path w="177800" h="306069">
                  <a:moveTo>
                    <a:pt x="153098" y="273781"/>
                  </a:moveTo>
                  <a:lnTo>
                    <a:pt x="76002" y="273781"/>
                  </a:lnTo>
                  <a:lnTo>
                    <a:pt x="89818" y="272581"/>
                  </a:lnTo>
                  <a:lnTo>
                    <a:pt x="102181" y="268981"/>
                  </a:lnTo>
                  <a:lnTo>
                    <a:pt x="135628" y="231368"/>
                  </a:lnTo>
                  <a:lnTo>
                    <a:pt x="139991" y="200097"/>
                  </a:lnTo>
                  <a:lnTo>
                    <a:pt x="139797" y="192469"/>
                  </a:lnTo>
                  <a:lnTo>
                    <a:pt x="130053" y="152732"/>
                  </a:lnTo>
                  <a:lnTo>
                    <a:pt x="96603" y="127827"/>
                  </a:lnTo>
                  <a:lnTo>
                    <a:pt x="82207" y="126423"/>
                  </a:lnTo>
                  <a:lnTo>
                    <a:pt x="155682" y="126423"/>
                  </a:lnTo>
                  <a:lnTo>
                    <a:pt x="174221" y="167385"/>
                  </a:lnTo>
                  <a:lnTo>
                    <a:pt x="177600" y="200097"/>
                  </a:lnTo>
                  <a:lnTo>
                    <a:pt x="177151" y="212014"/>
                  </a:lnTo>
                  <a:lnTo>
                    <a:pt x="166465" y="253531"/>
                  </a:lnTo>
                  <a:lnTo>
                    <a:pt x="156284" y="270109"/>
                  </a:lnTo>
                  <a:lnTo>
                    <a:pt x="153098" y="2737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8807" y="1488352"/>
              <a:ext cx="162872" cy="205918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38475" y="3136618"/>
            <a:ext cx="344230" cy="43520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447019" y="3581550"/>
            <a:ext cx="2300315" cy="410469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lnSpc>
                <a:spcPts val="1501"/>
              </a:lnSpc>
              <a:spcBef>
                <a:spcPts val="201"/>
              </a:spcBef>
            </a:pPr>
            <a:r>
              <a:rPr sz="1268" spc="-42" dirty="0">
                <a:latin typeface="Microsoft Sans Serif"/>
                <a:cs typeface="Microsoft Sans Serif"/>
              </a:rPr>
              <a:t>Image</a:t>
            </a:r>
            <a:r>
              <a:rPr sz="1268" spc="21" dirty="0">
                <a:latin typeface="Microsoft Sans Serif"/>
                <a:cs typeface="Microsoft Sans Serif"/>
              </a:rPr>
              <a:t> </a:t>
            </a:r>
            <a:r>
              <a:rPr sz="1268" spc="-11" dirty="0">
                <a:latin typeface="Microsoft Sans Serif"/>
                <a:cs typeface="Microsoft Sans Serif"/>
              </a:rPr>
              <a:t>credits:</a:t>
            </a:r>
            <a:endParaRPr sz="1268">
              <a:latin typeface="Microsoft Sans Serif"/>
              <a:cs typeface="Microsoft Sans Serif"/>
            </a:endParaRPr>
          </a:p>
          <a:p>
            <a:pPr marL="26841">
              <a:lnSpc>
                <a:spcPts val="1501"/>
              </a:lnSpc>
            </a:pPr>
            <a:r>
              <a:rPr sz="1268" spc="-11" dirty="0">
                <a:solidFill>
                  <a:srgbClr val="3F3FBF"/>
                </a:solidFill>
                <a:latin typeface="SimSun"/>
                <a:cs typeface="SimSun"/>
                <a:hlinkClick r:id="rId5"/>
              </a:rPr>
              <a:t>https://tinyurl.com/f4zxj5kw</a:t>
            </a:r>
            <a:endParaRPr sz="1268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1"/>
            <a:ext cx="4577816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95" dirty="0"/>
              <a:t>Linux</a:t>
            </a:r>
            <a:r>
              <a:rPr sz="2959" spc="11" dirty="0"/>
              <a:t> </a:t>
            </a:r>
            <a:r>
              <a:rPr sz="2959" spc="-95" dirty="0"/>
              <a:t>root</a:t>
            </a:r>
            <a:r>
              <a:rPr sz="2959" spc="11" dirty="0"/>
              <a:t> </a:t>
            </a:r>
            <a:r>
              <a:rPr sz="2959" spc="-180" dirty="0"/>
              <a:t>and</a:t>
            </a:r>
            <a:r>
              <a:rPr sz="2959" spc="11" dirty="0"/>
              <a:t> </a:t>
            </a:r>
            <a:r>
              <a:rPr sz="2959" spc="-137" dirty="0"/>
              <a:t>non-root</a:t>
            </a:r>
            <a:r>
              <a:rPr sz="2959" spc="21" dirty="0"/>
              <a:t> </a:t>
            </a:r>
            <a:r>
              <a:rPr sz="2959" spc="-211" dirty="0"/>
              <a:t>users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1" y="1565368"/>
            <a:ext cx="10448049" cy="3818654"/>
          </a:xfrm>
          <a:prstGeom prst="rect">
            <a:avLst/>
          </a:prstGeom>
        </p:spPr>
        <p:txBody>
          <a:bodyPr vert="horz" wrap="square" lIns="0" tIns="76498" rIns="0" bIns="0" rtlCol="0">
            <a:spAutoFit/>
          </a:bodyPr>
          <a:lstStyle/>
          <a:p>
            <a:pPr marL="453618" indent="-374438" algn="just">
              <a:spcBef>
                <a:spcPts val="60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multi-user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operating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system</a:t>
            </a:r>
            <a:endParaRPr sz="2325">
              <a:latin typeface="Tahoma"/>
              <a:cs typeface="Tahoma"/>
            </a:endParaRPr>
          </a:p>
          <a:p>
            <a:pPr marL="1040106" marR="256336" lvl="1" indent="-355649" algn="just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32" dirty="0">
                <a:latin typeface="Tahoma"/>
                <a:cs typeface="Tahoma"/>
              </a:rPr>
              <a:t>The </a:t>
            </a:r>
            <a:r>
              <a:rPr sz="2114" b="1" spc="-32" dirty="0">
                <a:latin typeface="Arial"/>
                <a:cs typeface="Arial"/>
              </a:rPr>
              <a:t>root </a:t>
            </a:r>
            <a:r>
              <a:rPr sz="2114" b="1" spc="-137" dirty="0">
                <a:latin typeface="Arial"/>
                <a:cs typeface="Arial"/>
              </a:rPr>
              <a:t>user </a:t>
            </a:r>
            <a:r>
              <a:rPr sz="2114" b="1" spc="-169" dirty="0">
                <a:latin typeface="Arial"/>
                <a:cs typeface="Arial"/>
              </a:rPr>
              <a:t>is </a:t>
            </a:r>
            <a:r>
              <a:rPr sz="2114" b="1" spc="-21" dirty="0">
                <a:latin typeface="Arial"/>
                <a:cs typeface="Arial"/>
              </a:rPr>
              <a:t>the </a:t>
            </a:r>
            <a:r>
              <a:rPr sz="2114" b="1" spc="-63" dirty="0">
                <a:latin typeface="Arial"/>
                <a:cs typeface="Arial"/>
              </a:rPr>
              <a:t>administrator</a:t>
            </a:r>
            <a:r>
              <a:rPr sz="2114" spc="-63" dirty="0">
                <a:latin typeface="Tahoma"/>
                <a:cs typeface="Tahoma"/>
              </a:rPr>
              <a:t>, </a:t>
            </a:r>
            <a:r>
              <a:rPr sz="2114" spc="-95" dirty="0">
                <a:latin typeface="Tahoma"/>
                <a:cs typeface="Tahoma"/>
              </a:rPr>
              <a:t>and </a:t>
            </a:r>
            <a:r>
              <a:rPr sz="2114" spc="32" dirty="0">
                <a:latin typeface="Tahoma"/>
                <a:cs typeface="Tahoma"/>
              </a:rPr>
              <a:t>it </a:t>
            </a:r>
            <a:r>
              <a:rPr sz="2114" spc="-85" dirty="0">
                <a:latin typeface="Tahoma"/>
                <a:cs typeface="Tahoma"/>
              </a:rPr>
              <a:t>can </a:t>
            </a:r>
            <a:r>
              <a:rPr sz="2114" spc="-95" dirty="0">
                <a:latin typeface="Tahoma"/>
                <a:cs typeface="Tahoma"/>
              </a:rPr>
              <a:t>do </a:t>
            </a:r>
            <a:r>
              <a:rPr sz="2114" spc="-85" dirty="0">
                <a:latin typeface="Tahoma"/>
                <a:cs typeface="Tahoma"/>
              </a:rPr>
              <a:t>privileged </a:t>
            </a:r>
            <a:r>
              <a:rPr sz="2114" spc="-74" dirty="0">
                <a:latin typeface="Tahoma"/>
                <a:cs typeface="Tahoma"/>
              </a:rPr>
              <a:t>operations </a:t>
            </a:r>
            <a:r>
              <a:rPr sz="2114" spc="-95" dirty="0">
                <a:latin typeface="Tahoma"/>
                <a:cs typeface="Tahoma"/>
              </a:rPr>
              <a:t>such </a:t>
            </a:r>
            <a:r>
              <a:rPr sz="2114" spc="-137" dirty="0">
                <a:latin typeface="Tahoma"/>
                <a:cs typeface="Tahoma"/>
              </a:rPr>
              <a:t>as: </a:t>
            </a:r>
            <a:r>
              <a:rPr sz="2114" spc="-127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mounting </a:t>
            </a:r>
            <a:r>
              <a:rPr sz="2114" spc="-85" dirty="0">
                <a:latin typeface="Tahoma"/>
                <a:cs typeface="Tahoma"/>
              </a:rPr>
              <a:t>filesystems, </a:t>
            </a:r>
            <a:r>
              <a:rPr sz="2114" spc="-63" dirty="0">
                <a:latin typeface="Tahoma"/>
                <a:cs typeface="Tahoma"/>
              </a:rPr>
              <a:t>configuring </a:t>
            </a:r>
            <a:r>
              <a:rPr sz="2114" spc="-74" dirty="0">
                <a:latin typeface="Tahoma"/>
                <a:cs typeface="Tahoma"/>
              </a:rPr>
              <a:t>the </a:t>
            </a:r>
            <a:r>
              <a:rPr sz="2114" spc="-95" dirty="0">
                <a:latin typeface="Tahoma"/>
                <a:cs typeface="Tahoma"/>
              </a:rPr>
              <a:t>network, </a:t>
            </a:r>
            <a:r>
              <a:rPr sz="2114" spc="-63" dirty="0">
                <a:latin typeface="Tahoma"/>
                <a:cs typeface="Tahoma"/>
              </a:rPr>
              <a:t>creating </a:t>
            </a:r>
            <a:r>
              <a:rPr sz="2114" spc="-95" dirty="0">
                <a:latin typeface="Tahoma"/>
                <a:cs typeface="Tahoma"/>
              </a:rPr>
              <a:t>device </a:t>
            </a:r>
            <a:r>
              <a:rPr sz="2114" spc="-63" dirty="0">
                <a:latin typeface="Tahoma"/>
                <a:cs typeface="Tahoma"/>
              </a:rPr>
              <a:t>files, </a:t>
            </a:r>
            <a:r>
              <a:rPr sz="2114" spc="-85" dirty="0">
                <a:latin typeface="Tahoma"/>
                <a:cs typeface="Tahoma"/>
              </a:rPr>
              <a:t>changing </a:t>
            </a:r>
            <a:r>
              <a:rPr sz="2114" spc="-74" dirty="0">
                <a:latin typeface="Tahoma"/>
                <a:cs typeface="Tahoma"/>
              </a:rPr>
              <a:t>the </a:t>
            </a:r>
            <a:r>
              <a:rPr sz="2114" spc="-63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system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configuration,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installing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or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removing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software</a:t>
            </a:r>
            <a:endParaRPr sz="2114">
              <a:latin typeface="Tahoma"/>
              <a:cs typeface="Tahoma"/>
            </a:endParaRPr>
          </a:p>
          <a:p>
            <a:pPr marL="1040106" marR="450936" lvl="1" indent="-355649" algn="just">
              <a:lnSpc>
                <a:spcPts val="2536"/>
              </a:lnSpc>
              <a:spcBef>
                <a:spcPts val="63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53" dirty="0">
                <a:latin typeface="Tahoma"/>
                <a:cs typeface="Tahoma"/>
              </a:rPr>
              <a:t>All </a:t>
            </a:r>
            <a:r>
              <a:rPr sz="2114" b="1" spc="-53" dirty="0">
                <a:latin typeface="Arial"/>
                <a:cs typeface="Arial"/>
              </a:rPr>
              <a:t>other </a:t>
            </a:r>
            <a:r>
              <a:rPr sz="2114" b="1" spc="-169" dirty="0">
                <a:latin typeface="Arial"/>
                <a:cs typeface="Arial"/>
              </a:rPr>
              <a:t>users </a:t>
            </a:r>
            <a:r>
              <a:rPr sz="2114" b="1" spc="-95" dirty="0">
                <a:latin typeface="Arial"/>
                <a:cs typeface="Arial"/>
              </a:rPr>
              <a:t>are unprivileged</a:t>
            </a:r>
            <a:r>
              <a:rPr sz="2114" spc="-95" dirty="0">
                <a:latin typeface="Tahoma"/>
                <a:cs typeface="Tahoma"/>
              </a:rPr>
              <a:t>, and </a:t>
            </a:r>
            <a:r>
              <a:rPr sz="2114" spc="-63" dirty="0">
                <a:latin typeface="Tahoma"/>
                <a:cs typeface="Tahoma"/>
              </a:rPr>
              <a:t>cannot </a:t>
            </a:r>
            <a:r>
              <a:rPr sz="2114" spc="-85" dirty="0">
                <a:latin typeface="Tahoma"/>
                <a:cs typeface="Tahoma"/>
              </a:rPr>
              <a:t>perform </a:t>
            </a:r>
            <a:r>
              <a:rPr sz="2114" spc="-106" dirty="0">
                <a:latin typeface="Tahoma"/>
                <a:cs typeface="Tahoma"/>
              </a:rPr>
              <a:t>these </a:t>
            </a:r>
            <a:r>
              <a:rPr sz="2114" spc="-63" dirty="0">
                <a:latin typeface="Tahoma"/>
                <a:cs typeface="Tahoma"/>
              </a:rPr>
              <a:t>administrator-level </a:t>
            </a:r>
            <a:r>
              <a:rPr sz="2114" spc="-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operations</a:t>
            </a:r>
            <a:endParaRPr sz="2114">
              <a:latin typeface="Tahoma"/>
              <a:cs typeface="Tahoma"/>
            </a:endParaRPr>
          </a:p>
          <a:p>
            <a:pPr marL="453618" indent="-374438" algn="just">
              <a:spcBef>
                <a:spcPts val="645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On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Ubuntu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system,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32" dirty="0">
                <a:latin typeface="Tahoma"/>
                <a:cs typeface="Tahoma"/>
              </a:rPr>
              <a:t>it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not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possible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log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root</a:t>
            </a:r>
            <a:r>
              <a:rPr sz="2325" spc="-21" dirty="0">
                <a:latin typeface="Tahoma"/>
                <a:cs typeface="Tahoma"/>
              </a:rPr>
              <a:t>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only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as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normal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user.</a:t>
            </a:r>
            <a:endParaRPr sz="2325">
              <a:latin typeface="Tahoma"/>
              <a:cs typeface="Tahoma"/>
            </a:endParaRPr>
          </a:p>
          <a:p>
            <a:pPr marL="453618" marR="124813" indent="-374438" algn="just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32" dirty="0">
                <a:latin typeface="Tahoma"/>
                <a:cs typeface="Tahoma"/>
              </a:rPr>
              <a:t>The </a:t>
            </a:r>
            <a:r>
              <a:rPr sz="2325" spc="-116" dirty="0">
                <a:latin typeface="Tahoma"/>
                <a:cs typeface="Tahoma"/>
              </a:rPr>
              <a:t>system </a:t>
            </a:r>
            <a:r>
              <a:rPr sz="2325" spc="-127" dirty="0">
                <a:latin typeface="Tahoma"/>
                <a:cs typeface="Tahoma"/>
              </a:rPr>
              <a:t>has </a:t>
            </a:r>
            <a:r>
              <a:rPr sz="2325" spc="-137" dirty="0">
                <a:latin typeface="Tahoma"/>
                <a:cs typeface="Tahoma"/>
              </a:rPr>
              <a:t>been</a:t>
            </a:r>
            <a:r>
              <a:rPr sz="2325" spc="-12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configured </a:t>
            </a:r>
            <a:r>
              <a:rPr sz="2325" spc="-137" dirty="0">
                <a:latin typeface="Tahoma"/>
                <a:cs typeface="Tahoma"/>
              </a:rPr>
              <a:t>so</a:t>
            </a:r>
            <a:r>
              <a:rPr sz="2325" spc="-127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that </a:t>
            </a:r>
            <a:r>
              <a:rPr sz="2325" spc="-85" dirty="0">
                <a:latin typeface="Tahoma"/>
                <a:cs typeface="Tahoma"/>
              </a:rPr>
              <a:t>the </a:t>
            </a:r>
            <a:r>
              <a:rPr sz="2325" spc="-137" dirty="0">
                <a:latin typeface="Tahoma"/>
                <a:cs typeface="Tahoma"/>
              </a:rPr>
              <a:t>user</a:t>
            </a:r>
            <a:r>
              <a:rPr sz="2325" spc="444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account </a:t>
            </a:r>
            <a:r>
              <a:rPr sz="2325" spc="-95" dirty="0">
                <a:latin typeface="Tahoma"/>
                <a:cs typeface="Tahoma"/>
              </a:rPr>
              <a:t>created </a:t>
            </a:r>
            <a:r>
              <a:rPr sz="2325" spc="-42" dirty="0">
                <a:latin typeface="Tahoma"/>
                <a:cs typeface="Tahoma"/>
              </a:rPr>
              <a:t>first </a:t>
            </a:r>
            <a:r>
              <a:rPr sz="2325" spc="-74" dirty="0">
                <a:latin typeface="Tahoma"/>
                <a:cs typeface="Tahoma"/>
              </a:rPr>
              <a:t>is </a:t>
            </a:r>
            <a:r>
              <a:rPr sz="2325" spc="-116" dirty="0">
                <a:latin typeface="Tahoma"/>
                <a:cs typeface="Tahoma"/>
              </a:rPr>
              <a:t>allowed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run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privileged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operations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through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program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called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sudo</a:t>
            </a:r>
            <a:r>
              <a:rPr sz="2325" spc="-21" dirty="0">
                <a:latin typeface="Tahoma"/>
                <a:cs typeface="Tahoma"/>
              </a:rPr>
              <a:t>.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spcBef>
                <a:spcPts val="1004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85" dirty="0">
                <a:latin typeface="Tahoma"/>
                <a:cs typeface="Tahoma"/>
              </a:rPr>
              <a:t>Example:</a:t>
            </a:r>
            <a:r>
              <a:rPr sz="2114" spc="264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sudo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mount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/dev/sda2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/mnt/disk</a:t>
            </a:r>
            <a:endParaRPr sz="2114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1"/>
            <a:ext cx="2825067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80" dirty="0"/>
              <a:t>Software</a:t>
            </a:r>
            <a:r>
              <a:rPr sz="2959" spc="-32" dirty="0"/>
              <a:t> </a:t>
            </a:r>
            <a:r>
              <a:rPr sz="2959" spc="-190" dirty="0"/>
              <a:t>packages</a:t>
            </a:r>
            <a:endParaRPr sz="2959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37951" y="1049277"/>
            <a:ext cx="10857397" cy="4873673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652247" marR="297940" indent="-374438">
              <a:lnSpc>
                <a:spcPct val="102699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32" dirty="0"/>
              <a:t>The</a:t>
            </a:r>
            <a:r>
              <a:rPr sz="2325" spc="32" dirty="0"/>
              <a:t> </a:t>
            </a:r>
            <a:r>
              <a:rPr sz="2325" spc="-53" dirty="0"/>
              <a:t>distribution</a:t>
            </a:r>
            <a:r>
              <a:rPr sz="2325" spc="42" dirty="0"/>
              <a:t> </a:t>
            </a:r>
            <a:r>
              <a:rPr sz="2325" spc="-106" dirty="0"/>
              <a:t>mechanism</a:t>
            </a:r>
            <a:r>
              <a:rPr sz="2325" spc="42" dirty="0"/>
              <a:t> </a:t>
            </a:r>
            <a:r>
              <a:rPr sz="2325" spc="-95" dirty="0"/>
              <a:t>for</a:t>
            </a:r>
            <a:r>
              <a:rPr sz="2325" spc="42" dirty="0"/>
              <a:t> </a:t>
            </a:r>
            <a:r>
              <a:rPr sz="2325" spc="-127" dirty="0"/>
              <a:t>software</a:t>
            </a:r>
            <a:r>
              <a:rPr sz="2325" spc="42" dirty="0"/>
              <a:t> </a:t>
            </a:r>
            <a:r>
              <a:rPr sz="2325" spc="-42" dirty="0"/>
              <a:t>in</a:t>
            </a:r>
            <a:r>
              <a:rPr sz="2325" spc="42" dirty="0"/>
              <a:t> </a:t>
            </a:r>
            <a:r>
              <a:rPr sz="2325" spc="21" dirty="0"/>
              <a:t>GNU/Linux</a:t>
            </a:r>
            <a:r>
              <a:rPr sz="2325" spc="42" dirty="0"/>
              <a:t> </a:t>
            </a:r>
            <a:r>
              <a:rPr sz="2325" spc="-74" dirty="0"/>
              <a:t>is</a:t>
            </a:r>
            <a:r>
              <a:rPr sz="2325" spc="42" dirty="0"/>
              <a:t> </a:t>
            </a:r>
            <a:r>
              <a:rPr sz="2325" spc="-85" dirty="0"/>
              <a:t>different</a:t>
            </a:r>
            <a:r>
              <a:rPr sz="2325" spc="42" dirty="0"/>
              <a:t> </a:t>
            </a:r>
            <a:r>
              <a:rPr sz="2325" spc="-85" dirty="0"/>
              <a:t>from</a:t>
            </a:r>
            <a:r>
              <a:rPr sz="2325" spc="42" dirty="0"/>
              <a:t> </a:t>
            </a:r>
            <a:r>
              <a:rPr sz="2325" spc="-85" dirty="0"/>
              <a:t>the</a:t>
            </a:r>
            <a:r>
              <a:rPr sz="2325" spc="32" dirty="0"/>
              <a:t> </a:t>
            </a:r>
            <a:r>
              <a:rPr sz="2325" spc="-148" dirty="0"/>
              <a:t>one </a:t>
            </a:r>
            <a:r>
              <a:rPr sz="2325" spc="-687" dirty="0"/>
              <a:t> </a:t>
            </a:r>
            <a:r>
              <a:rPr sz="2325" spc="-42" dirty="0"/>
              <a:t>in</a:t>
            </a:r>
            <a:r>
              <a:rPr sz="2325" spc="21" dirty="0"/>
              <a:t> </a:t>
            </a:r>
            <a:r>
              <a:rPr sz="2325" spc="-85" dirty="0"/>
              <a:t>Windows</a:t>
            </a:r>
            <a:endParaRPr sz="2325" dirty="0"/>
          </a:p>
          <a:p>
            <a:pPr marL="652247" marR="6441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42" dirty="0"/>
              <a:t>Linux</a:t>
            </a:r>
            <a:r>
              <a:rPr sz="2325" spc="42" dirty="0"/>
              <a:t> </a:t>
            </a:r>
            <a:r>
              <a:rPr sz="2325" spc="-63" dirty="0"/>
              <a:t>distributions</a:t>
            </a:r>
            <a:r>
              <a:rPr sz="2325" spc="42" dirty="0"/>
              <a:t> </a:t>
            </a:r>
            <a:r>
              <a:rPr sz="2325" spc="-106" dirty="0"/>
              <a:t>provides</a:t>
            </a:r>
            <a:r>
              <a:rPr sz="2325" spc="42" dirty="0"/>
              <a:t> </a:t>
            </a:r>
            <a:r>
              <a:rPr sz="2325" spc="-116" dirty="0"/>
              <a:t>a</a:t>
            </a:r>
            <a:r>
              <a:rPr sz="2325" spc="42" dirty="0"/>
              <a:t> </a:t>
            </a:r>
            <a:r>
              <a:rPr sz="2325" spc="-63" dirty="0"/>
              <a:t>central</a:t>
            </a:r>
            <a:r>
              <a:rPr sz="2325" spc="42" dirty="0"/>
              <a:t> </a:t>
            </a:r>
            <a:r>
              <a:rPr sz="2325" spc="-106" dirty="0"/>
              <a:t>and</a:t>
            </a:r>
            <a:r>
              <a:rPr sz="2325" spc="42" dirty="0"/>
              <a:t> </a:t>
            </a:r>
            <a:r>
              <a:rPr sz="2325" spc="-106" dirty="0"/>
              <a:t>coherent</a:t>
            </a:r>
            <a:r>
              <a:rPr sz="2325" spc="42" dirty="0"/>
              <a:t> </a:t>
            </a:r>
            <a:r>
              <a:rPr sz="2325" spc="-169" dirty="0"/>
              <a:t>way</a:t>
            </a:r>
            <a:r>
              <a:rPr sz="2325" spc="42" dirty="0"/>
              <a:t> </a:t>
            </a:r>
            <a:r>
              <a:rPr sz="2325" spc="-74" dirty="0"/>
              <a:t>of</a:t>
            </a:r>
            <a:r>
              <a:rPr sz="2325" spc="53" dirty="0"/>
              <a:t> </a:t>
            </a:r>
            <a:r>
              <a:rPr sz="2325" spc="-53" dirty="0"/>
              <a:t>installing,</a:t>
            </a:r>
            <a:r>
              <a:rPr sz="2325" spc="42" dirty="0"/>
              <a:t> </a:t>
            </a:r>
            <a:r>
              <a:rPr sz="2325" spc="-63" dirty="0"/>
              <a:t>updating</a:t>
            </a:r>
            <a:r>
              <a:rPr sz="2325" spc="42" dirty="0"/>
              <a:t> </a:t>
            </a:r>
            <a:r>
              <a:rPr sz="2325" spc="-106" dirty="0"/>
              <a:t>and </a:t>
            </a:r>
            <a:r>
              <a:rPr sz="2325" spc="-697" dirty="0"/>
              <a:t> </a:t>
            </a:r>
            <a:r>
              <a:rPr sz="2325" spc="-106" dirty="0"/>
              <a:t>removing</a:t>
            </a:r>
            <a:r>
              <a:rPr sz="2325" spc="32" dirty="0"/>
              <a:t> </a:t>
            </a:r>
            <a:r>
              <a:rPr sz="2325" spc="-63" dirty="0"/>
              <a:t>applications</a:t>
            </a:r>
            <a:r>
              <a:rPr sz="2325" spc="32" dirty="0"/>
              <a:t> </a:t>
            </a:r>
            <a:r>
              <a:rPr sz="2325" spc="-106" dirty="0"/>
              <a:t>and</a:t>
            </a:r>
            <a:r>
              <a:rPr sz="2325" spc="32" dirty="0"/>
              <a:t> </a:t>
            </a:r>
            <a:r>
              <a:rPr sz="2325" spc="-95" dirty="0"/>
              <a:t>libraries:</a:t>
            </a:r>
            <a:r>
              <a:rPr sz="2325" spc="296" dirty="0"/>
              <a:t> </a:t>
            </a:r>
            <a:r>
              <a:rPr sz="2325" b="1" spc="-148" dirty="0">
                <a:latin typeface="Arial"/>
                <a:cs typeface="Arial"/>
              </a:rPr>
              <a:t>packages</a:t>
            </a:r>
            <a:endParaRPr sz="2325" dirty="0">
              <a:latin typeface="Arial"/>
              <a:cs typeface="Arial"/>
            </a:endParaRPr>
          </a:p>
          <a:p>
            <a:pPr marL="652247" marR="2273471" indent="-374438">
              <a:lnSpc>
                <a:spcPts val="2536"/>
              </a:lnSpc>
              <a:spcBef>
                <a:spcPts val="666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85" dirty="0"/>
              <a:t>Packages</a:t>
            </a:r>
            <a:r>
              <a:rPr sz="2325" spc="11" dirty="0"/>
              <a:t> </a:t>
            </a:r>
            <a:r>
              <a:rPr sz="2325" spc="-74" dirty="0"/>
              <a:t>contains</a:t>
            </a:r>
            <a:r>
              <a:rPr sz="2325" spc="21" dirty="0"/>
              <a:t> </a:t>
            </a:r>
            <a:r>
              <a:rPr sz="2325" spc="-85" dirty="0"/>
              <a:t>the</a:t>
            </a:r>
            <a:r>
              <a:rPr sz="2325" spc="21" dirty="0"/>
              <a:t> </a:t>
            </a:r>
            <a:r>
              <a:rPr sz="2325" spc="-53" dirty="0"/>
              <a:t>application</a:t>
            </a:r>
            <a:r>
              <a:rPr sz="2325" spc="21" dirty="0"/>
              <a:t> </a:t>
            </a:r>
            <a:r>
              <a:rPr sz="2325" spc="-116" dirty="0"/>
              <a:t>or</a:t>
            </a:r>
            <a:r>
              <a:rPr sz="2325" spc="21" dirty="0"/>
              <a:t> </a:t>
            </a:r>
            <a:r>
              <a:rPr sz="2325" spc="-74" dirty="0"/>
              <a:t>library</a:t>
            </a:r>
            <a:r>
              <a:rPr sz="2325" spc="21" dirty="0"/>
              <a:t> </a:t>
            </a:r>
            <a:r>
              <a:rPr sz="2325" spc="-74" dirty="0"/>
              <a:t>files,</a:t>
            </a:r>
            <a:r>
              <a:rPr sz="2325" spc="21" dirty="0"/>
              <a:t> </a:t>
            </a:r>
            <a:r>
              <a:rPr sz="2325" spc="-106" dirty="0"/>
              <a:t>and</a:t>
            </a:r>
            <a:r>
              <a:rPr sz="2325" spc="21" dirty="0"/>
              <a:t> </a:t>
            </a:r>
            <a:r>
              <a:rPr sz="2325" spc="-85" dirty="0"/>
              <a:t>associated </a:t>
            </a:r>
            <a:r>
              <a:rPr sz="2325" spc="-697" dirty="0"/>
              <a:t> </a:t>
            </a:r>
            <a:r>
              <a:rPr sz="2325" spc="-74" dirty="0"/>
              <a:t>meta-information,</a:t>
            </a:r>
            <a:r>
              <a:rPr sz="2325" spc="32" dirty="0"/>
              <a:t> </a:t>
            </a:r>
            <a:r>
              <a:rPr sz="2325" spc="-106" dirty="0"/>
              <a:t>such</a:t>
            </a:r>
            <a:r>
              <a:rPr sz="2325" spc="32" dirty="0"/>
              <a:t> </a:t>
            </a:r>
            <a:r>
              <a:rPr sz="2325" spc="-137" dirty="0"/>
              <a:t>as</a:t>
            </a:r>
            <a:r>
              <a:rPr sz="2325" spc="32" dirty="0"/>
              <a:t> </a:t>
            </a:r>
            <a:r>
              <a:rPr sz="2325" spc="-85" dirty="0"/>
              <a:t>the</a:t>
            </a:r>
            <a:r>
              <a:rPr sz="2325" spc="32" dirty="0"/>
              <a:t> </a:t>
            </a:r>
            <a:r>
              <a:rPr sz="2325" spc="-106" dirty="0"/>
              <a:t>version</a:t>
            </a:r>
            <a:r>
              <a:rPr sz="2325" spc="32" dirty="0"/>
              <a:t> </a:t>
            </a:r>
            <a:r>
              <a:rPr sz="2325" spc="-106" dirty="0"/>
              <a:t>and</a:t>
            </a:r>
            <a:r>
              <a:rPr sz="2325" spc="32" dirty="0"/>
              <a:t> </a:t>
            </a:r>
            <a:r>
              <a:rPr sz="2325" spc="-85" dirty="0"/>
              <a:t>the</a:t>
            </a:r>
            <a:r>
              <a:rPr sz="2325" spc="32" dirty="0"/>
              <a:t> </a:t>
            </a:r>
            <a:r>
              <a:rPr sz="2325" spc="-127" dirty="0"/>
              <a:t>dependencies</a:t>
            </a:r>
            <a:endParaRPr sz="2325" dirty="0"/>
          </a:p>
          <a:p>
            <a:pPr marL="1238733" lvl="1" indent="-355649">
              <a:lnSpc>
                <a:spcPct val="100000"/>
              </a:lnSpc>
              <a:spcBef>
                <a:spcPts val="317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.deb</a:t>
            </a:r>
            <a:r>
              <a:rPr sz="2114" spc="-35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95" dirty="0">
                <a:latin typeface="Tahoma"/>
                <a:cs typeface="Tahoma"/>
              </a:rPr>
              <a:t>on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Debian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and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Ubuntu,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.rpm</a:t>
            </a:r>
            <a:r>
              <a:rPr sz="2114" spc="-35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95" dirty="0">
                <a:latin typeface="Tahoma"/>
                <a:cs typeface="Tahoma"/>
              </a:rPr>
              <a:t>on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Red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latin typeface="Tahoma"/>
                <a:cs typeface="Tahoma"/>
              </a:rPr>
              <a:t>Hat,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Fedora,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openSUSE</a:t>
            </a:r>
            <a:endParaRPr sz="2114" dirty="0">
              <a:latin typeface="Tahoma"/>
              <a:cs typeface="Tahoma"/>
            </a:endParaRPr>
          </a:p>
          <a:p>
            <a:pPr marL="652247" indent="-374438">
              <a:lnSpc>
                <a:spcPct val="100000"/>
              </a:lnSpc>
              <a:spcBef>
                <a:spcPts val="740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85" dirty="0"/>
              <a:t>Packages</a:t>
            </a:r>
            <a:r>
              <a:rPr sz="2325" spc="32" dirty="0"/>
              <a:t> </a:t>
            </a:r>
            <a:r>
              <a:rPr sz="2325" spc="-148" dirty="0"/>
              <a:t>are</a:t>
            </a:r>
            <a:r>
              <a:rPr sz="2325" spc="42" dirty="0"/>
              <a:t> </a:t>
            </a:r>
            <a:r>
              <a:rPr sz="2325" spc="-106" dirty="0"/>
              <a:t>stored</a:t>
            </a:r>
            <a:r>
              <a:rPr sz="2325" spc="42" dirty="0"/>
              <a:t> </a:t>
            </a:r>
            <a:r>
              <a:rPr sz="2325" spc="-42" dirty="0"/>
              <a:t>in</a:t>
            </a:r>
            <a:r>
              <a:rPr sz="2325" spc="53" dirty="0"/>
              <a:t> </a:t>
            </a:r>
            <a:r>
              <a:rPr sz="2325" b="1" spc="-116" dirty="0">
                <a:latin typeface="Arial"/>
                <a:cs typeface="Arial"/>
              </a:rPr>
              <a:t>repositories</a:t>
            </a:r>
            <a:r>
              <a:rPr sz="2325" spc="-116" dirty="0"/>
              <a:t>,</a:t>
            </a:r>
            <a:r>
              <a:rPr sz="2325" spc="42" dirty="0"/>
              <a:t> </a:t>
            </a:r>
            <a:r>
              <a:rPr sz="2325" spc="-85" dirty="0"/>
              <a:t>usually</a:t>
            </a:r>
            <a:r>
              <a:rPr sz="2325" spc="32" dirty="0"/>
              <a:t> </a:t>
            </a:r>
            <a:r>
              <a:rPr sz="2325" spc="-116" dirty="0"/>
              <a:t>on</a:t>
            </a:r>
            <a:r>
              <a:rPr sz="2325" spc="42" dirty="0"/>
              <a:t> </a:t>
            </a:r>
            <a:r>
              <a:rPr sz="2325" spc="169" dirty="0"/>
              <a:t>HTTP</a:t>
            </a:r>
            <a:r>
              <a:rPr sz="2325" spc="42" dirty="0"/>
              <a:t> </a:t>
            </a:r>
            <a:r>
              <a:rPr sz="2325" spc="-116" dirty="0"/>
              <a:t>or</a:t>
            </a:r>
            <a:r>
              <a:rPr sz="2325" spc="42" dirty="0"/>
              <a:t> </a:t>
            </a:r>
            <a:r>
              <a:rPr sz="2325" spc="127" dirty="0"/>
              <a:t>HTTPS</a:t>
            </a:r>
            <a:r>
              <a:rPr sz="2325" spc="42" dirty="0"/>
              <a:t> </a:t>
            </a:r>
            <a:r>
              <a:rPr sz="2325" spc="-137" dirty="0"/>
              <a:t>servers</a:t>
            </a:r>
            <a:endParaRPr sz="2325" dirty="0">
              <a:latin typeface="Arial"/>
              <a:cs typeface="Arial"/>
            </a:endParaRPr>
          </a:p>
          <a:p>
            <a:pPr marL="652247" marR="6441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74" dirty="0"/>
              <a:t>You</a:t>
            </a:r>
            <a:r>
              <a:rPr sz="2325" spc="21" dirty="0"/>
              <a:t> </a:t>
            </a:r>
            <a:r>
              <a:rPr sz="2325" spc="-95" dirty="0"/>
              <a:t>should</a:t>
            </a:r>
            <a:r>
              <a:rPr sz="2325" spc="32" dirty="0"/>
              <a:t> </a:t>
            </a:r>
            <a:r>
              <a:rPr sz="2325" spc="-74" dirty="0"/>
              <a:t>only</a:t>
            </a:r>
            <a:r>
              <a:rPr sz="2325" spc="32" dirty="0"/>
              <a:t> </a:t>
            </a:r>
            <a:r>
              <a:rPr sz="2325" spc="-159" dirty="0"/>
              <a:t>use</a:t>
            </a:r>
            <a:r>
              <a:rPr sz="2325" spc="21" dirty="0"/>
              <a:t> </a:t>
            </a:r>
            <a:r>
              <a:rPr sz="2325" spc="-116" dirty="0"/>
              <a:t>packages</a:t>
            </a:r>
            <a:r>
              <a:rPr sz="2325" spc="32" dirty="0"/>
              <a:t> </a:t>
            </a:r>
            <a:r>
              <a:rPr sz="2325" spc="-85" dirty="0"/>
              <a:t>from</a:t>
            </a:r>
            <a:r>
              <a:rPr sz="2325" spc="32" dirty="0"/>
              <a:t> </a:t>
            </a:r>
            <a:r>
              <a:rPr sz="2325" spc="-53" dirty="0"/>
              <a:t>official</a:t>
            </a:r>
            <a:r>
              <a:rPr sz="2325" spc="21" dirty="0"/>
              <a:t> </a:t>
            </a:r>
            <a:r>
              <a:rPr sz="2325" spc="-95" dirty="0"/>
              <a:t>repositories</a:t>
            </a:r>
            <a:r>
              <a:rPr sz="2325" spc="32" dirty="0"/>
              <a:t> </a:t>
            </a:r>
            <a:r>
              <a:rPr sz="2325" spc="-95" dirty="0"/>
              <a:t>for</a:t>
            </a:r>
            <a:r>
              <a:rPr sz="2325" spc="32" dirty="0"/>
              <a:t> </a:t>
            </a:r>
            <a:r>
              <a:rPr sz="2325" spc="-106" dirty="0"/>
              <a:t>your</a:t>
            </a:r>
            <a:r>
              <a:rPr sz="2325" spc="32" dirty="0"/>
              <a:t> </a:t>
            </a:r>
            <a:r>
              <a:rPr sz="2325" spc="-53" dirty="0"/>
              <a:t>distribution,</a:t>
            </a:r>
            <a:r>
              <a:rPr sz="2325" spc="21" dirty="0"/>
              <a:t> </a:t>
            </a:r>
            <a:r>
              <a:rPr sz="2325" spc="-116" dirty="0"/>
              <a:t>unless </a:t>
            </a:r>
            <a:r>
              <a:rPr sz="2325" spc="-687" dirty="0"/>
              <a:t> </a:t>
            </a:r>
            <a:r>
              <a:rPr sz="2325" spc="-32" dirty="0"/>
              <a:t>strictly</a:t>
            </a:r>
            <a:r>
              <a:rPr sz="2325" spc="21" dirty="0"/>
              <a:t> </a:t>
            </a:r>
            <a:r>
              <a:rPr sz="2325" spc="-95" dirty="0"/>
              <a:t>required.</a:t>
            </a:r>
            <a:endParaRPr sz="2325" dirty="0"/>
          </a:p>
          <a:p>
            <a:pPr marL="652247" indent="-374438">
              <a:lnSpc>
                <a:spcPct val="100000"/>
              </a:lnSpc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74" dirty="0"/>
              <a:t>Note:</a:t>
            </a:r>
            <a:r>
              <a:rPr sz="2325" spc="296" dirty="0"/>
              <a:t> </a:t>
            </a:r>
            <a:r>
              <a:rPr sz="2325" i="1" spc="-169" dirty="0">
                <a:latin typeface="Arial"/>
                <a:cs typeface="Arial"/>
              </a:rPr>
              <a:t>Snap</a:t>
            </a:r>
            <a:r>
              <a:rPr sz="2325" i="1" spc="116" dirty="0">
                <a:latin typeface="Arial"/>
                <a:cs typeface="Arial"/>
              </a:rPr>
              <a:t> </a:t>
            </a:r>
            <a:r>
              <a:rPr sz="2325" spc="-106" dirty="0"/>
              <a:t>and</a:t>
            </a:r>
            <a:r>
              <a:rPr sz="2325" spc="42" dirty="0"/>
              <a:t> </a:t>
            </a:r>
            <a:r>
              <a:rPr sz="2325" i="1" spc="-63" dirty="0">
                <a:latin typeface="Arial"/>
                <a:cs typeface="Arial"/>
              </a:rPr>
              <a:t>Flatpak</a:t>
            </a:r>
            <a:r>
              <a:rPr sz="2325" i="1" spc="116" dirty="0">
                <a:latin typeface="Arial"/>
                <a:cs typeface="Arial"/>
              </a:rPr>
              <a:t> </a:t>
            </a:r>
            <a:r>
              <a:rPr sz="2325" spc="-106" dirty="0"/>
              <a:t>offer</a:t>
            </a:r>
            <a:r>
              <a:rPr sz="2325" spc="32" dirty="0"/>
              <a:t> </a:t>
            </a:r>
            <a:r>
              <a:rPr sz="2325" spc="-159" dirty="0"/>
              <a:t>new</a:t>
            </a:r>
            <a:r>
              <a:rPr sz="2325" spc="42" dirty="0"/>
              <a:t> </a:t>
            </a:r>
            <a:r>
              <a:rPr sz="2325" spc="-169" dirty="0"/>
              <a:t>ways</a:t>
            </a:r>
            <a:r>
              <a:rPr sz="2325" spc="32" dirty="0"/>
              <a:t> </a:t>
            </a:r>
            <a:r>
              <a:rPr sz="2325" spc="-74" dirty="0"/>
              <a:t>of</a:t>
            </a:r>
            <a:r>
              <a:rPr sz="2325" spc="32" dirty="0"/>
              <a:t> </a:t>
            </a:r>
            <a:r>
              <a:rPr sz="2325" spc="-85" dirty="0"/>
              <a:t>packaging</a:t>
            </a:r>
            <a:r>
              <a:rPr sz="2325" spc="42" dirty="0"/>
              <a:t> </a:t>
            </a:r>
            <a:r>
              <a:rPr sz="2325" spc="-63" dirty="0"/>
              <a:t>applications</a:t>
            </a:r>
            <a:r>
              <a:rPr sz="2325" spc="32" dirty="0"/>
              <a:t> </a:t>
            </a:r>
            <a:r>
              <a:rPr sz="2325" spc="-42" dirty="0"/>
              <a:t>in</a:t>
            </a:r>
            <a:r>
              <a:rPr sz="2325" spc="32" dirty="0"/>
              <a:t> </a:t>
            </a:r>
            <a:r>
              <a:rPr sz="2325" spc="-116" dirty="0"/>
              <a:t>a</a:t>
            </a:r>
            <a:r>
              <a:rPr lang="en-US" sz="2325" dirty="0">
                <a:latin typeface="Arial"/>
                <a:cs typeface="Arial"/>
              </a:rPr>
              <a:t> </a:t>
            </a:r>
            <a:r>
              <a:rPr spc="-85" dirty="0"/>
              <a:t>self-contained</a:t>
            </a:r>
            <a:r>
              <a:rPr spc="42" dirty="0"/>
              <a:t> </a:t>
            </a:r>
            <a:r>
              <a:rPr spc="-190" dirty="0"/>
              <a:t>way.</a:t>
            </a:r>
            <a:r>
              <a:rPr spc="296" dirty="0"/>
              <a:t> </a:t>
            </a:r>
            <a:r>
              <a:rPr spc="-148" dirty="0"/>
              <a:t>See</a:t>
            </a:r>
            <a:r>
              <a:rPr spc="53" dirty="0"/>
              <a:t> </a:t>
            </a:r>
            <a:r>
              <a:rPr spc="-11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https://www.atechtown.com/flatpak-vs-snap/</a:t>
            </a:r>
            <a:r>
              <a:rPr spc="-11" dirty="0"/>
              <a:t>.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4949570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27" dirty="0"/>
              <a:t>Managing</a:t>
            </a:r>
            <a:r>
              <a:rPr sz="2959" dirty="0"/>
              <a:t> </a:t>
            </a:r>
            <a:r>
              <a:rPr sz="2959" spc="-190" dirty="0"/>
              <a:t>software</a:t>
            </a:r>
            <a:r>
              <a:rPr sz="2959" dirty="0"/>
              <a:t> </a:t>
            </a:r>
            <a:r>
              <a:rPr sz="2959" spc="-190" dirty="0"/>
              <a:t>packages</a:t>
            </a:r>
            <a:r>
              <a:rPr sz="2959" spc="11" dirty="0"/>
              <a:t> </a:t>
            </a:r>
            <a:r>
              <a:rPr sz="2959" spc="-85" dirty="0"/>
              <a:t>(1)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83306" y="1573255"/>
            <a:ext cx="10760752" cy="3665088"/>
          </a:xfrm>
          <a:prstGeom prst="rect">
            <a:avLst/>
          </a:prstGeom>
        </p:spPr>
        <p:txBody>
          <a:bodyPr vert="horz" wrap="square" lIns="0" tIns="116758" rIns="0" bIns="0" rtlCol="0">
            <a:spAutoFit/>
          </a:bodyPr>
          <a:lstStyle/>
          <a:p>
            <a:pPr marL="80524">
              <a:spcBef>
                <a:spcPts val="917"/>
              </a:spcBef>
            </a:pPr>
            <a:r>
              <a:rPr sz="2325" spc="-85" dirty="0">
                <a:latin typeface="Tahoma"/>
                <a:cs typeface="Tahoma"/>
              </a:rPr>
              <a:t>Instructions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Debian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based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21" dirty="0">
                <a:latin typeface="Tahoma"/>
                <a:cs typeface="Tahoma"/>
              </a:rPr>
              <a:t>GNU/Linux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systems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(Debian,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Ubuntu...)</a:t>
            </a:r>
            <a:endParaRPr sz="2325">
              <a:latin typeface="Tahoma"/>
              <a:cs typeface="Tahoma"/>
            </a:endParaRPr>
          </a:p>
          <a:p>
            <a:pPr marL="665668" indent="-375780">
              <a:spcBef>
                <a:spcPts val="706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74" dirty="0">
                <a:latin typeface="Tahoma"/>
                <a:cs typeface="Tahoma"/>
              </a:rPr>
              <a:t>Package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repositories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specified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/etc/apt/sources.list</a:t>
            </a:r>
            <a:r>
              <a:rPr sz="2325" spc="-40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06" dirty="0">
                <a:latin typeface="Tahoma"/>
                <a:cs typeface="Tahoma"/>
              </a:rPr>
              <a:t>and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files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under</a:t>
            </a:r>
            <a:endParaRPr sz="2325">
              <a:latin typeface="Tahoma"/>
              <a:cs typeface="Tahoma"/>
            </a:endParaRPr>
          </a:p>
          <a:p>
            <a:pPr marL="665668">
              <a:spcBef>
                <a:spcPts val="74"/>
              </a:spcBef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/etc/apt/sources.list.d/</a:t>
            </a:r>
            <a:endParaRPr sz="2325">
              <a:latin typeface="SimSun"/>
              <a:cs typeface="SimSun"/>
            </a:endParaRPr>
          </a:p>
          <a:p>
            <a:pPr marL="665668" indent="-375780">
              <a:spcBef>
                <a:spcPts val="697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53" dirty="0">
                <a:latin typeface="Tahoma"/>
                <a:cs typeface="Tahoma"/>
              </a:rPr>
              <a:t>To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update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package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repository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lists:</a:t>
            </a:r>
            <a:endParaRPr sz="2325">
              <a:latin typeface="Tahoma"/>
              <a:cs typeface="Tahoma"/>
            </a:endParaRPr>
          </a:p>
          <a:p>
            <a:pPr marL="665668">
              <a:spcBef>
                <a:spcPts val="74"/>
              </a:spcBef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sudo</a:t>
            </a:r>
            <a:r>
              <a:rPr sz="2325" spc="-9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apt</a:t>
            </a:r>
            <a:r>
              <a:rPr sz="2325" spc="-9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update</a:t>
            </a:r>
            <a:endParaRPr sz="2325">
              <a:latin typeface="SimSun"/>
              <a:cs typeface="SimSun"/>
            </a:endParaRPr>
          </a:p>
          <a:p>
            <a:pPr marL="665668" marR="6441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53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find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name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package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install,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best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to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use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search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engine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 </a:t>
            </a:r>
            <a:r>
              <a:rPr sz="2325" spc="-106" dirty="0">
                <a:latin typeface="Tahoma"/>
                <a:cs typeface="Tahoma"/>
              </a:rPr>
              <a:t> </a:t>
            </a: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https://packages.debian.org</a:t>
            </a:r>
            <a:r>
              <a:rPr sz="2325" spc="-380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 </a:t>
            </a:r>
            <a:r>
              <a:rPr sz="2325" spc="-116" dirty="0">
                <a:latin typeface="Tahoma"/>
                <a:cs typeface="Tahoma"/>
              </a:rPr>
              <a:t>or</a:t>
            </a:r>
            <a:r>
              <a:rPr sz="2325" spc="6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21" dirty="0">
                <a:solidFill>
                  <a:srgbClr val="3F3FBF"/>
                </a:solidFill>
                <a:latin typeface="SimSun"/>
                <a:cs typeface="SimSun"/>
                <a:hlinkClick r:id="rId3"/>
              </a:rPr>
              <a:t>https://packages.ubuntu.com</a:t>
            </a:r>
            <a:r>
              <a:rPr sz="2325" spc="-21" dirty="0">
                <a:latin typeface="Tahoma"/>
                <a:cs typeface="Tahoma"/>
              </a:rPr>
              <a:t>.</a:t>
            </a:r>
            <a:r>
              <a:rPr sz="2325" spc="338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You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may </a:t>
            </a:r>
            <a:r>
              <a:rPr sz="2325" spc="-687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also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69" dirty="0">
                <a:latin typeface="Tahoma"/>
                <a:cs typeface="Tahoma"/>
              </a:rPr>
              <a:t>use:</a:t>
            </a:r>
            <a:endParaRPr sz="2325">
              <a:latin typeface="Tahoma"/>
              <a:cs typeface="Tahoma"/>
            </a:endParaRPr>
          </a:p>
          <a:p>
            <a:pPr marL="665668">
              <a:spcBef>
                <a:spcPts val="74"/>
              </a:spcBef>
            </a:pP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apt-cache</a:t>
            </a:r>
            <a:r>
              <a:rPr sz="2325" spc="-8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search</a:t>
            </a:r>
            <a:r>
              <a:rPr sz="2325" spc="-7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&lt;keyword&gt;</a:t>
            </a:r>
            <a:endParaRPr sz="2325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0"/>
            <a:ext cx="4949570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27" dirty="0"/>
              <a:t>Managing</a:t>
            </a:r>
            <a:r>
              <a:rPr sz="2959" dirty="0"/>
              <a:t> </a:t>
            </a:r>
            <a:r>
              <a:rPr sz="2959" spc="-190" dirty="0"/>
              <a:t>software</a:t>
            </a:r>
            <a:r>
              <a:rPr sz="2959" dirty="0"/>
              <a:t> </a:t>
            </a:r>
            <a:r>
              <a:rPr sz="2959" spc="-190" dirty="0"/>
              <a:t>packages</a:t>
            </a:r>
            <a:r>
              <a:rPr sz="2959" spc="11" dirty="0"/>
              <a:t> </a:t>
            </a:r>
            <a:r>
              <a:rPr sz="2959" spc="-85" dirty="0"/>
              <a:t>(2)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683306" y="1146047"/>
            <a:ext cx="9544833" cy="5216840"/>
          </a:xfrm>
          <a:prstGeom prst="rect">
            <a:avLst/>
          </a:prstGeom>
        </p:spPr>
        <p:txBody>
          <a:bodyPr vert="horz" wrap="square" lIns="0" tIns="24157" rIns="0" bIns="0" rtlCol="0">
            <a:spAutoFit/>
          </a:bodyPr>
          <a:lstStyle/>
          <a:p>
            <a:pPr marL="665668" indent="-375780">
              <a:spcBef>
                <a:spcPts val="190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53" dirty="0">
                <a:latin typeface="Tahoma"/>
                <a:cs typeface="Tahoma"/>
              </a:rPr>
              <a:t>To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install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given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package:</a:t>
            </a:r>
            <a:endParaRPr sz="2325">
              <a:latin typeface="Tahoma"/>
              <a:cs typeface="Tahoma"/>
            </a:endParaRPr>
          </a:p>
          <a:p>
            <a:pPr marL="665668">
              <a:spcBef>
                <a:spcPts val="74"/>
              </a:spcBef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sudo</a:t>
            </a:r>
            <a:r>
              <a:rPr sz="2325" spc="-7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apt</a:t>
            </a:r>
            <a:r>
              <a:rPr sz="2325" spc="-6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install</a:t>
            </a:r>
            <a:r>
              <a:rPr sz="2325" spc="-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&lt;package&gt;</a:t>
            </a:r>
            <a:endParaRPr sz="2325">
              <a:latin typeface="SimSun"/>
              <a:cs typeface="SimSun"/>
            </a:endParaRPr>
          </a:p>
          <a:p>
            <a:pPr marL="665668" indent="-375780">
              <a:spcBef>
                <a:spcPts val="706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53" dirty="0">
                <a:latin typeface="Tahoma"/>
                <a:cs typeface="Tahoma"/>
              </a:rPr>
              <a:t>To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remove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given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package:</a:t>
            </a:r>
            <a:endParaRPr sz="2325">
              <a:latin typeface="Tahoma"/>
              <a:cs typeface="Tahoma"/>
            </a:endParaRPr>
          </a:p>
          <a:p>
            <a:pPr marL="665668">
              <a:spcBef>
                <a:spcPts val="74"/>
              </a:spcBef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sudo</a:t>
            </a:r>
            <a:r>
              <a:rPr sz="2325" spc="-7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apt</a:t>
            </a:r>
            <a:r>
              <a:rPr sz="2325" spc="-6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remove</a:t>
            </a:r>
            <a:r>
              <a:rPr sz="2325" spc="-5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&lt;package&gt;</a:t>
            </a:r>
            <a:endParaRPr sz="2325">
              <a:latin typeface="SimSun"/>
              <a:cs typeface="SimSun"/>
            </a:endParaRPr>
          </a:p>
          <a:p>
            <a:pPr marL="665668" indent="-375780">
              <a:spcBef>
                <a:spcPts val="697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53" dirty="0">
                <a:latin typeface="Tahoma"/>
                <a:cs typeface="Tahoma"/>
              </a:rPr>
              <a:t>To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install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all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available</a:t>
            </a:r>
            <a:r>
              <a:rPr sz="2325" spc="1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package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updates:</a:t>
            </a:r>
            <a:endParaRPr sz="2325">
              <a:latin typeface="Tahoma"/>
              <a:cs typeface="Tahoma"/>
            </a:endParaRPr>
          </a:p>
          <a:p>
            <a:pPr marL="665668">
              <a:spcBef>
                <a:spcPts val="74"/>
              </a:spcBef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sudo</a:t>
            </a:r>
            <a:r>
              <a:rPr sz="2325" spc="-63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apt</a:t>
            </a:r>
            <a:r>
              <a:rPr sz="2325" spc="-4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dist-upgrade</a:t>
            </a:r>
            <a:endParaRPr sz="2325">
              <a:latin typeface="SimSun"/>
              <a:cs typeface="SimSun"/>
            </a:endParaRPr>
          </a:p>
          <a:p>
            <a:pPr marL="665668" indent="-375780">
              <a:spcBef>
                <a:spcPts val="708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63" dirty="0">
                <a:latin typeface="Tahoma"/>
                <a:cs typeface="Tahoma"/>
              </a:rPr>
              <a:t>Get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information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about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package:</a:t>
            </a:r>
            <a:endParaRPr sz="2325">
              <a:latin typeface="Tahoma"/>
              <a:cs typeface="Tahoma"/>
            </a:endParaRPr>
          </a:p>
          <a:p>
            <a:pPr marL="665668">
              <a:spcBef>
                <a:spcPts val="74"/>
              </a:spcBef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apt</a:t>
            </a:r>
            <a:r>
              <a:rPr sz="2325" spc="-9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show</a:t>
            </a:r>
            <a:r>
              <a:rPr sz="2325" spc="-8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dirty="0">
                <a:solidFill>
                  <a:srgbClr val="7F7F7F"/>
                </a:solidFill>
                <a:latin typeface="SimSun"/>
                <a:cs typeface="SimSun"/>
              </a:rPr>
              <a:t>&lt;package&gt;</a:t>
            </a:r>
            <a:endParaRPr sz="2325">
              <a:latin typeface="SimSun"/>
              <a:cs typeface="SimSun"/>
            </a:endParaRPr>
          </a:p>
          <a:p>
            <a:pPr marL="665668" indent="-375780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667010" algn="l"/>
              </a:tabLst>
            </a:pPr>
            <a:r>
              <a:rPr sz="2325" spc="-63" dirty="0">
                <a:latin typeface="Tahoma"/>
                <a:cs typeface="Tahoma"/>
              </a:rPr>
              <a:t>Graphical</a:t>
            </a:r>
            <a:r>
              <a:rPr sz="2325" spc="-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interfaces</a:t>
            </a:r>
            <a:endParaRPr sz="2325">
              <a:latin typeface="Tahoma"/>
              <a:cs typeface="Tahoma"/>
            </a:endParaRPr>
          </a:p>
          <a:p>
            <a:pPr marL="1250812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spc="-42" dirty="0">
                <a:latin typeface="Tahoma"/>
                <a:cs typeface="Tahoma"/>
              </a:rPr>
              <a:t>Synaptic</a:t>
            </a:r>
            <a:r>
              <a:rPr sz="2114" spc="-11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for</a:t>
            </a:r>
            <a:r>
              <a:rPr sz="2114" spc="-11" dirty="0">
                <a:latin typeface="Tahoma"/>
                <a:cs typeface="Tahoma"/>
              </a:rPr>
              <a:t> </a:t>
            </a:r>
            <a:r>
              <a:rPr sz="2114" spc="74" dirty="0">
                <a:latin typeface="Tahoma"/>
                <a:cs typeface="Tahoma"/>
              </a:rPr>
              <a:t>GNOME</a:t>
            </a:r>
            <a:endParaRPr sz="2114">
              <a:latin typeface="Tahoma"/>
              <a:cs typeface="Tahoma"/>
            </a:endParaRPr>
          </a:p>
          <a:p>
            <a:pPr marL="1250812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252154" algn="l"/>
              </a:tabLst>
            </a:pPr>
            <a:r>
              <a:rPr sz="2114" dirty="0">
                <a:latin typeface="Tahoma"/>
                <a:cs typeface="Tahoma"/>
              </a:rPr>
              <a:t>KPackageKit </a:t>
            </a:r>
            <a:r>
              <a:rPr sz="2114" spc="-85" dirty="0">
                <a:latin typeface="Tahoma"/>
                <a:cs typeface="Tahoma"/>
              </a:rPr>
              <a:t>for</a:t>
            </a:r>
            <a:r>
              <a:rPr sz="2114" spc="11" dirty="0">
                <a:latin typeface="Tahoma"/>
                <a:cs typeface="Tahoma"/>
              </a:rPr>
              <a:t> </a:t>
            </a:r>
            <a:r>
              <a:rPr sz="2114" spc="116" dirty="0">
                <a:latin typeface="Tahoma"/>
                <a:cs typeface="Tahoma"/>
              </a:rPr>
              <a:t>KDE</a:t>
            </a:r>
            <a:endParaRPr sz="2114">
              <a:latin typeface="Tahoma"/>
              <a:cs typeface="Tahoma"/>
            </a:endParaRPr>
          </a:p>
          <a:p>
            <a:pPr marL="80524">
              <a:spcBef>
                <a:spcPts val="1374"/>
              </a:spcBef>
            </a:pPr>
            <a:r>
              <a:rPr sz="2325" spc="-63" dirty="0">
                <a:latin typeface="Tahoma"/>
                <a:cs typeface="Tahoma"/>
              </a:rPr>
              <a:t>Further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details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on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package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management:</a:t>
            </a:r>
            <a:endParaRPr sz="2325">
              <a:latin typeface="Tahoma"/>
              <a:cs typeface="Tahoma"/>
            </a:endParaRPr>
          </a:p>
          <a:p>
            <a:pPr marL="80524">
              <a:spcBef>
                <a:spcPts val="74"/>
              </a:spcBef>
            </a:pP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https://www.debian.org/doc/manuals/debian-reference/ch02.en.html</a:t>
            </a:r>
            <a:endParaRPr sz="2325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1"/>
            <a:ext cx="2337894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95" dirty="0"/>
              <a:t>Host</a:t>
            </a:r>
            <a:r>
              <a:rPr sz="2959" spc="-42" dirty="0"/>
              <a:t> </a:t>
            </a:r>
            <a:r>
              <a:rPr sz="2959" spc="-169" dirty="0"/>
              <a:t>vs.</a:t>
            </a:r>
            <a:r>
              <a:rPr sz="2959" spc="275" dirty="0"/>
              <a:t> </a:t>
            </a:r>
            <a:r>
              <a:rPr sz="2959" spc="-137" dirty="0"/>
              <a:t>target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1" y="1354392"/>
            <a:ext cx="10265527" cy="2291954"/>
          </a:xfrm>
          <a:prstGeom prst="rect">
            <a:avLst/>
          </a:prstGeom>
        </p:spPr>
        <p:txBody>
          <a:bodyPr vert="horz" wrap="square" lIns="0" tIns="76498" rIns="0" bIns="0" rtlCol="0">
            <a:spAutoFit/>
          </a:bodyPr>
          <a:lstStyle/>
          <a:p>
            <a:pPr marL="453618" indent="-374438">
              <a:spcBef>
                <a:spcPts val="602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85" dirty="0">
                <a:latin typeface="Tahoma"/>
                <a:cs typeface="Tahoma"/>
              </a:rPr>
              <a:t>When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doing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embedded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development,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there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always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32" dirty="0">
                <a:latin typeface="Tahoma"/>
                <a:cs typeface="Tahoma"/>
              </a:rPr>
              <a:t>split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between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32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i="1" spc="-74" dirty="0">
                <a:latin typeface="Arial"/>
                <a:cs typeface="Arial"/>
              </a:rPr>
              <a:t>host</a:t>
            </a:r>
            <a:r>
              <a:rPr sz="2114" spc="-74" dirty="0">
                <a:latin typeface="Tahoma"/>
                <a:cs typeface="Tahoma"/>
              </a:rPr>
              <a:t>,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development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workstation,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which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is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typically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powerful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127" dirty="0">
                <a:latin typeface="Tahoma"/>
                <a:cs typeface="Tahoma"/>
              </a:rPr>
              <a:t>PC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32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i="1" spc="-42" dirty="0">
                <a:latin typeface="Arial"/>
                <a:cs typeface="Arial"/>
              </a:rPr>
              <a:t>target</a:t>
            </a:r>
            <a:r>
              <a:rPr sz="2114" spc="-42" dirty="0">
                <a:latin typeface="Tahoma"/>
                <a:cs typeface="Tahoma"/>
              </a:rPr>
              <a:t>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which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is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embedded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system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under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development</a:t>
            </a:r>
            <a:endParaRPr sz="2114">
              <a:latin typeface="Tahoma"/>
              <a:cs typeface="Tahoma"/>
            </a:endParaRPr>
          </a:p>
          <a:p>
            <a:pPr marL="453618" marR="64419" indent="-374438">
              <a:lnSpc>
                <a:spcPct val="102600"/>
              </a:lnSpc>
              <a:spcBef>
                <a:spcPts val="67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53" dirty="0">
                <a:latin typeface="Tahoma"/>
                <a:cs typeface="Tahoma"/>
              </a:rPr>
              <a:t>They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are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connected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by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various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means:</a:t>
            </a:r>
            <a:r>
              <a:rPr sz="2325" spc="306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almost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always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serial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line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debugging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purposes,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frequently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6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networking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connection,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sometimes</a:t>
            </a:r>
            <a:r>
              <a:rPr sz="2325" spc="6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42" dirty="0">
                <a:latin typeface="Tahoma"/>
                <a:cs typeface="Tahoma"/>
              </a:rPr>
              <a:t>JTAG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interface</a:t>
            </a:r>
            <a:r>
              <a:rPr sz="2325" spc="63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 </a:t>
            </a:r>
            <a:r>
              <a:rPr sz="2325" spc="-85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low-level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debugging</a:t>
            </a:r>
            <a:endParaRPr sz="2325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1664" y="4004180"/>
            <a:ext cx="7454211" cy="150571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3" y="71650"/>
            <a:ext cx="5303878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16" dirty="0"/>
              <a:t>Serial</a:t>
            </a:r>
            <a:r>
              <a:rPr sz="2959" spc="11" dirty="0"/>
              <a:t> </a:t>
            </a:r>
            <a:r>
              <a:rPr sz="2959" spc="-127" dirty="0"/>
              <a:t>line</a:t>
            </a:r>
            <a:r>
              <a:rPr sz="2959" spc="11" dirty="0"/>
              <a:t> </a:t>
            </a:r>
            <a:r>
              <a:rPr sz="2959" spc="-137" dirty="0"/>
              <a:t>communication</a:t>
            </a:r>
            <a:r>
              <a:rPr sz="2959" spc="11" dirty="0"/>
              <a:t> </a:t>
            </a:r>
            <a:r>
              <a:rPr sz="2959" spc="-180" dirty="0"/>
              <a:t>program</a:t>
            </a:r>
            <a:endParaRPr sz="2959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55685" y="884355"/>
            <a:ext cx="9575351" cy="4843289"/>
          </a:xfrm>
          <a:prstGeom prst="rect">
            <a:avLst/>
          </a:prstGeom>
        </p:spPr>
        <p:txBody>
          <a:bodyPr vert="horz" wrap="square" lIns="0" tIns="114721" rIns="0" bIns="0" rtlCol="0">
            <a:spAutoFit/>
          </a:bodyPr>
          <a:lstStyle/>
          <a:p>
            <a:pPr marL="652247" marR="985081" indent="-374438">
              <a:lnSpc>
                <a:spcPct val="102699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11" dirty="0"/>
              <a:t>An</a:t>
            </a:r>
            <a:r>
              <a:rPr sz="2325" spc="32" dirty="0"/>
              <a:t> </a:t>
            </a:r>
            <a:r>
              <a:rPr sz="2325" spc="-95" dirty="0"/>
              <a:t>essential</a:t>
            </a:r>
            <a:r>
              <a:rPr sz="2325" spc="42" dirty="0"/>
              <a:t> </a:t>
            </a:r>
            <a:r>
              <a:rPr sz="2325" spc="-21" dirty="0"/>
              <a:t>tool</a:t>
            </a:r>
            <a:r>
              <a:rPr sz="2325" spc="42" dirty="0"/>
              <a:t> </a:t>
            </a:r>
            <a:r>
              <a:rPr sz="2325" spc="-95" dirty="0"/>
              <a:t>for</a:t>
            </a:r>
            <a:r>
              <a:rPr sz="2325" spc="42" dirty="0"/>
              <a:t> </a:t>
            </a:r>
            <a:r>
              <a:rPr sz="2325" spc="-137" dirty="0"/>
              <a:t>embedded</a:t>
            </a:r>
            <a:r>
              <a:rPr sz="2325" spc="42" dirty="0"/>
              <a:t> </a:t>
            </a:r>
            <a:r>
              <a:rPr sz="2325" spc="-106" dirty="0"/>
              <a:t>development</a:t>
            </a:r>
            <a:r>
              <a:rPr sz="2325" spc="42" dirty="0"/>
              <a:t> </a:t>
            </a:r>
            <a:r>
              <a:rPr sz="2325" spc="-74" dirty="0"/>
              <a:t>is</a:t>
            </a:r>
            <a:r>
              <a:rPr sz="2325" spc="42" dirty="0"/>
              <a:t> </a:t>
            </a:r>
            <a:r>
              <a:rPr sz="2325" spc="-116" dirty="0"/>
              <a:t>a</a:t>
            </a:r>
            <a:r>
              <a:rPr sz="2325" spc="42" dirty="0"/>
              <a:t> </a:t>
            </a:r>
            <a:r>
              <a:rPr sz="2325" spc="-85" dirty="0"/>
              <a:t>serial</a:t>
            </a:r>
            <a:r>
              <a:rPr sz="2325" spc="42" dirty="0"/>
              <a:t> </a:t>
            </a:r>
            <a:r>
              <a:rPr sz="2325" spc="-74" dirty="0"/>
              <a:t>line</a:t>
            </a:r>
            <a:r>
              <a:rPr sz="2325" spc="42" dirty="0"/>
              <a:t> </a:t>
            </a:r>
            <a:r>
              <a:rPr sz="2325" spc="-74" dirty="0"/>
              <a:t>communication </a:t>
            </a:r>
            <a:r>
              <a:rPr sz="2325" spc="-687" dirty="0"/>
              <a:t> </a:t>
            </a:r>
            <a:r>
              <a:rPr sz="2325" spc="-106" dirty="0"/>
              <a:t>program,</a:t>
            </a:r>
            <a:r>
              <a:rPr sz="2325" spc="21" dirty="0"/>
              <a:t> </a:t>
            </a:r>
            <a:r>
              <a:rPr sz="2325" spc="-74" dirty="0"/>
              <a:t>like</a:t>
            </a:r>
            <a:r>
              <a:rPr sz="2325" spc="32" dirty="0"/>
              <a:t> </a:t>
            </a:r>
            <a:r>
              <a:rPr sz="2325" i="1" spc="-85" dirty="0">
                <a:latin typeface="Arial"/>
                <a:cs typeface="Arial"/>
              </a:rPr>
              <a:t>HyperTerminal</a:t>
            </a:r>
            <a:r>
              <a:rPr sz="2325" i="1" spc="116" dirty="0">
                <a:latin typeface="Arial"/>
                <a:cs typeface="Arial"/>
              </a:rPr>
              <a:t> </a:t>
            </a:r>
            <a:r>
              <a:rPr sz="2325" spc="-42" dirty="0"/>
              <a:t>in</a:t>
            </a:r>
            <a:r>
              <a:rPr sz="2325" spc="32" dirty="0"/>
              <a:t> </a:t>
            </a:r>
            <a:r>
              <a:rPr sz="2325" spc="-85" dirty="0"/>
              <a:t>Windows.</a:t>
            </a:r>
            <a:endParaRPr sz="2325" dirty="0">
              <a:latin typeface="Arial"/>
              <a:cs typeface="Arial"/>
            </a:endParaRPr>
          </a:p>
          <a:p>
            <a:pPr marL="652247" marR="6441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74" dirty="0"/>
              <a:t>There</a:t>
            </a:r>
            <a:r>
              <a:rPr sz="2325" spc="21" dirty="0"/>
              <a:t> </a:t>
            </a:r>
            <a:r>
              <a:rPr sz="2325" spc="-148" dirty="0"/>
              <a:t>are</a:t>
            </a:r>
            <a:r>
              <a:rPr sz="2325" spc="32" dirty="0"/>
              <a:t> </a:t>
            </a:r>
            <a:r>
              <a:rPr sz="2325" spc="-53" dirty="0"/>
              <a:t>multiple</a:t>
            </a:r>
            <a:r>
              <a:rPr sz="2325" spc="21" dirty="0"/>
              <a:t> </a:t>
            </a:r>
            <a:r>
              <a:rPr sz="2325" spc="-74" dirty="0"/>
              <a:t>options</a:t>
            </a:r>
            <a:r>
              <a:rPr sz="2325" spc="32" dirty="0"/>
              <a:t> </a:t>
            </a:r>
            <a:r>
              <a:rPr sz="2325" spc="-74" dirty="0"/>
              <a:t>available</a:t>
            </a:r>
            <a:r>
              <a:rPr sz="2325" spc="21" dirty="0"/>
              <a:t> </a:t>
            </a:r>
            <a:r>
              <a:rPr sz="2325" spc="-42" dirty="0"/>
              <a:t>in</a:t>
            </a:r>
            <a:r>
              <a:rPr sz="2325" spc="32" dirty="0"/>
              <a:t> </a:t>
            </a:r>
            <a:r>
              <a:rPr sz="2325" spc="-63" dirty="0"/>
              <a:t>Linux:</a:t>
            </a:r>
            <a:r>
              <a:rPr sz="2325" spc="296" dirty="0"/>
              <a:t> </a:t>
            </a:r>
            <a:r>
              <a:rPr sz="2325" i="1" spc="-53" dirty="0">
                <a:latin typeface="Arial"/>
                <a:cs typeface="Arial"/>
              </a:rPr>
              <a:t>Minicom</a:t>
            </a:r>
            <a:r>
              <a:rPr sz="2325" spc="-53" dirty="0"/>
              <a:t>,</a:t>
            </a:r>
            <a:r>
              <a:rPr sz="2325" spc="21" dirty="0"/>
              <a:t> </a:t>
            </a:r>
            <a:r>
              <a:rPr sz="2325" i="1" spc="-95" dirty="0">
                <a:latin typeface="Arial"/>
                <a:cs typeface="Arial"/>
              </a:rPr>
              <a:t>Picocom</a:t>
            </a:r>
            <a:r>
              <a:rPr sz="2325" spc="-95" dirty="0"/>
              <a:t>,</a:t>
            </a:r>
            <a:r>
              <a:rPr sz="2325" spc="32" dirty="0"/>
              <a:t> </a:t>
            </a:r>
            <a:r>
              <a:rPr sz="2325" i="1" spc="-53" dirty="0">
                <a:latin typeface="Arial"/>
                <a:cs typeface="Arial"/>
              </a:rPr>
              <a:t>Gtkterm</a:t>
            </a:r>
            <a:r>
              <a:rPr sz="2325" spc="-53" dirty="0"/>
              <a:t>,</a:t>
            </a:r>
            <a:r>
              <a:rPr sz="2325" spc="21" dirty="0"/>
              <a:t> </a:t>
            </a:r>
            <a:r>
              <a:rPr sz="2325" i="1" spc="-11" dirty="0">
                <a:latin typeface="Arial"/>
                <a:cs typeface="Arial"/>
              </a:rPr>
              <a:t>Putty</a:t>
            </a:r>
            <a:r>
              <a:rPr sz="2325" spc="-11" dirty="0"/>
              <a:t>, </a:t>
            </a:r>
            <a:r>
              <a:rPr sz="2325" spc="-687" dirty="0"/>
              <a:t> </a:t>
            </a:r>
            <a:r>
              <a:rPr sz="2325" i="1" spc="-180" dirty="0">
                <a:latin typeface="Arial"/>
                <a:cs typeface="Arial"/>
              </a:rPr>
              <a:t>screen</a:t>
            </a:r>
            <a:r>
              <a:rPr sz="2325" i="1" spc="106" dirty="0">
                <a:latin typeface="Arial"/>
                <a:cs typeface="Arial"/>
              </a:rPr>
              <a:t> </a:t>
            </a:r>
            <a:r>
              <a:rPr sz="2325" spc="-106" dirty="0"/>
              <a:t>and</a:t>
            </a:r>
            <a:r>
              <a:rPr sz="2325" spc="32" dirty="0"/>
              <a:t> </a:t>
            </a:r>
            <a:r>
              <a:rPr sz="2325" spc="-85" dirty="0"/>
              <a:t>the</a:t>
            </a:r>
            <a:r>
              <a:rPr sz="2325" spc="32" dirty="0"/>
              <a:t> </a:t>
            </a:r>
            <a:r>
              <a:rPr sz="2325" spc="-159" dirty="0"/>
              <a:t>new</a:t>
            </a:r>
            <a:r>
              <a:rPr sz="2325" spc="21" dirty="0"/>
              <a:t> </a:t>
            </a:r>
            <a:r>
              <a:rPr sz="2325" i="1" spc="21" dirty="0">
                <a:latin typeface="Arial"/>
                <a:cs typeface="Arial"/>
              </a:rPr>
              <a:t>tio</a:t>
            </a:r>
            <a:r>
              <a:rPr sz="2325" i="1" spc="116" dirty="0">
                <a:latin typeface="Arial"/>
                <a:cs typeface="Arial"/>
              </a:rPr>
              <a:t> </a:t>
            </a:r>
            <a:r>
              <a:rPr sz="2325" spc="-11" dirty="0"/>
              <a:t>(</a:t>
            </a:r>
            <a:r>
              <a:rPr sz="2325" spc="-11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https://github.com/tio/tio</a:t>
            </a:r>
            <a:r>
              <a:rPr sz="2325" spc="-11" dirty="0"/>
              <a:t>).</a:t>
            </a:r>
            <a:endParaRPr sz="2325" dirty="0">
              <a:latin typeface="SimSun"/>
              <a:cs typeface="SimSun"/>
            </a:endParaRPr>
          </a:p>
          <a:p>
            <a:pPr marL="652247" indent="-374438">
              <a:lnSpc>
                <a:spcPct val="100000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169" dirty="0"/>
              <a:t>In</a:t>
            </a:r>
            <a:r>
              <a:rPr sz="2325" spc="32" dirty="0"/>
              <a:t> </a:t>
            </a:r>
            <a:r>
              <a:rPr sz="2325" spc="-53" dirty="0"/>
              <a:t>this</a:t>
            </a:r>
            <a:r>
              <a:rPr sz="2325" spc="32" dirty="0"/>
              <a:t> </a:t>
            </a:r>
            <a:r>
              <a:rPr sz="2325" spc="-53" dirty="0"/>
              <a:t>training</a:t>
            </a:r>
            <a:r>
              <a:rPr sz="2325" spc="42" dirty="0"/>
              <a:t> </a:t>
            </a:r>
            <a:r>
              <a:rPr sz="2325" spc="-116" dirty="0"/>
              <a:t>session,</a:t>
            </a:r>
            <a:r>
              <a:rPr sz="2325" spc="32" dirty="0"/>
              <a:t> </a:t>
            </a:r>
            <a:r>
              <a:rPr sz="2325" spc="-211" dirty="0"/>
              <a:t>we</a:t>
            </a:r>
            <a:r>
              <a:rPr sz="2325" spc="32" dirty="0"/>
              <a:t> </a:t>
            </a:r>
            <a:r>
              <a:rPr sz="2325" spc="-127" dirty="0"/>
              <a:t>recommend</a:t>
            </a:r>
            <a:r>
              <a:rPr sz="2325" spc="42" dirty="0"/>
              <a:t> </a:t>
            </a:r>
            <a:r>
              <a:rPr sz="2325" spc="-95" dirty="0"/>
              <a:t>using</a:t>
            </a:r>
            <a:r>
              <a:rPr sz="2325" spc="32" dirty="0"/>
              <a:t> </a:t>
            </a:r>
            <a:r>
              <a:rPr sz="2325" spc="-85" dirty="0"/>
              <a:t>the</a:t>
            </a:r>
            <a:r>
              <a:rPr sz="2325" spc="32" dirty="0"/>
              <a:t> </a:t>
            </a:r>
            <a:r>
              <a:rPr sz="2325" spc="-85" dirty="0"/>
              <a:t>simplest</a:t>
            </a:r>
            <a:r>
              <a:rPr sz="2325" spc="42" dirty="0"/>
              <a:t> </a:t>
            </a:r>
            <a:r>
              <a:rPr sz="2325" spc="-74" dirty="0"/>
              <a:t>of</a:t>
            </a:r>
            <a:r>
              <a:rPr sz="2325" spc="32" dirty="0"/>
              <a:t> </a:t>
            </a:r>
            <a:r>
              <a:rPr sz="2325" spc="-116" dirty="0"/>
              <a:t>them:</a:t>
            </a:r>
            <a:r>
              <a:rPr sz="2325" spc="296" dirty="0"/>
              <a:t> </a:t>
            </a:r>
            <a:r>
              <a:rPr sz="2325" i="1" spc="-95" dirty="0">
                <a:latin typeface="Arial"/>
                <a:cs typeface="Arial"/>
              </a:rPr>
              <a:t>Picocom</a:t>
            </a:r>
            <a:endParaRPr sz="2325" dirty="0">
              <a:latin typeface="Arial"/>
              <a:cs typeface="Arial"/>
            </a:endParaRPr>
          </a:p>
          <a:p>
            <a:pPr marL="1238733" lvl="1" indent="-355649">
              <a:lnSpc>
                <a:spcPts val="2536"/>
              </a:lnSpc>
              <a:spcBef>
                <a:spcPts val="359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63" dirty="0">
                <a:latin typeface="Tahoma"/>
                <a:cs typeface="Tahoma"/>
              </a:rPr>
              <a:t>Installation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with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sudo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apt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install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picocom</a:t>
            </a:r>
            <a:endParaRPr sz="2114" dirty="0">
              <a:latin typeface="SimSun"/>
              <a:cs typeface="SimSun"/>
            </a:endParaRPr>
          </a:p>
          <a:p>
            <a:pPr marL="1238733" lvl="1" indent="-355649">
              <a:lnSpc>
                <a:spcPts val="2526"/>
              </a:lnSpc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74" dirty="0">
                <a:latin typeface="Tahoma"/>
                <a:cs typeface="Tahoma"/>
              </a:rPr>
              <a:t>Run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with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picocom </a:t>
            </a:r>
            <a:r>
              <a:rPr sz="2114" spc="42" dirty="0">
                <a:solidFill>
                  <a:srgbClr val="7F7F7F"/>
                </a:solidFill>
                <a:latin typeface="SimSun"/>
                <a:cs typeface="SimSun"/>
              </a:rPr>
              <a:t>-b</a:t>
            </a:r>
            <a:r>
              <a:rPr sz="2114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BAUD_RATE /dev/SERIAL_DEVICE</a:t>
            </a:r>
            <a:r>
              <a:rPr sz="2114" spc="-11" dirty="0">
                <a:latin typeface="Tahoma"/>
                <a:cs typeface="Tahoma"/>
              </a:rPr>
              <a:t>.</a:t>
            </a:r>
            <a:endParaRPr sz="2114" dirty="0">
              <a:latin typeface="Tahoma"/>
              <a:cs typeface="Tahoma"/>
            </a:endParaRPr>
          </a:p>
          <a:p>
            <a:pPr marL="1238733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11" dirty="0">
                <a:latin typeface="Tahoma"/>
                <a:cs typeface="Tahoma"/>
              </a:rPr>
              <a:t>Exit</a:t>
            </a:r>
            <a:r>
              <a:rPr sz="2114" spc="21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with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[Ctrl][a]</a:t>
            </a:r>
            <a:r>
              <a:rPr sz="2114" spc="-3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[Ctrl][x]</a:t>
            </a:r>
            <a:endParaRPr sz="2114" dirty="0">
              <a:latin typeface="SimSun"/>
              <a:cs typeface="SimSun"/>
            </a:endParaRPr>
          </a:p>
          <a:p>
            <a:pPr marL="652247" indent="-374438">
              <a:lnSpc>
                <a:spcPct val="100000"/>
              </a:lnSpc>
              <a:spcBef>
                <a:spcPts val="412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SERIAL_DEVICE</a:t>
            </a:r>
            <a:r>
              <a:rPr sz="2325" spc="-40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74" dirty="0"/>
              <a:t>is</a:t>
            </a:r>
            <a:r>
              <a:rPr sz="2325" spc="32" dirty="0"/>
              <a:t> </a:t>
            </a:r>
            <a:r>
              <a:rPr sz="2325" spc="-11" dirty="0"/>
              <a:t>t</a:t>
            </a:r>
            <a:r>
              <a:rPr sz="2325" spc="-53" dirty="0"/>
              <a:t>ypically</a:t>
            </a:r>
            <a:endParaRPr sz="2325" dirty="0">
              <a:latin typeface="SimSun"/>
              <a:cs typeface="SimSun"/>
            </a:endParaRPr>
          </a:p>
          <a:p>
            <a:pPr marL="1238733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ttyUSBx</a:t>
            </a:r>
            <a:r>
              <a:rPr sz="2114" spc="-35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53" dirty="0">
                <a:latin typeface="Tahoma"/>
                <a:cs typeface="Tahoma"/>
              </a:rPr>
              <a:t>f</a:t>
            </a:r>
            <a:r>
              <a:rPr sz="2114" spc="-148" dirty="0">
                <a:latin typeface="Tahoma"/>
                <a:cs typeface="Tahoma"/>
              </a:rPr>
              <a:t>o</a:t>
            </a:r>
            <a:r>
              <a:rPr sz="2114" spc="-42" dirty="0">
                <a:latin typeface="Tahoma"/>
                <a:cs typeface="Tahoma"/>
              </a:rPr>
              <a:t>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63" dirty="0">
                <a:latin typeface="Tahoma"/>
                <a:cs typeface="Tahoma"/>
              </a:rPr>
              <a:t>USB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serial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converters</a:t>
            </a:r>
            <a:endParaRPr sz="2114" dirty="0">
              <a:latin typeface="Tahoma"/>
              <a:cs typeface="Tahoma"/>
            </a:endParaRPr>
          </a:p>
          <a:p>
            <a:pPr marL="1238733" lvl="1" indent="-355649">
              <a:lnSpc>
                <a:spcPts val="2536"/>
              </a:lnSpc>
              <a:buClr>
                <a:srgbClr val="3333B2"/>
              </a:buClr>
              <a:buFont typeface="Cambria"/>
              <a:buChar char="►"/>
              <a:tabLst>
                <a:tab pos="1241417" algn="l"/>
              </a:tabLst>
            </a:pP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ttySx</a:t>
            </a:r>
            <a:r>
              <a:rPr sz="2114" spc="-35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53" dirty="0">
                <a:latin typeface="Tahoma"/>
                <a:cs typeface="Tahoma"/>
              </a:rPr>
              <a:t>f</a:t>
            </a:r>
            <a:r>
              <a:rPr sz="2114" spc="-148" dirty="0">
                <a:latin typeface="Tahoma"/>
                <a:cs typeface="Tahoma"/>
              </a:rPr>
              <a:t>o</a:t>
            </a:r>
            <a:r>
              <a:rPr sz="2114" spc="-42" dirty="0">
                <a:latin typeface="Tahoma"/>
                <a:cs typeface="Tahoma"/>
              </a:rPr>
              <a:t>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real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37" dirty="0">
                <a:latin typeface="Tahoma"/>
                <a:cs typeface="Tahoma"/>
              </a:rPr>
              <a:t>s</a:t>
            </a:r>
            <a:r>
              <a:rPr sz="2114" spc="-63" dirty="0">
                <a:latin typeface="Tahoma"/>
                <a:cs typeface="Tahoma"/>
              </a:rPr>
              <a:t>erial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32" dirty="0">
                <a:latin typeface="Tahoma"/>
                <a:cs typeface="Tahoma"/>
              </a:rPr>
              <a:t>p</a:t>
            </a:r>
            <a:r>
              <a:rPr sz="2114" spc="-159" dirty="0">
                <a:latin typeface="Tahoma"/>
                <a:cs typeface="Tahoma"/>
              </a:rPr>
              <a:t>o</a:t>
            </a:r>
            <a:r>
              <a:rPr sz="2114" spc="-42" dirty="0">
                <a:latin typeface="Tahoma"/>
                <a:cs typeface="Tahoma"/>
              </a:rPr>
              <a:t>rts</a:t>
            </a:r>
            <a:endParaRPr sz="2114" dirty="0">
              <a:latin typeface="Tahoma"/>
              <a:cs typeface="Tahoma"/>
            </a:endParaRPr>
          </a:p>
          <a:p>
            <a:pPr marL="652247" indent="-374438">
              <a:lnSpc>
                <a:spcPct val="100000"/>
              </a:lnSpc>
              <a:spcBef>
                <a:spcPts val="750"/>
              </a:spcBef>
              <a:buClr>
                <a:srgbClr val="3333B2"/>
              </a:buClr>
              <a:buFont typeface="Cambria"/>
              <a:buChar char="►"/>
              <a:tabLst>
                <a:tab pos="654931" algn="l"/>
              </a:tabLst>
            </a:pPr>
            <a:r>
              <a:rPr sz="2325" dirty="0"/>
              <a:t>Most</a:t>
            </a:r>
            <a:r>
              <a:rPr sz="2325" spc="21" dirty="0"/>
              <a:t> </a:t>
            </a:r>
            <a:r>
              <a:rPr sz="2325" spc="-95" dirty="0"/>
              <a:t>frequent</a:t>
            </a:r>
            <a:r>
              <a:rPr sz="2325" spc="21" dirty="0"/>
              <a:t> </a:t>
            </a:r>
            <a:r>
              <a:rPr sz="2325" spc="-116" dirty="0"/>
              <a:t>command:</a:t>
            </a:r>
            <a:r>
              <a:rPr sz="2325" spc="275" dirty="0"/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picocom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32" dirty="0">
                <a:solidFill>
                  <a:srgbClr val="7F7F7F"/>
                </a:solidFill>
                <a:latin typeface="SimSun"/>
                <a:cs typeface="SimSun"/>
              </a:rPr>
              <a:t>-b</a:t>
            </a:r>
            <a:r>
              <a:rPr sz="2325" spc="-32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115200</a:t>
            </a:r>
            <a:r>
              <a:rPr sz="2325" spc="-2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325" spc="-11" dirty="0">
                <a:solidFill>
                  <a:srgbClr val="7F7F7F"/>
                </a:solidFill>
                <a:latin typeface="SimSun"/>
                <a:cs typeface="SimSun"/>
              </a:rPr>
              <a:t>/dev/ttyUSB0</a:t>
            </a:r>
            <a:endParaRPr sz="2325" dirty="0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734" y="71651"/>
            <a:ext cx="2889486" cy="491971"/>
          </a:xfrm>
          <a:prstGeom prst="rect">
            <a:avLst/>
          </a:prstGeom>
        </p:spPr>
        <p:txBody>
          <a:bodyPr vert="horz" wrap="square" lIns="0" tIns="36236" rIns="0" bIns="0" rtlCol="0" anchor="ctr">
            <a:spAutoFit/>
          </a:bodyPr>
          <a:lstStyle/>
          <a:p>
            <a:pPr marL="26841">
              <a:lnSpc>
                <a:spcPct val="100000"/>
              </a:lnSpc>
              <a:spcBef>
                <a:spcPts val="285"/>
              </a:spcBef>
            </a:pPr>
            <a:r>
              <a:rPr sz="2959" spc="-169" dirty="0"/>
              <a:t>Command</a:t>
            </a:r>
            <a:r>
              <a:rPr sz="2959" spc="-21" dirty="0"/>
              <a:t> </a:t>
            </a:r>
            <a:r>
              <a:rPr sz="2959" spc="-127" dirty="0"/>
              <a:t>line</a:t>
            </a:r>
            <a:r>
              <a:rPr sz="2959" spc="-21" dirty="0"/>
              <a:t> </a:t>
            </a:r>
            <a:r>
              <a:rPr sz="2959" spc="-95" dirty="0"/>
              <a:t>tips</a:t>
            </a:r>
            <a:endParaRPr sz="2959"/>
          </a:p>
        </p:txBody>
      </p:sp>
      <p:sp>
        <p:nvSpPr>
          <p:cNvPr id="3" name="object 3"/>
          <p:cNvSpPr txBox="1"/>
          <p:nvPr/>
        </p:nvSpPr>
        <p:spPr>
          <a:xfrm>
            <a:off x="894790" y="1439505"/>
            <a:ext cx="10454759" cy="4283255"/>
          </a:xfrm>
          <a:prstGeom prst="rect">
            <a:avLst/>
          </a:prstGeom>
        </p:spPr>
        <p:txBody>
          <a:bodyPr vert="horz" wrap="square" lIns="0" tIns="14763" rIns="0" bIns="0" rtlCol="0">
            <a:spAutoFit/>
          </a:bodyPr>
          <a:lstStyle/>
          <a:p>
            <a:pPr marL="453618" marR="97971" indent="-374438">
              <a:lnSpc>
                <a:spcPct val="102600"/>
              </a:lnSpc>
              <a:spcBef>
                <a:spcPts val="116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63" dirty="0">
                <a:latin typeface="Tahoma"/>
                <a:cs typeface="Tahoma"/>
              </a:rPr>
              <a:t>Using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command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line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mandatory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many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operations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59" dirty="0">
                <a:latin typeface="Tahoma"/>
                <a:cs typeface="Tahoma"/>
              </a:rPr>
              <a:t>needed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for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37" dirty="0">
                <a:latin typeface="Tahoma"/>
                <a:cs typeface="Tahoma"/>
              </a:rPr>
              <a:t>embedded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42" dirty="0">
                <a:latin typeface="Tahoma"/>
                <a:cs typeface="Tahoma"/>
              </a:rPr>
              <a:t>Linux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development</a:t>
            </a:r>
            <a:endParaRPr sz="2325">
              <a:latin typeface="Tahoma"/>
              <a:cs typeface="Tahoma"/>
            </a:endParaRPr>
          </a:p>
          <a:p>
            <a:pPr marL="453618" marR="64419" indent="-374438">
              <a:lnSpc>
                <a:spcPct val="102600"/>
              </a:lnSpc>
              <a:spcBef>
                <a:spcPts val="634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95" dirty="0">
                <a:latin typeface="Tahoma"/>
                <a:cs typeface="Tahoma"/>
              </a:rPr>
              <a:t>It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is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very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powerful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69" dirty="0">
                <a:latin typeface="Tahoma"/>
                <a:cs typeface="Tahoma"/>
              </a:rPr>
              <a:t>way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interacting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the</a:t>
            </a:r>
            <a:r>
              <a:rPr sz="2325" spc="53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system,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with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85" dirty="0">
                <a:latin typeface="Tahoma"/>
                <a:cs typeface="Tahoma"/>
              </a:rPr>
              <a:t>which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27" dirty="0">
                <a:latin typeface="Tahoma"/>
                <a:cs typeface="Tahoma"/>
              </a:rPr>
              <a:t>you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95" dirty="0">
                <a:latin typeface="Tahoma"/>
                <a:cs typeface="Tahoma"/>
              </a:rPr>
              <a:t>can</a:t>
            </a:r>
            <a:r>
              <a:rPr sz="2325" spc="42" dirty="0">
                <a:latin typeface="Tahoma"/>
                <a:cs typeface="Tahoma"/>
              </a:rPr>
              <a:t> </a:t>
            </a:r>
            <a:r>
              <a:rPr sz="2325" spc="-148" dirty="0">
                <a:latin typeface="Tahoma"/>
                <a:cs typeface="Tahoma"/>
              </a:rPr>
              <a:t>save </a:t>
            </a:r>
            <a:r>
              <a:rPr sz="2325" spc="-697" dirty="0">
                <a:latin typeface="Tahoma"/>
                <a:cs typeface="Tahoma"/>
              </a:rPr>
              <a:t> </a:t>
            </a:r>
            <a:r>
              <a:rPr sz="2325" spc="-116" dirty="0">
                <a:latin typeface="Tahoma"/>
                <a:cs typeface="Tahoma"/>
              </a:rPr>
              <a:t>a</a:t>
            </a:r>
            <a:r>
              <a:rPr sz="2325" spc="21" dirty="0">
                <a:latin typeface="Tahoma"/>
                <a:cs typeface="Tahoma"/>
              </a:rPr>
              <a:t> </a:t>
            </a:r>
            <a:r>
              <a:rPr sz="2325" spc="-21" dirty="0">
                <a:latin typeface="Tahoma"/>
                <a:cs typeface="Tahoma"/>
              </a:rPr>
              <a:t>lot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74" dirty="0">
                <a:latin typeface="Tahoma"/>
                <a:cs typeface="Tahoma"/>
              </a:rPr>
              <a:t>of</a:t>
            </a:r>
            <a:r>
              <a:rPr sz="2325" spc="32" dirty="0">
                <a:latin typeface="Tahoma"/>
                <a:cs typeface="Tahoma"/>
              </a:rPr>
              <a:t> </a:t>
            </a:r>
            <a:r>
              <a:rPr sz="2325" spc="-63" dirty="0">
                <a:latin typeface="Tahoma"/>
                <a:cs typeface="Tahoma"/>
              </a:rPr>
              <a:t>time.</a:t>
            </a:r>
            <a:endParaRPr sz="2325">
              <a:latin typeface="Tahoma"/>
              <a:cs typeface="Tahoma"/>
            </a:endParaRPr>
          </a:p>
          <a:p>
            <a:pPr marL="453618" indent="-374438"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454963" algn="l"/>
              </a:tabLst>
            </a:pPr>
            <a:r>
              <a:rPr sz="2325" spc="-116" dirty="0">
                <a:latin typeface="Tahoma"/>
                <a:cs typeface="Tahoma"/>
              </a:rPr>
              <a:t>Some</a:t>
            </a:r>
            <a:r>
              <a:rPr sz="2325" spc="-11" dirty="0">
                <a:latin typeface="Tahoma"/>
                <a:cs typeface="Tahoma"/>
              </a:rPr>
              <a:t> </a:t>
            </a:r>
            <a:r>
              <a:rPr sz="2325" spc="-106" dirty="0">
                <a:latin typeface="Tahoma"/>
                <a:cs typeface="Tahoma"/>
              </a:rPr>
              <a:t>useful</a:t>
            </a:r>
            <a:r>
              <a:rPr sz="2325" dirty="0">
                <a:latin typeface="Tahoma"/>
                <a:cs typeface="Tahoma"/>
              </a:rPr>
              <a:t> </a:t>
            </a:r>
            <a:r>
              <a:rPr sz="2325" spc="-53" dirty="0">
                <a:latin typeface="Tahoma"/>
                <a:cs typeface="Tahoma"/>
              </a:rPr>
              <a:t>tips</a:t>
            </a:r>
            <a:endParaRPr sz="2325">
              <a:latin typeface="Tahoma"/>
              <a:cs typeface="Tahoma"/>
            </a:endParaRPr>
          </a:p>
          <a:p>
            <a:pPr marL="1040106" lvl="1" indent="-355649">
              <a:lnSpc>
                <a:spcPts val="2536"/>
              </a:lnSpc>
              <a:spcBef>
                <a:spcPts val="370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63" dirty="0">
                <a:latin typeface="Tahoma"/>
                <a:cs typeface="Tahoma"/>
              </a:rPr>
              <a:t>You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37" dirty="0">
                <a:latin typeface="Tahoma"/>
                <a:cs typeface="Tahoma"/>
              </a:rPr>
              <a:t>use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several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tabs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Gnome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Terminal</a:t>
            </a:r>
            <a:endParaRPr sz="2114">
              <a:latin typeface="Tahoma"/>
              <a:cs typeface="Tahoma"/>
            </a:endParaRPr>
          </a:p>
          <a:p>
            <a:pPr marL="1040106" marR="134207" lvl="1" indent="-355649">
              <a:lnSpc>
                <a:spcPts val="2536"/>
              </a:lnSpc>
              <a:spcBef>
                <a:spcPts val="74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95" dirty="0">
                <a:latin typeface="Tahoma"/>
                <a:cs typeface="Tahoma"/>
              </a:rPr>
              <a:t>Remember </a:t>
            </a:r>
            <a:r>
              <a:rPr sz="2114" spc="-21" dirty="0">
                <a:latin typeface="Tahoma"/>
                <a:cs typeface="Tahoma"/>
              </a:rPr>
              <a:t>that </a:t>
            </a:r>
            <a:r>
              <a:rPr sz="2114" spc="-116" dirty="0">
                <a:latin typeface="Tahoma"/>
                <a:cs typeface="Tahoma"/>
              </a:rPr>
              <a:t>you</a:t>
            </a:r>
            <a:r>
              <a:rPr sz="2114" spc="-106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can </a:t>
            </a:r>
            <a:r>
              <a:rPr sz="2114" spc="-137" dirty="0">
                <a:latin typeface="Tahoma"/>
                <a:cs typeface="Tahoma"/>
              </a:rPr>
              <a:t>use</a:t>
            </a:r>
            <a:r>
              <a:rPr sz="2114" spc="-127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relative </a:t>
            </a:r>
            <a:r>
              <a:rPr sz="2114" spc="-74" dirty="0">
                <a:latin typeface="Tahoma"/>
                <a:cs typeface="Tahoma"/>
              </a:rPr>
              <a:t>paths </a:t>
            </a:r>
            <a:r>
              <a:rPr sz="2114" spc="-63" dirty="0">
                <a:latin typeface="Tahoma"/>
                <a:cs typeface="Tahoma"/>
              </a:rPr>
              <a:t>(for </a:t>
            </a:r>
            <a:r>
              <a:rPr sz="2114" spc="-116" dirty="0">
                <a:latin typeface="Tahoma"/>
                <a:cs typeface="Tahoma"/>
              </a:rPr>
              <a:t>example:</a:t>
            </a:r>
            <a:r>
              <a:rPr sz="2114" spc="423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../../linux</a:t>
            </a:r>
            <a:r>
              <a:rPr sz="2114" spc="-11" dirty="0">
                <a:latin typeface="Tahoma"/>
                <a:cs typeface="Tahoma"/>
              </a:rPr>
              <a:t>) </a:t>
            </a:r>
            <a:r>
              <a:rPr sz="2114" spc="-42" dirty="0">
                <a:latin typeface="Tahoma"/>
                <a:cs typeface="Tahoma"/>
              </a:rPr>
              <a:t>in </a:t>
            </a:r>
            <a:r>
              <a:rPr sz="2114" spc="-53" dirty="0">
                <a:latin typeface="Tahoma"/>
                <a:cs typeface="Tahoma"/>
              </a:rPr>
              <a:t>addition </a:t>
            </a:r>
            <a:r>
              <a:rPr sz="2114" spc="-634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absolute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paths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(for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example:</a:t>
            </a:r>
            <a:r>
              <a:rPr sz="2114" spc="275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/home/user</a:t>
            </a:r>
            <a:r>
              <a:rPr sz="2114" spc="-11" dirty="0">
                <a:latin typeface="Tahoma"/>
                <a:cs typeface="Tahoma"/>
              </a:rPr>
              <a:t>)</a:t>
            </a:r>
            <a:endParaRPr sz="2114">
              <a:latin typeface="Tahoma"/>
              <a:cs typeface="Tahoma"/>
            </a:endParaRPr>
          </a:p>
          <a:p>
            <a:pPr marL="1040106" lvl="1" indent="-355649">
              <a:lnSpc>
                <a:spcPts val="2431"/>
              </a:lnSpc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148" dirty="0">
                <a:latin typeface="Tahoma"/>
                <a:cs typeface="Tahoma"/>
              </a:rPr>
              <a:t>In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shell,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" dirty="0">
                <a:latin typeface="Tahoma"/>
                <a:cs typeface="Tahoma"/>
              </a:rPr>
              <a:t>hit</a:t>
            </a:r>
            <a:r>
              <a:rPr sz="2114" spc="63" dirty="0">
                <a:latin typeface="Tahoma"/>
                <a:cs typeface="Tahoma"/>
              </a:rPr>
              <a:t>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[Control]</a:t>
            </a:r>
            <a:r>
              <a:rPr sz="2114" spc="11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21" dirty="0">
                <a:solidFill>
                  <a:srgbClr val="7F7F7F"/>
                </a:solidFill>
                <a:latin typeface="SimSun"/>
                <a:cs typeface="SimSun"/>
              </a:rPr>
              <a:t>[r]</a:t>
            </a:r>
            <a:r>
              <a:rPr sz="2114" spc="-21" dirty="0">
                <a:latin typeface="Tahoma"/>
                <a:cs typeface="Tahoma"/>
              </a:rPr>
              <a:t>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then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a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keyword,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will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search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through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command</a:t>
            </a:r>
            <a:endParaRPr sz="2114">
              <a:latin typeface="Tahoma"/>
              <a:cs typeface="Tahoma"/>
            </a:endParaRPr>
          </a:p>
          <a:p>
            <a:pPr marL="1040106">
              <a:lnSpc>
                <a:spcPts val="2526"/>
              </a:lnSpc>
            </a:pPr>
            <a:r>
              <a:rPr sz="2114" spc="-85" dirty="0">
                <a:latin typeface="Tahoma"/>
                <a:cs typeface="Tahoma"/>
              </a:rPr>
              <a:t>history.</a:t>
            </a:r>
            <a:r>
              <a:rPr sz="2114" spc="264" dirty="0">
                <a:latin typeface="Tahoma"/>
                <a:cs typeface="Tahoma"/>
              </a:rPr>
              <a:t> </a:t>
            </a:r>
            <a:r>
              <a:rPr sz="2114" spc="42" dirty="0">
                <a:latin typeface="Tahoma"/>
                <a:cs typeface="Tahoma"/>
              </a:rPr>
              <a:t>Hit </a:t>
            </a:r>
            <a:r>
              <a:rPr sz="2114" spc="-11" dirty="0">
                <a:solidFill>
                  <a:srgbClr val="7F7F7F"/>
                </a:solidFill>
                <a:latin typeface="SimSun"/>
                <a:cs typeface="SimSun"/>
              </a:rPr>
              <a:t>[Control] [r]</a:t>
            </a:r>
            <a:r>
              <a:rPr sz="2114" spc="-359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2114" spc="-85" dirty="0">
                <a:latin typeface="Tahoma"/>
                <a:cs typeface="Tahoma"/>
              </a:rPr>
              <a:t>again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search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backwards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in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history</a:t>
            </a:r>
            <a:endParaRPr sz="2114">
              <a:latin typeface="Tahoma"/>
              <a:cs typeface="Tahoma"/>
            </a:endParaRPr>
          </a:p>
          <a:p>
            <a:pPr marL="1040106" marR="476436" lvl="1" indent="-355649">
              <a:lnSpc>
                <a:spcPts val="2536"/>
              </a:lnSpc>
              <a:spcBef>
                <a:spcPts val="85"/>
              </a:spcBef>
              <a:buClr>
                <a:srgbClr val="3333B2"/>
              </a:buClr>
              <a:buFont typeface="Cambria"/>
              <a:buChar char="►"/>
              <a:tabLst>
                <a:tab pos="1041446" algn="l"/>
              </a:tabLst>
            </a:pPr>
            <a:r>
              <a:rPr sz="2114" spc="-63" dirty="0">
                <a:latin typeface="Tahoma"/>
                <a:cs typeface="Tahoma"/>
              </a:rPr>
              <a:t>You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can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42" dirty="0">
                <a:latin typeface="Tahoma"/>
                <a:cs typeface="Tahoma"/>
              </a:rPr>
              <a:t>directly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copy/paste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paths</a:t>
            </a:r>
            <a:r>
              <a:rPr sz="2114" spc="53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from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74" dirty="0">
                <a:latin typeface="Tahoma"/>
                <a:cs typeface="Tahoma"/>
              </a:rPr>
              <a:t>the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53" dirty="0">
                <a:latin typeface="Tahoma"/>
                <a:cs typeface="Tahoma"/>
              </a:rPr>
              <a:t>file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106" dirty="0">
                <a:latin typeface="Tahoma"/>
                <a:cs typeface="Tahoma"/>
              </a:rPr>
              <a:t>manager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21" dirty="0">
                <a:latin typeface="Tahoma"/>
                <a:cs typeface="Tahoma"/>
              </a:rPr>
              <a:t>to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95" dirty="0">
                <a:latin typeface="Tahoma"/>
                <a:cs typeface="Tahoma"/>
              </a:rPr>
              <a:t>Gnome</a:t>
            </a:r>
            <a:r>
              <a:rPr sz="2114" spc="32" dirty="0">
                <a:latin typeface="Tahoma"/>
                <a:cs typeface="Tahoma"/>
              </a:rPr>
              <a:t> </a:t>
            </a:r>
            <a:r>
              <a:rPr sz="2114" spc="-63" dirty="0">
                <a:latin typeface="Tahoma"/>
                <a:cs typeface="Tahoma"/>
              </a:rPr>
              <a:t>Terminal</a:t>
            </a:r>
            <a:r>
              <a:rPr sz="2114" spc="42" dirty="0">
                <a:latin typeface="Tahoma"/>
                <a:cs typeface="Tahoma"/>
              </a:rPr>
              <a:t> </a:t>
            </a:r>
            <a:r>
              <a:rPr sz="2114" spc="-116" dirty="0">
                <a:latin typeface="Tahoma"/>
                <a:cs typeface="Tahoma"/>
              </a:rPr>
              <a:t>by </a:t>
            </a:r>
            <a:r>
              <a:rPr sz="2114" spc="-623" dirty="0">
                <a:latin typeface="Tahoma"/>
                <a:cs typeface="Tahoma"/>
              </a:rPr>
              <a:t> </a:t>
            </a:r>
            <a:r>
              <a:rPr sz="2114" spc="-85" dirty="0">
                <a:latin typeface="Tahoma"/>
                <a:cs typeface="Tahoma"/>
              </a:rPr>
              <a:t>drag-and-drop.</a:t>
            </a:r>
            <a:endParaRPr sz="2114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1983</Words>
  <Application>Microsoft Office PowerPoint</Application>
  <PresentationFormat>Widescreen</PresentationFormat>
  <Paragraphs>164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SimSun</vt:lpstr>
      <vt:lpstr>Arial</vt:lpstr>
      <vt:lpstr>Calibri</vt:lpstr>
      <vt:lpstr>Calibri Light</vt:lpstr>
      <vt:lpstr>Cambria</vt:lpstr>
      <vt:lpstr>Microsoft Sans Serif</vt:lpstr>
      <vt:lpstr>Tahoma</vt:lpstr>
      <vt:lpstr>Office Theme</vt:lpstr>
      <vt:lpstr>Embedded hardware for Linux systems</vt:lpstr>
      <vt:lpstr>Processor and architecture (1)</vt:lpstr>
      <vt:lpstr>Processor and architecture (2)</vt:lpstr>
      <vt:lpstr>RAM and storage</vt:lpstr>
      <vt:lpstr>Communication</vt:lpstr>
      <vt:lpstr>Types of hardware platforms (1)</vt:lpstr>
      <vt:lpstr>Types of hardware platforms (2)</vt:lpstr>
      <vt:lpstr>Criteria for choosing the hardware</vt:lpstr>
      <vt:lpstr>Embedded Linux system architecture</vt:lpstr>
      <vt:lpstr>PowerPoint Presentation</vt:lpstr>
      <vt:lpstr>Software components</vt:lpstr>
      <vt:lpstr>Embedded Linux work</vt:lpstr>
      <vt:lpstr>PowerPoint Presentation</vt:lpstr>
      <vt:lpstr>Embedded Linux solutions</vt:lpstr>
      <vt:lpstr>OS for Linux development</vt:lpstr>
      <vt:lpstr>Desktop Linux distribution</vt:lpstr>
      <vt:lpstr>Linux root and non-root users</vt:lpstr>
      <vt:lpstr>Software packages</vt:lpstr>
      <vt:lpstr>Managing software packages (1)</vt:lpstr>
      <vt:lpstr>Managing software packages (2)</vt:lpstr>
      <vt:lpstr>Host vs. target</vt:lpstr>
      <vt:lpstr>Serial line communication program</vt:lpstr>
      <vt:lpstr>Command line 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hardware for Linux systems</dc:title>
  <dc:creator>Shripad Deshpande</dc:creator>
  <cp:lastModifiedBy>Shripad Deshpande</cp:lastModifiedBy>
  <cp:revision>1</cp:revision>
  <dcterms:created xsi:type="dcterms:W3CDTF">2022-01-20T19:42:56Z</dcterms:created>
  <dcterms:modified xsi:type="dcterms:W3CDTF">2022-01-20T19:51:43Z</dcterms:modified>
</cp:coreProperties>
</file>