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87" r:id="rId2"/>
    <p:sldId id="488" r:id="rId3"/>
    <p:sldId id="489" r:id="rId4"/>
    <p:sldId id="490" r:id="rId5"/>
    <p:sldId id="491" r:id="rId6"/>
    <p:sldId id="492" r:id="rId7"/>
    <p:sldId id="493" r:id="rId8"/>
    <p:sldId id="494" r:id="rId9"/>
    <p:sldId id="495" r:id="rId10"/>
    <p:sldId id="496" r:id="rId11"/>
    <p:sldId id="497" r:id="rId12"/>
  </p:sldIdLst>
  <p:sldSz cx="5765800" cy="3244850"/>
  <p:notesSz cx="5765800" cy="3244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6" d="100"/>
          <a:sy n="156" d="100"/>
        </p:scale>
        <p:origin x="922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4322" y="28051"/>
            <a:ext cx="47771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1955" y="674216"/>
            <a:ext cx="2473960" cy="2099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40995"/>
          </a:xfrm>
          <a:custGeom>
            <a:avLst/>
            <a:gdLst/>
            <a:ahLst/>
            <a:cxnLst/>
            <a:rect l="l" t="t" r="r" b="b"/>
            <a:pathLst>
              <a:path w="5760085" h="340995">
                <a:moveTo>
                  <a:pt x="0" y="340740"/>
                </a:moveTo>
                <a:lnTo>
                  <a:pt x="5759958" y="340740"/>
                </a:lnTo>
                <a:lnTo>
                  <a:pt x="5759958" y="0"/>
                </a:lnTo>
                <a:lnTo>
                  <a:pt x="0" y="0"/>
                </a:lnTo>
                <a:lnTo>
                  <a:pt x="0" y="340740"/>
                </a:lnTo>
                <a:close/>
              </a:path>
            </a:pathLst>
          </a:custGeom>
          <a:solidFill>
            <a:srgbClr val="CBC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3554" y="1274844"/>
            <a:ext cx="4658690" cy="657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342" y="584883"/>
            <a:ext cx="5111114" cy="225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" dirty="0"/>
              <a:t>‹#›</a:t>
            </a:fld>
            <a:r>
              <a:rPr spc="5" dirty="0"/>
              <a:t>/532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oybox" TargetMode="External"/><Relationship Id="rId2" Type="http://schemas.openxmlformats.org/officeDocument/2006/relationships/hyperlink" Target="https://www.busybox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usybox.ne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lixir.bootlin.com/busybox/latest/source/examples/initta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73300" y="1362385"/>
            <a:ext cx="91884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sz="2050" spc="-70" dirty="0">
                <a:latin typeface="Tahoma"/>
                <a:cs typeface="Tahoma"/>
                <a:hlinkClick r:id="rId2" action="ppaction://hlinksldjump"/>
              </a:rPr>
              <a:t>BusyB</a:t>
            </a:r>
            <a:r>
              <a:rPr sz="2050" spc="-125" dirty="0">
                <a:latin typeface="Tahoma"/>
                <a:cs typeface="Tahoma"/>
                <a:hlinkClick r:id="rId2" action="ppaction://hlinksldjump"/>
              </a:rPr>
              <a:t>ox</a:t>
            </a:r>
            <a:endParaRPr sz="2050" dirty="0">
              <a:latin typeface="Tahoma"/>
              <a:cs typeface="Tahoma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sz="quarter" idx="4294967295"/>
          </p:nvPr>
        </p:nvSpPr>
        <p:spPr>
          <a:xfrm>
            <a:off x="13925" y="3132963"/>
            <a:ext cx="4895368" cy="1282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lang="en-US" sz="700" spc="5" dirty="0"/>
              <a:t>This presentations is taken from </a:t>
            </a:r>
            <a:r>
              <a:rPr sz="700" spc="5" dirty="0"/>
              <a:t>- </a:t>
            </a:r>
            <a:r>
              <a:rPr sz="700" spc="85" dirty="0"/>
              <a:t> </a:t>
            </a:r>
            <a:r>
              <a:rPr sz="700" spc="-5" dirty="0">
                <a:latin typeface="SimSun"/>
                <a:cs typeface="SimSun"/>
              </a:rPr>
              <a:t>https://bootlin.com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4294967295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" dirty="0"/>
              <a:t>1</a:t>
            </a:fld>
            <a:r>
              <a:rPr spc="5" dirty="0"/>
              <a:t>/532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1931378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55" dirty="0"/>
              <a:t>Wh</a:t>
            </a:r>
            <a:r>
              <a:rPr lang="en-US" sz="1800" spc="-55" dirty="0"/>
              <a:t>at is </a:t>
            </a:r>
            <a:r>
              <a:rPr sz="1800" spc="-40" dirty="0" err="1"/>
              <a:t>BusyB</a:t>
            </a:r>
            <a:r>
              <a:rPr sz="1800" spc="-80" dirty="0" err="1"/>
              <a:t>o</a:t>
            </a:r>
            <a:r>
              <a:rPr sz="1800" spc="-50" dirty="0" err="1"/>
              <a:t>x</a:t>
            </a:r>
            <a:r>
              <a:rPr lang="en-US" sz="1800" spc="-50" dirty="0"/>
              <a:t> </a:t>
            </a:r>
            <a:r>
              <a:rPr sz="1800" spc="-50" dirty="0"/>
              <a:t>?</a:t>
            </a:r>
            <a:endParaRPr sz="1800" dirty="0"/>
          </a:p>
        </p:txBody>
      </p:sp>
      <p:sp>
        <p:nvSpPr>
          <p:cNvPr id="3" name="object 3"/>
          <p:cNvSpPr txBox="1"/>
          <p:nvPr/>
        </p:nvSpPr>
        <p:spPr>
          <a:xfrm>
            <a:off x="292100" y="552295"/>
            <a:ext cx="4980940" cy="2460289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214629" indent="-177165">
              <a:lnSpc>
                <a:spcPct val="100000"/>
              </a:lnSpc>
              <a:spcBef>
                <a:spcPts val="28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6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Linux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system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needs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basic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set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of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programs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to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work</a:t>
            </a:r>
            <a:endParaRPr sz="1400" dirty="0">
              <a:latin typeface="Tahoma"/>
              <a:cs typeface="Tahoma"/>
            </a:endParaRPr>
          </a:p>
          <a:p>
            <a:pPr marL="492125" lvl="1" indent="-16827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10" dirty="0">
                <a:latin typeface="Tahoma"/>
                <a:cs typeface="Tahoma"/>
              </a:rPr>
              <a:t>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program</a:t>
            </a:r>
            <a:endParaRPr sz="1100" dirty="0">
              <a:latin typeface="Tahoma"/>
              <a:cs typeface="Tahoma"/>
            </a:endParaRPr>
          </a:p>
          <a:p>
            <a:pPr marL="492125" lvl="1" indent="-168275">
              <a:lnSpc>
                <a:spcPts val="1195"/>
              </a:lnSpc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6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shell</a:t>
            </a:r>
            <a:endParaRPr sz="1100" dirty="0">
              <a:latin typeface="Tahoma"/>
              <a:cs typeface="Tahoma"/>
            </a:endParaRPr>
          </a:p>
          <a:p>
            <a:pPr marL="492125" lvl="1" indent="-168275">
              <a:lnSpc>
                <a:spcPts val="1200"/>
              </a:lnSpc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-30" dirty="0">
                <a:latin typeface="Tahoma"/>
                <a:cs typeface="Tahoma"/>
              </a:rPr>
              <a:t>Various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basic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utilities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file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manipulation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configuration</a:t>
            </a:r>
            <a:endParaRPr sz="1100" dirty="0">
              <a:latin typeface="Tahoma"/>
              <a:cs typeface="Tahoma"/>
            </a:endParaRPr>
          </a:p>
          <a:p>
            <a:pPr marL="214629" indent="-177165">
              <a:lnSpc>
                <a:spcPct val="100000"/>
              </a:lnSpc>
              <a:spcBef>
                <a:spcPts val="19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80" dirty="0">
                <a:latin typeface="Tahoma"/>
                <a:cs typeface="Tahoma"/>
              </a:rPr>
              <a:t>In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normal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GNU/Linux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systems,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these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programs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are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provided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by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different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projects</a:t>
            </a:r>
            <a:endParaRPr sz="1400" dirty="0">
              <a:latin typeface="Tahoma"/>
              <a:cs typeface="Tahoma"/>
            </a:endParaRPr>
          </a:p>
          <a:p>
            <a:pPr marL="492125" lvl="1" indent="-16827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coreutils</a:t>
            </a:r>
            <a:r>
              <a:rPr sz="1100" spc="-5" dirty="0">
                <a:latin typeface="Tahoma"/>
                <a:cs typeface="Tahoma"/>
              </a:rPr>
              <a:t>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7F7F7F"/>
                </a:solidFill>
                <a:latin typeface="SimSun"/>
                <a:cs typeface="SimSun"/>
              </a:rPr>
              <a:t>bash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7F7F7F"/>
                </a:solidFill>
                <a:latin typeface="SimSun"/>
                <a:cs typeface="SimSun"/>
              </a:rPr>
              <a:t>grep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7F7F7F"/>
                </a:solidFill>
                <a:latin typeface="SimSun"/>
                <a:cs typeface="SimSun"/>
              </a:rPr>
              <a:t>sed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7F7F7F"/>
                </a:solidFill>
                <a:latin typeface="SimSun"/>
                <a:cs typeface="SimSun"/>
              </a:rPr>
              <a:t>tar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7F7F7F"/>
                </a:solidFill>
                <a:latin typeface="SimSun"/>
                <a:cs typeface="SimSun"/>
              </a:rPr>
              <a:t>wget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modutils</a:t>
            </a:r>
            <a:r>
              <a:rPr sz="1100" spc="-5" dirty="0">
                <a:latin typeface="Tahoma"/>
                <a:cs typeface="Tahoma"/>
              </a:rPr>
              <a:t>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etc.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projects</a:t>
            </a:r>
            <a:endParaRPr sz="1100" dirty="0">
              <a:latin typeface="Tahoma"/>
              <a:cs typeface="Tahoma"/>
            </a:endParaRPr>
          </a:p>
          <a:p>
            <a:pPr marL="492125" lvl="1" indent="-168275">
              <a:lnSpc>
                <a:spcPts val="1195"/>
              </a:lnSpc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60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lot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components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integrate</a:t>
            </a:r>
            <a:endParaRPr sz="1100" dirty="0">
              <a:latin typeface="Tahoma"/>
              <a:cs typeface="Tahoma"/>
            </a:endParaRPr>
          </a:p>
          <a:p>
            <a:pPr marL="492125" marR="30480" lvl="1" indent="-168275">
              <a:lnSpc>
                <a:spcPts val="1200"/>
              </a:lnSpc>
              <a:spcBef>
                <a:spcPts val="40"/>
              </a:spcBef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100" spc="-35" dirty="0">
                <a:latin typeface="Tahoma"/>
                <a:cs typeface="Tahoma"/>
              </a:rPr>
              <a:t>Components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designed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embedded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constraints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mind: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 </a:t>
            </a:r>
            <a:r>
              <a:rPr sz="1100" spc="-3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configurable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wide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endParaRPr sz="1100" dirty="0">
              <a:latin typeface="Tahoma"/>
              <a:cs typeface="Tahoma"/>
            </a:endParaRPr>
          </a:p>
          <a:p>
            <a:pPr marL="214629" indent="-177165">
              <a:lnSpc>
                <a:spcPct val="100000"/>
              </a:lnSpc>
              <a:spcBef>
                <a:spcPts val="309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20" dirty="0">
                <a:latin typeface="Tahoma"/>
                <a:cs typeface="Tahoma"/>
              </a:rPr>
              <a:t>BusyBox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is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an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alternative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solution,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extremely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common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on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embedded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systems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25057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80" dirty="0"/>
              <a:t>General</a:t>
            </a:r>
            <a:r>
              <a:rPr sz="1400" spc="10" dirty="0"/>
              <a:t> </a:t>
            </a:r>
            <a:r>
              <a:rPr sz="1400" spc="-85" dirty="0"/>
              <a:t>purpose</a:t>
            </a:r>
            <a:r>
              <a:rPr sz="1400" spc="10" dirty="0"/>
              <a:t> </a:t>
            </a:r>
            <a:r>
              <a:rPr sz="1400" spc="-65" dirty="0"/>
              <a:t>toolbox:</a:t>
            </a:r>
            <a:r>
              <a:rPr sz="1400" spc="155" dirty="0"/>
              <a:t> </a:t>
            </a:r>
            <a:r>
              <a:rPr sz="1400" spc="-50" dirty="0"/>
              <a:t>BusyBox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177800" y="422054"/>
            <a:ext cx="5410200" cy="2831353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r>
              <a:rPr sz="1500" spc="-5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https://www.busybox.net/</a:t>
            </a:r>
            <a:endParaRPr sz="1500" dirty="0">
              <a:latin typeface="SimSun"/>
              <a:cs typeface="SimSun"/>
            </a:endParaRPr>
          </a:p>
          <a:p>
            <a:pPr marL="314960" indent="-177800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315595" algn="l"/>
              </a:tabLst>
            </a:pPr>
            <a:r>
              <a:rPr sz="1500" spc="-35" dirty="0">
                <a:latin typeface="Tahoma"/>
                <a:cs typeface="Tahoma"/>
              </a:rPr>
              <a:t>Rewrite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of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55" dirty="0">
                <a:latin typeface="Tahoma"/>
                <a:cs typeface="Tahoma"/>
              </a:rPr>
              <a:t>many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useful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10" dirty="0">
                <a:latin typeface="Tahoma"/>
                <a:cs typeface="Tahoma"/>
              </a:rPr>
              <a:t>UNIX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50" dirty="0">
                <a:latin typeface="Tahoma"/>
                <a:cs typeface="Tahoma"/>
              </a:rPr>
              <a:t>command</a:t>
            </a:r>
            <a:r>
              <a:rPr sz="1500" spc="20" dirty="0">
                <a:latin typeface="Tahoma"/>
                <a:cs typeface="Tahoma"/>
              </a:rPr>
              <a:t> </a:t>
            </a:r>
            <a:r>
              <a:rPr sz="1500" spc="-35" dirty="0">
                <a:latin typeface="Tahoma"/>
                <a:cs typeface="Tahoma"/>
              </a:rPr>
              <a:t>line</a:t>
            </a:r>
            <a:r>
              <a:rPr sz="1500" spc="15" dirty="0">
                <a:latin typeface="Tahoma"/>
                <a:cs typeface="Tahoma"/>
              </a:rPr>
              <a:t> </a:t>
            </a:r>
            <a:r>
              <a:rPr sz="1500" spc="-15" dirty="0">
                <a:latin typeface="Tahoma"/>
                <a:cs typeface="Tahoma"/>
              </a:rPr>
              <a:t>utilities</a:t>
            </a:r>
            <a:endParaRPr sz="1500" dirty="0">
              <a:latin typeface="Tahoma"/>
              <a:cs typeface="Tahoma"/>
            </a:endParaRPr>
          </a:p>
          <a:p>
            <a:pPr marL="591820" marR="85725" lvl="1" indent="-168275"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592455" algn="l"/>
              </a:tabLst>
            </a:pPr>
            <a:r>
              <a:rPr sz="1400" spc="-30" dirty="0">
                <a:latin typeface="Tahoma"/>
                <a:cs typeface="Tahoma"/>
              </a:rPr>
              <a:t>Created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in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1995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implement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rescue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and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installer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system </a:t>
            </a:r>
            <a:r>
              <a:rPr sz="1400" spc="-30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for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Debian,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fitting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in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single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floppy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disk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(1.44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MB)</a:t>
            </a:r>
            <a:endParaRPr sz="1400" dirty="0">
              <a:latin typeface="Tahoma"/>
              <a:cs typeface="Tahoma"/>
            </a:endParaRPr>
          </a:p>
          <a:p>
            <a:pPr marL="591820" marR="30480" lvl="1" indent="-168275">
              <a:spcBef>
                <a:spcPts val="30"/>
              </a:spcBef>
              <a:buClr>
                <a:srgbClr val="3333B2"/>
              </a:buClr>
              <a:buFont typeface="Cambria"/>
              <a:buChar char="►"/>
              <a:tabLst>
                <a:tab pos="592455" algn="l"/>
              </a:tabLst>
            </a:pPr>
            <a:r>
              <a:rPr sz="1400" spc="-45" dirty="0">
                <a:latin typeface="Tahoma"/>
                <a:cs typeface="Tahoma"/>
              </a:rPr>
              <a:t>Integrated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into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single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project,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which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makes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it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easy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work </a:t>
            </a:r>
            <a:r>
              <a:rPr sz="1400" spc="-29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</a:t>
            </a:r>
            <a:endParaRPr sz="1400" dirty="0">
              <a:latin typeface="Tahoma"/>
              <a:cs typeface="Tahoma"/>
            </a:endParaRPr>
          </a:p>
          <a:p>
            <a:pPr marL="591820" lvl="1" indent="-168275">
              <a:buClr>
                <a:srgbClr val="3333B2"/>
              </a:buClr>
              <a:buFont typeface="Cambria"/>
              <a:buChar char="►"/>
              <a:tabLst>
                <a:tab pos="592455" algn="l"/>
              </a:tabLst>
            </a:pPr>
            <a:r>
              <a:rPr sz="1400" spc="-40" dirty="0">
                <a:latin typeface="Tahoma"/>
                <a:cs typeface="Tahoma"/>
              </a:rPr>
              <a:t>Designed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with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embedded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systems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in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mind:</a:t>
            </a:r>
            <a:r>
              <a:rPr sz="1400" spc="12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highly</a:t>
            </a:r>
            <a:endParaRPr sz="1400" dirty="0">
              <a:latin typeface="Tahoma"/>
              <a:cs typeface="Tahoma"/>
            </a:endParaRPr>
          </a:p>
          <a:p>
            <a:pPr marL="591820"/>
            <a:r>
              <a:rPr sz="1400" spc="-35" dirty="0">
                <a:latin typeface="Tahoma"/>
                <a:cs typeface="Tahoma"/>
              </a:rPr>
              <a:t>configurable,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no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unnecessary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features</a:t>
            </a:r>
            <a:endParaRPr sz="1400" dirty="0">
              <a:latin typeface="Tahoma"/>
              <a:cs typeface="Tahoma"/>
            </a:endParaRPr>
          </a:p>
          <a:p>
            <a:pPr marL="591820" lvl="1" indent="-168275">
              <a:buClr>
                <a:srgbClr val="3333B2"/>
              </a:buClr>
              <a:buFont typeface="Cambria"/>
              <a:buChar char="►"/>
              <a:tabLst>
                <a:tab pos="592455" algn="l"/>
              </a:tabLst>
            </a:pPr>
            <a:r>
              <a:rPr sz="1400" spc="-20" dirty="0">
                <a:latin typeface="Tahoma"/>
                <a:cs typeface="Tahoma"/>
              </a:rPr>
              <a:t>Called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the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i="1" spc="-80" dirty="0">
                <a:latin typeface="Arial"/>
                <a:cs typeface="Arial"/>
              </a:rPr>
              <a:t>Swiss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Army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Knife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of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i="1" spc="-65" dirty="0">
                <a:latin typeface="Arial"/>
                <a:cs typeface="Arial"/>
              </a:rPr>
              <a:t>Embedded</a:t>
            </a:r>
            <a:r>
              <a:rPr sz="1400" i="1" spc="50" dirty="0">
                <a:latin typeface="Arial"/>
                <a:cs typeface="Arial"/>
              </a:rPr>
              <a:t> </a:t>
            </a:r>
            <a:r>
              <a:rPr sz="1400" i="1" spc="-25" dirty="0">
                <a:latin typeface="Arial"/>
                <a:cs typeface="Arial"/>
              </a:rPr>
              <a:t>Linux</a:t>
            </a:r>
            <a:endParaRPr sz="1400" dirty="0">
              <a:latin typeface="Arial"/>
              <a:cs typeface="Arial"/>
            </a:endParaRPr>
          </a:p>
          <a:p>
            <a:pPr marL="314960" indent="-177800">
              <a:lnSpc>
                <a:spcPct val="100000"/>
              </a:lnSpc>
              <a:spcBef>
                <a:spcPts val="355"/>
              </a:spcBef>
              <a:buClr>
                <a:srgbClr val="3333B2"/>
              </a:buClr>
              <a:buFont typeface="Cambria"/>
              <a:buChar char="►"/>
              <a:tabLst>
                <a:tab pos="315595" algn="l"/>
              </a:tabLst>
            </a:pPr>
            <a:r>
              <a:rPr sz="1500" spc="-50" dirty="0">
                <a:latin typeface="Tahoma"/>
                <a:cs typeface="Tahoma"/>
              </a:rPr>
              <a:t>License:</a:t>
            </a:r>
            <a:r>
              <a:rPr sz="1500" spc="105" dirty="0">
                <a:latin typeface="Tahoma"/>
                <a:cs typeface="Tahoma"/>
              </a:rPr>
              <a:t> </a:t>
            </a:r>
            <a:r>
              <a:rPr sz="1500" spc="20" dirty="0">
                <a:latin typeface="Tahoma"/>
                <a:cs typeface="Tahoma"/>
              </a:rPr>
              <a:t>GNU</a:t>
            </a:r>
            <a:r>
              <a:rPr sz="1500" dirty="0">
                <a:latin typeface="Tahoma"/>
                <a:cs typeface="Tahoma"/>
              </a:rPr>
              <a:t> </a:t>
            </a:r>
            <a:r>
              <a:rPr sz="1500" spc="5" dirty="0">
                <a:latin typeface="Tahoma"/>
                <a:cs typeface="Tahoma"/>
              </a:rPr>
              <a:t>GPLv2</a:t>
            </a:r>
            <a:endParaRPr sz="1500" dirty="0">
              <a:latin typeface="Tahoma"/>
              <a:cs typeface="Tahoma"/>
            </a:endParaRPr>
          </a:p>
          <a:p>
            <a:pPr marL="314960" marR="902969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Cambria"/>
              <a:buChar char="►"/>
              <a:tabLst>
                <a:tab pos="315595" algn="l"/>
              </a:tabLst>
            </a:pPr>
            <a:r>
              <a:rPr sz="1500" spc="-30" dirty="0">
                <a:latin typeface="Tahoma"/>
                <a:cs typeface="Tahoma"/>
              </a:rPr>
              <a:t>Alternative:</a:t>
            </a:r>
            <a:r>
              <a:rPr sz="1500" spc="-25" dirty="0">
                <a:latin typeface="Tahoma"/>
                <a:cs typeface="Tahoma"/>
              </a:rPr>
              <a:t> </a:t>
            </a:r>
            <a:r>
              <a:rPr sz="1500" spc="-45" dirty="0">
                <a:latin typeface="Tahoma"/>
                <a:cs typeface="Tahoma"/>
              </a:rPr>
              <a:t>Toybox, </a:t>
            </a:r>
            <a:r>
              <a:rPr sz="1500" spc="35" dirty="0">
                <a:latin typeface="Tahoma"/>
                <a:cs typeface="Tahoma"/>
              </a:rPr>
              <a:t>BSD </a:t>
            </a:r>
            <a:r>
              <a:rPr sz="1500" spc="-45" dirty="0">
                <a:latin typeface="Tahoma"/>
                <a:cs typeface="Tahoma"/>
              </a:rPr>
              <a:t>licensed </a:t>
            </a:r>
            <a:r>
              <a:rPr sz="1500" spc="-40" dirty="0">
                <a:latin typeface="Tahoma"/>
                <a:cs typeface="Tahoma"/>
              </a:rPr>
              <a:t> </a:t>
            </a:r>
            <a:r>
              <a:rPr sz="1500" spc="-5" dirty="0">
                <a:latin typeface="Tahoma"/>
                <a:cs typeface="Tahoma"/>
              </a:rPr>
              <a:t>(</a:t>
            </a:r>
            <a:r>
              <a:rPr sz="1500" spc="-5" dirty="0">
                <a:solidFill>
                  <a:srgbClr val="3F3FBF"/>
                </a:solidFill>
                <a:latin typeface="SimSun"/>
                <a:cs typeface="SimSun"/>
                <a:hlinkClick r:id="rId3"/>
              </a:rPr>
              <a:t>https://en.wikipedia.org/wiki/Toybox</a:t>
            </a:r>
            <a:r>
              <a:rPr sz="1500" dirty="0">
                <a:latin typeface="Tahoma"/>
                <a:cs typeface="Tahoma"/>
              </a:rPr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7997" y="2353629"/>
            <a:ext cx="1260003" cy="89122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383637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/>
              <a:t>BusyBox</a:t>
            </a:r>
            <a:r>
              <a:rPr sz="1400" spc="-5" dirty="0"/>
              <a:t> </a:t>
            </a:r>
            <a:r>
              <a:rPr sz="1400" spc="-45" dirty="0"/>
              <a:t>in</a:t>
            </a:r>
            <a:r>
              <a:rPr sz="1400" dirty="0"/>
              <a:t> </a:t>
            </a:r>
            <a:r>
              <a:rPr sz="1400" spc="-70" dirty="0"/>
              <a:t>the</a:t>
            </a:r>
            <a:r>
              <a:rPr sz="1400" dirty="0"/>
              <a:t> </a:t>
            </a:r>
            <a:r>
              <a:rPr sz="1400" spc="-45" dirty="0"/>
              <a:t>root</a:t>
            </a:r>
            <a:r>
              <a:rPr sz="1400" spc="-5" dirty="0"/>
              <a:t> </a:t>
            </a:r>
            <a:r>
              <a:rPr sz="1600" spc="-70" dirty="0"/>
              <a:t>filesystem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289284" y="555625"/>
            <a:ext cx="3431816" cy="2432716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14629" marR="594995" indent="-177165">
              <a:spcBef>
                <a:spcPts val="229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600" spc="25" dirty="0">
                <a:latin typeface="Tahoma"/>
                <a:cs typeface="Tahoma"/>
              </a:rPr>
              <a:t>All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the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utilities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70" dirty="0">
                <a:latin typeface="Tahoma"/>
                <a:cs typeface="Tahoma"/>
              </a:rPr>
              <a:t>are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compiled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into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a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single </a:t>
            </a:r>
            <a:r>
              <a:rPr sz="1600" spc="-32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executable,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/bin/busybox</a:t>
            </a:r>
            <a:endParaRPr sz="1600" dirty="0">
              <a:latin typeface="SimSun"/>
              <a:cs typeface="SimSun"/>
            </a:endParaRPr>
          </a:p>
          <a:p>
            <a:pPr marL="492125" marR="179705" lvl="1" indent="-168275">
              <a:spcBef>
                <a:spcPts val="150"/>
              </a:spcBef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600" spc="-35" dirty="0">
                <a:latin typeface="Tahoma"/>
                <a:cs typeface="Tahoma"/>
              </a:rPr>
              <a:t>Sym</a:t>
            </a:r>
            <a:r>
              <a:rPr sz="1600" spc="-5" dirty="0">
                <a:latin typeface="Tahoma"/>
                <a:cs typeface="Tahoma"/>
              </a:rPr>
              <a:t>b</a:t>
            </a:r>
            <a:r>
              <a:rPr sz="1600" spc="-15" dirty="0">
                <a:latin typeface="Tahoma"/>
                <a:cs typeface="Tahoma"/>
              </a:rPr>
              <a:t>olic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links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SimSun"/>
                <a:cs typeface="SimSun"/>
              </a:rPr>
              <a:t>/bin/busybox</a:t>
            </a:r>
            <a:r>
              <a:rPr sz="1200" spc="-17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00" spc="-8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re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created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</a:t>
            </a:r>
            <a:r>
              <a:rPr sz="1200" spc="-70" dirty="0">
                <a:latin typeface="Tahoma"/>
                <a:cs typeface="Tahoma"/>
              </a:rPr>
              <a:t>o</a:t>
            </a:r>
            <a:r>
              <a:rPr sz="1200" spc="-20" dirty="0">
                <a:latin typeface="Tahoma"/>
                <a:cs typeface="Tahoma"/>
              </a:rPr>
              <a:t>r  </a:t>
            </a:r>
            <a:r>
              <a:rPr sz="1200" spc="-50" dirty="0">
                <a:latin typeface="Tahoma"/>
                <a:cs typeface="Tahoma"/>
              </a:rPr>
              <a:t>each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application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integrated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15" dirty="0">
                <a:latin typeface="Tahoma"/>
                <a:cs typeface="Tahoma"/>
              </a:rPr>
              <a:t>into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BusyBox</a:t>
            </a:r>
            <a:endParaRPr sz="1200" dirty="0">
              <a:latin typeface="Tahoma"/>
              <a:cs typeface="Tahoma"/>
            </a:endParaRPr>
          </a:p>
          <a:p>
            <a:pPr marL="214629" marR="30480" indent="-177165">
              <a:spcBef>
                <a:spcPts val="31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600" spc="-35" dirty="0">
                <a:latin typeface="Tahoma"/>
                <a:cs typeface="Tahoma"/>
              </a:rPr>
              <a:t>For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fairly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featureful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configuration,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less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than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500 </a:t>
            </a:r>
            <a:r>
              <a:rPr sz="1600" spc="-50" dirty="0">
                <a:latin typeface="Tahoma"/>
                <a:cs typeface="Tahoma"/>
              </a:rPr>
              <a:t> </a:t>
            </a:r>
            <a:r>
              <a:rPr sz="1600" spc="90" dirty="0">
                <a:latin typeface="Tahoma"/>
                <a:cs typeface="Tahoma"/>
              </a:rPr>
              <a:t>KB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(statically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compiled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with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5" dirty="0">
                <a:latin typeface="Tahoma"/>
                <a:cs typeface="Tahoma"/>
              </a:rPr>
              <a:t>uClibc)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or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less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than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1 </a:t>
            </a:r>
            <a:r>
              <a:rPr sz="1600" spc="-325" dirty="0">
                <a:latin typeface="Tahoma"/>
                <a:cs typeface="Tahoma"/>
              </a:rPr>
              <a:t> </a:t>
            </a:r>
            <a:r>
              <a:rPr sz="1600" spc="90" dirty="0">
                <a:latin typeface="Tahoma"/>
                <a:cs typeface="Tahoma"/>
              </a:rPr>
              <a:t>MB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(statically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compiled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25" dirty="0">
                <a:latin typeface="Tahoma"/>
                <a:cs typeface="Tahoma"/>
              </a:rPr>
              <a:t>with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glibc).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7300" y="1101337"/>
            <a:ext cx="1706625" cy="134129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900" y="30104"/>
            <a:ext cx="2975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/>
              <a:t>BusyBox</a:t>
            </a:r>
            <a:r>
              <a:rPr sz="1400" dirty="0"/>
              <a:t> </a:t>
            </a:r>
            <a:r>
              <a:rPr sz="1400" spc="-60" dirty="0"/>
              <a:t>-</a:t>
            </a:r>
            <a:r>
              <a:rPr sz="1400" dirty="0"/>
              <a:t> </a:t>
            </a:r>
            <a:r>
              <a:rPr sz="1400" spc="-20" dirty="0"/>
              <a:t>Most</a:t>
            </a:r>
            <a:r>
              <a:rPr sz="1400" spc="5" dirty="0"/>
              <a:t> </a:t>
            </a:r>
            <a:r>
              <a:rPr sz="1400" spc="-90" dirty="0"/>
              <a:t>commands</a:t>
            </a:r>
            <a:r>
              <a:rPr sz="1400" dirty="0"/>
              <a:t> </a:t>
            </a:r>
            <a:r>
              <a:rPr sz="1400" spc="-45" dirty="0"/>
              <a:t>in</a:t>
            </a:r>
            <a:r>
              <a:rPr sz="1400" spc="5" dirty="0"/>
              <a:t> </a:t>
            </a:r>
            <a:r>
              <a:rPr sz="1400" spc="-105" dirty="0"/>
              <a:t>one</a:t>
            </a:r>
            <a:r>
              <a:rPr sz="1400" dirty="0"/>
              <a:t> </a:t>
            </a:r>
            <a:r>
              <a:rPr sz="1400" spc="-70" dirty="0"/>
              <a:t>binary</a:t>
            </a:r>
            <a:endParaRPr sz="1400" dirty="0"/>
          </a:p>
        </p:txBody>
      </p:sp>
      <p:sp>
        <p:nvSpPr>
          <p:cNvPr id="3" name="object 3"/>
          <p:cNvSpPr txBox="1"/>
          <p:nvPr/>
        </p:nvSpPr>
        <p:spPr>
          <a:xfrm>
            <a:off x="347294" y="478490"/>
            <a:ext cx="4998085" cy="216020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700" spc="-5" dirty="0">
                <a:cs typeface="SimSun"/>
              </a:rPr>
              <a:t>[,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[[,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acpid,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add-shell,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addgroup,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adduser,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adjtimex,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arch,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arp,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arping,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ash,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awk,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base64,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basename,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beep,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blkdiscard,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blkid,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blockdev,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bootchartd,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brctl,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bunzip2,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bzcat,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bzip2,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cal,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cat,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chat,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chattr,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chgrp,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chmod,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chown,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chpasswd,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chpst,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chroot,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chrt,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chvt,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cksum,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clear,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cmp,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comm,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conspy,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cpio,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crond,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crontab,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cryptpw,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cttyhack,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cut,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date,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dc,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dd,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deallocvt,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delgroup,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deluser,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depmod,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devmem,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df,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dhcprelay,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diff,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dirname,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dmesg,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dnsd,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dnsdomainname,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dos2unix,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dpkg,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dpkg-deb,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du,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dumpkmap,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dumpleases,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echo,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ed,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egrep,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eject,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env,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envdir,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envuidgid,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ether-wake,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expand,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expr,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factor,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fakeidentd,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fallocate,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false,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fatattr,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fbset,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fbsplash,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fdflush,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fdformat,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fdisk,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fgconsole,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fgrep,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find,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findfs,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flock,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fold,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free,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freeramdisk,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fsck,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fsck.minix,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fsfreeze,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fstrim,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fsync,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ftpd,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ftpget,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ftpput,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fuser,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getopt,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getty,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grep,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groups,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gunzip,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gzip,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halt,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hd,</a:t>
            </a:r>
            <a:r>
              <a:rPr sz="700" spc="30" dirty="0">
                <a:cs typeface="SimSun"/>
              </a:rPr>
              <a:t> </a:t>
            </a:r>
            <a:r>
              <a:rPr sz="700" spc="-5" dirty="0">
                <a:cs typeface="SimSun"/>
              </a:rPr>
              <a:t>hdparm,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head,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hexdump,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hexedit,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hostid,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hostname,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httpd,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hush,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hwclock,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i2cdetect,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i2cdump,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i2cget,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i2cset,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i2ctransfer,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ifconfig,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ifdown,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ifenslave,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ifplugd,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ifup,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inetd,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init,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insmod,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install,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ionice,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iostat,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ipaddr,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ipcalc,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ipcrm,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ipcs,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iplink,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ipneigh,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iproute,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iprule,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iptunnel,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kbd_mode,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kill,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killall,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killall5,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klogd,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last,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less,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link,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linux32,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linux64,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linuxrc,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ln,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loadfont,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loadkmap,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logger,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login,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logname,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logread,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losetup,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lpd,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lpq,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lpr,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lsattr,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lsmod,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lsof,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lspci,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lsscsi,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lsusb,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lzcat,</a:t>
            </a:r>
            <a:r>
              <a:rPr sz="700" spc="25" dirty="0">
                <a:cs typeface="SimSun"/>
              </a:rPr>
              <a:t> </a:t>
            </a:r>
            <a:r>
              <a:rPr sz="700" spc="-5" dirty="0">
                <a:cs typeface="SimSun"/>
              </a:rPr>
              <a:t>lzma,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lzop,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makedevs,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makemime,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man,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md5sum,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mdev,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mesg,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microcom,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mim,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mkdir,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mkdosfs,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mke2fs,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mkfifo,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mkfs.ext2,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mkfs.minix,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mkfs.vfat, </a:t>
            </a:r>
            <a:r>
              <a:rPr sz="700" spc="-285" dirty="0">
                <a:cs typeface="SimSun"/>
              </a:rPr>
              <a:t> </a:t>
            </a:r>
            <a:r>
              <a:rPr sz="700" spc="-5" dirty="0">
                <a:cs typeface="SimSun"/>
              </a:rPr>
              <a:t>mknod,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mkpasswd,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mkswap,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mktemp,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modinfo,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modprobe,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more,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mount,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mountpoint,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mpstat,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mt,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mv,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nameif,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nanddump,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nandwrite,</a:t>
            </a:r>
            <a:endParaRPr sz="700" dirty="0">
              <a:cs typeface="SimSun"/>
            </a:endParaRPr>
          </a:p>
          <a:p>
            <a:pPr marL="12700">
              <a:lnSpc>
                <a:spcPts val="635"/>
              </a:lnSpc>
            </a:pPr>
            <a:r>
              <a:rPr sz="700" spc="-5" dirty="0">
                <a:cs typeface="SimSun"/>
              </a:rPr>
              <a:t>nbd-client,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nc,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netstat,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nice,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nmeter,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nohup,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nologin,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nproc,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nsenter,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nslookup,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ntpd,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nuke,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od,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openvt,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partprobe,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passwd,</a:t>
            </a:r>
            <a:endParaRPr sz="700" dirty="0">
              <a:cs typeface="SimSun"/>
            </a:endParaRPr>
          </a:p>
          <a:p>
            <a:pPr marL="12700" marR="42545">
              <a:lnSpc>
                <a:spcPts val="700"/>
              </a:lnSpc>
              <a:spcBef>
                <a:spcPts val="30"/>
              </a:spcBef>
            </a:pPr>
            <a:r>
              <a:rPr sz="700" spc="-5" dirty="0">
                <a:cs typeface="SimSun"/>
              </a:rPr>
              <a:t>paste,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patch,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pgrep,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pidof,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ping,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ping6,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pipe_progress,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pivot_root,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pkill,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pmap,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popmaildir,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poweroff,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powertop,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printenv,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printf, </a:t>
            </a:r>
            <a:r>
              <a:rPr sz="700" spc="-285" dirty="0">
                <a:cs typeface="SimSun"/>
              </a:rPr>
              <a:t> </a:t>
            </a:r>
            <a:r>
              <a:rPr sz="700" spc="-5" dirty="0">
                <a:cs typeface="SimSun"/>
              </a:rPr>
              <a:t>ps,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pscan,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pstree,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pwd,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pwdx,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raidautorun,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rdate,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rdev,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readahead,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readlink,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readprofile,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realpath,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reboot,</a:t>
            </a:r>
            <a:r>
              <a:rPr sz="700" spc="5" dirty="0">
                <a:cs typeface="SimSun"/>
              </a:rPr>
              <a:t> </a:t>
            </a:r>
            <a:r>
              <a:rPr sz="700" spc="-5" dirty="0">
                <a:cs typeface="SimSun"/>
              </a:rPr>
              <a:t>reformime,</a:t>
            </a:r>
            <a:endParaRPr sz="700" dirty="0">
              <a:cs typeface="SimSun"/>
            </a:endParaRPr>
          </a:p>
          <a:p>
            <a:pPr marL="12700">
              <a:lnSpc>
                <a:spcPts val="665"/>
              </a:lnSpc>
            </a:pPr>
            <a:r>
              <a:rPr sz="700" spc="-5" dirty="0">
                <a:cs typeface="SimSun"/>
              </a:rPr>
              <a:t>remove-shell,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renice,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reset,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resize,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resume,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rev,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rm,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rmdir,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rmmod,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route,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rpm,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rpm2cpio,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rtcwake,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run-init,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run-parts,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runlevel,</a:t>
            </a:r>
            <a:endParaRPr sz="700" dirty="0">
              <a:cs typeface="SimSun"/>
            </a:endParaRPr>
          </a:p>
          <a:p>
            <a:pPr marL="12700" marR="42545">
              <a:lnSpc>
                <a:spcPts val="700"/>
              </a:lnSpc>
              <a:spcBef>
                <a:spcPts val="30"/>
              </a:spcBef>
            </a:pPr>
            <a:r>
              <a:rPr sz="700" spc="-5" dirty="0">
                <a:cs typeface="SimSun"/>
              </a:rPr>
              <a:t>runsv,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runsvdir,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rx,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script,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scriptreplay,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sed,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sendmail,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seq,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setarch,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setconsole,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setfattr,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setfont,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setkeycodes,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setlogcons,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setpriv,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setserial,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setsid,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setuidgid,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sha1sum,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sha256sum,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sha3sum,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sha512sum,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showkey,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shred,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shuf,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slattach,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sleep,</a:t>
            </a:r>
            <a:r>
              <a:rPr sz="700" spc="20" dirty="0">
                <a:cs typeface="SimSun"/>
              </a:rPr>
              <a:t> </a:t>
            </a:r>
            <a:r>
              <a:rPr sz="700" spc="-5" dirty="0">
                <a:cs typeface="SimSun"/>
              </a:rPr>
              <a:t>smemcap, </a:t>
            </a:r>
            <a:r>
              <a:rPr sz="700" spc="-285" dirty="0">
                <a:cs typeface="SimSun"/>
              </a:rPr>
              <a:t> </a:t>
            </a:r>
            <a:r>
              <a:rPr sz="700" spc="-5" dirty="0">
                <a:cs typeface="SimSun"/>
              </a:rPr>
              <a:t>softlimit,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sort,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split,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ssl_client,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start-stop-daemon,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stat,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strings,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stty,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su,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sulogin,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sum,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sv,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svc,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svlogd,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svok,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swapoff,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swapon,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switch_root,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sync,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sysctl,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syslogd,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tac,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tail,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tar,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taskset,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tcpsvd,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tee,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telnet,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telnetd,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test,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tftp,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tftpd,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time,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timeout,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top,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touch,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tr,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traceroute,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traceroute6,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true,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truncate,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ts,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tty,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ttysize,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tunctl,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ubiattach,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ubidetach,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ubimkvol,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ubirename,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ubirmvol,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ubirsvol,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ubiupdatevol,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udhcpc,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udhcpc6,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udhcpd,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udpsvd,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uevent,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umount,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uname,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unexpand,</a:t>
            </a:r>
            <a:r>
              <a:rPr sz="700" spc="15" dirty="0">
                <a:cs typeface="SimSun"/>
              </a:rPr>
              <a:t> </a:t>
            </a:r>
            <a:r>
              <a:rPr sz="700" spc="-5" dirty="0">
                <a:cs typeface="SimSun"/>
              </a:rPr>
              <a:t>uniq,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unix2dos,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unlink,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unlzma,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unshare,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unxz,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unzip,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uptime,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users,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usleep,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uudecode,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uuencode,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vconfig,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vi,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vlock,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volname,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w,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wall,</a:t>
            </a:r>
            <a:r>
              <a:rPr sz="700" spc="10" dirty="0">
                <a:cs typeface="SimSun"/>
              </a:rPr>
              <a:t> </a:t>
            </a:r>
            <a:r>
              <a:rPr sz="700" spc="-5" dirty="0">
                <a:cs typeface="SimSun"/>
              </a:rPr>
              <a:t>watch, 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watchdog, wc,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wget, which,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who,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whoami, whois,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xargs, xxd,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xz,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xzcat, yes,</a:t>
            </a:r>
            <a:r>
              <a:rPr sz="700" dirty="0">
                <a:cs typeface="SimSun"/>
              </a:rPr>
              <a:t> </a:t>
            </a:r>
            <a:r>
              <a:rPr sz="700" spc="-5" dirty="0">
                <a:cs typeface="SimSun"/>
              </a:rPr>
              <a:t>zcat, zcip</a:t>
            </a:r>
            <a:endParaRPr sz="700" dirty="0"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2929948"/>
            <a:ext cx="22396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40" dirty="0">
                <a:latin typeface="Microsoft Sans Serif"/>
                <a:cs typeface="Microsoft Sans Serif"/>
              </a:rPr>
              <a:t>Source: </a:t>
            </a:r>
            <a:r>
              <a:rPr sz="900" spc="-7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run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solidFill>
                  <a:srgbClr val="7F7F7F"/>
                </a:solidFill>
                <a:latin typeface="SimSun"/>
                <a:cs typeface="SimSun"/>
              </a:rPr>
              <a:t>/bin/busybox</a:t>
            </a:r>
            <a:r>
              <a:rPr sz="900" spc="-14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900" spc="5" dirty="0">
                <a:latin typeface="Microsoft Sans Serif"/>
                <a:cs typeface="Microsoft Sans Serif"/>
              </a:rPr>
              <a:t>-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July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2021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status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15246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/>
              <a:t>Configuring</a:t>
            </a:r>
            <a:r>
              <a:rPr sz="1400" spc="-15" dirty="0"/>
              <a:t> </a:t>
            </a:r>
            <a:r>
              <a:rPr sz="1400" spc="-50" dirty="0"/>
              <a:t>BusyBox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292100" y="403225"/>
            <a:ext cx="4952365" cy="2784737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14629" indent="-177165">
              <a:spcBef>
                <a:spcPts val="27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600" spc="-30" dirty="0">
                <a:latin typeface="Tahoma"/>
                <a:cs typeface="Tahoma"/>
              </a:rPr>
              <a:t>Get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the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latest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stable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sources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from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https://busybox.net</a:t>
            </a:r>
            <a:endParaRPr sz="1600" dirty="0">
              <a:latin typeface="SimSun"/>
              <a:cs typeface="SimSun"/>
            </a:endParaRPr>
          </a:p>
          <a:p>
            <a:pPr marL="214629" indent="-177165"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600" spc="-35" dirty="0">
                <a:latin typeface="Tahoma"/>
                <a:cs typeface="Tahoma"/>
              </a:rPr>
              <a:t>Configure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BusyB</a:t>
            </a:r>
            <a:r>
              <a:rPr sz="1600" spc="-45" dirty="0">
                <a:latin typeface="Tahoma"/>
                <a:cs typeface="Tahoma"/>
              </a:rPr>
              <a:t>ox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(creates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a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.config</a:t>
            </a:r>
            <a:r>
              <a:rPr sz="16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600" spc="-35" dirty="0">
                <a:latin typeface="Tahoma"/>
                <a:cs typeface="Tahoma"/>
              </a:rPr>
              <a:t>file):</a:t>
            </a:r>
            <a:endParaRPr sz="1600" dirty="0">
              <a:latin typeface="Tahoma"/>
              <a:cs typeface="Tahoma"/>
            </a:endParaRPr>
          </a:p>
          <a:p>
            <a:pPr marL="492125" lvl="1" indent="-168275"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2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1200" spc="-4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SimSun"/>
                <a:cs typeface="SimSun"/>
              </a:rPr>
              <a:t>defconfig</a:t>
            </a:r>
            <a:endParaRPr sz="1200" dirty="0">
              <a:latin typeface="SimSun"/>
              <a:cs typeface="SimSun"/>
            </a:endParaRPr>
          </a:p>
          <a:p>
            <a:pPr marL="492125"/>
            <a:r>
              <a:rPr sz="1200" spc="-25" dirty="0">
                <a:latin typeface="Tahoma"/>
                <a:cs typeface="Tahoma"/>
              </a:rPr>
              <a:t>Good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begin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BusyBox.</a:t>
            </a:r>
            <a:endParaRPr sz="1200" dirty="0">
              <a:latin typeface="Tahoma"/>
              <a:cs typeface="Tahoma"/>
            </a:endParaRPr>
          </a:p>
          <a:p>
            <a:pPr marL="492125"/>
            <a:r>
              <a:rPr sz="1200" spc="-35" dirty="0">
                <a:latin typeface="Tahoma"/>
                <a:cs typeface="Tahoma"/>
              </a:rPr>
              <a:t>Configures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BusyBox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all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options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for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regular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users.</a:t>
            </a:r>
            <a:endParaRPr sz="1200" dirty="0">
              <a:latin typeface="Tahoma"/>
              <a:cs typeface="Tahoma"/>
            </a:endParaRPr>
          </a:p>
          <a:p>
            <a:pPr marL="492125" lvl="1" indent="-168275">
              <a:buClr>
                <a:srgbClr val="3333B2"/>
              </a:buClr>
              <a:buFont typeface="Cambria"/>
              <a:buChar char="►"/>
              <a:tabLst>
                <a:tab pos="492759" algn="l"/>
              </a:tabLst>
            </a:pPr>
            <a:r>
              <a:rPr sz="12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1200" spc="-4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200" spc="-5" dirty="0">
                <a:solidFill>
                  <a:srgbClr val="7F7F7F"/>
                </a:solidFill>
                <a:latin typeface="SimSun"/>
                <a:cs typeface="SimSun"/>
              </a:rPr>
              <a:t>allnoconfig</a:t>
            </a:r>
            <a:endParaRPr sz="1200" dirty="0">
              <a:latin typeface="SimSun"/>
              <a:cs typeface="SimSun"/>
            </a:endParaRPr>
          </a:p>
          <a:p>
            <a:pPr marL="492125"/>
            <a:r>
              <a:rPr sz="1200" spc="-35" dirty="0">
                <a:latin typeface="Tahoma"/>
                <a:cs typeface="Tahoma"/>
              </a:rPr>
              <a:t>Unselects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all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options.</a:t>
            </a:r>
            <a:r>
              <a:rPr sz="1200" spc="12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Good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configure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only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what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you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need.</a:t>
            </a:r>
            <a:endParaRPr sz="1200" dirty="0">
              <a:latin typeface="Tahoma"/>
              <a:cs typeface="Tahoma"/>
            </a:endParaRPr>
          </a:p>
          <a:p>
            <a:pPr marL="214629" indent="-177165">
              <a:spcBef>
                <a:spcPts val="35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1600" spc="-1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menuconfig</a:t>
            </a:r>
            <a:r>
              <a:rPr sz="16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600" spc="-15" dirty="0">
                <a:latin typeface="Tahoma"/>
                <a:cs typeface="Tahoma"/>
              </a:rPr>
              <a:t>(text)</a:t>
            </a:r>
            <a:endParaRPr sz="1600" dirty="0">
              <a:latin typeface="Tahoma"/>
              <a:cs typeface="Tahoma"/>
            </a:endParaRPr>
          </a:p>
          <a:p>
            <a:pPr marL="214629" marR="30480"/>
            <a:r>
              <a:rPr sz="1600" spc="-55" dirty="0">
                <a:latin typeface="Tahoma"/>
                <a:cs typeface="Tahoma"/>
              </a:rPr>
              <a:t>Same </a:t>
            </a:r>
            <a:r>
              <a:rPr sz="1600" spc="-35" dirty="0">
                <a:latin typeface="Tahoma"/>
                <a:cs typeface="Tahoma"/>
              </a:rPr>
              <a:t>configuration </a:t>
            </a:r>
            <a:r>
              <a:rPr sz="1600" spc="-40" dirty="0">
                <a:latin typeface="Tahoma"/>
                <a:cs typeface="Tahoma"/>
              </a:rPr>
              <a:t>interfaces </a:t>
            </a:r>
            <a:r>
              <a:rPr sz="1600" spc="-65" dirty="0">
                <a:latin typeface="Tahoma"/>
                <a:cs typeface="Tahoma"/>
              </a:rPr>
              <a:t>as</a:t>
            </a:r>
            <a:r>
              <a:rPr sz="1600" spc="-6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the </a:t>
            </a:r>
            <a:r>
              <a:rPr sz="1600" spc="-70" dirty="0">
                <a:latin typeface="Tahoma"/>
                <a:cs typeface="Tahoma"/>
              </a:rPr>
              <a:t>ones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70" dirty="0">
                <a:latin typeface="Tahoma"/>
                <a:cs typeface="Tahoma"/>
              </a:rPr>
              <a:t>used</a:t>
            </a:r>
            <a:r>
              <a:rPr sz="1600" spc="-65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by </a:t>
            </a:r>
            <a:r>
              <a:rPr sz="1600" spc="-40" dirty="0">
                <a:latin typeface="Tahoma"/>
                <a:cs typeface="Tahoma"/>
              </a:rPr>
              <a:t>the </a:t>
            </a:r>
            <a:r>
              <a:rPr sz="1600" spc="-20" dirty="0">
                <a:latin typeface="Tahoma"/>
                <a:cs typeface="Tahoma"/>
              </a:rPr>
              <a:t>Linux </a:t>
            </a:r>
            <a:r>
              <a:rPr sz="1600" spc="-50" dirty="0">
                <a:latin typeface="Tahoma"/>
                <a:cs typeface="Tahoma"/>
              </a:rPr>
              <a:t>kernel </a:t>
            </a:r>
            <a:r>
              <a:rPr sz="1600" spc="-35" dirty="0">
                <a:latin typeface="Tahoma"/>
                <a:cs typeface="Tahoma"/>
              </a:rPr>
              <a:t>(though </a:t>
            </a:r>
            <a:r>
              <a:rPr sz="1600" spc="-45" dirty="0">
                <a:latin typeface="Tahoma"/>
                <a:cs typeface="Tahoma"/>
              </a:rPr>
              <a:t>older </a:t>
            </a:r>
            <a:r>
              <a:rPr sz="1600" spc="-330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versions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70" dirty="0">
                <a:latin typeface="Tahoma"/>
                <a:cs typeface="Tahoma"/>
              </a:rPr>
              <a:t>are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used,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causing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160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600" spc="-5" dirty="0">
                <a:solidFill>
                  <a:srgbClr val="7F7F7F"/>
                </a:solidFill>
                <a:latin typeface="SimSun"/>
                <a:cs typeface="SimSun"/>
              </a:rPr>
              <a:t>xconfig</a:t>
            </a:r>
            <a:r>
              <a:rPr sz="16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be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broken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in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recent</a:t>
            </a:r>
            <a:r>
              <a:rPr sz="1600" spc="15" dirty="0">
                <a:latin typeface="Tahoma"/>
                <a:cs typeface="Tahoma"/>
              </a:rPr>
              <a:t> </a:t>
            </a:r>
            <a:r>
              <a:rPr sz="1600" spc="-30" dirty="0">
                <a:latin typeface="Tahoma"/>
                <a:cs typeface="Tahoma"/>
              </a:rPr>
              <a:t>distros).</a:t>
            </a:r>
            <a:endParaRPr sz="16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19481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/>
              <a:t>BusyB</a:t>
            </a:r>
            <a:r>
              <a:rPr sz="1400" spc="-80" dirty="0"/>
              <a:t>o</a:t>
            </a:r>
            <a:r>
              <a:rPr sz="1400" spc="-75" dirty="0"/>
              <a:t>x</a:t>
            </a:r>
            <a:r>
              <a:rPr sz="1400" spc="10" dirty="0"/>
              <a:t> </a:t>
            </a:r>
            <a:r>
              <a:rPr sz="1400" spc="-90" dirty="0"/>
              <a:t>ma</a:t>
            </a:r>
            <a:r>
              <a:rPr sz="1400" spc="-105" dirty="0"/>
              <a:t>k</a:t>
            </a:r>
            <a:r>
              <a:rPr sz="1400" spc="-140" dirty="0"/>
              <a:t>e</a:t>
            </a:r>
            <a:r>
              <a:rPr sz="1400" spc="10" dirty="0"/>
              <a:t> </a:t>
            </a:r>
            <a:r>
              <a:rPr sz="1400" spc="-80" dirty="0"/>
              <a:t>menuconfig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153753" y="912585"/>
            <a:ext cx="2757196" cy="136473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600" spc="-35" dirty="0">
                <a:latin typeface="Tahoma"/>
                <a:cs typeface="Tahoma"/>
              </a:rPr>
              <a:t>You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spc="-45" dirty="0">
                <a:latin typeface="Tahoma"/>
                <a:cs typeface="Tahoma"/>
              </a:rPr>
              <a:t>can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choose:</a:t>
            </a:r>
            <a:endParaRPr sz="1600" dirty="0">
              <a:latin typeface="Tahoma"/>
              <a:cs typeface="Tahoma"/>
            </a:endParaRPr>
          </a:p>
          <a:p>
            <a:pPr marL="314960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Cambria"/>
              <a:buChar char="►"/>
              <a:tabLst>
                <a:tab pos="315595" algn="l"/>
              </a:tabLst>
            </a:pPr>
            <a:r>
              <a:rPr sz="1600" spc="-40" dirty="0">
                <a:latin typeface="Tahoma"/>
                <a:cs typeface="Tahoma"/>
              </a:rPr>
              <a:t>the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55" dirty="0">
                <a:latin typeface="Tahoma"/>
                <a:cs typeface="Tahoma"/>
              </a:rPr>
              <a:t>commands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to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compile,</a:t>
            </a:r>
            <a:endParaRPr sz="1600" dirty="0">
              <a:latin typeface="Tahoma"/>
              <a:cs typeface="Tahoma"/>
            </a:endParaRPr>
          </a:p>
          <a:p>
            <a:pPr marL="314960" marR="3048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Cambria"/>
              <a:buChar char="►"/>
              <a:tabLst>
                <a:tab pos="315595" algn="l"/>
              </a:tabLst>
            </a:pPr>
            <a:r>
              <a:rPr sz="1600" spc="-50" dirty="0">
                <a:latin typeface="Tahoma"/>
                <a:cs typeface="Tahoma"/>
              </a:rPr>
              <a:t>and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75" dirty="0">
                <a:latin typeface="Tahoma"/>
                <a:cs typeface="Tahoma"/>
              </a:rPr>
              <a:t>even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40" dirty="0">
                <a:latin typeface="Tahoma"/>
                <a:cs typeface="Tahoma"/>
              </a:rPr>
              <a:t>the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50" dirty="0">
                <a:latin typeface="Tahoma"/>
                <a:cs typeface="Tahoma"/>
              </a:rPr>
              <a:t>command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35" dirty="0">
                <a:latin typeface="Tahoma"/>
                <a:cs typeface="Tahoma"/>
              </a:rPr>
              <a:t>options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spc="-50" dirty="0">
                <a:latin typeface="Tahoma"/>
                <a:cs typeface="Tahoma"/>
              </a:rPr>
              <a:t>and </a:t>
            </a:r>
            <a:r>
              <a:rPr sz="1600" spc="-330" dirty="0">
                <a:latin typeface="Tahoma"/>
                <a:cs typeface="Tahoma"/>
              </a:rPr>
              <a:t> </a:t>
            </a:r>
            <a:r>
              <a:rPr sz="1600" spc="-50" dirty="0">
                <a:latin typeface="Tahoma"/>
                <a:cs typeface="Tahoma"/>
              </a:rPr>
              <a:t>features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that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you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spc="-60" dirty="0">
                <a:latin typeface="Tahoma"/>
                <a:cs typeface="Tahoma"/>
              </a:rPr>
              <a:t>need!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033" y="631825"/>
            <a:ext cx="2757196" cy="1981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14179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50" dirty="0"/>
              <a:t>Compiling</a:t>
            </a:r>
            <a:r>
              <a:rPr sz="1400" spc="-45" dirty="0"/>
              <a:t> </a:t>
            </a:r>
            <a:r>
              <a:rPr sz="1400" spc="-50" dirty="0"/>
              <a:t>BusyBox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422910" y="708025"/>
            <a:ext cx="4919980" cy="219226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207770" indent="-177165">
              <a:spcBef>
                <a:spcPts val="5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100" spc="-25" dirty="0">
                <a:latin typeface="Tahoma"/>
                <a:cs typeface="Tahoma"/>
              </a:rPr>
              <a:t>Set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cross-compiler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prefix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configuration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interface: 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Settings</a:t>
            </a:r>
            <a:r>
              <a:rPr sz="1100" spc="-2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7F7F7F"/>
                </a:solidFill>
                <a:latin typeface="SimSun"/>
                <a:cs typeface="SimSun"/>
              </a:rPr>
              <a:t>-&gt;</a:t>
            </a:r>
            <a:r>
              <a:rPr sz="1100" spc="3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Build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Options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15" dirty="0">
                <a:solidFill>
                  <a:srgbClr val="7F7F7F"/>
                </a:solidFill>
                <a:latin typeface="SimSun"/>
                <a:cs typeface="SimSun"/>
              </a:rPr>
              <a:t>-&gt;</a:t>
            </a:r>
            <a:r>
              <a:rPr sz="1100" spc="3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Cross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Compiler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prefix </a:t>
            </a:r>
            <a:r>
              <a:rPr sz="1100" spc="-53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45" dirty="0">
                <a:latin typeface="Tahoma"/>
                <a:cs typeface="Tahoma"/>
              </a:rPr>
              <a:t>Example: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7F7F7F"/>
                </a:solidFill>
                <a:latin typeface="SimSun"/>
                <a:cs typeface="SimSun"/>
              </a:rPr>
              <a:t>arm-linux-</a:t>
            </a:r>
            <a:endParaRPr sz="1100" dirty="0">
              <a:latin typeface="SimSun"/>
              <a:cs typeface="SimSun"/>
            </a:endParaRPr>
          </a:p>
          <a:p>
            <a:pPr marL="214629" indent="-177165"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100" spc="-25" dirty="0">
                <a:latin typeface="Tahoma"/>
                <a:cs typeface="Tahoma"/>
              </a:rPr>
              <a:t>Set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installation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directory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configuration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interface:</a:t>
            </a:r>
            <a:endParaRPr sz="1100" dirty="0">
              <a:latin typeface="Tahoma"/>
              <a:cs typeface="Tahoma"/>
            </a:endParaRPr>
          </a:p>
          <a:p>
            <a:pPr marL="214629">
              <a:spcBef>
                <a:spcPts val="35"/>
              </a:spcBef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Settings</a:t>
            </a:r>
            <a:r>
              <a:rPr sz="1100" spc="-2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7F7F7F"/>
                </a:solidFill>
                <a:latin typeface="SimSun"/>
                <a:cs typeface="SimSun"/>
              </a:rPr>
              <a:t>-&gt;</a:t>
            </a:r>
            <a:r>
              <a:rPr sz="1100" spc="3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Installation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Options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20" dirty="0">
                <a:solidFill>
                  <a:srgbClr val="7F7F7F"/>
                </a:solidFill>
                <a:latin typeface="SimSun"/>
                <a:cs typeface="SimSun"/>
              </a:rPr>
              <a:t>-&gt;</a:t>
            </a:r>
            <a:r>
              <a:rPr sz="1100" spc="3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BusyBox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installation</a:t>
            </a:r>
            <a:r>
              <a:rPr sz="1100" spc="-1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prefix</a:t>
            </a:r>
            <a:endParaRPr sz="1100" dirty="0">
              <a:latin typeface="SimSun"/>
              <a:cs typeface="SimSun"/>
            </a:endParaRPr>
          </a:p>
          <a:p>
            <a:pPr marL="214629" indent="-177165">
              <a:spcBef>
                <a:spcPts val="334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Add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cross-compiler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path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25" dirty="0">
                <a:latin typeface="Tahoma"/>
                <a:cs typeface="Tahoma"/>
              </a:rPr>
              <a:t>PATH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environment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variable:</a:t>
            </a:r>
            <a:endParaRPr sz="1100" dirty="0">
              <a:latin typeface="Tahoma"/>
              <a:cs typeface="Tahoma"/>
            </a:endParaRPr>
          </a:p>
          <a:p>
            <a:pPr marL="214629">
              <a:spcBef>
                <a:spcPts val="30"/>
              </a:spcBef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export</a:t>
            </a:r>
            <a:r>
              <a:rPr sz="1100" spc="6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PATH=$HOME/x-tools/arm-unknown-linux-uclibcgnueabi/bin:$PATH</a:t>
            </a:r>
            <a:endParaRPr sz="1100" dirty="0">
              <a:latin typeface="SimSun"/>
              <a:cs typeface="SimSun"/>
            </a:endParaRPr>
          </a:p>
          <a:p>
            <a:pPr marL="214629" indent="-177165"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Compile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BusyBox:</a:t>
            </a:r>
            <a:endParaRPr sz="1100" dirty="0">
              <a:latin typeface="Tahoma"/>
              <a:cs typeface="Tahoma"/>
            </a:endParaRPr>
          </a:p>
          <a:p>
            <a:pPr marL="214629">
              <a:spcBef>
                <a:spcPts val="35"/>
              </a:spcBef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endParaRPr sz="1100" dirty="0">
              <a:latin typeface="SimSun"/>
              <a:cs typeface="SimSun"/>
            </a:endParaRPr>
          </a:p>
          <a:p>
            <a:pPr marL="214629" indent="-177165"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Install</a:t>
            </a:r>
            <a:r>
              <a:rPr sz="1100" spc="15" dirty="0">
                <a:latin typeface="Tahoma"/>
                <a:cs typeface="Tahoma"/>
              </a:rPr>
              <a:t> it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(this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creates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0" dirty="0">
                <a:latin typeface="Tahoma"/>
                <a:cs typeface="Tahoma"/>
              </a:rPr>
              <a:t>UNIX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directory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structure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symbolic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links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endParaRPr sz="1100" dirty="0">
              <a:latin typeface="Tahoma"/>
              <a:cs typeface="Tahoma"/>
            </a:endParaRPr>
          </a:p>
          <a:p>
            <a:pPr marL="214629">
              <a:spcBef>
                <a:spcPts val="35"/>
              </a:spcBef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busybox</a:t>
            </a:r>
            <a:r>
              <a:rPr sz="11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0" dirty="0">
                <a:latin typeface="Tahoma"/>
                <a:cs typeface="Tahoma"/>
              </a:rPr>
              <a:t>executable):</a:t>
            </a:r>
            <a:endParaRPr sz="1100" dirty="0">
              <a:latin typeface="Tahoma"/>
              <a:cs typeface="Tahoma"/>
            </a:endParaRPr>
          </a:p>
          <a:p>
            <a:pPr marL="214629">
              <a:spcBef>
                <a:spcPts val="35"/>
              </a:spcBef>
            </a:pP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make</a:t>
            </a:r>
            <a:r>
              <a:rPr sz="1100" spc="-7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100" spc="-5" dirty="0">
                <a:solidFill>
                  <a:srgbClr val="7F7F7F"/>
                </a:solidFill>
                <a:latin typeface="SimSun"/>
                <a:cs typeface="SimSun"/>
              </a:rPr>
              <a:t>install</a:t>
            </a:r>
            <a:endParaRPr sz="1100" dirty="0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3607778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-40" dirty="0"/>
              <a:t>Applet</a:t>
            </a:r>
            <a:r>
              <a:rPr sz="1800" spc="5" dirty="0"/>
              <a:t> </a:t>
            </a:r>
            <a:r>
              <a:rPr sz="1800" spc="-60" dirty="0"/>
              <a:t>highlight:</a:t>
            </a:r>
            <a:r>
              <a:rPr sz="1800" spc="160" dirty="0"/>
              <a:t> </a:t>
            </a:r>
            <a:r>
              <a:rPr sz="1800" spc="-50" dirty="0"/>
              <a:t>BusyBox</a:t>
            </a:r>
            <a:r>
              <a:rPr sz="1800" spc="10" dirty="0"/>
              <a:t> </a:t>
            </a:r>
            <a:r>
              <a:rPr sz="1800" spc="-20" dirty="0"/>
              <a:t>init</a:t>
            </a:r>
            <a:endParaRPr sz="18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27343" y="479425"/>
            <a:ext cx="5111114" cy="2593953"/>
          </a:xfrm>
          <a:prstGeom prst="rect">
            <a:avLst/>
          </a:prstGeom>
        </p:spPr>
        <p:txBody>
          <a:bodyPr vert="horz" wrap="square" lIns="0" tIns="303059" rIns="0" bIns="0" rtlCol="0">
            <a:spAutoFit/>
          </a:bodyPr>
          <a:lstStyle/>
          <a:p>
            <a:pPr marL="308610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Cambria"/>
              <a:buChar char="►"/>
              <a:tabLst>
                <a:tab pos="309880" algn="l"/>
              </a:tabLst>
            </a:pPr>
            <a:r>
              <a:rPr sz="1400" spc="-15" dirty="0"/>
              <a:t>BusyB</a:t>
            </a:r>
            <a:r>
              <a:rPr sz="1400" spc="-50" dirty="0"/>
              <a:t>o</a:t>
            </a:r>
            <a:r>
              <a:rPr sz="1400" spc="-45" dirty="0"/>
              <a:t>x</a:t>
            </a:r>
            <a:r>
              <a:rPr sz="1400" spc="15" dirty="0"/>
              <a:t> </a:t>
            </a:r>
            <a:r>
              <a:rPr sz="1400" spc="-75" dirty="0"/>
              <a:t>p</a:t>
            </a:r>
            <a:r>
              <a:rPr sz="1400" spc="-50" dirty="0"/>
              <a:t>rovides</a:t>
            </a:r>
            <a:r>
              <a:rPr sz="1400" spc="15" dirty="0"/>
              <a:t> </a:t>
            </a:r>
            <a:r>
              <a:rPr sz="1400" spc="-55" dirty="0"/>
              <a:t>an</a:t>
            </a:r>
            <a:r>
              <a:rPr sz="1400" spc="15" dirty="0"/>
              <a:t> </a:t>
            </a:r>
            <a:r>
              <a:rPr sz="1400" spc="-35" dirty="0"/>
              <a:t>implementation</a:t>
            </a:r>
            <a:r>
              <a:rPr sz="1400" spc="15" dirty="0"/>
              <a:t> </a:t>
            </a:r>
            <a:r>
              <a:rPr sz="1400" spc="-35" dirty="0"/>
              <a:t>of</a:t>
            </a:r>
            <a:r>
              <a:rPr sz="1400" spc="15" dirty="0"/>
              <a:t> </a:t>
            </a:r>
            <a:r>
              <a:rPr sz="1400" spc="-55" dirty="0"/>
              <a:t>an</a:t>
            </a:r>
            <a:r>
              <a:rPr sz="1400" spc="20" dirty="0"/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init</a:t>
            </a:r>
            <a:r>
              <a:rPr sz="14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400" spc="-75" dirty="0"/>
              <a:t>p</a:t>
            </a:r>
            <a:r>
              <a:rPr sz="1400" spc="-50" dirty="0"/>
              <a:t>rogram</a:t>
            </a:r>
            <a:endParaRPr sz="1400" dirty="0">
              <a:latin typeface="SimSun"/>
              <a:cs typeface="SimSun"/>
            </a:endParaRPr>
          </a:p>
          <a:p>
            <a:pPr marL="308610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Cambria"/>
              <a:buChar char="►"/>
              <a:tabLst>
                <a:tab pos="309880" algn="l"/>
              </a:tabLst>
            </a:pPr>
            <a:r>
              <a:rPr sz="1400" spc="-30" dirty="0"/>
              <a:t>Simpler</a:t>
            </a:r>
            <a:r>
              <a:rPr sz="1400" spc="20" dirty="0"/>
              <a:t> </a:t>
            </a:r>
            <a:r>
              <a:rPr sz="1400" spc="-35" dirty="0"/>
              <a:t>than</a:t>
            </a:r>
            <a:r>
              <a:rPr sz="1400" spc="20" dirty="0"/>
              <a:t> </a:t>
            </a:r>
            <a:r>
              <a:rPr sz="1400" spc="-40" dirty="0"/>
              <a:t>the</a:t>
            </a:r>
            <a:r>
              <a:rPr sz="1400" spc="20" dirty="0"/>
              <a:t> </a:t>
            </a:r>
            <a:r>
              <a:rPr sz="1400" spc="-5" dirty="0"/>
              <a:t>init</a:t>
            </a:r>
            <a:r>
              <a:rPr sz="1400" spc="20" dirty="0"/>
              <a:t> </a:t>
            </a:r>
            <a:r>
              <a:rPr sz="1400" spc="-35" dirty="0"/>
              <a:t>implementation</a:t>
            </a:r>
            <a:r>
              <a:rPr sz="1400" spc="25" dirty="0"/>
              <a:t> </a:t>
            </a:r>
            <a:r>
              <a:rPr sz="1400" spc="-45" dirty="0"/>
              <a:t>found</a:t>
            </a:r>
            <a:r>
              <a:rPr sz="1400" spc="20" dirty="0"/>
              <a:t> </a:t>
            </a:r>
            <a:r>
              <a:rPr sz="1400" spc="-55" dirty="0"/>
              <a:t>on</a:t>
            </a:r>
            <a:r>
              <a:rPr sz="1400" spc="20" dirty="0"/>
              <a:t> </a:t>
            </a:r>
            <a:r>
              <a:rPr sz="1400" spc="-40" dirty="0"/>
              <a:t>desktop/server</a:t>
            </a:r>
            <a:r>
              <a:rPr sz="1400" spc="20" dirty="0"/>
              <a:t> </a:t>
            </a:r>
            <a:r>
              <a:rPr sz="1400" spc="-60" dirty="0"/>
              <a:t>systems</a:t>
            </a:r>
            <a:r>
              <a:rPr sz="1400" spc="25" dirty="0"/>
              <a:t> </a:t>
            </a:r>
            <a:r>
              <a:rPr sz="1400" spc="-65" dirty="0"/>
              <a:t>(</a:t>
            </a:r>
            <a:r>
              <a:rPr sz="1400" i="1" spc="-65" dirty="0">
                <a:latin typeface="Arial"/>
                <a:cs typeface="Arial"/>
              </a:rPr>
              <a:t>SysV</a:t>
            </a:r>
            <a:r>
              <a:rPr sz="1400" i="1" spc="60" dirty="0">
                <a:latin typeface="Arial"/>
                <a:cs typeface="Arial"/>
              </a:rPr>
              <a:t> </a:t>
            </a:r>
            <a:r>
              <a:rPr sz="1400" i="1" spc="15" dirty="0">
                <a:latin typeface="Arial"/>
                <a:cs typeface="Arial"/>
              </a:rPr>
              <a:t>init</a:t>
            </a:r>
            <a:endParaRPr sz="1400" dirty="0">
              <a:latin typeface="Arial"/>
              <a:cs typeface="Arial"/>
            </a:endParaRPr>
          </a:p>
          <a:p>
            <a:pPr marL="308610">
              <a:lnSpc>
                <a:spcPct val="100000"/>
              </a:lnSpc>
              <a:spcBef>
                <a:spcPts val="35"/>
              </a:spcBef>
            </a:pPr>
            <a:r>
              <a:rPr sz="1400" spc="-60" dirty="0"/>
              <a:t>or</a:t>
            </a:r>
            <a:r>
              <a:rPr sz="1400" spc="-15" dirty="0"/>
              <a:t> </a:t>
            </a:r>
            <a:r>
              <a:rPr sz="1400" i="1" spc="-60" dirty="0">
                <a:latin typeface="Arial"/>
                <a:cs typeface="Arial"/>
              </a:rPr>
              <a:t>systemd</a:t>
            </a:r>
            <a:r>
              <a:rPr sz="1400" spc="-60" dirty="0"/>
              <a:t>)</a:t>
            </a:r>
          </a:p>
          <a:p>
            <a:pPr marL="308610" indent="-177165">
              <a:lnSpc>
                <a:spcPct val="100000"/>
              </a:lnSpc>
              <a:spcBef>
                <a:spcPts val="170"/>
              </a:spcBef>
              <a:buClr>
                <a:srgbClr val="3333B2"/>
              </a:buClr>
              <a:buFont typeface="Cambria"/>
              <a:buChar char="►"/>
              <a:tabLst>
                <a:tab pos="309880" algn="l"/>
              </a:tabLst>
            </a:pPr>
            <a:r>
              <a:rPr sz="1400" spc="65" dirty="0"/>
              <a:t>A</a:t>
            </a:r>
            <a:r>
              <a:rPr sz="1400" spc="10" dirty="0"/>
              <a:t> </a:t>
            </a:r>
            <a:r>
              <a:rPr sz="1400" spc="-45" dirty="0"/>
              <a:t>single</a:t>
            </a:r>
            <a:r>
              <a:rPr sz="1400" spc="15" dirty="0"/>
              <a:t> </a:t>
            </a:r>
            <a:r>
              <a:rPr sz="1400" spc="-35" dirty="0"/>
              <a:t>configuration</a:t>
            </a:r>
            <a:r>
              <a:rPr sz="1400" spc="10" dirty="0"/>
              <a:t> </a:t>
            </a:r>
            <a:r>
              <a:rPr sz="1400" spc="-40" dirty="0"/>
              <a:t>file:</a:t>
            </a:r>
            <a:r>
              <a:rPr sz="1400" spc="140" dirty="0"/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/etc/inittab</a:t>
            </a:r>
            <a:endParaRPr sz="1400" dirty="0">
              <a:latin typeface="SimSun"/>
              <a:cs typeface="SimSun"/>
            </a:endParaRPr>
          </a:p>
          <a:p>
            <a:pPr marL="586105" lvl="1" indent="-16827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Cambria"/>
              <a:buChar char="►"/>
              <a:tabLst>
                <a:tab pos="587375" algn="l"/>
              </a:tabLst>
            </a:pPr>
            <a:r>
              <a:rPr sz="1100" spc="-20" dirty="0">
                <a:latin typeface="Tahoma"/>
                <a:cs typeface="Tahoma"/>
              </a:rPr>
              <a:t>Each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solidFill>
                  <a:srgbClr val="7F7F7F"/>
                </a:solidFill>
                <a:latin typeface="SimSun"/>
                <a:cs typeface="SimSun"/>
              </a:rPr>
              <a:t>&lt;id&gt;::&lt;action&gt;:&lt;process&gt;</a:t>
            </a:r>
            <a:endParaRPr sz="1100" dirty="0">
              <a:latin typeface="SimSun"/>
              <a:cs typeface="SimSun"/>
            </a:endParaRPr>
          </a:p>
          <a:p>
            <a:pPr marL="308610" marR="30480" indent="-177165">
              <a:lnSpc>
                <a:spcPct val="102600"/>
              </a:lnSpc>
              <a:spcBef>
                <a:spcPts val="320"/>
              </a:spcBef>
              <a:buClr>
                <a:srgbClr val="3333B2"/>
              </a:buClr>
              <a:buFont typeface="Cambria"/>
              <a:buChar char="►"/>
              <a:tabLst>
                <a:tab pos="309880" algn="l"/>
              </a:tabLst>
            </a:pPr>
            <a:r>
              <a:rPr sz="1400" spc="-25" dirty="0"/>
              <a:t>Allows</a:t>
            </a:r>
            <a:r>
              <a:rPr sz="1400" spc="-5" dirty="0"/>
              <a:t> </a:t>
            </a:r>
            <a:r>
              <a:rPr sz="1400" spc="-15" dirty="0"/>
              <a:t>to</a:t>
            </a:r>
            <a:r>
              <a:rPr sz="1400" spc="5" dirty="0"/>
              <a:t> </a:t>
            </a:r>
            <a:r>
              <a:rPr sz="1400" spc="-45" dirty="0"/>
              <a:t>run</a:t>
            </a:r>
            <a:r>
              <a:rPr sz="1400" spc="5" dirty="0"/>
              <a:t> </a:t>
            </a:r>
            <a:r>
              <a:rPr sz="1400" spc="-55" dirty="0"/>
              <a:t>services</a:t>
            </a:r>
            <a:r>
              <a:rPr sz="1400" dirty="0"/>
              <a:t> </a:t>
            </a:r>
            <a:r>
              <a:rPr sz="1400" spc="-15" dirty="0"/>
              <a:t>at</a:t>
            </a:r>
            <a:r>
              <a:rPr sz="1400" spc="5" dirty="0"/>
              <a:t> </a:t>
            </a:r>
            <a:r>
              <a:rPr sz="1400" spc="-35" dirty="0"/>
              <a:t>startup,</a:t>
            </a:r>
            <a:r>
              <a:rPr sz="1400" spc="5" dirty="0"/>
              <a:t> </a:t>
            </a:r>
            <a:r>
              <a:rPr sz="1400" spc="-50" dirty="0"/>
              <a:t>and</a:t>
            </a:r>
            <a:r>
              <a:rPr sz="1400" spc="5" dirty="0"/>
              <a:t> </a:t>
            </a:r>
            <a:r>
              <a:rPr sz="1400" spc="-15" dirty="0"/>
              <a:t>to</a:t>
            </a:r>
            <a:r>
              <a:rPr sz="1400" dirty="0"/>
              <a:t> </a:t>
            </a:r>
            <a:r>
              <a:rPr sz="1400" spc="-65" dirty="0"/>
              <a:t>make</a:t>
            </a:r>
            <a:r>
              <a:rPr sz="1400" dirty="0"/>
              <a:t> </a:t>
            </a:r>
            <a:r>
              <a:rPr sz="1400" spc="-65" dirty="0"/>
              <a:t>sure</a:t>
            </a:r>
            <a:r>
              <a:rPr sz="1400" spc="5" dirty="0"/>
              <a:t> </a:t>
            </a:r>
            <a:r>
              <a:rPr sz="1400" spc="-15" dirty="0"/>
              <a:t>that</a:t>
            </a:r>
            <a:r>
              <a:rPr sz="1400" dirty="0"/>
              <a:t> </a:t>
            </a:r>
            <a:r>
              <a:rPr sz="1400" spc="-30" dirty="0"/>
              <a:t>certain</a:t>
            </a:r>
            <a:r>
              <a:rPr sz="1400" spc="5" dirty="0"/>
              <a:t> </a:t>
            </a:r>
            <a:r>
              <a:rPr sz="1400" spc="-55" dirty="0"/>
              <a:t>services</a:t>
            </a:r>
            <a:r>
              <a:rPr sz="1400" spc="5" dirty="0"/>
              <a:t> </a:t>
            </a:r>
            <a:r>
              <a:rPr sz="1400" spc="-70" dirty="0"/>
              <a:t>are</a:t>
            </a:r>
            <a:r>
              <a:rPr sz="1400" dirty="0"/>
              <a:t> </a:t>
            </a:r>
            <a:r>
              <a:rPr sz="1400" spc="-60" dirty="0"/>
              <a:t>always </a:t>
            </a:r>
            <a:r>
              <a:rPr sz="1400" spc="-330" dirty="0"/>
              <a:t> </a:t>
            </a:r>
            <a:r>
              <a:rPr sz="1400" spc="-40" dirty="0"/>
              <a:t>running</a:t>
            </a:r>
            <a:r>
              <a:rPr sz="1400" spc="10" dirty="0"/>
              <a:t> </a:t>
            </a:r>
            <a:r>
              <a:rPr sz="1400" spc="-55" dirty="0"/>
              <a:t>on</a:t>
            </a:r>
            <a:r>
              <a:rPr sz="1400" spc="15" dirty="0"/>
              <a:t> </a:t>
            </a:r>
            <a:r>
              <a:rPr sz="1400" spc="-40" dirty="0"/>
              <a:t>the</a:t>
            </a:r>
            <a:r>
              <a:rPr sz="1400" spc="15" dirty="0"/>
              <a:t> </a:t>
            </a:r>
            <a:r>
              <a:rPr sz="1400" spc="-55" dirty="0"/>
              <a:t>system</a:t>
            </a:r>
            <a:endParaRPr sz="1400" dirty="0"/>
          </a:p>
          <a:p>
            <a:pPr marL="30861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309880" algn="l"/>
              </a:tabLst>
            </a:pPr>
            <a:r>
              <a:rPr sz="1400" spc="-70" dirty="0"/>
              <a:t>See</a:t>
            </a:r>
            <a:r>
              <a:rPr sz="1400" spc="15" dirty="0"/>
              <a:t> </a:t>
            </a:r>
            <a:r>
              <a:rPr sz="1400" spc="-5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examples/inittab</a:t>
            </a:r>
            <a:r>
              <a:rPr sz="1400" spc="-185" dirty="0">
                <a:solidFill>
                  <a:srgbClr val="3F3FBF"/>
                </a:solidFill>
                <a:latin typeface="SimSun"/>
                <a:cs typeface="SimSun"/>
                <a:hlinkClick r:id="rId2"/>
              </a:rPr>
              <a:t> </a:t>
            </a:r>
            <a:r>
              <a:rPr sz="1400" spc="-20" dirty="0"/>
              <a:t>in</a:t>
            </a:r>
            <a:r>
              <a:rPr sz="1400" spc="20" dirty="0"/>
              <a:t> </a:t>
            </a:r>
            <a:r>
              <a:rPr sz="1400" spc="-20" dirty="0"/>
              <a:t>BusyBox</a:t>
            </a:r>
            <a:r>
              <a:rPr sz="1400" spc="20" dirty="0"/>
              <a:t> </a:t>
            </a:r>
            <a:r>
              <a:rPr sz="1400" spc="-45" dirty="0"/>
              <a:t>for</a:t>
            </a:r>
            <a:r>
              <a:rPr sz="1400" spc="20" dirty="0"/>
              <a:t> </a:t>
            </a:r>
            <a:r>
              <a:rPr sz="1400" spc="-35" dirty="0"/>
              <a:t>details</a:t>
            </a:r>
            <a:r>
              <a:rPr sz="1400" spc="20" dirty="0"/>
              <a:t> </a:t>
            </a:r>
            <a:r>
              <a:rPr sz="1400" spc="-55" dirty="0"/>
              <a:t>on</a:t>
            </a:r>
            <a:r>
              <a:rPr sz="1400" spc="20" dirty="0"/>
              <a:t> </a:t>
            </a:r>
            <a:r>
              <a:rPr sz="1400" spc="-40" dirty="0"/>
              <a:t>the</a:t>
            </a:r>
            <a:r>
              <a:rPr sz="1400" spc="15" dirty="0"/>
              <a:t> </a:t>
            </a:r>
            <a:r>
              <a:rPr sz="1400" spc="-35" dirty="0"/>
              <a:t>configuration</a:t>
            </a:r>
            <a:endParaRPr sz="1400" dirty="0">
              <a:latin typeface="SimSun"/>
              <a:cs typeface="SimSun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4322" y="28051"/>
            <a:ext cx="21393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0" dirty="0"/>
              <a:t>Applet</a:t>
            </a:r>
            <a:r>
              <a:rPr sz="1400" dirty="0"/>
              <a:t> </a:t>
            </a:r>
            <a:r>
              <a:rPr sz="1400" spc="-50" dirty="0"/>
              <a:t>highlight</a:t>
            </a:r>
            <a:r>
              <a:rPr sz="1400" dirty="0"/>
              <a:t> </a:t>
            </a:r>
            <a:r>
              <a:rPr sz="1400" spc="-60" dirty="0"/>
              <a:t>-</a:t>
            </a:r>
            <a:r>
              <a:rPr sz="1400" dirty="0"/>
              <a:t> </a:t>
            </a:r>
            <a:r>
              <a:rPr sz="1400" spc="-50" dirty="0"/>
              <a:t>BusyBox</a:t>
            </a:r>
            <a:r>
              <a:rPr sz="1400" dirty="0"/>
              <a:t> </a:t>
            </a:r>
            <a:r>
              <a:rPr sz="1400" spc="-40" dirty="0"/>
              <a:t>vi</a:t>
            </a:r>
            <a:endParaRPr sz="1400"/>
          </a:p>
        </p:txBody>
      </p:sp>
      <p:sp>
        <p:nvSpPr>
          <p:cNvPr id="3" name="object 3"/>
          <p:cNvSpPr txBox="1"/>
          <p:nvPr/>
        </p:nvSpPr>
        <p:spPr>
          <a:xfrm>
            <a:off x="215900" y="555625"/>
            <a:ext cx="3124200" cy="210006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7145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65" dirty="0">
                <a:latin typeface="Tahoma"/>
                <a:cs typeface="Tahoma"/>
              </a:rPr>
              <a:t>If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you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are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using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BusyBox,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adding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vi</a:t>
            </a:r>
            <a:r>
              <a:rPr sz="1400" spc="-185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400" spc="-40" dirty="0">
                <a:latin typeface="Tahoma"/>
                <a:cs typeface="Tahoma"/>
              </a:rPr>
              <a:t>support </a:t>
            </a:r>
            <a:r>
              <a:rPr sz="1400" spc="-330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only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adds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about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20K</a:t>
            </a: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35" dirty="0">
                <a:latin typeface="Tahoma"/>
                <a:cs typeface="Tahoma"/>
              </a:rPr>
              <a:t>You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can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select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which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exact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features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to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compile </a:t>
            </a:r>
            <a:r>
              <a:rPr sz="1400" spc="-32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in.</a:t>
            </a:r>
            <a:endParaRPr sz="1400" dirty="0">
              <a:latin typeface="Tahoma"/>
              <a:cs typeface="Tahoma"/>
            </a:endParaRPr>
          </a:p>
          <a:p>
            <a:pPr marL="214629" marR="37528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50" dirty="0">
                <a:latin typeface="Tahoma"/>
                <a:cs typeface="Tahoma"/>
              </a:rPr>
              <a:t>Users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hardly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realize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that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they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are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using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 </a:t>
            </a:r>
            <a:r>
              <a:rPr sz="1400" spc="-3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ligh</a:t>
            </a:r>
            <a:r>
              <a:rPr sz="1400" spc="-50" dirty="0">
                <a:latin typeface="Tahoma"/>
                <a:cs typeface="Tahoma"/>
              </a:rPr>
              <a:t>t</a:t>
            </a:r>
            <a:r>
              <a:rPr sz="1400" spc="-110" dirty="0">
                <a:latin typeface="Tahoma"/>
                <a:cs typeface="Tahoma"/>
              </a:rPr>
              <a:t>w</a:t>
            </a:r>
            <a:r>
              <a:rPr sz="1400" spc="-35" dirty="0">
                <a:latin typeface="Tahoma"/>
                <a:cs typeface="Tahoma"/>
              </a:rPr>
              <a:t>eight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vi</a:t>
            </a:r>
            <a:r>
              <a:rPr sz="14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400" spc="-45" dirty="0">
                <a:latin typeface="Tahoma"/>
                <a:cs typeface="Tahoma"/>
              </a:rPr>
              <a:t>version!</a:t>
            </a:r>
            <a:endParaRPr sz="1400" dirty="0">
              <a:latin typeface="Tahoma"/>
              <a:cs typeface="Tahoma"/>
            </a:endParaRPr>
          </a:p>
          <a:p>
            <a:pPr marL="214629" marR="36830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5" dirty="0">
                <a:latin typeface="Tahoma"/>
                <a:cs typeface="Tahoma"/>
              </a:rPr>
              <a:t>Tip:</a:t>
            </a:r>
            <a:r>
              <a:rPr sz="1400" spc="135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y</a:t>
            </a:r>
            <a:r>
              <a:rPr sz="1400" spc="-55" dirty="0">
                <a:latin typeface="Tahoma"/>
                <a:cs typeface="Tahoma"/>
              </a:rPr>
              <a:t>ou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can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le</a:t>
            </a:r>
            <a:r>
              <a:rPr sz="1400" spc="-90" dirty="0">
                <a:latin typeface="Tahoma"/>
                <a:cs typeface="Tahoma"/>
              </a:rPr>
              <a:t>a</a:t>
            </a:r>
            <a:r>
              <a:rPr sz="1400" spc="-40" dirty="0">
                <a:latin typeface="Tahoma"/>
                <a:cs typeface="Tahoma"/>
              </a:rPr>
              <a:t>rn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vi</a:t>
            </a:r>
            <a:r>
              <a:rPr sz="14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400" spc="-55" dirty="0">
                <a:latin typeface="Tahoma"/>
                <a:cs typeface="Tahoma"/>
              </a:rPr>
              <a:t>on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the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desktop,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b</a:t>
            </a:r>
            <a:r>
              <a:rPr sz="1400" spc="-35" dirty="0">
                <a:latin typeface="Tahoma"/>
                <a:cs typeface="Tahoma"/>
              </a:rPr>
              <a:t>y  </a:t>
            </a:r>
            <a:r>
              <a:rPr sz="1400" spc="-40" dirty="0">
                <a:latin typeface="Tahoma"/>
                <a:cs typeface="Tahoma"/>
              </a:rPr>
              <a:t>running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the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vimtutor</a:t>
            </a:r>
            <a:r>
              <a:rPr sz="1400" spc="-190" dirty="0">
                <a:solidFill>
                  <a:srgbClr val="7F7F7F"/>
                </a:solidFill>
                <a:latin typeface="SimSun"/>
                <a:cs typeface="SimSun"/>
              </a:rPr>
              <a:t> </a:t>
            </a:r>
            <a:r>
              <a:rPr sz="1400" spc="-50" dirty="0">
                <a:latin typeface="Tahoma"/>
                <a:cs typeface="Tahoma"/>
              </a:rPr>
              <a:t>command.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6300" y="631825"/>
            <a:ext cx="2209800" cy="1905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673100" y="498912"/>
            <a:ext cx="4191000" cy="2247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7464" marR="12509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tabLst>
                <a:tab pos="215265" algn="l"/>
              </a:tabLst>
            </a:pPr>
            <a:r>
              <a:rPr lang="en-US" spc="-25" dirty="0">
                <a:latin typeface="Tahoma"/>
                <a:cs typeface="Tahoma"/>
              </a:rPr>
              <a:t>Exercise (only for your own practice)</a:t>
            </a:r>
          </a:p>
          <a:p>
            <a:pPr marL="214629" marR="12509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25" dirty="0">
                <a:latin typeface="Tahoma"/>
                <a:cs typeface="Tahoma"/>
              </a:rPr>
              <a:t>Make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Linux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boot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on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directory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on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your </a:t>
            </a:r>
            <a:r>
              <a:rPr sz="1400" spc="-33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workstation,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shared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by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25" dirty="0">
                <a:latin typeface="Tahoma"/>
                <a:cs typeface="Tahoma"/>
              </a:rPr>
              <a:t>NFS</a:t>
            </a:r>
            <a:endParaRPr sz="14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35" dirty="0">
                <a:latin typeface="Tahoma"/>
                <a:cs typeface="Tahoma"/>
              </a:rPr>
              <a:t>Create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and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configure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minimalistic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Linux </a:t>
            </a:r>
            <a:r>
              <a:rPr sz="1400" spc="-325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embedded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system</a:t>
            </a:r>
            <a:endParaRPr sz="1400" dirty="0">
              <a:latin typeface="Tahoma"/>
              <a:cs typeface="Tahoma"/>
            </a:endParaRPr>
          </a:p>
          <a:p>
            <a:pPr marL="214629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35" dirty="0">
                <a:latin typeface="Tahoma"/>
                <a:cs typeface="Tahoma"/>
              </a:rPr>
              <a:t>Install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and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use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BusyBox</a:t>
            </a:r>
            <a:endParaRPr sz="1400" dirty="0">
              <a:latin typeface="Tahoma"/>
              <a:cs typeface="Tahoma"/>
            </a:endParaRPr>
          </a:p>
          <a:p>
            <a:pPr marL="214629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45" dirty="0">
                <a:latin typeface="Tahoma"/>
                <a:cs typeface="Tahoma"/>
              </a:rPr>
              <a:t>System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startup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with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7F7F7F"/>
                </a:solidFill>
                <a:latin typeface="SimSun"/>
                <a:cs typeface="SimSun"/>
              </a:rPr>
              <a:t>/sbin/init</a:t>
            </a:r>
            <a:endParaRPr sz="1400" dirty="0">
              <a:latin typeface="SimSun"/>
              <a:cs typeface="SimSun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25" dirty="0">
                <a:latin typeface="Tahoma"/>
                <a:cs typeface="Tahoma"/>
              </a:rPr>
              <a:t>Set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up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simple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web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interface</a:t>
            </a:r>
            <a:endParaRPr sz="1400" dirty="0">
              <a:latin typeface="Tahoma"/>
              <a:cs typeface="Tahoma"/>
            </a:endParaRPr>
          </a:p>
          <a:p>
            <a:pPr marL="214629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Cambria"/>
              <a:buChar char="►"/>
              <a:tabLst>
                <a:tab pos="215265" algn="l"/>
              </a:tabLst>
            </a:pPr>
            <a:r>
              <a:rPr sz="1400" spc="-50" dirty="0">
                <a:latin typeface="Tahoma"/>
                <a:cs typeface="Tahoma"/>
              </a:rPr>
              <a:t>Use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shared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libraries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4294967295"/>
          </p:nvPr>
        </p:nvSpPr>
        <p:spPr>
          <a:xfrm>
            <a:off x="5495823" y="3143455"/>
            <a:ext cx="277495" cy="99694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spc="5" dirty="0"/>
              <a:t>11</a:t>
            </a:fld>
            <a:r>
              <a:rPr spc="5" dirty="0"/>
              <a:t>/532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1487</Words>
  <Application>Microsoft Office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SimSun</vt:lpstr>
      <vt:lpstr>Arial</vt:lpstr>
      <vt:lpstr>Calibri</vt:lpstr>
      <vt:lpstr>Cambria</vt:lpstr>
      <vt:lpstr>Microsoft Sans Serif</vt:lpstr>
      <vt:lpstr>Tahoma</vt:lpstr>
      <vt:lpstr>Office Theme</vt:lpstr>
      <vt:lpstr>PowerPoint Presentation</vt:lpstr>
      <vt:lpstr>What is BusyBox ?</vt:lpstr>
      <vt:lpstr>General purpose toolbox: BusyBox</vt:lpstr>
      <vt:lpstr>BusyBox in the root filesystem</vt:lpstr>
      <vt:lpstr>BusyBox - Most commands in one binary</vt:lpstr>
      <vt:lpstr>Configuring BusyBox</vt:lpstr>
      <vt:lpstr>BusyBox make menuconfig</vt:lpstr>
      <vt:lpstr>Compiling BusyBox</vt:lpstr>
      <vt:lpstr>Applet highlight: BusyBox init</vt:lpstr>
      <vt:lpstr>Applet highlight - BusyBox vi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Linux system development</dc:title>
  <cp:lastModifiedBy>Shripad Deshpande</cp:lastModifiedBy>
  <cp:revision>4</cp:revision>
  <dcterms:created xsi:type="dcterms:W3CDTF">2022-01-11T10:28:16Z</dcterms:created>
  <dcterms:modified xsi:type="dcterms:W3CDTF">2022-04-20T04:21:47Z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2022-01-11T00:00:00Z</vt:filetime>
  </property>
</Properties>
</file>