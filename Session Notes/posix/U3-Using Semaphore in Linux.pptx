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8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4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42317-B3E8-4837-B23A-AEAF8E838CCE}" type="datetimeFigureOut">
              <a:rPr lang="en-IN" smtClean="0"/>
              <a:t>09-03-2022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EE792-0E5F-4E3E-936C-DAFB8264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35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10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t"/>
          <a:lstStyle>
            <a:lvl1pPr algn="ctr">
              <a:defRPr sz="45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31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00">
                <a:solidFill>
                  <a:schemeClr val="bg1"/>
                </a:solidFill>
                <a:latin typeface="Heltevic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99DF9-D716-4BFB-A963-61A13135DF61}"/>
              </a:ext>
            </a:extLst>
          </p:cNvPr>
          <p:cNvSpPr/>
          <p:nvPr/>
        </p:nvSpPr>
        <p:spPr>
          <a:xfrm>
            <a:off x="1143000" y="5835379"/>
            <a:ext cx="6858000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Electronics &amp; Telecommunication Engineering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Symbiosis Institute of Technology, Pune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Symbiosis International (Deemed University), Pune</a:t>
            </a:r>
            <a:endParaRPr lang="en-IN" sz="1350" dirty="0">
              <a:solidFill>
                <a:schemeClr val="bg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2003288"/>
            <a:ext cx="6858000" cy="310144"/>
          </a:xfrm>
        </p:spPr>
        <p:txBody>
          <a:bodyPr anchor="b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2"/>
            <a:ext cx="6858000" cy="310145"/>
          </a:xfrm>
        </p:spPr>
        <p:txBody>
          <a:bodyPr anchor="b">
            <a:norm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  <p:pic>
        <p:nvPicPr>
          <p:cNvPr id="5" name="Picture 4" descr="A close up of a flag&#10;&#10;Description automatically generated">
            <a:extLst>
              <a:ext uri="{FF2B5EF4-FFF2-40B4-BE49-F238E27FC236}">
                <a16:creationId xmlns:a16="http://schemas.microsoft.com/office/drawing/2014/main" id="{2DF4442B-1458-47C4-AB97-03B3B3551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51" y="42673"/>
            <a:ext cx="1680295" cy="182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5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594B-7319-4482-9AE6-EC74EAE5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 b="0">
                <a:solidFill>
                  <a:srgbClr val="332F6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3243-F8F1-4735-84CB-DA267F6B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AE67-A40B-4B1F-A27D-C82248E8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F67E-3AA0-4A75-BE19-C1FBBDF8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52C82-4A16-49D7-B656-0C87A0035C91}"/>
              </a:ext>
            </a:extLst>
          </p:cNvPr>
          <p:cNvSpPr/>
          <p:nvPr/>
        </p:nvSpPr>
        <p:spPr>
          <a:xfrm>
            <a:off x="264968" y="958206"/>
            <a:ext cx="1220933" cy="66389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B0F06-65D7-4190-8F22-D7DE75D4ECA7}"/>
              </a:ext>
            </a:extLst>
          </p:cNvPr>
          <p:cNvSpPr/>
          <p:nvPr/>
        </p:nvSpPr>
        <p:spPr>
          <a:xfrm>
            <a:off x="140277" y="1014487"/>
            <a:ext cx="1220933" cy="66389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62228-2F01-4EEE-AD7A-2F409DF7C57C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410FE-2DC4-4765-BF39-99EFA09F0274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ADC20A-2C04-4929-9AFF-53516860E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3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65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B0FE-B0C9-46D8-967A-59F65C29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IN" sz="33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B0EF4-6523-4FDF-9387-11EDF9335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969" y="1231164"/>
            <a:ext cx="3990110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5B17C-E2ED-4325-9395-D7777E4E0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3009" y="1243731"/>
            <a:ext cx="4436918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CC4BF-0660-43CA-8A30-0CC8E64C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4424-C002-49F8-9B63-DD7D1B68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CBC22-DB28-4B66-B924-84922D89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E378A-DD55-48C3-AD5C-CA0CBE50F347}"/>
              </a:ext>
            </a:extLst>
          </p:cNvPr>
          <p:cNvSpPr/>
          <p:nvPr/>
        </p:nvSpPr>
        <p:spPr>
          <a:xfrm>
            <a:off x="264968" y="958206"/>
            <a:ext cx="1220933" cy="66389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7C1A7-BF20-4BA3-B34D-DC7359F5FA43}"/>
              </a:ext>
            </a:extLst>
          </p:cNvPr>
          <p:cNvSpPr/>
          <p:nvPr/>
        </p:nvSpPr>
        <p:spPr>
          <a:xfrm>
            <a:off x="140277" y="1014487"/>
            <a:ext cx="1220933" cy="66389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57332-A349-432B-B02F-7BCBBC233D65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968E5-F323-45CB-B228-3E15CC0BB13F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372689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2B25-6E11-4856-AAF4-F22FE611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3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54B81-59A8-48C7-8518-D2398290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351E8-DFDA-4AD5-9E81-156C7B01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DAFD8-4E1C-423C-A8FA-9E4FEB75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963AC-3BF1-4312-B24D-2347D4903EA0}"/>
              </a:ext>
            </a:extLst>
          </p:cNvPr>
          <p:cNvSpPr/>
          <p:nvPr/>
        </p:nvSpPr>
        <p:spPr>
          <a:xfrm>
            <a:off x="264968" y="958206"/>
            <a:ext cx="1220933" cy="66389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92210-9FB2-49EF-BF86-96929A445850}"/>
              </a:ext>
            </a:extLst>
          </p:cNvPr>
          <p:cNvSpPr/>
          <p:nvPr/>
        </p:nvSpPr>
        <p:spPr>
          <a:xfrm>
            <a:off x="140277" y="1014487"/>
            <a:ext cx="1220933" cy="66389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E5227-21BD-4CBF-924A-6D9D641EEDEA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D137D-DC35-4CF4-A41F-BB4AEEDC7123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427559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8D782-20C8-4598-A8F3-747E12CD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6E63E-6B58-4650-9F90-CE2F910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653B-179B-4F04-A161-ACBF7210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8C89E3-4247-4FB0-BE20-A2D5892561D2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5D5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D98FD5-D4E3-4441-A554-284ADA5E11D2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DB787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350699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05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284A5-AAC1-4617-9E19-A03F505F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77" y="182998"/>
            <a:ext cx="8827078" cy="93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981A-16BF-4617-8EAC-61D33DF23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78" y="1343892"/>
            <a:ext cx="8827077" cy="501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9CE9-5C11-4F6D-8B4A-88967385C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1F2E-40CA-479B-A67D-57AF48BE3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DC4F-E754-4B03-86E9-EA275293B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3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AF7D0-B530-437A-8244-231A0C0FD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Heltevica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Heltevica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tevic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Heltevica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Heltevica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Heltevic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B0CF-57FB-418A-B823-BB32D645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semaphore in Linux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2276-3A42-4358-8A3E-EC0D4FDD0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1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7955C5-92A3-4665-885C-017068C5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77" y="1207008"/>
            <a:ext cx="8827077" cy="5327141"/>
          </a:xfrm>
        </p:spPr>
        <p:txBody>
          <a:bodyPr/>
          <a:lstStyle/>
          <a:p>
            <a:r>
              <a:rPr lang="en-US" sz="3200" b="0" i="0" dirty="0">
                <a:effectLst/>
                <a:latin typeface="urw-din"/>
              </a:rPr>
              <a:t>Semaphores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urw-din"/>
              </a:rPr>
              <a:t> are very useful in process synchronization and multithreading.</a:t>
            </a:r>
          </a:p>
          <a:p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To use semaphores in Linux we use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pthread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 functions.</a:t>
            </a:r>
          </a:p>
          <a:p>
            <a:r>
              <a:rPr lang="en-US" altLang="en-US" sz="3200" dirty="0">
                <a:solidFill>
                  <a:srgbClr val="273239"/>
                </a:solidFill>
                <a:latin typeface="urw-din"/>
              </a:rPr>
              <a:t>Include </a:t>
            </a:r>
            <a:r>
              <a:rPr lang="en-US" altLang="en-US" sz="3200" dirty="0" err="1">
                <a:solidFill>
                  <a:srgbClr val="273239"/>
                </a:solidFill>
                <a:latin typeface="urw-din"/>
              </a:rPr>
              <a:t>semaphore.h</a:t>
            </a:r>
            <a:endParaRPr lang="en-US" altLang="en-US" sz="3200" dirty="0">
              <a:solidFill>
                <a:srgbClr val="273239"/>
              </a:solidFill>
              <a:latin typeface="urw-din"/>
            </a:endParaRPr>
          </a:p>
          <a:p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Second Compile the code by linking with options </a:t>
            </a:r>
          </a:p>
          <a:p>
            <a:pPr marL="0" indent="0"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lpthread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 –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lrt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pPr defTabSz="914400">
              <a:lnSpc>
                <a:spcPct val="100000"/>
              </a:lnSpc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38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B0CF-57FB-418A-B823-BB32D645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functions in Linux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2276-3A42-4358-8A3E-EC0D4FDD0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2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7955C5-92A3-4665-885C-017068C5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77" y="1207008"/>
            <a:ext cx="8827077" cy="5327141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To declare a semaphore, the data type is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urw-din"/>
              </a:rPr>
              <a:t>sem_t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urw-din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urw-din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A semaphore is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initialised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 by using 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sem_init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(for processes or threads) or 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sem_open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 (for IPC).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sem_init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int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pshared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unsigned int value);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FF0000"/>
              </a:solidFill>
              <a:latin typeface="urw-din"/>
            </a:endParaRPr>
          </a:p>
          <a:p>
            <a:pPr lvl="1" fontAlgn="base"/>
            <a:r>
              <a:rPr lang="en-US" sz="2400" b="1" i="0" dirty="0" err="1">
                <a:solidFill>
                  <a:srgbClr val="273239"/>
                </a:solidFill>
                <a:effectLst/>
                <a:latin typeface="urw-din"/>
              </a:rPr>
              <a:t>sem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: Specifies the semaphore to be initialized.</a:t>
            </a:r>
          </a:p>
          <a:p>
            <a:pPr lvl="1" fontAlgn="base"/>
            <a:r>
              <a:rPr lang="en-US" sz="2400" b="1" i="0" dirty="0" err="1">
                <a:solidFill>
                  <a:srgbClr val="273239"/>
                </a:solidFill>
                <a:effectLst/>
                <a:latin typeface="urw-din"/>
              </a:rPr>
              <a:t>pshared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: This argument specifies whether or not the newly initialized semaphore is shared between processes or between threads. A non-zero value means the semaphore is shared between processes and a value of zero means it is shared between threads.</a:t>
            </a:r>
          </a:p>
          <a:p>
            <a:pPr lvl="1" fontAlgn="base"/>
            <a:r>
              <a:rPr lang="en-US" sz="2400" b="1" i="0" dirty="0">
                <a:solidFill>
                  <a:srgbClr val="273239"/>
                </a:solidFill>
                <a:effectLst/>
                <a:latin typeface="urw-din"/>
              </a:rPr>
              <a:t>value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: Specifies the value to assign to the newly initialized semaphore.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7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B0CF-57FB-418A-B823-BB32D645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functions in Linux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2276-3A42-4358-8A3E-EC0D4FDD0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3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7955C5-92A3-4665-885C-017068C5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77" y="1207008"/>
            <a:ext cx="8827077" cy="5327141"/>
          </a:xfrm>
        </p:spPr>
        <p:txBody>
          <a:bodyPr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To lock a semaphore or wait we can use the 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sem_wait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 function:</a:t>
            </a:r>
          </a:p>
          <a:p>
            <a:pPr marL="0" indent="0" defTabSz="914400">
              <a:lnSpc>
                <a:spcPct val="100000"/>
              </a:lnSpc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To release or signal a semaphore, we use the 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sem_post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 function: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To destroy a semaphore, we can use </a:t>
            </a:r>
            <a:r>
              <a:rPr lang="en-US" altLang="en-US" sz="2800" b="1" dirty="0" err="1">
                <a:solidFill>
                  <a:srgbClr val="273239"/>
                </a:solidFill>
                <a:latin typeface="urw-din"/>
              </a:rPr>
              <a:t>sem_destroy</a:t>
            </a: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urw-din"/>
              </a:rPr>
              <a:t>sem_destroy</a:t>
            </a:r>
            <a:r>
              <a:rPr lang="en-US" altLang="en-US" sz="2800" dirty="0">
                <a:solidFill>
                  <a:srgbClr val="FF0000"/>
                </a:solidFill>
                <a:latin typeface="urw-din"/>
              </a:rPr>
              <a:t>(</a:t>
            </a:r>
            <a:r>
              <a:rPr lang="en-US" altLang="en-US" sz="2800" dirty="0" err="1">
                <a:solidFill>
                  <a:srgbClr val="FF0000"/>
                </a:solidFill>
                <a:latin typeface="urw-din"/>
              </a:rPr>
              <a:t>sem_t</a:t>
            </a:r>
            <a:r>
              <a:rPr lang="en-US" altLang="en-US" sz="2800" dirty="0">
                <a:solidFill>
                  <a:srgbClr val="FF0000"/>
                </a:solidFill>
                <a:latin typeface="urw-din"/>
              </a:rPr>
              <a:t> *</a:t>
            </a:r>
            <a:r>
              <a:rPr lang="en-US" altLang="en-US" sz="2800" dirty="0" err="1">
                <a:solidFill>
                  <a:srgbClr val="FF0000"/>
                </a:solidFill>
                <a:latin typeface="urw-din"/>
              </a:rPr>
              <a:t>sem</a:t>
            </a:r>
            <a:r>
              <a:rPr lang="en-US" altLang="en-US" sz="2800" dirty="0">
                <a:solidFill>
                  <a:srgbClr val="FF0000"/>
                </a:solidFill>
                <a:latin typeface="urw-din"/>
              </a:rPr>
              <a:t>);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77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8DFC-BE3B-495D-B090-CC387A66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" y="2017"/>
            <a:ext cx="8827078" cy="933595"/>
          </a:xfrm>
        </p:spPr>
        <p:txBody>
          <a:bodyPr/>
          <a:lstStyle/>
          <a:p>
            <a:r>
              <a:rPr lang="en-US" dirty="0"/>
              <a:t>Sample code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FA85A-6746-4128-896C-A99E9524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7AC77-1E8F-4B3E-B5A9-C8E56444BB10}"/>
              </a:ext>
            </a:extLst>
          </p:cNvPr>
          <p:cNvSpPr txBox="1"/>
          <p:nvPr/>
        </p:nvSpPr>
        <p:spPr>
          <a:xfrm>
            <a:off x="173831" y="1152522"/>
            <a:ext cx="4055269" cy="53399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// C program to demonstrate working of Semaphores</a:t>
            </a:r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pthread.h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semaphore.h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unistd.h</a:t>
            </a:r>
            <a:r>
              <a:rPr lang="en-IN" dirty="0"/>
              <a:t>&gt;</a:t>
            </a:r>
          </a:p>
          <a:p>
            <a:endParaRPr lang="en-IN" sz="1000" dirty="0"/>
          </a:p>
          <a:p>
            <a:r>
              <a:rPr lang="en-IN" dirty="0" err="1"/>
              <a:t>sem_t</a:t>
            </a:r>
            <a:r>
              <a:rPr lang="en-IN" dirty="0"/>
              <a:t> mutex;</a:t>
            </a:r>
          </a:p>
          <a:p>
            <a:endParaRPr lang="en-IN" sz="700" dirty="0"/>
          </a:p>
          <a:p>
            <a:r>
              <a:rPr lang="en-IN" dirty="0"/>
              <a:t>void* thread(void* </a:t>
            </a:r>
            <a:r>
              <a:rPr lang="en-IN" dirty="0" err="1"/>
              <a:t>arg</a:t>
            </a:r>
            <a:r>
              <a:rPr lang="en-IN" dirty="0"/>
              <a:t>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//wait</a:t>
            </a:r>
          </a:p>
          <a:p>
            <a:r>
              <a:rPr lang="en-IN" dirty="0"/>
              <a:t>	</a:t>
            </a:r>
            <a:r>
              <a:rPr lang="en-IN" dirty="0" err="1"/>
              <a:t>sem_wait</a:t>
            </a:r>
            <a:r>
              <a:rPr lang="en-IN" dirty="0"/>
              <a:t>(&amp;mutex);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nEntered</a:t>
            </a:r>
            <a:r>
              <a:rPr lang="en-IN" dirty="0"/>
              <a:t>..\n");</a:t>
            </a:r>
          </a:p>
          <a:p>
            <a:r>
              <a:rPr lang="en-IN" dirty="0"/>
              <a:t>	//critical section</a:t>
            </a:r>
          </a:p>
          <a:p>
            <a:r>
              <a:rPr lang="en-IN" dirty="0"/>
              <a:t>	sleep(4);</a:t>
            </a:r>
          </a:p>
          <a:p>
            <a:r>
              <a:rPr lang="en-IN" dirty="0"/>
              <a:t>	//signal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nJust</a:t>
            </a:r>
            <a:r>
              <a:rPr lang="en-IN" dirty="0"/>
              <a:t> Exiting...\n");</a:t>
            </a:r>
          </a:p>
          <a:p>
            <a:r>
              <a:rPr lang="en-IN" dirty="0"/>
              <a:t>	</a:t>
            </a:r>
            <a:r>
              <a:rPr lang="en-IN" dirty="0" err="1"/>
              <a:t>sem_post</a:t>
            </a:r>
            <a:r>
              <a:rPr lang="en-IN" dirty="0"/>
              <a:t>(&amp;mutex);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08A8A-66ED-49E6-97B1-ED2C0A5FFE8A}"/>
              </a:ext>
            </a:extLst>
          </p:cNvPr>
          <p:cNvSpPr txBox="1"/>
          <p:nvPr/>
        </p:nvSpPr>
        <p:spPr>
          <a:xfrm>
            <a:off x="4769643" y="1152522"/>
            <a:ext cx="4200526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</a:t>
            </a:r>
            <a:r>
              <a:rPr lang="en-IN" dirty="0" err="1"/>
              <a:t>sem_init</a:t>
            </a:r>
            <a:r>
              <a:rPr lang="en-IN" dirty="0"/>
              <a:t>(&amp;mutex, 0, 1);</a:t>
            </a:r>
          </a:p>
          <a:p>
            <a:r>
              <a:rPr lang="en-IN" dirty="0"/>
              <a:t>	</a:t>
            </a:r>
            <a:r>
              <a:rPr lang="en-IN" dirty="0" err="1"/>
              <a:t>pthread_t</a:t>
            </a:r>
            <a:r>
              <a:rPr lang="en-IN" dirty="0"/>
              <a:t> t1,t2;</a:t>
            </a:r>
          </a:p>
          <a:p>
            <a:r>
              <a:rPr lang="en-IN" dirty="0"/>
              <a:t>	</a:t>
            </a:r>
            <a:r>
              <a:rPr lang="en-IN" dirty="0" err="1"/>
              <a:t>pthread_create</a:t>
            </a:r>
            <a:r>
              <a:rPr lang="en-IN" dirty="0"/>
              <a:t>(&amp;t1,NULL,thread,NULL);</a:t>
            </a:r>
          </a:p>
          <a:p>
            <a:r>
              <a:rPr lang="en-IN" dirty="0"/>
              <a:t>	sleep(2);</a:t>
            </a:r>
          </a:p>
          <a:p>
            <a:r>
              <a:rPr lang="en-IN" dirty="0"/>
              <a:t>	</a:t>
            </a:r>
            <a:r>
              <a:rPr lang="en-IN" dirty="0" err="1"/>
              <a:t>pthread_create</a:t>
            </a:r>
            <a:r>
              <a:rPr lang="en-IN" dirty="0"/>
              <a:t>(&amp;t2,NULL,thread,NULL);</a:t>
            </a:r>
          </a:p>
          <a:p>
            <a:r>
              <a:rPr lang="en-IN" dirty="0"/>
              <a:t>	</a:t>
            </a:r>
            <a:r>
              <a:rPr lang="en-IN" dirty="0" err="1"/>
              <a:t>pthread_join</a:t>
            </a:r>
            <a:r>
              <a:rPr lang="en-IN" dirty="0"/>
              <a:t>(t1,NULL);</a:t>
            </a:r>
          </a:p>
          <a:p>
            <a:r>
              <a:rPr lang="en-IN" dirty="0"/>
              <a:t>	</a:t>
            </a:r>
            <a:r>
              <a:rPr lang="en-IN" dirty="0" err="1"/>
              <a:t>pthread_join</a:t>
            </a:r>
            <a:r>
              <a:rPr lang="en-IN" dirty="0"/>
              <a:t>(t2,NULL);</a:t>
            </a:r>
          </a:p>
          <a:p>
            <a:r>
              <a:rPr lang="en-IN" dirty="0"/>
              <a:t>	</a:t>
            </a:r>
            <a:r>
              <a:rPr lang="en-IN" dirty="0" err="1"/>
              <a:t>sem_destroy</a:t>
            </a:r>
            <a:r>
              <a:rPr lang="en-IN" dirty="0"/>
              <a:t>(&amp;mutex);</a:t>
            </a:r>
          </a:p>
          <a:p>
            <a:r>
              <a:rPr lang="en-IN" dirty="0"/>
              <a:t>	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396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FE05-AC55-4A63-A94D-738E9D40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explanation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FE650E-DCD4-4948-ABF9-D58B8404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F7D0-B530-437A-8244-231A0C0FDB3D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4D59C5-C50E-418D-AF58-F5729C456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70" y="1163257"/>
            <a:ext cx="8721885" cy="551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2 threads are being created, one 2 seconds after the first one.</a:t>
            </a:r>
            <a:br>
              <a:rPr lang="en-US" altLang="en-US" sz="2800" dirty="0">
                <a:solidFill>
                  <a:srgbClr val="273239"/>
                </a:solidFill>
                <a:latin typeface="urw-din"/>
              </a:rPr>
            </a:b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But the first thread will sleep for 4 seconds after acquiring the lock.</a:t>
            </a:r>
            <a:br>
              <a:rPr lang="en-US" altLang="en-US" sz="2800" dirty="0">
                <a:solidFill>
                  <a:srgbClr val="273239"/>
                </a:solidFill>
                <a:latin typeface="urw-din"/>
              </a:rPr>
            </a:b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Thus the second thread will not enter immediately after it is called, it will enter 4 – 2 = 2 secs after it is called.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2800" dirty="0">
                <a:solidFill>
                  <a:srgbClr val="273239"/>
                </a:solidFill>
                <a:latin typeface="urw-din"/>
              </a:rPr>
            </a:b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So the output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Entered..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Just Exiting...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Entered..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273239"/>
                </a:solidFill>
                <a:latin typeface="urw-din"/>
              </a:rPr>
              <a:t>Just Exiting... </a:t>
            </a: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377846"/>
      </p:ext>
    </p:extLst>
  </p:cSld>
  <p:clrMapOvr>
    <a:masterClrMapping/>
  </p:clrMapOvr>
</p:sld>
</file>

<file path=ppt/theme/theme1.xml><?xml version="1.0" encoding="utf-8"?>
<a:theme xmlns:a="http://schemas.openxmlformats.org/drawingml/2006/main" name="SITpresentation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FC726DC-6753-4CA9-AC10-7605C2014B62}" vid="{F537F097-A130-4E18-A2FB-A0262DBDBE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501</Words>
  <Application>Microsoft Office PowerPoint</Application>
  <PresentationFormat>On-screen Show (4:3)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Consolas</vt:lpstr>
      <vt:lpstr>Heltevica</vt:lpstr>
      <vt:lpstr>urw-din</vt:lpstr>
      <vt:lpstr>SITpresentationTheme</vt:lpstr>
      <vt:lpstr>Using semaphore in Linux</vt:lpstr>
      <vt:lpstr>semaphore functions in Linux</vt:lpstr>
      <vt:lpstr>semaphore functions in Linux</vt:lpstr>
      <vt:lpstr>Sample code</vt:lpstr>
      <vt:lpstr>Code explanation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Process Communication</dc:title>
  <dc:creator>Parag Narkhede</dc:creator>
  <cp:lastModifiedBy>Shripad Deshpande</cp:lastModifiedBy>
  <cp:revision>9</cp:revision>
  <dcterms:created xsi:type="dcterms:W3CDTF">2020-11-20T10:16:45Z</dcterms:created>
  <dcterms:modified xsi:type="dcterms:W3CDTF">2022-03-09T04:32:46Z</dcterms:modified>
</cp:coreProperties>
</file>