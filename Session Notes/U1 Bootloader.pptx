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5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46AA-3702-491E-BBCE-6F01CEEB2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F5773-8451-4143-9F5D-9D7770750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1851B-7F21-46E3-8EE5-D52AC8B1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4FE86-2126-43FE-9BFE-0B8B82D7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3A178-BFB2-4872-BD34-9F8AC86C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967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D9BF-B888-49B6-81C1-F6F5B9A0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D1E64-725E-4EDC-B40C-5912E7F4E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D3421-2718-40F2-83B8-71C95622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CE84-6BDC-4A04-839D-58820506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A4099-94E5-49CB-B07C-3FEEF437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10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1441-AF08-45AA-8E78-7E0CB659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3438E-E0CB-463F-9E89-35F229129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701B5-F451-4EA6-BC66-413B6AF6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DBE5-03A3-491B-88DC-6F80B6CA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B5649-F505-4435-B6B1-664203A4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5FED-E475-42A1-960B-05DB3FBE3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7025B-C8C8-4A5B-82C1-E008625F2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A2CD0-65C3-4934-B4E8-656DA8232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B0C3F-5B2F-48EB-BEF4-D61E3090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4CFD6-742E-4116-9221-C6982B009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31407-D9B8-4D68-B9DA-09B5F00F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02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1CA5-D892-4AB8-A355-8A506D79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F4F92-14F5-4D4B-ADE3-9A255123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C6AEB-5DEE-4E98-80F5-CA129184E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D6F6D-A5DE-44A9-96DB-165672188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3FDDC-ABC0-4FDA-8824-1A2727268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C6352-2BB9-4F8F-A0DC-0BCDE412D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8C54B4-E2A2-44EC-BF22-C1C2E60A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D1C2E6-A0F3-4DF0-86F4-1A9C78805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26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8250A-822F-4770-9B30-8BC0B482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11B066-DEF7-46DF-BB4D-576E76D8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ECAF7-B506-427A-8CFD-A6D3318E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BB008-9E74-4232-8736-49661D9C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863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B4368-0D63-43C6-B83B-C1998FCF8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8F8E7-2BA0-4AAE-837F-03BAA4443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537C4-C8E6-4553-8469-88ED31B75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820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7E83-1B60-48A7-81C9-554C0CB2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F25B4-0483-42A5-A933-BE9D1B5FB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EFA39-B02A-43DF-96FE-587D68731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A280B-4A11-46F8-B4BA-437AF75C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CFB1B-F14D-4DF0-BEA1-EAC3BB4A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015C0-5984-40F6-98C5-B1E28322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702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84BF-F43D-4A6E-8C9F-C365BDFA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9E2925-9D46-46B0-9496-490847B64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83614-7F77-4ED4-877F-E3F5B3041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172F3-E157-40DE-8523-5F84C35C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5EC26-F658-4606-B377-2B873B71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87982-21BC-4125-A31E-AFF2968C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66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85A3-42CD-42BE-9A89-94A7636AB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6879B-5499-4F6D-B645-84CA88451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A670F-F83E-436E-9CB2-C2CFEA82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45371-7F23-4597-AFD6-14BFB99CB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C0522-F691-4D70-A2A4-35423332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182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7C1DC0-4F93-4B6F-898E-DF6F3CB0D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47EA4-2F4F-4786-8580-9CC8D7E28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86B14-5943-4939-B6E1-C2CF5BDD9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A4173-855D-4DC8-A014-CD38E96B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7D4B4-B73B-4D58-879C-7868BB57A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36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6FE6C-2168-4F5A-88AD-71B0C78C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B689A-9CC0-4A7D-B1F3-F0003F5AA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ED17-73EC-4156-8C09-A3F72D42B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76968-BC68-409D-99DA-87FC438798B2}" type="datetimeFigureOut">
              <a:rPr lang="en-IN" smtClean="0"/>
              <a:t>09-02-2022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DF1B5-FD37-4A74-BD01-E5AC49B92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AE36F-E3B4-4C82-8487-7BCADC5C7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2888A-440D-45A0-976A-D71FFFDB3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220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ernel.org/pub/linux/utils/boot/syslinux/" TargetMode="External"/><Relationship Id="rId2" Type="http://schemas.openxmlformats.org/officeDocument/2006/relationships/hyperlink" Target="https://www.gnu.org/software/grub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rebox.org/" TargetMode="External"/><Relationship Id="rId2" Type="http://schemas.openxmlformats.org/officeDocument/2006/relationships/hyperlink" Target="https://www.denx.de/wiki/U-Boo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linux.org/images/9/9d/Barebox-bells-n-whistles.pdf" TargetMode="External"/><Relationship Id="rId5" Type="http://schemas.openxmlformats.org/officeDocument/2006/relationships/hyperlink" Target="https://youtu.be/Oj7lKbFtyM0" TargetMode="Externa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u-boot.readthedocs.io/en/latest/" TargetMode="External"/><Relationship Id="rId7" Type="http://schemas.openxmlformats.org/officeDocument/2006/relationships/image" Target="../media/image12.png"/><Relationship Id="rId2" Type="http://schemas.openxmlformats.org/officeDocument/2006/relationships/hyperlink" Target="https://www.denx.de/wiki/U-Boo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s://lists.denx.de/pipermail/u-boot/" TargetMode="External"/><Relationship Id="rId4" Type="http://schemas.openxmlformats.org/officeDocument/2006/relationships/hyperlink" Target="https://gitlab.denx.de/u-boot/u-boot" TargetMode="External"/><Relationship Id="rId9" Type="http://schemas.openxmlformats.org/officeDocument/2006/relationships/hyperlink" Target="https://frama.link/rwCUFc-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lixir.bootlin.com/u-boot/latest/source/configs/stm32mp15_basic_defconfig" TargetMode="External"/><Relationship Id="rId2" Type="http://schemas.openxmlformats.org/officeDocument/2006/relationships/hyperlink" Target="https://elixir.bootlin.com/u-boot/latest/source/config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lixir.bootlin.com/u-boot/latest/source/include/configs/" TargetMode="External"/><Relationship Id="rId4" Type="http://schemas.openxmlformats.org/officeDocument/2006/relationships/hyperlink" Target="https://elixir.bootlin.com/u-boot/latest/source/configs/stm32mp15_trusted_defconfig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bootlin.com/blog/bootlin-contributes-squashfs-support-to-u-boot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82737" y="2566550"/>
            <a:ext cx="2637176" cy="697953"/>
          </a:xfrm>
          <a:prstGeom prst="rect">
            <a:avLst/>
          </a:prstGeom>
        </p:spPr>
        <p:txBody>
          <a:bodyPr vert="horz" wrap="square" lIns="0" tIns="30866" rIns="0" bIns="0" rtlCol="0">
            <a:spAutoFit/>
          </a:bodyPr>
          <a:lstStyle/>
          <a:p>
            <a:pPr marL="26841" algn="ctr">
              <a:spcBef>
                <a:spcPts val="241"/>
              </a:spcBef>
            </a:pPr>
            <a:r>
              <a:rPr sz="4333" spc="-63" dirty="0">
                <a:latin typeface="Tahoma"/>
                <a:cs typeface="Tahoma"/>
                <a:hlinkClick r:id="rId2" action="ppaction://hlinksldjump"/>
              </a:rPr>
              <a:t>B</a:t>
            </a:r>
            <a:r>
              <a:rPr sz="4333" spc="42" dirty="0">
                <a:latin typeface="Tahoma"/>
                <a:cs typeface="Tahoma"/>
                <a:hlinkClick r:id="rId2" action="ppaction://hlinksldjump"/>
              </a:rPr>
              <a:t>o</a:t>
            </a:r>
            <a:r>
              <a:rPr sz="4333" spc="-241" dirty="0">
                <a:latin typeface="Tahoma"/>
                <a:cs typeface="Tahoma"/>
                <a:hlinkClick r:id="rId2" action="ppaction://hlinksldjump"/>
              </a:rPr>
              <a:t>otloaders</a:t>
            </a:r>
            <a:endParaRPr sz="4333" dirty="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675217" y="6643702"/>
            <a:ext cx="528777" cy="173401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80524">
              <a:spcBef>
                <a:spcPts val="338"/>
              </a:spcBef>
            </a:pPr>
            <a:fld id="{81D60167-4931-47E6-BA6A-407CBD079E47}" type="slidenum">
              <a:rPr sz="845" spc="11" dirty="0">
                <a:latin typeface="Microsoft Sans Serif"/>
                <a:cs typeface="Microsoft Sans Serif"/>
              </a:rPr>
              <a:pPr marL="80524">
                <a:spcBef>
                  <a:spcPts val="338"/>
                </a:spcBef>
              </a:pPr>
              <a:t>1</a:t>
            </a:fld>
            <a:r>
              <a:rPr sz="845" spc="11" dirty="0">
                <a:latin typeface="Microsoft Sans Serif"/>
                <a:cs typeface="Microsoft Sans Serif"/>
              </a:rPr>
              <a:t>/532</a:t>
            </a:r>
            <a:endParaRPr sz="845">
              <a:latin typeface="Microsoft Sans Serif"/>
              <a:cs typeface="Microsoft Sans Serif"/>
            </a:endParaRPr>
          </a:p>
        </p:txBody>
      </p:sp>
      <p:sp>
        <p:nvSpPr>
          <p:cNvPr id="53" name="Title 52">
            <a:extLst>
              <a:ext uri="{FF2B5EF4-FFF2-40B4-BE49-F238E27FC236}">
                <a16:creationId xmlns:a16="http://schemas.microsoft.com/office/drawing/2014/main" id="{2EB8349F-CFE6-47CD-AC44-E5E3277A3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37" y="6643702"/>
            <a:ext cx="10515600" cy="227008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Source : These slides are taken from bootlin.com</a:t>
            </a:r>
            <a:endParaRPr lang="en-IN" sz="1200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29413" y="2931038"/>
            <a:ext cx="3321634" cy="697953"/>
          </a:xfrm>
          <a:prstGeom prst="rect">
            <a:avLst/>
          </a:prstGeom>
        </p:spPr>
        <p:txBody>
          <a:bodyPr vert="horz" wrap="square" lIns="0" tIns="3086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41"/>
              </a:spcBef>
            </a:pPr>
            <a:r>
              <a:rPr sz="4333" spc="-74" dirty="0">
                <a:hlinkClick r:id="rId2" action="ppaction://hlinksldjump"/>
              </a:rPr>
              <a:t>Boot</a:t>
            </a:r>
            <a:r>
              <a:rPr sz="4333" spc="-106" dirty="0">
                <a:hlinkClick r:id="rId2" action="ppaction://hlinksldjump"/>
              </a:rPr>
              <a:t> </a:t>
            </a:r>
            <a:r>
              <a:rPr sz="4333" spc="-328" dirty="0">
                <a:hlinkClick r:id="rId2" action="ppaction://hlinksldjump"/>
              </a:rPr>
              <a:t>Sequence</a:t>
            </a:r>
            <a:endParaRPr sz="4333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94790" y="1679607"/>
            <a:ext cx="10374235" cy="3509467"/>
          </a:xfrm>
          <a:prstGeom prst="rect">
            <a:avLst/>
          </a:prstGeom>
        </p:spPr>
        <p:txBody>
          <a:bodyPr vert="horz" wrap="square" lIns="0" tIns="76498" rIns="0" bIns="0" rtlCol="0">
            <a:spAutoFit/>
          </a:bodyPr>
          <a:lstStyle/>
          <a:p>
            <a:pPr marL="453618" indent="-374438">
              <a:spcBef>
                <a:spcPts val="60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bootloader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piece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code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responsible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21" dirty="0">
                <a:latin typeface="Tahoma"/>
                <a:cs typeface="Tahoma"/>
              </a:rPr>
              <a:t>Basic</a:t>
            </a:r>
            <a:r>
              <a:rPr sz="2114" spc="-11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hardware</a:t>
            </a:r>
            <a:r>
              <a:rPr sz="2114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initialization</a:t>
            </a:r>
            <a:endParaRPr sz="2114">
              <a:latin typeface="Tahoma"/>
              <a:cs typeface="Tahoma"/>
            </a:endParaRPr>
          </a:p>
          <a:p>
            <a:pPr marL="1040106" marR="440198" lvl="1" indent="-355649">
              <a:lnSpc>
                <a:spcPts val="2536"/>
              </a:lnSpc>
              <a:spcBef>
                <a:spcPts val="85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Loading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application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binary,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usually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operating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system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kernel,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from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flash </a:t>
            </a:r>
            <a:r>
              <a:rPr sz="2114" spc="-634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storage,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from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network,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or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from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another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type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non-volatile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storage.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431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Possibly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decompression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application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binary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Execution</a:t>
            </a:r>
            <a:r>
              <a:rPr sz="2114" spc="-1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-11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application</a:t>
            </a:r>
            <a:endParaRPr sz="2114">
              <a:latin typeface="Tahoma"/>
              <a:cs typeface="Tahoma"/>
            </a:endParaRPr>
          </a:p>
          <a:p>
            <a:pPr marL="453618" marR="664326" indent="-374438">
              <a:lnSpc>
                <a:spcPts val="2536"/>
              </a:lnSpc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95" dirty="0">
                <a:latin typeface="Tahoma"/>
                <a:cs typeface="Tahoma"/>
              </a:rPr>
              <a:t>Besides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these</a:t>
            </a:r>
            <a:r>
              <a:rPr sz="2325" spc="6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basic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functions,</a:t>
            </a:r>
            <a:r>
              <a:rPr sz="2325" spc="6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most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bootloaders</a:t>
            </a:r>
            <a:r>
              <a:rPr sz="2325" spc="6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provide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74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shell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</a:t>
            </a:r>
            <a:r>
              <a:rPr sz="2325" spc="6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various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commands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implementing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different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operations.</a:t>
            </a:r>
            <a:endParaRPr sz="2325">
              <a:latin typeface="Tahoma"/>
              <a:cs typeface="Tahoma"/>
            </a:endParaRPr>
          </a:p>
          <a:p>
            <a:pPr marL="1040106" marR="64419" lvl="1" indent="-355649">
              <a:spcBef>
                <a:spcPts val="317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Loading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data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from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storage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or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network,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memory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inspection,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hardware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diagnostics </a:t>
            </a:r>
            <a:r>
              <a:rPr sz="2114" spc="-634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testing,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etc.</a:t>
            </a:r>
            <a:endParaRPr sz="2114">
              <a:latin typeface="Tahoma"/>
              <a:cs typeface="Tahoma"/>
            </a:endParaRP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BC64A765-C392-4343-92CA-707925F30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bootloader</a:t>
            </a:r>
            <a:endParaRPr lang="en-IN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5463585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16" dirty="0"/>
              <a:t>Bootloaders</a:t>
            </a:r>
            <a:r>
              <a:rPr sz="2959" dirty="0"/>
              <a:t> </a:t>
            </a:r>
            <a:r>
              <a:rPr sz="2959" spc="-190" dirty="0"/>
              <a:t>on</a:t>
            </a:r>
            <a:r>
              <a:rPr sz="2959" spc="11" dirty="0"/>
              <a:t> </a:t>
            </a:r>
            <a:r>
              <a:rPr sz="2959" spc="-148" dirty="0"/>
              <a:t>BIOS-based</a:t>
            </a:r>
            <a:r>
              <a:rPr sz="2959" spc="11" dirty="0"/>
              <a:t> </a:t>
            </a:r>
            <a:r>
              <a:rPr sz="2959" spc="-180" dirty="0"/>
              <a:t>x86</a:t>
            </a:r>
            <a:r>
              <a:rPr sz="2959" spc="11" dirty="0"/>
              <a:t> </a:t>
            </a:r>
            <a:r>
              <a:rPr sz="2959" spc="-85" dirty="0"/>
              <a:t>(1)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41166" y="1691788"/>
            <a:ext cx="8383939" cy="4009783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453618" marR="680431" indent="-374438">
              <a:lnSpc>
                <a:spcPct val="102699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x86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processors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typically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bundled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board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non-volatile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memory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containing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program,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21" dirty="0">
                <a:latin typeface="Tahoma"/>
                <a:cs typeface="Tahoma"/>
              </a:rPr>
              <a:t>BIOS.</a:t>
            </a:r>
            <a:endParaRPr sz="2325">
              <a:latin typeface="Tahoma"/>
              <a:cs typeface="Tahoma"/>
            </a:endParaRPr>
          </a:p>
          <a:p>
            <a:pPr marL="453618" marR="83208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old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BIOS-based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x86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platforms:</a:t>
            </a:r>
            <a:r>
              <a:rPr sz="2325" spc="296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BIOS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responsible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 </a:t>
            </a:r>
            <a:r>
              <a:rPr sz="2325" spc="-85" dirty="0">
                <a:latin typeface="Tahoma"/>
                <a:cs typeface="Tahoma"/>
              </a:rPr>
              <a:t> basic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hardware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initialization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loading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very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small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piece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code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non-volatile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storage.</a:t>
            </a:r>
            <a:endParaRPr sz="2325">
              <a:latin typeface="Tahoma"/>
              <a:cs typeface="Tahoma"/>
            </a:endParaRPr>
          </a:p>
          <a:p>
            <a:pPr marL="453618" marR="72472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11" dirty="0">
                <a:latin typeface="Tahoma"/>
                <a:cs typeface="Tahoma"/>
              </a:rPr>
              <a:t>This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piece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code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typically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1st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stage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bootloader,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which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will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load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full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bootloader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itself.</a:t>
            </a:r>
            <a:endParaRPr sz="2325">
              <a:latin typeface="Tahoma"/>
              <a:cs typeface="Tahoma"/>
            </a:endParaRPr>
          </a:p>
          <a:p>
            <a:pPr marL="453618" marR="64419" indent="-374438">
              <a:lnSpc>
                <a:spcPct val="102600"/>
              </a:lnSpc>
              <a:spcBef>
                <a:spcPts val="623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95" dirty="0">
                <a:latin typeface="Tahoma"/>
                <a:cs typeface="Tahoma"/>
              </a:rPr>
              <a:t>It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typically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understands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filesystem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formats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so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that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file </a:t>
            </a:r>
            <a:r>
              <a:rPr sz="2325" spc="-68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can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loaded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directly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normal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filesystem.</a:t>
            </a:r>
            <a:endParaRPr sz="2325">
              <a:latin typeface="Tahoma"/>
              <a:cs typeface="Tahoma"/>
            </a:endParaRPr>
          </a:p>
          <a:p>
            <a:pPr marL="453618" indent="-374438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11" dirty="0">
                <a:latin typeface="Tahoma"/>
                <a:cs typeface="Tahoma"/>
              </a:rPr>
              <a:t>This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sequence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different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modern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EFI-based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systems.</a:t>
            </a:r>
            <a:endParaRPr sz="2325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9152" y="1016626"/>
            <a:ext cx="1679258" cy="520363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1"/>
            <a:ext cx="3568574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16" dirty="0"/>
              <a:t>Bootloaders</a:t>
            </a:r>
            <a:r>
              <a:rPr sz="2959" spc="-32" dirty="0"/>
              <a:t> </a:t>
            </a:r>
            <a:r>
              <a:rPr sz="2959" spc="-190" dirty="0"/>
              <a:t>on</a:t>
            </a:r>
            <a:r>
              <a:rPr sz="2959" spc="-21" dirty="0"/>
              <a:t> </a:t>
            </a:r>
            <a:r>
              <a:rPr sz="2959" spc="-180" dirty="0"/>
              <a:t>x86</a:t>
            </a:r>
            <a:r>
              <a:rPr sz="2959" spc="-21" dirty="0"/>
              <a:t> </a:t>
            </a:r>
            <a:r>
              <a:rPr sz="2959" spc="-85" dirty="0"/>
              <a:t>(2)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0" y="1820414"/>
            <a:ext cx="10280290" cy="3341327"/>
          </a:xfrm>
          <a:prstGeom prst="rect">
            <a:avLst/>
          </a:prstGeom>
        </p:spPr>
        <p:txBody>
          <a:bodyPr vert="horz" wrap="square" lIns="0" tIns="24157" rIns="0" bIns="0" rtlCol="0">
            <a:spAutoFit/>
          </a:bodyPr>
          <a:lstStyle/>
          <a:p>
            <a:pPr marL="453618" indent="-374438" algn="just">
              <a:lnSpc>
                <a:spcPts val="2663"/>
              </a:lnSpc>
              <a:spcBef>
                <a:spcPts val="190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i="1" spc="-127" dirty="0">
                <a:latin typeface="Arial"/>
                <a:cs typeface="Arial"/>
              </a:rPr>
              <a:t>GRUB</a:t>
            </a:r>
            <a:r>
              <a:rPr sz="2325" spc="-127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i="1" spc="-137" dirty="0">
                <a:latin typeface="Arial"/>
                <a:cs typeface="Arial"/>
              </a:rPr>
              <a:t>Grand</a:t>
            </a:r>
            <a:r>
              <a:rPr sz="2325" i="1" spc="127" dirty="0">
                <a:latin typeface="Arial"/>
                <a:cs typeface="Arial"/>
              </a:rPr>
              <a:t> </a:t>
            </a:r>
            <a:r>
              <a:rPr sz="2325" i="1" spc="-74" dirty="0">
                <a:latin typeface="Arial"/>
                <a:cs typeface="Arial"/>
              </a:rPr>
              <a:t>Unified</a:t>
            </a:r>
            <a:r>
              <a:rPr sz="2325" i="1" spc="116" dirty="0">
                <a:latin typeface="Arial"/>
                <a:cs typeface="Arial"/>
              </a:rPr>
              <a:t> </a:t>
            </a:r>
            <a:r>
              <a:rPr sz="2325" i="1" spc="-74" dirty="0">
                <a:latin typeface="Arial"/>
                <a:cs typeface="Arial"/>
              </a:rPr>
              <a:t>Bootloader</a:t>
            </a:r>
            <a:r>
              <a:rPr sz="2325" spc="-74" dirty="0">
                <a:latin typeface="Tahoma"/>
                <a:cs typeface="Tahoma"/>
              </a:rPr>
              <a:t>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most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powerful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one.</a:t>
            </a:r>
            <a:endParaRPr sz="2325">
              <a:latin typeface="Tahoma"/>
              <a:cs typeface="Tahoma"/>
            </a:endParaRPr>
          </a:p>
          <a:p>
            <a:pPr marL="453618">
              <a:lnSpc>
                <a:spcPts val="2663"/>
              </a:lnSpc>
            </a:pPr>
            <a:r>
              <a:rPr sz="2325" spc="-11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https://www.gnu.org/software/grub/</a:t>
            </a:r>
            <a:endParaRPr sz="2325">
              <a:latin typeface="SimSun"/>
              <a:cs typeface="SimSun"/>
            </a:endParaRPr>
          </a:p>
          <a:p>
            <a:pPr marL="1040106" marR="64419" lvl="1" indent="-355649" algn="just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42" dirty="0">
                <a:latin typeface="Tahoma"/>
                <a:cs typeface="Tahoma"/>
              </a:rPr>
              <a:t>Can </a:t>
            </a:r>
            <a:r>
              <a:rPr sz="2114" spc="-106" dirty="0">
                <a:latin typeface="Tahoma"/>
                <a:cs typeface="Tahoma"/>
              </a:rPr>
              <a:t>read </a:t>
            </a:r>
            <a:r>
              <a:rPr sz="2114" spc="-95" dirty="0">
                <a:latin typeface="Tahoma"/>
                <a:cs typeface="Tahoma"/>
              </a:rPr>
              <a:t>many </a:t>
            </a:r>
            <a:r>
              <a:rPr sz="2114" spc="-85" dirty="0">
                <a:latin typeface="Tahoma"/>
                <a:cs typeface="Tahoma"/>
              </a:rPr>
              <a:t>filesystem </a:t>
            </a:r>
            <a:r>
              <a:rPr sz="2114" spc="-74" dirty="0">
                <a:latin typeface="Tahoma"/>
                <a:cs typeface="Tahoma"/>
              </a:rPr>
              <a:t>formats </a:t>
            </a:r>
            <a:r>
              <a:rPr sz="2114" spc="-21" dirty="0">
                <a:latin typeface="Tahoma"/>
                <a:cs typeface="Tahoma"/>
              </a:rPr>
              <a:t>to </a:t>
            </a:r>
            <a:r>
              <a:rPr sz="2114" spc="-63" dirty="0">
                <a:latin typeface="Tahoma"/>
                <a:cs typeface="Tahoma"/>
              </a:rPr>
              <a:t>load </a:t>
            </a:r>
            <a:r>
              <a:rPr sz="2114" spc="-74" dirty="0">
                <a:latin typeface="Tahoma"/>
                <a:cs typeface="Tahoma"/>
              </a:rPr>
              <a:t>the </a:t>
            </a:r>
            <a:r>
              <a:rPr sz="2114" spc="-95" dirty="0">
                <a:latin typeface="Tahoma"/>
                <a:cs typeface="Tahoma"/>
              </a:rPr>
              <a:t>kernel image and </a:t>
            </a:r>
            <a:r>
              <a:rPr sz="2114" spc="-74" dirty="0">
                <a:latin typeface="Tahoma"/>
                <a:cs typeface="Tahoma"/>
              </a:rPr>
              <a:t>the </a:t>
            </a:r>
            <a:r>
              <a:rPr sz="2114" spc="-63" dirty="0">
                <a:latin typeface="Tahoma"/>
                <a:cs typeface="Tahoma"/>
              </a:rPr>
              <a:t>configuration, </a:t>
            </a:r>
            <a:r>
              <a:rPr sz="2114" spc="-5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provides </a:t>
            </a:r>
            <a:r>
              <a:rPr sz="2114" spc="-106" dirty="0">
                <a:latin typeface="Tahoma"/>
                <a:cs typeface="Tahoma"/>
              </a:rPr>
              <a:t>a </a:t>
            </a:r>
            <a:r>
              <a:rPr sz="2114" spc="-95" dirty="0">
                <a:latin typeface="Tahoma"/>
                <a:cs typeface="Tahoma"/>
              </a:rPr>
              <a:t>powerful </a:t>
            </a:r>
            <a:r>
              <a:rPr sz="2114" spc="-74" dirty="0">
                <a:latin typeface="Tahoma"/>
                <a:cs typeface="Tahoma"/>
              </a:rPr>
              <a:t>shell </a:t>
            </a:r>
            <a:r>
              <a:rPr sz="2114" spc="-42" dirty="0">
                <a:latin typeface="Tahoma"/>
                <a:cs typeface="Tahoma"/>
              </a:rPr>
              <a:t>with </a:t>
            </a:r>
            <a:r>
              <a:rPr sz="2114" spc="-85" dirty="0">
                <a:latin typeface="Tahoma"/>
                <a:cs typeface="Tahoma"/>
              </a:rPr>
              <a:t>various </a:t>
            </a:r>
            <a:r>
              <a:rPr sz="2114" spc="-95" dirty="0">
                <a:latin typeface="Tahoma"/>
                <a:cs typeface="Tahoma"/>
              </a:rPr>
              <a:t>commands, </a:t>
            </a:r>
            <a:r>
              <a:rPr sz="2114" spc="-85" dirty="0">
                <a:latin typeface="Tahoma"/>
                <a:cs typeface="Tahoma"/>
              </a:rPr>
              <a:t>can </a:t>
            </a:r>
            <a:r>
              <a:rPr sz="2114" spc="-63" dirty="0">
                <a:latin typeface="Tahoma"/>
                <a:cs typeface="Tahoma"/>
              </a:rPr>
              <a:t>load </a:t>
            </a:r>
            <a:r>
              <a:rPr sz="2114" spc="-95" dirty="0">
                <a:latin typeface="Tahoma"/>
                <a:cs typeface="Tahoma"/>
              </a:rPr>
              <a:t>kernel </a:t>
            </a:r>
            <a:r>
              <a:rPr sz="2114" spc="-106" dirty="0">
                <a:latin typeface="Tahoma"/>
                <a:cs typeface="Tahoma"/>
              </a:rPr>
              <a:t>images over </a:t>
            </a:r>
            <a:r>
              <a:rPr sz="2114" spc="-74" dirty="0">
                <a:latin typeface="Tahoma"/>
                <a:cs typeface="Tahoma"/>
              </a:rPr>
              <a:t>the </a:t>
            </a:r>
            <a:r>
              <a:rPr sz="2114" spc="-6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network,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etc.</a:t>
            </a:r>
            <a:endParaRPr sz="2114">
              <a:latin typeface="Tahoma"/>
              <a:cs typeface="Tahoma"/>
            </a:endParaRPr>
          </a:p>
          <a:p>
            <a:pPr marL="453618" indent="-374438" algn="just">
              <a:spcBef>
                <a:spcPts val="729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i="1" spc="-106" dirty="0">
                <a:latin typeface="Arial"/>
                <a:cs typeface="Arial"/>
              </a:rPr>
              <a:t>Syslinux</a:t>
            </a:r>
            <a:r>
              <a:rPr sz="2325" spc="-106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network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removable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media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booting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53" dirty="0">
                <a:latin typeface="Tahoma"/>
                <a:cs typeface="Tahoma"/>
              </a:rPr>
              <a:t>(USB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69" dirty="0">
                <a:latin typeface="Tahoma"/>
                <a:cs typeface="Tahoma"/>
              </a:rPr>
              <a:t>key,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53" dirty="0">
                <a:latin typeface="Tahoma"/>
                <a:cs typeface="Tahoma"/>
              </a:rPr>
              <a:t>CD-ROM)</a:t>
            </a:r>
            <a:endParaRPr sz="2325">
              <a:latin typeface="Tahoma"/>
              <a:cs typeface="Tahoma"/>
            </a:endParaRPr>
          </a:p>
          <a:p>
            <a:pPr marL="453618">
              <a:spcBef>
                <a:spcPts val="285"/>
              </a:spcBef>
            </a:pPr>
            <a:r>
              <a:rPr sz="2114" spc="-11" dirty="0">
                <a:solidFill>
                  <a:srgbClr val="3F3FBF"/>
                </a:solidFill>
                <a:latin typeface="SimSun"/>
                <a:cs typeface="SimSun"/>
                <a:hlinkClick r:id="rId3"/>
              </a:rPr>
              <a:t>https://kernel.org/pub/linux/utils/boot/syslinux/</a:t>
            </a:r>
            <a:endParaRPr sz="2114">
              <a:latin typeface="SimSun"/>
              <a:cs typeface="SimSun"/>
            </a:endParaRPr>
          </a:p>
          <a:p>
            <a:pPr marL="453618" indent="-374438" algn="just">
              <a:spcBef>
                <a:spcPts val="41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i="1" spc="-85" dirty="0">
                <a:latin typeface="Arial"/>
                <a:cs typeface="Arial"/>
              </a:rPr>
              <a:t>Systemd-boot</a:t>
            </a:r>
            <a:r>
              <a:rPr sz="2325" spc="-85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very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simple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UEFI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manager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(formerly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i="1" spc="-63" dirty="0">
                <a:latin typeface="Arial"/>
                <a:cs typeface="Arial"/>
              </a:rPr>
              <a:t>Gumniboot</a:t>
            </a:r>
            <a:r>
              <a:rPr sz="2325" spc="-63" dirty="0">
                <a:latin typeface="Tahoma"/>
                <a:cs typeface="Tahoma"/>
              </a:rPr>
              <a:t>)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11" dirty="0">
                <a:latin typeface="Tahoma"/>
                <a:cs typeface="Tahoma"/>
              </a:rPr>
              <a:t>Of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course,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not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based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on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i="1" spc="-116" dirty="0">
                <a:latin typeface="Arial"/>
                <a:cs typeface="Arial"/>
              </a:rPr>
              <a:t>Systemd</a:t>
            </a:r>
            <a:r>
              <a:rPr sz="2114" spc="-116" dirty="0">
                <a:latin typeface="Tahoma"/>
                <a:cs typeface="Tahoma"/>
              </a:rPr>
              <a:t>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but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hosted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by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this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project.</a:t>
            </a:r>
            <a:endParaRPr sz="2114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5552162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74" dirty="0"/>
              <a:t>Booting</a:t>
            </a:r>
            <a:r>
              <a:rPr sz="2959" spc="11" dirty="0"/>
              <a:t> </a:t>
            </a:r>
            <a:r>
              <a:rPr sz="2959" spc="-190" dirty="0"/>
              <a:t>on</a:t>
            </a:r>
            <a:r>
              <a:rPr sz="2959" spc="11" dirty="0"/>
              <a:t> </a:t>
            </a:r>
            <a:r>
              <a:rPr sz="2959" spc="-222" dirty="0"/>
              <a:t>embedded</a:t>
            </a:r>
            <a:r>
              <a:rPr sz="2959" spc="11" dirty="0"/>
              <a:t> </a:t>
            </a:r>
            <a:r>
              <a:rPr sz="2959" spc="-53" dirty="0"/>
              <a:t>CPUs:</a:t>
            </a:r>
            <a:r>
              <a:rPr sz="2959" spc="317" dirty="0"/>
              <a:t> </a:t>
            </a:r>
            <a:r>
              <a:rPr sz="2959" spc="-201" dirty="0"/>
              <a:t>case</a:t>
            </a:r>
            <a:r>
              <a:rPr sz="2959" spc="11" dirty="0"/>
              <a:t> </a:t>
            </a:r>
            <a:r>
              <a:rPr sz="2959" spc="-190" dirty="0"/>
              <a:t>1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41165" y="1205257"/>
            <a:ext cx="8471173" cy="4885165"/>
          </a:xfrm>
          <a:prstGeom prst="rect">
            <a:avLst/>
          </a:prstGeom>
        </p:spPr>
        <p:txBody>
          <a:bodyPr vert="horz" wrap="square" lIns="0" tIns="116758" rIns="0" bIns="0" rtlCol="0">
            <a:spAutoFit/>
          </a:bodyPr>
          <a:lstStyle/>
          <a:p>
            <a:pPr marL="453618" indent="-374438">
              <a:spcBef>
                <a:spcPts val="917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85" dirty="0">
                <a:latin typeface="Tahoma"/>
                <a:cs typeface="Tahoma"/>
              </a:rPr>
              <a:t>When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powered,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106" dirty="0">
                <a:latin typeface="Tahoma"/>
                <a:cs typeface="Tahoma"/>
              </a:rPr>
              <a:t>CPU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starts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executing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code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fixed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address</a:t>
            </a:r>
            <a:endParaRPr sz="2325" dirty="0">
              <a:latin typeface="Tahoma"/>
              <a:cs typeface="Tahoma"/>
            </a:endParaRPr>
          </a:p>
          <a:p>
            <a:pPr marL="453618" indent="-374438">
              <a:spcBef>
                <a:spcPts val="70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74" dirty="0">
                <a:latin typeface="Tahoma"/>
                <a:cs typeface="Tahoma"/>
              </a:rPr>
              <a:t>There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no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other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booting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mechanism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provided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by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06" dirty="0">
                <a:latin typeface="Tahoma"/>
                <a:cs typeface="Tahoma"/>
              </a:rPr>
              <a:t>CPU</a:t>
            </a:r>
            <a:endParaRPr sz="2325" dirty="0">
              <a:latin typeface="Tahoma"/>
              <a:cs typeface="Tahoma"/>
            </a:endParaRPr>
          </a:p>
          <a:p>
            <a:pPr marL="453618" marR="64419" indent="-374438">
              <a:lnSpc>
                <a:spcPct val="102600"/>
              </a:lnSpc>
              <a:spcBef>
                <a:spcPts val="623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hardware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design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must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ensure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that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53" dirty="0">
                <a:latin typeface="Tahoma"/>
                <a:cs typeface="Tahoma"/>
              </a:rPr>
              <a:t>NOR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flash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chip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wired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so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that</a:t>
            </a:r>
            <a:r>
              <a:rPr sz="2325" spc="32" dirty="0">
                <a:latin typeface="Tahoma"/>
                <a:cs typeface="Tahoma"/>
              </a:rPr>
              <a:t> it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accessible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address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which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06" dirty="0">
                <a:latin typeface="Tahoma"/>
                <a:cs typeface="Tahoma"/>
              </a:rPr>
              <a:t>CPU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starts </a:t>
            </a:r>
            <a:r>
              <a:rPr sz="2325" spc="-63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executing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instructions</a:t>
            </a:r>
            <a:endParaRPr sz="2325" dirty="0">
              <a:latin typeface="Tahoma"/>
              <a:cs typeface="Tahoma"/>
            </a:endParaRPr>
          </a:p>
          <a:p>
            <a:pPr marL="453618" marR="226808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first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stage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bootloader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must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programmed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this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address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53" dirty="0">
                <a:latin typeface="Tahoma"/>
                <a:cs typeface="Tahoma"/>
              </a:rPr>
              <a:t>NOR</a:t>
            </a:r>
            <a:endParaRPr sz="2325" dirty="0">
              <a:latin typeface="Tahoma"/>
              <a:cs typeface="Tahoma"/>
            </a:endParaRPr>
          </a:p>
          <a:p>
            <a:pPr marL="453618" marR="6441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53" dirty="0">
                <a:latin typeface="Tahoma"/>
                <a:cs typeface="Tahoma"/>
              </a:rPr>
              <a:t>NOR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mandatory,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because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32" dirty="0">
                <a:latin typeface="Tahoma"/>
                <a:cs typeface="Tahoma"/>
              </a:rPr>
              <a:t>it </a:t>
            </a:r>
            <a:r>
              <a:rPr sz="2325" spc="-95" dirty="0">
                <a:latin typeface="Tahoma"/>
                <a:cs typeface="Tahoma"/>
              </a:rPr>
              <a:t>allows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direct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access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106" dirty="0">
                <a:latin typeface="Tahoma"/>
                <a:cs typeface="Tahoma"/>
              </a:rPr>
              <a:t>CPU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(just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like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63" dirty="0">
                <a:latin typeface="Tahoma"/>
                <a:cs typeface="Tahoma"/>
              </a:rPr>
              <a:t>RAM),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which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95" dirty="0">
                <a:latin typeface="Tahoma"/>
                <a:cs typeface="Tahoma"/>
              </a:rPr>
              <a:t>NAND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doesn’t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allow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(external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storage </a:t>
            </a:r>
            <a:r>
              <a:rPr sz="2325" spc="-106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that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needs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copied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37" dirty="0">
                <a:latin typeface="Tahoma"/>
                <a:cs typeface="Tahoma"/>
              </a:rPr>
              <a:t>RAM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before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executing).</a:t>
            </a:r>
            <a:endParaRPr sz="2325" dirty="0">
              <a:latin typeface="Tahoma"/>
              <a:cs typeface="Tahoma"/>
            </a:endParaRPr>
          </a:p>
          <a:p>
            <a:pPr marL="453618" marR="428121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b="1" spc="42" dirty="0">
                <a:latin typeface="Arial"/>
                <a:cs typeface="Arial"/>
              </a:rPr>
              <a:t>Not</a:t>
            </a:r>
            <a:r>
              <a:rPr sz="2325" b="1" spc="190" dirty="0">
                <a:latin typeface="Arial"/>
                <a:cs typeface="Arial"/>
              </a:rPr>
              <a:t> </a:t>
            </a:r>
            <a:r>
              <a:rPr sz="2325" b="1" spc="-116" dirty="0">
                <a:latin typeface="Arial"/>
                <a:cs typeface="Arial"/>
              </a:rPr>
              <a:t>very</a:t>
            </a:r>
            <a:r>
              <a:rPr sz="2325" b="1" spc="201" dirty="0">
                <a:latin typeface="Arial"/>
                <a:cs typeface="Arial"/>
              </a:rPr>
              <a:t> </a:t>
            </a:r>
            <a:r>
              <a:rPr sz="2325" b="1" spc="-127" dirty="0">
                <a:latin typeface="Arial"/>
                <a:cs typeface="Arial"/>
              </a:rPr>
              <a:t>common</a:t>
            </a:r>
            <a:r>
              <a:rPr sz="2325" b="1" spc="190" dirty="0">
                <a:latin typeface="Arial"/>
                <a:cs typeface="Arial"/>
              </a:rPr>
              <a:t> </a:t>
            </a:r>
            <a:r>
              <a:rPr sz="2325" b="1" spc="-116" dirty="0">
                <a:latin typeface="Arial"/>
                <a:cs typeface="Arial"/>
              </a:rPr>
              <a:t>anymore</a:t>
            </a:r>
            <a:r>
              <a:rPr sz="2325" b="1" spc="127" dirty="0">
                <a:latin typeface="Arial"/>
                <a:cs typeface="Arial"/>
              </a:rPr>
              <a:t> </a:t>
            </a:r>
            <a:r>
              <a:rPr sz="2325" spc="-63" dirty="0">
                <a:latin typeface="Tahoma"/>
                <a:cs typeface="Tahoma"/>
              </a:rPr>
              <a:t>(unpractical,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requires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53" dirty="0">
                <a:latin typeface="Tahoma"/>
                <a:cs typeface="Tahoma"/>
              </a:rPr>
              <a:t>NOR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flash)</a:t>
            </a:r>
            <a:endParaRPr sz="2325" dirty="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615415" y="1571936"/>
          <a:ext cx="1024003" cy="4720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13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E3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11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93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3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7869" y="5052092"/>
            <a:ext cx="478833" cy="14684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0984" y="2359751"/>
            <a:ext cx="462749" cy="1567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01941" y="1044043"/>
            <a:ext cx="650929" cy="17862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808909" y="1343416"/>
            <a:ext cx="646880" cy="132865"/>
          </a:xfrm>
          <a:custGeom>
            <a:avLst/>
            <a:gdLst/>
            <a:ahLst/>
            <a:cxnLst/>
            <a:rect l="l" t="t" r="r" b="b"/>
            <a:pathLst>
              <a:path w="306070" h="62865">
                <a:moveTo>
                  <a:pt x="59067" y="9385"/>
                </a:moveTo>
                <a:lnTo>
                  <a:pt x="57569" y="1003"/>
                </a:lnTo>
                <a:lnTo>
                  <a:pt x="40652" y="1003"/>
                </a:lnTo>
                <a:lnTo>
                  <a:pt x="35788" y="3632"/>
                </a:lnTo>
                <a:lnTo>
                  <a:pt x="32334" y="8636"/>
                </a:lnTo>
                <a:lnTo>
                  <a:pt x="29908" y="1562"/>
                </a:lnTo>
                <a:lnTo>
                  <a:pt x="23355" y="1003"/>
                </a:lnTo>
                <a:lnTo>
                  <a:pt x="13639" y="1003"/>
                </a:lnTo>
                <a:lnTo>
                  <a:pt x="9245" y="4838"/>
                </a:lnTo>
                <a:lnTo>
                  <a:pt x="6731" y="8191"/>
                </a:lnTo>
                <a:lnTo>
                  <a:pt x="6731" y="1473"/>
                </a:lnTo>
                <a:lnTo>
                  <a:pt x="0" y="1473"/>
                </a:lnTo>
                <a:lnTo>
                  <a:pt x="0" y="43091"/>
                </a:lnTo>
                <a:lnTo>
                  <a:pt x="7277" y="43091"/>
                </a:lnTo>
                <a:lnTo>
                  <a:pt x="7277" y="14185"/>
                </a:lnTo>
                <a:lnTo>
                  <a:pt x="9817" y="6718"/>
                </a:lnTo>
                <a:lnTo>
                  <a:pt x="25412" y="6718"/>
                </a:lnTo>
                <a:lnTo>
                  <a:pt x="25882" y="12712"/>
                </a:lnTo>
                <a:lnTo>
                  <a:pt x="25882" y="43091"/>
                </a:lnTo>
                <a:lnTo>
                  <a:pt x="33159" y="43091"/>
                </a:lnTo>
                <a:lnTo>
                  <a:pt x="33159" y="14185"/>
                </a:lnTo>
                <a:lnTo>
                  <a:pt x="35699" y="6718"/>
                </a:lnTo>
                <a:lnTo>
                  <a:pt x="51295" y="6718"/>
                </a:lnTo>
                <a:lnTo>
                  <a:pt x="51765" y="12712"/>
                </a:lnTo>
                <a:lnTo>
                  <a:pt x="51765" y="43091"/>
                </a:lnTo>
                <a:lnTo>
                  <a:pt x="59067" y="43091"/>
                </a:lnTo>
                <a:lnTo>
                  <a:pt x="59067" y="9385"/>
                </a:lnTo>
                <a:close/>
              </a:path>
              <a:path w="306070" h="62865">
                <a:moveTo>
                  <a:pt x="107010" y="22186"/>
                </a:moveTo>
                <a:lnTo>
                  <a:pt x="106984" y="17030"/>
                </a:lnTo>
                <a:lnTo>
                  <a:pt x="106908" y="12179"/>
                </a:lnTo>
                <a:lnTo>
                  <a:pt x="102552" y="5702"/>
                </a:lnTo>
                <a:lnTo>
                  <a:pt x="101688" y="4406"/>
                </a:lnTo>
                <a:lnTo>
                  <a:pt x="101688" y="17030"/>
                </a:lnTo>
                <a:lnTo>
                  <a:pt x="78600" y="17030"/>
                </a:lnTo>
                <a:lnTo>
                  <a:pt x="101688" y="17030"/>
                </a:lnTo>
                <a:lnTo>
                  <a:pt x="101688" y="4406"/>
                </a:lnTo>
                <a:lnTo>
                  <a:pt x="99453" y="1028"/>
                </a:lnTo>
                <a:lnTo>
                  <a:pt x="93751" y="0"/>
                </a:lnTo>
                <a:lnTo>
                  <a:pt x="90385" y="0"/>
                </a:lnTo>
                <a:lnTo>
                  <a:pt x="83070" y="1701"/>
                </a:lnTo>
                <a:lnTo>
                  <a:pt x="77089" y="6350"/>
                </a:lnTo>
                <a:lnTo>
                  <a:pt x="73063" y="13195"/>
                </a:lnTo>
                <a:lnTo>
                  <a:pt x="71589" y="21526"/>
                </a:lnTo>
                <a:lnTo>
                  <a:pt x="73164" y="30391"/>
                </a:lnTo>
                <a:lnTo>
                  <a:pt x="77482" y="37553"/>
                </a:lnTo>
                <a:lnTo>
                  <a:pt x="83896" y="42341"/>
                </a:lnTo>
                <a:lnTo>
                  <a:pt x="91770" y="44094"/>
                </a:lnTo>
                <a:lnTo>
                  <a:pt x="97663" y="44094"/>
                </a:lnTo>
                <a:lnTo>
                  <a:pt x="102997" y="41859"/>
                </a:lnTo>
                <a:lnTo>
                  <a:pt x="106629" y="39243"/>
                </a:lnTo>
                <a:lnTo>
                  <a:pt x="106553" y="38392"/>
                </a:lnTo>
                <a:lnTo>
                  <a:pt x="106070" y="33020"/>
                </a:lnTo>
                <a:lnTo>
                  <a:pt x="100190" y="38023"/>
                </a:lnTo>
                <a:lnTo>
                  <a:pt x="94030" y="38392"/>
                </a:lnTo>
                <a:lnTo>
                  <a:pt x="84391" y="38392"/>
                </a:lnTo>
                <a:lnTo>
                  <a:pt x="78409" y="31584"/>
                </a:lnTo>
                <a:lnTo>
                  <a:pt x="78130" y="22186"/>
                </a:lnTo>
                <a:lnTo>
                  <a:pt x="107010" y="22186"/>
                </a:lnTo>
                <a:close/>
              </a:path>
              <a:path w="306070" h="62865">
                <a:moveTo>
                  <a:pt x="177292" y="9385"/>
                </a:moveTo>
                <a:lnTo>
                  <a:pt x="175793" y="1003"/>
                </a:lnTo>
                <a:lnTo>
                  <a:pt x="158877" y="1003"/>
                </a:lnTo>
                <a:lnTo>
                  <a:pt x="154025" y="3632"/>
                </a:lnTo>
                <a:lnTo>
                  <a:pt x="150558" y="8636"/>
                </a:lnTo>
                <a:lnTo>
                  <a:pt x="148132" y="1562"/>
                </a:lnTo>
                <a:lnTo>
                  <a:pt x="141592" y="1003"/>
                </a:lnTo>
                <a:lnTo>
                  <a:pt x="131864" y="1003"/>
                </a:lnTo>
                <a:lnTo>
                  <a:pt x="127482" y="4838"/>
                </a:lnTo>
                <a:lnTo>
                  <a:pt x="124955" y="8191"/>
                </a:lnTo>
                <a:lnTo>
                  <a:pt x="124955" y="1473"/>
                </a:lnTo>
                <a:lnTo>
                  <a:pt x="118224" y="1473"/>
                </a:lnTo>
                <a:lnTo>
                  <a:pt x="118224" y="43091"/>
                </a:lnTo>
                <a:lnTo>
                  <a:pt x="125514" y="43091"/>
                </a:lnTo>
                <a:lnTo>
                  <a:pt x="125514" y="14185"/>
                </a:lnTo>
                <a:lnTo>
                  <a:pt x="128041" y="6718"/>
                </a:lnTo>
                <a:lnTo>
                  <a:pt x="143649" y="6718"/>
                </a:lnTo>
                <a:lnTo>
                  <a:pt x="144119" y="12712"/>
                </a:lnTo>
                <a:lnTo>
                  <a:pt x="144119" y="43091"/>
                </a:lnTo>
                <a:lnTo>
                  <a:pt x="151396" y="43091"/>
                </a:lnTo>
                <a:lnTo>
                  <a:pt x="151396" y="14185"/>
                </a:lnTo>
                <a:lnTo>
                  <a:pt x="153936" y="6718"/>
                </a:lnTo>
                <a:lnTo>
                  <a:pt x="169532" y="6718"/>
                </a:lnTo>
                <a:lnTo>
                  <a:pt x="170002" y="12712"/>
                </a:lnTo>
                <a:lnTo>
                  <a:pt x="170002" y="43091"/>
                </a:lnTo>
                <a:lnTo>
                  <a:pt x="177292" y="43091"/>
                </a:lnTo>
                <a:lnTo>
                  <a:pt x="177292" y="9385"/>
                </a:lnTo>
                <a:close/>
              </a:path>
              <a:path w="306070" h="62865">
                <a:moveTo>
                  <a:pt x="230378" y="22517"/>
                </a:moveTo>
                <a:lnTo>
                  <a:pt x="228739" y="13716"/>
                </a:lnTo>
                <a:lnTo>
                  <a:pt x="224320" y="6565"/>
                </a:lnTo>
                <a:lnTo>
                  <a:pt x="223164" y="5702"/>
                </a:lnTo>
                <a:lnTo>
                  <a:pt x="223100" y="10566"/>
                </a:lnTo>
                <a:lnTo>
                  <a:pt x="223100" y="32613"/>
                </a:lnTo>
                <a:lnTo>
                  <a:pt x="216738" y="38125"/>
                </a:lnTo>
                <a:lnTo>
                  <a:pt x="203377" y="38125"/>
                </a:lnTo>
                <a:lnTo>
                  <a:pt x="196646" y="32880"/>
                </a:lnTo>
                <a:lnTo>
                  <a:pt x="196646" y="10287"/>
                </a:lnTo>
                <a:lnTo>
                  <a:pt x="203758" y="5702"/>
                </a:lnTo>
                <a:lnTo>
                  <a:pt x="216357" y="5702"/>
                </a:lnTo>
                <a:lnTo>
                  <a:pt x="223100" y="10566"/>
                </a:lnTo>
                <a:lnTo>
                  <a:pt x="223100" y="5664"/>
                </a:lnTo>
                <a:lnTo>
                  <a:pt x="217805" y="1752"/>
                </a:lnTo>
                <a:lnTo>
                  <a:pt x="209905" y="0"/>
                </a:lnTo>
                <a:lnTo>
                  <a:pt x="201853" y="1790"/>
                </a:lnTo>
                <a:lnTo>
                  <a:pt x="195326" y="6667"/>
                </a:lnTo>
                <a:lnTo>
                  <a:pt x="190957" y="13830"/>
                </a:lnTo>
                <a:lnTo>
                  <a:pt x="189369" y="22517"/>
                </a:lnTo>
                <a:lnTo>
                  <a:pt x="191020" y="31089"/>
                </a:lnTo>
                <a:lnTo>
                  <a:pt x="195491" y="37934"/>
                </a:lnTo>
                <a:lnTo>
                  <a:pt x="202006" y="42456"/>
                </a:lnTo>
                <a:lnTo>
                  <a:pt x="209816" y="44094"/>
                </a:lnTo>
                <a:lnTo>
                  <a:pt x="217766" y="42430"/>
                </a:lnTo>
                <a:lnTo>
                  <a:pt x="223926" y="38125"/>
                </a:lnTo>
                <a:lnTo>
                  <a:pt x="224307" y="37858"/>
                </a:lnTo>
                <a:lnTo>
                  <a:pt x="228739" y="31013"/>
                </a:lnTo>
                <a:lnTo>
                  <a:pt x="230378" y="22517"/>
                </a:lnTo>
                <a:close/>
              </a:path>
              <a:path w="306070" h="62865">
                <a:moveTo>
                  <a:pt x="262166" y="1003"/>
                </a:moveTo>
                <a:lnTo>
                  <a:pt x="253860" y="1104"/>
                </a:lnTo>
                <a:lnTo>
                  <a:pt x="248716" y="5626"/>
                </a:lnTo>
                <a:lnTo>
                  <a:pt x="245821" y="9893"/>
                </a:lnTo>
                <a:lnTo>
                  <a:pt x="245821" y="1473"/>
                </a:lnTo>
                <a:lnTo>
                  <a:pt x="239268" y="1473"/>
                </a:lnTo>
                <a:lnTo>
                  <a:pt x="239268" y="43091"/>
                </a:lnTo>
                <a:lnTo>
                  <a:pt x="246278" y="43091"/>
                </a:lnTo>
                <a:lnTo>
                  <a:pt x="246278" y="14058"/>
                </a:lnTo>
                <a:lnTo>
                  <a:pt x="253009" y="7391"/>
                </a:lnTo>
                <a:lnTo>
                  <a:pt x="262166" y="7200"/>
                </a:lnTo>
                <a:lnTo>
                  <a:pt x="262166" y="1003"/>
                </a:lnTo>
                <a:close/>
              </a:path>
              <a:path w="306070" h="62865">
                <a:moveTo>
                  <a:pt x="305943" y="1993"/>
                </a:moveTo>
                <a:lnTo>
                  <a:pt x="298945" y="1993"/>
                </a:lnTo>
                <a:lnTo>
                  <a:pt x="291884" y="19685"/>
                </a:lnTo>
                <a:lnTo>
                  <a:pt x="288201" y="30111"/>
                </a:lnTo>
                <a:lnTo>
                  <a:pt x="286778" y="35420"/>
                </a:lnTo>
                <a:lnTo>
                  <a:pt x="286512" y="37769"/>
                </a:lnTo>
                <a:lnTo>
                  <a:pt x="272961" y="1993"/>
                </a:lnTo>
                <a:lnTo>
                  <a:pt x="265569" y="1993"/>
                </a:lnTo>
                <a:lnTo>
                  <a:pt x="283705" y="43091"/>
                </a:lnTo>
                <a:lnTo>
                  <a:pt x="280339" y="51435"/>
                </a:lnTo>
                <a:lnTo>
                  <a:pt x="277914" y="56807"/>
                </a:lnTo>
                <a:lnTo>
                  <a:pt x="273507" y="56807"/>
                </a:lnTo>
                <a:lnTo>
                  <a:pt x="270522" y="56451"/>
                </a:lnTo>
                <a:lnTo>
                  <a:pt x="267716" y="55333"/>
                </a:lnTo>
                <a:lnTo>
                  <a:pt x="268287" y="61404"/>
                </a:lnTo>
                <a:lnTo>
                  <a:pt x="270332" y="61874"/>
                </a:lnTo>
                <a:lnTo>
                  <a:pt x="272961" y="62128"/>
                </a:lnTo>
                <a:lnTo>
                  <a:pt x="275018" y="62128"/>
                </a:lnTo>
                <a:lnTo>
                  <a:pt x="278295" y="62458"/>
                </a:lnTo>
                <a:lnTo>
                  <a:pt x="281736" y="61328"/>
                </a:lnTo>
                <a:lnTo>
                  <a:pt x="285572" y="51803"/>
                </a:lnTo>
                <a:lnTo>
                  <a:pt x="305943" y="19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57679" y="2114332"/>
            <a:ext cx="786963" cy="13778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726343" y="2367946"/>
            <a:ext cx="887109" cy="154339"/>
            <a:chOff x="4600590" y="1120389"/>
            <a:chExt cx="419734" cy="73025"/>
          </a:xfrm>
        </p:grpSpPr>
        <p:sp>
          <p:nvSpPr>
            <p:cNvPr id="11" name="object 11"/>
            <p:cNvSpPr/>
            <p:nvPr/>
          </p:nvSpPr>
          <p:spPr>
            <a:xfrm>
              <a:off x="4600588" y="1131061"/>
              <a:ext cx="212725" cy="54610"/>
            </a:xfrm>
            <a:custGeom>
              <a:avLst/>
              <a:gdLst/>
              <a:ahLst/>
              <a:cxnLst/>
              <a:rect l="l" t="t" r="r" b="b"/>
              <a:pathLst>
                <a:path w="212725" h="54609">
                  <a:moveTo>
                    <a:pt x="31013" y="36004"/>
                  </a:moveTo>
                  <a:lnTo>
                    <a:pt x="27559" y="32816"/>
                  </a:lnTo>
                  <a:lnTo>
                    <a:pt x="27368" y="32537"/>
                  </a:lnTo>
                  <a:lnTo>
                    <a:pt x="23723" y="29260"/>
                  </a:lnTo>
                  <a:lnTo>
                    <a:pt x="21196" y="28714"/>
                  </a:lnTo>
                  <a:lnTo>
                    <a:pt x="16535" y="27863"/>
                  </a:lnTo>
                  <a:lnTo>
                    <a:pt x="11391" y="26835"/>
                  </a:lnTo>
                  <a:lnTo>
                    <a:pt x="7086" y="25908"/>
                  </a:lnTo>
                  <a:lnTo>
                    <a:pt x="7086" y="15544"/>
                  </a:lnTo>
                  <a:lnTo>
                    <a:pt x="18021" y="15544"/>
                  </a:lnTo>
                  <a:lnTo>
                    <a:pt x="22987" y="15900"/>
                  </a:lnTo>
                  <a:lnTo>
                    <a:pt x="28308" y="19088"/>
                  </a:lnTo>
                  <a:lnTo>
                    <a:pt x="29425" y="13004"/>
                  </a:lnTo>
                  <a:lnTo>
                    <a:pt x="24561" y="10769"/>
                  </a:lnTo>
                  <a:lnTo>
                    <a:pt x="20726" y="10020"/>
                  </a:lnTo>
                  <a:lnTo>
                    <a:pt x="457" y="10020"/>
                  </a:lnTo>
                  <a:lnTo>
                    <a:pt x="457" y="26835"/>
                  </a:lnTo>
                  <a:lnTo>
                    <a:pt x="3175" y="29832"/>
                  </a:lnTo>
                  <a:lnTo>
                    <a:pt x="5511" y="31610"/>
                  </a:lnTo>
                  <a:lnTo>
                    <a:pt x="8407" y="33667"/>
                  </a:lnTo>
                  <a:lnTo>
                    <a:pt x="10464" y="34036"/>
                  </a:lnTo>
                  <a:lnTo>
                    <a:pt x="18961" y="35712"/>
                  </a:lnTo>
                  <a:lnTo>
                    <a:pt x="24384" y="36842"/>
                  </a:lnTo>
                  <a:lnTo>
                    <a:pt x="24384" y="48247"/>
                  </a:lnTo>
                  <a:lnTo>
                    <a:pt x="8026" y="48247"/>
                  </a:lnTo>
                  <a:lnTo>
                    <a:pt x="2806" y="44780"/>
                  </a:lnTo>
                  <a:lnTo>
                    <a:pt x="1104" y="43662"/>
                  </a:lnTo>
                  <a:lnTo>
                    <a:pt x="0" y="50012"/>
                  </a:lnTo>
                  <a:lnTo>
                    <a:pt x="2984" y="51498"/>
                  </a:lnTo>
                  <a:lnTo>
                    <a:pt x="8128" y="54114"/>
                  </a:lnTo>
                  <a:lnTo>
                    <a:pt x="22517" y="54114"/>
                  </a:lnTo>
                  <a:lnTo>
                    <a:pt x="26530" y="51142"/>
                  </a:lnTo>
                  <a:lnTo>
                    <a:pt x="29425" y="48882"/>
                  </a:lnTo>
                  <a:lnTo>
                    <a:pt x="31013" y="45161"/>
                  </a:lnTo>
                  <a:lnTo>
                    <a:pt x="31013" y="41135"/>
                  </a:lnTo>
                  <a:lnTo>
                    <a:pt x="31013" y="36004"/>
                  </a:lnTo>
                  <a:close/>
                </a:path>
                <a:path w="212725" h="54609">
                  <a:moveTo>
                    <a:pt x="64998" y="50571"/>
                  </a:moveTo>
                  <a:lnTo>
                    <a:pt x="63487" y="45097"/>
                  </a:lnTo>
                  <a:lnTo>
                    <a:pt x="61061" y="47040"/>
                  </a:lnTo>
                  <a:lnTo>
                    <a:pt x="58064" y="48145"/>
                  </a:lnTo>
                  <a:lnTo>
                    <a:pt x="51612" y="48145"/>
                  </a:lnTo>
                  <a:lnTo>
                    <a:pt x="50317" y="45377"/>
                  </a:lnTo>
                  <a:lnTo>
                    <a:pt x="50317" y="17449"/>
                  </a:lnTo>
                  <a:lnTo>
                    <a:pt x="63487" y="17449"/>
                  </a:lnTo>
                  <a:lnTo>
                    <a:pt x="63487" y="12026"/>
                  </a:lnTo>
                  <a:lnTo>
                    <a:pt x="50317" y="12026"/>
                  </a:lnTo>
                  <a:lnTo>
                    <a:pt x="50317" y="0"/>
                  </a:lnTo>
                  <a:lnTo>
                    <a:pt x="43865" y="0"/>
                  </a:lnTo>
                  <a:lnTo>
                    <a:pt x="43865" y="12026"/>
                  </a:lnTo>
                  <a:lnTo>
                    <a:pt x="35737" y="12026"/>
                  </a:lnTo>
                  <a:lnTo>
                    <a:pt x="35737" y="17449"/>
                  </a:lnTo>
                  <a:lnTo>
                    <a:pt x="43586" y="17449"/>
                  </a:lnTo>
                  <a:lnTo>
                    <a:pt x="43586" y="47586"/>
                  </a:lnTo>
                  <a:lnTo>
                    <a:pt x="44894" y="54114"/>
                  </a:lnTo>
                  <a:lnTo>
                    <a:pt x="57886" y="54114"/>
                  </a:lnTo>
                  <a:lnTo>
                    <a:pt x="62661" y="51777"/>
                  </a:lnTo>
                  <a:lnTo>
                    <a:pt x="64998" y="50571"/>
                  </a:lnTo>
                  <a:close/>
                </a:path>
                <a:path w="212725" h="54609">
                  <a:moveTo>
                    <a:pt x="106654" y="16560"/>
                  </a:moveTo>
                  <a:lnTo>
                    <a:pt x="105587" y="15544"/>
                  </a:lnTo>
                  <a:lnTo>
                    <a:pt x="99834" y="10020"/>
                  </a:lnTo>
                  <a:lnTo>
                    <a:pt x="85166" y="10020"/>
                  </a:lnTo>
                  <a:lnTo>
                    <a:pt x="80949" y="11518"/>
                  </a:lnTo>
                  <a:lnTo>
                    <a:pt x="76568" y="14046"/>
                  </a:lnTo>
                  <a:lnTo>
                    <a:pt x="77127" y="20231"/>
                  </a:lnTo>
                  <a:lnTo>
                    <a:pt x="81991" y="16751"/>
                  </a:lnTo>
                  <a:lnTo>
                    <a:pt x="86652" y="15544"/>
                  </a:lnTo>
                  <a:lnTo>
                    <a:pt x="95631" y="15544"/>
                  </a:lnTo>
                  <a:lnTo>
                    <a:pt x="99364" y="19291"/>
                  </a:lnTo>
                  <a:lnTo>
                    <a:pt x="99364" y="30251"/>
                  </a:lnTo>
                  <a:lnTo>
                    <a:pt x="99364" y="35026"/>
                  </a:lnTo>
                  <a:lnTo>
                    <a:pt x="99364" y="44894"/>
                  </a:lnTo>
                  <a:lnTo>
                    <a:pt x="96189" y="46659"/>
                  </a:lnTo>
                  <a:lnTo>
                    <a:pt x="93484" y="48336"/>
                  </a:lnTo>
                  <a:lnTo>
                    <a:pt x="89928" y="48412"/>
                  </a:lnTo>
                  <a:lnTo>
                    <a:pt x="84416" y="48412"/>
                  </a:lnTo>
                  <a:lnTo>
                    <a:pt x="80200" y="46291"/>
                  </a:lnTo>
                  <a:lnTo>
                    <a:pt x="80200" y="35852"/>
                  </a:lnTo>
                  <a:lnTo>
                    <a:pt x="99364" y="35026"/>
                  </a:lnTo>
                  <a:lnTo>
                    <a:pt x="99364" y="30251"/>
                  </a:lnTo>
                  <a:lnTo>
                    <a:pt x="89408" y="31102"/>
                  </a:lnTo>
                  <a:lnTo>
                    <a:pt x="81165" y="33401"/>
                  </a:lnTo>
                  <a:lnTo>
                    <a:pt x="75552" y="37211"/>
                  </a:lnTo>
                  <a:lnTo>
                    <a:pt x="73482" y="42557"/>
                  </a:lnTo>
                  <a:lnTo>
                    <a:pt x="73507" y="46659"/>
                  </a:lnTo>
                  <a:lnTo>
                    <a:pt x="76009" y="54114"/>
                  </a:lnTo>
                  <a:lnTo>
                    <a:pt x="85445" y="54114"/>
                  </a:lnTo>
                  <a:lnTo>
                    <a:pt x="94234" y="53949"/>
                  </a:lnTo>
                  <a:lnTo>
                    <a:pt x="99656" y="49733"/>
                  </a:lnTo>
                  <a:lnTo>
                    <a:pt x="99656" y="53098"/>
                  </a:lnTo>
                  <a:lnTo>
                    <a:pt x="106654" y="53098"/>
                  </a:lnTo>
                  <a:lnTo>
                    <a:pt x="106654" y="49733"/>
                  </a:lnTo>
                  <a:lnTo>
                    <a:pt x="106654" y="48412"/>
                  </a:lnTo>
                  <a:lnTo>
                    <a:pt x="106654" y="35026"/>
                  </a:lnTo>
                  <a:lnTo>
                    <a:pt x="106654" y="16560"/>
                  </a:lnTo>
                  <a:close/>
                </a:path>
                <a:path w="212725" h="54609">
                  <a:moveTo>
                    <a:pt x="142240" y="11023"/>
                  </a:moveTo>
                  <a:lnTo>
                    <a:pt x="133921" y="11125"/>
                  </a:lnTo>
                  <a:lnTo>
                    <a:pt x="128778" y="15659"/>
                  </a:lnTo>
                  <a:lnTo>
                    <a:pt x="125882" y="19913"/>
                  </a:lnTo>
                  <a:lnTo>
                    <a:pt x="125882" y="11493"/>
                  </a:lnTo>
                  <a:lnTo>
                    <a:pt x="119341" y="11493"/>
                  </a:lnTo>
                  <a:lnTo>
                    <a:pt x="119341" y="53111"/>
                  </a:lnTo>
                  <a:lnTo>
                    <a:pt x="126339" y="53111"/>
                  </a:lnTo>
                  <a:lnTo>
                    <a:pt x="126339" y="24079"/>
                  </a:lnTo>
                  <a:lnTo>
                    <a:pt x="133070" y="17411"/>
                  </a:lnTo>
                  <a:lnTo>
                    <a:pt x="142240" y="17221"/>
                  </a:lnTo>
                  <a:lnTo>
                    <a:pt x="142240" y="11023"/>
                  </a:lnTo>
                  <a:close/>
                </a:path>
                <a:path w="212725" h="54609">
                  <a:moveTo>
                    <a:pt x="175361" y="50571"/>
                  </a:moveTo>
                  <a:lnTo>
                    <a:pt x="173850" y="45097"/>
                  </a:lnTo>
                  <a:lnTo>
                    <a:pt x="171424" y="47040"/>
                  </a:lnTo>
                  <a:lnTo>
                    <a:pt x="168440" y="48145"/>
                  </a:lnTo>
                  <a:lnTo>
                    <a:pt x="161988" y="48145"/>
                  </a:lnTo>
                  <a:lnTo>
                    <a:pt x="160680" y="45377"/>
                  </a:lnTo>
                  <a:lnTo>
                    <a:pt x="160680" y="17449"/>
                  </a:lnTo>
                  <a:lnTo>
                    <a:pt x="173850" y="17449"/>
                  </a:lnTo>
                  <a:lnTo>
                    <a:pt x="173850" y="12026"/>
                  </a:lnTo>
                  <a:lnTo>
                    <a:pt x="160680" y="12026"/>
                  </a:lnTo>
                  <a:lnTo>
                    <a:pt x="160680" y="0"/>
                  </a:lnTo>
                  <a:lnTo>
                    <a:pt x="154228" y="0"/>
                  </a:lnTo>
                  <a:lnTo>
                    <a:pt x="154228" y="12026"/>
                  </a:lnTo>
                  <a:lnTo>
                    <a:pt x="146100" y="12026"/>
                  </a:lnTo>
                  <a:lnTo>
                    <a:pt x="146100" y="17449"/>
                  </a:lnTo>
                  <a:lnTo>
                    <a:pt x="153949" y="17449"/>
                  </a:lnTo>
                  <a:lnTo>
                    <a:pt x="153949" y="47586"/>
                  </a:lnTo>
                  <a:lnTo>
                    <a:pt x="155270" y="54114"/>
                  </a:lnTo>
                  <a:lnTo>
                    <a:pt x="168249" y="54114"/>
                  </a:lnTo>
                  <a:lnTo>
                    <a:pt x="173024" y="51777"/>
                  </a:lnTo>
                  <a:lnTo>
                    <a:pt x="175361" y="50571"/>
                  </a:lnTo>
                  <a:close/>
                </a:path>
                <a:path w="212725" h="54609">
                  <a:moveTo>
                    <a:pt x="212445" y="36004"/>
                  </a:moveTo>
                  <a:lnTo>
                    <a:pt x="208991" y="32816"/>
                  </a:lnTo>
                  <a:lnTo>
                    <a:pt x="208800" y="32537"/>
                  </a:lnTo>
                  <a:lnTo>
                    <a:pt x="205155" y="29260"/>
                  </a:lnTo>
                  <a:lnTo>
                    <a:pt x="202628" y="28714"/>
                  </a:lnTo>
                  <a:lnTo>
                    <a:pt x="197954" y="27863"/>
                  </a:lnTo>
                  <a:lnTo>
                    <a:pt x="192824" y="26835"/>
                  </a:lnTo>
                  <a:lnTo>
                    <a:pt x="188518" y="25908"/>
                  </a:lnTo>
                  <a:lnTo>
                    <a:pt x="188518" y="15544"/>
                  </a:lnTo>
                  <a:lnTo>
                    <a:pt x="199453" y="15544"/>
                  </a:lnTo>
                  <a:lnTo>
                    <a:pt x="204419" y="15900"/>
                  </a:lnTo>
                  <a:lnTo>
                    <a:pt x="209740" y="19088"/>
                  </a:lnTo>
                  <a:lnTo>
                    <a:pt x="210845" y="13004"/>
                  </a:lnTo>
                  <a:lnTo>
                    <a:pt x="205994" y="10769"/>
                  </a:lnTo>
                  <a:lnTo>
                    <a:pt x="202158" y="10020"/>
                  </a:lnTo>
                  <a:lnTo>
                    <a:pt x="181876" y="10020"/>
                  </a:lnTo>
                  <a:lnTo>
                    <a:pt x="181876" y="26835"/>
                  </a:lnTo>
                  <a:lnTo>
                    <a:pt x="184607" y="29832"/>
                  </a:lnTo>
                  <a:lnTo>
                    <a:pt x="186931" y="31610"/>
                  </a:lnTo>
                  <a:lnTo>
                    <a:pt x="189839" y="33667"/>
                  </a:lnTo>
                  <a:lnTo>
                    <a:pt x="191884" y="34036"/>
                  </a:lnTo>
                  <a:lnTo>
                    <a:pt x="200393" y="35712"/>
                  </a:lnTo>
                  <a:lnTo>
                    <a:pt x="205803" y="36842"/>
                  </a:lnTo>
                  <a:lnTo>
                    <a:pt x="205803" y="48247"/>
                  </a:lnTo>
                  <a:lnTo>
                    <a:pt x="189458" y="48247"/>
                  </a:lnTo>
                  <a:lnTo>
                    <a:pt x="184226" y="44780"/>
                  </a:lnTo>
                  <a:lnTo>
                    <a:pt x="182537" y="43662"/>
                  </a:lnTo>
                  <a:lnTo>
                    <a:pt x="181419" y="50012"/>
                  </a:lnTo>
                  <a:lnTo>
                    <a:pt x="184416" y="51498"/>
                  </a:lnTo>
                  <a:lnTo>
                    <a:pt x="189547" y="54114"/>
                  </a:lnTo>
                  <a:lnTo>
                    <a:pt x="203949" y="54114"/>
                  </a:lnTo>
                  <a:lnTo>
                    <a:pt x="207949" y="51142"/>
                  </a:lnTo>
                  <a:lnTo>
                    <a:pt x="210845" y="48882"/>
                  </a:lnTo>
                  <a:lnTo>
                    <a:pt x="212445" y="45161"/>
                  </a:lnTo>
                  <a:lnTo>
                    <a:pt x="212445" y="41135"/>
                  </a:lnTo>
                  <a:lnTo>
                    <a:pt x="212445" y="36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1760" y="1120389"/>
              <a:ext cx="168065" cy="72631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1177" y="2617811"/>
            <a:ext cx="328426" cy="13979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5552162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74" dirty="0"/>
              <a:t>Booting</a:t>
            </a:r>
            <a:r>
              <a:rPr sz="2959" spc="11" dirty="0"/>
              <a:t> </a:t>
            </a:r>
            <a:r>
              <a:rPr sz="2959" spc="-190" dirty="0"/>
              <a:t>on</a:t>
            </a:r>
            <a:r>
              <a:rPr sz="2959" spc="11" dirty="0"/>
              <a:t> </a:t>
            </a:r>
            <a:r>
              <a:rPr sz="2959" spc="-222" dirty="0"/>
              <a:t>embedded</a:t>
            </a:r>
            <a:r>
              <a:rPr sz="2959" spc="11" dirty="0"/>
              <a:t> </a:t>
            </a:r>
            <a:r>
              <a:rPr sz="2959" spc="-53" dirty="0"/>
              <a:t>CPUs:</a:t>
            </a:r>
            <a:r>
              <a:rPr sz="2959" spc="317" dirty="0"/>
              <a:t> </a:t>
            </a:r>
            <a:r>
              <a:rPr sz="2959" spc="-201" dirty="0"/>
              <a:t>case</a:t>
            </a:r>
            <a:r>
              <a:rPr sz="2959" spc="11" dirty="0"/>
              <a:t> </a:t>
            </a:r>
            <a:r>
              <a:rPr sz="2959" spc="-190" dirty="0"/>
              <a:t>2</a:t>
            </a:r>
            <a:endParaRPr sz="2959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26630" y="866358"/>
            <a:ext cx="10942238" cy="4847397"/>
          </a:xfrm>
          <a:prstGeom prst="rect">
            <a:avLst/>
          </a:prstGeom>
        </p:spPr>
        <p:txBody>
          <a:bodyPr vert="horz" wrap="square" lIns="0" tIns="76498" rIns="0" bIns="0" rtlCol="0">
            <a:spAutoFit/>
          </a:bodyPr>
          <a:lstStyle/>
          <a:p>
            <a:pPr marL="652247" indent="-374438">
              <a:lnSpc>
                <a:spcPct val="100000"/>
              </a:lnSpc>
              <a:spcBef>
                <a:spcPts val="602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32" dirty="0"/>
              <a:t>The</a:t>
            </a:r>
            <a:r>
              <a:rPr sz="2325" spc="21" dirty="0"/>
              <a:t> </a:t>
            </a:r>
            <a:r>
              <a:rPr sz="2325" spc="106" dirty="0"/>
              <a:t>CPU</a:t>
            </a:r>
            <a:r>
              <a:rPr sz="2325" spc="32" dirty="0"/>
              <a:t> </a:t>
            </a:r>
            <a:r>
              <a:rPr sz="2325" spc="-127" dirty="0"/>
              <a:t>has</a:t>
            </a:r>
            <a:r>
              <a:rPr sz="2325" spc="32" dirty="0"/>
              <a:t> </a:t>
            </a:r>
            <a:r>
              <a:rPr sz="2325" spc="-116" dirty="0"/>
              <a:t>an</a:t>
            </a:r>
            <a:r>
              <a:rPr sz="2325" spc="32" dirty="0"/>
              <a:t> </a:t>
            </a:r>
            <a:r>
              <a:rPr sz="2325" spc="-85" dirty="0"/>
              <a:t>integrated</a:t>
            </a:r>
            <a:r>
              <a:rPr sz="2325" spc="32" dirty="0"/>
              <a:t> </a:t>
            </a:r>
            <a:r>
              <a:rPr sz="2325" spc="-42" dirty="0"/>
              <a:t>boot</a:t>
            </a:r>
            <a:r>
              <a:rPr sz="2325" spc="32" dirty="0"/>
              <a:t> </a:t>
            </a:r>
            <a:r>
              <a:rPr sz="2325" spc="-106" dirty="0"/>
              <a:t>code</a:t>
            </a:r>
            <a:r>
              <a:rPr sz="2325" spc="32" dirty="0"/>
              <a:t> </a:t>
            </a:r>
            <a:r>
              <a:rPr sz="2325" spc="-42" dirty="0"/>
              <a:t>in</a:t>
            </a:r>
            <a:r>
              <a:rPr sz="2325" spc="32" dirty="0"/>
              <a:t> </a:t>
            </a:r>
            <a:r>
              <a:rPr sz="2325" spc="106" dirty="0"/>
              <a:t>ROM</a:t>
            </a:r>
            <a:endParaRPr sz="2325" dirty="0"/>
          </a:p>
          <a:p>
            <a:pPr marL="1238733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53" dirty="0">
                <a:latin typeface="Tahoma"/>
                <a:cs typeface="Tahoma"/>
              </a:rPr>
              <a:t>BootROM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on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AT91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21" dirty="0">
                <a:latin typeface="Tahoma"/>
                <a:cs typeface="Tahoma"/>
              </a:rPr>
              <a:t>CPUs,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106" dirty="0">
                <a:latin typeface="Tahoma"/>
                <a:cs typeface="Tahoma"/>
              </a:rPr>
              <a:t>“ROM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code”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on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63" dirty="0">
                <a:latin typeface="Tahoma"/>
                <a:cs typeface="Tahoma"/>
              </a:rPr>
              <a:t>OMAP,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etc.</a:t>
            </a:r>
            <a:endParaRPr sz="2114" dirty="0">
              <a:latin typeface="Tahoma"/>
              <a:cs typeface="Tahoma"/>
            </a:endParaRPr>
          </a:p>
          <a:p>
            <a:pPr marL="1238733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21" dirty="0">
                <a:latin typeface="Tahoma"/>
                <a:cs typeface="Tahoma"/>
              </a:rPr>
              <a:t>Exact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details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are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CPU-dependent</a:t>
            </a:r>
            <a:endParaRPr sz="2114" dirty="0">
              <a:latin typeface="Tahoma"/>
              <a:cs typeface="Tahoma"/>
            </a:endParaRPr>
          </a:p>
          <a:p>
            <a:pPr marL="652247" marR="208021" indent="-374438">
              <a:lnSpc>
                <a:spcPts val="2536"/>
              </a:lnSpc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11" dirty="0"/>
              <a:t>This</a:t>
            </a:r>
            <a:r>
              <a:rPr sz="2325" spc="42" dirty="0"/>
              <a:t> </a:t>
            </a:r>
            <a:r>
              <a:rPr sz="2325" spc="-42" dirty="0"/>
              <a:t>boot</a:t>
            </a:r>
            <a:r>
              <a:rPr sz="2325" spc="42" dirty="0"/>
              <a:t> </a:t>
            </a:r>
            <a:r>
              <a:rPr sz="2325" spc="-106" dirty="0"/>
              <a:t>code</a:t>
            </a:r>
            <a:r>
              <a:rPr sz="2325" spc="42" dirty="0"/>
              <a:t> </a:t>
            </a:r>
            <a:r>
              <a:rPr sz="2325" spc="-74" dirty="0"/>
              <a:t>is</a:t>
            </a:r>
            <a:r>
              <a:rPr sz="2325" spc="42" dirty="0"/>
              <a:t> </a:t>
            </a:r>
            <a:r>
              <a:rPr sz="2325" spc="-106" dirty="0"/>
              <a:t>able</a:t>
            </a:r>
            <a:r>
              <a:rPr sz="2325" spc="53" dirty="0"/>
              <a:t> </a:t>
            </a:r>
            <a:r>
              <a:rPr sz="2325" spc="-32" dirty="0"/>
              <a:t>to</a:t>
            </a:r>
            <a:r>
              <a:rPr sz="2325" spc="42" dirty="0"/>
              <a:t> </a:t>
            </a:r>
            <a:r>
              <a:rPr sz="2325" spc="-74" dirty="0"/>
              <a:t>load</a:t>
            </a:r>
            <a:r>
              <a:rPr sz="2325" spc="42" dirty="0"/>
              <a:t> </a:t>
            </a:r>
            <a:r>
              <a:rPr sz="2325" spc="-116" dirty="0"/>
              <a:t>a</a:t>
            </a:r>
            <a:r>
              <a:rPr sz="2325" spc="42" dirty="0"/>
              <a:t> </a:t>
            </a:r>
            <a:r>
              <a:rPr sz="2325" spc="-42" dirty="0"/>
              <a:t>first</a:t>
            </a:r>
            <a:r>
              <a:rPr sz="2325" spc="53" dirty="0"/>
              <a:t> </a:t>
            </a:r>
            <a:r>
              <a:rPr sz="2325" spc="-116" dirty="0"/>
              <a:t>stage</a:t>
            </a:r>
            <a:r>
              <a:rPr sz="2325" spc="42" dirty="0"/>
              <a:t> </a:t>
            </a:r>
            <a:r>
              <a:rPr sz="2325" spc="-74" dirty="0"/>
              <a:t>bootloader</a:t>
            </a:r>
            <a:r>
              <a:rPr sz="2325" spc="42" dirty="0"/>
              <a:t> </a:t>
            </a:r>
            <a:r>
              <a:rPr sz="2325" spc="-85" dirty="0"/>
              <a:t>from</a:t>
            </a:r>
            <a:r>
              <a:rPr sz="2325" spc="42" dirty="0"/>
              <a:t> </a:t>
            </a:r>
            <a:r>
              <a:rPr sz="2325" spc="-116" dirty="0"/>
              <a:t>a</a:t>
            </a:r>
            <a:r>
              <a:rPr sz="2325" spc="42" dirty="0"/>
              <a:t> </a:t>
            </a:r>
            <a:r>
              <a:rPr sz="2325" spc="-116" dirty="0"/>
              <a:t>storage</a:t>
            </a:r>
            <a:r>
              <a:rPr sz="2325" spc="53" dirty="0"/>
              <a:t> </a:t>
            </a:r>
            <a:r>
              <a:rPr sz="2325" spc="-106" dirty="0"/>
              <a:t>device</a:t>
            </a:r>
            <a:r>
              <a:rPr sz="2325" spc="42" dirty="0"/>
              <a:t> </a:t>
            </a:r>
            <a:r>
              <a:rPr sz="2325" spc="-42" dirty="0"/>
              <a:t>into </a:t>
            </a:r>
            <a:r>
              <a:rPr sz="2325" spc="-697" dirty="0"/>
              <a:t> </a:t>
            </a:r>
            <a:r>
              <a:rPr sz="2325" spc="-116" dirty="0"/>
              <a:t>an</a:t>
            </a:r>
            <a:r>
              <a:rPr sz="2325" spc="32" dirty="0"/>
              <a:t> </a:t>
            </a:r>
            <a:r>
              <a:rPr sz="2325" spc="-63" dirty="0"/>
              <a:t>internal</a:t>
            </a:r>
            <a:r>
              <a:rPr sz="2325" spc="32" dirty="0"/>
              <a:t> </a:t>
            </a:r>
            <a:r>
              <a:rPr sz="2325" spc="95" dirty="0"/>
              <a:t>SRAM</a:t>
            </a:r>
            <a:r>
              <a:rPr sz="2325" spc="32" dirty="0"/>
              <a:t> </a:t>
            </a:r>
            <a:r>
              <a:rPr sz="2325" spc="95" dirty="0"/>
              <a:t>(DRAM</a:t>
            </a:r>
            <a:r>
              <a:rPr sz="2325" spc="32" dirty="0"/>
              <a:t> </a:t>
            </a:r>
            <a:r>
              <a:rPr sz="2325" spc="-63" dirty="0"/>
              <a:t>not</a:t>
            </a:r>
            <a:r>
              <a:rPr sz="2325" spc="32" dirty="0"/>
              <a:t> </a:t>
            </a:r>
            <a:r>
              <a:rPr sz="2325" spc="-42" dirty="0"/>
              <a:t>initialized</a:t>
            </a:r>
            <a:r>
              <a:rPr sz="2325" spc="32" dirty="0"/>
              <a:t> </a:t>
            </a:r>
            <a:r>
              <a:rPr sz="2325" spc="-85" dirty="0"/>
              <a:t>yet)</a:t>
            </a:r>
            <a:endParaRPr sz="2325" dirty="0"/>
          </a:p>
          <a:p>
            <a:pPr marL="1238733" marR="178496" lvl="1" indent="-355649">
              <a:lnSpc>
                <a:spcPct val="100000"/>
              </a:lnSpc>
              <a:spcBef>
                <a:spcPts val="317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85" dirty="0">
                <a:latin typeface="Tahoma"/>
                <a:cs typeface="Tahoma"/>
              </a:rPr>
              <a:t>Storage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device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can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typically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be:</a:t>
            </a:r>
            <a:r>
              <a:rPr sz="2114" spc="285" dirty="0">
                <a:latin typeface="Tahoma"/>
                <a:cs typeface="Tahoma"/>
              </a:rPr>
              <a:t> </a:t>
            </a:r>
            <a:r>
              <a:rPr sz="2114" spc="106" dirty="0">
                <a:latin typeface="Tahoma"/>
                <a:cs typeface="Tahoma"/>
              </a:rPr>
              <a:t>MMC,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63" dirty="0">
                <a:latin typeface="Tahoma"/>
                <a:cs typeface="Tahoma"/>
              </a:rPr>
              <a:t>NAND,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1" dirty="0">
                <a:latin typeface="Tahoma"/>
                <a:cs typeface="Tahoma"/>
              </a:rPr>
              <a:t>SPI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flash,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106" dirty="0">
                <a:latin typeface="Tahoma"/>
                <a:cs typeface="Tahoma"/>
              </a:rPr>
              <a:t>UART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(transmitting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data </a:t>
            </a:r>
            <a:r>
              <a:rPr sz="2114" spc="-623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over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serial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line),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etc.</a:t>
            </a:r>
            <a:endParaRPr sz="2114" dirty="0">
              <a:latin typeface="Tahoma"/>
              <a:cs typeface="Tahoma"/>
            </a:endParaRPr>
          </a:p>
          <a:p>
            <a:pPr marL="652247" indent="-374438">
              <a:lnSpc>
                <a:spcPct val="100000"/>
              </a:lnSpc>
              <a:spcBef>
                <a:spcPts val="402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32" dirty="0"/>
              <a:t>The</a:t>
            </a:r>
            <a:r>
              <a:rPr sz="2325" spc="11" dirty="0"/>
              <a:t> </a:t>
            </a:r>
            <a:r>
              <a:rPr sz="2325" spc="-42" dirty="0"/>
              <a:t>first</a:t>
            </a:r>
            <a:r>
              <a:rPr sz="2325" spc="21" dirty="0"/>
              <a:t> </a:t>
            </a:r>
            <a:r>
              <a:rPr sz="2325" spc="-116" dirty="0"/>
              <a:t>stage</a:t>
            </a:r>
            <a:r>
              <a:rPr sz="2325" spc="21" dirty="0"/>
              <a:t> </a:t>
            </a:r>
            <a:r>
              <a:rPr sz="2325" spc="-74" dirty="0"/>
              <a:t>bootloader</a:t>
            </a:r>
            <a:r>
              <a:rPr sz="2325" spc="21" dirty="0"/>
              <a:t> </a:t>
            </a:r>
            <a:r>
              <a:rPr sz="2325" spc="-74" dirty="0"/>
              <a:t>is</a:t>
            </a:r>
            <a:endParaRPr sz="2325" dirty="0"/>
          </a:p>
          <a:p>
            <a:pPr marL="1238733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32" dirty="0">
                <a:latin typeface="Tahoma"/>
                <a:cs typeface="Tahoma"/>
              </a:rPr>
              <a:t>Limited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size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due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hardware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constraints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74" dirty="0">
                <a:latin typeface="Tahoma"/>
                <a:cs typeface="Tahoma"/>
              </a:rPr>
              <a:t>(SRAM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size)</a:t>
            </a:r>
            <a:endParaRPr sz="2114" dirty="0">
              <a:latin typeface="Tahoma"/>
              <a:cs typeface="Tahoma"/>
            </a:endParaRPr>
          </a:p>
          <a:p>
            <a:pPr marL="1238733" marR="64419" lvl="1" indent="-355649">
              <a:lnSpc>
                <a:spcPts val="2536"/>
              </a:lnSpc>
              <a:spcBef>
                <a:spcPts val="85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53" dirty="0">
                <a:latin typeface="Tahoma"/>
                <a:cs typeface="Tahoma"/>
              </a:rPr>
              <a:t>Provided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either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by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11" dirty="0">
                <a:latin typeface="Tahoma"/>
                <a:cs typeface="Tahoma"/>
              </a:rPr>
              <a:t>U-Boot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(called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i="1" spc="-137" dirty="0">
                <a:latin typeface="Arial"/>
                <a:cs typeface="Arial"/>
              </a:rPr>
              <a:t>Secondary</a:t>
            </a:r>
            <a:r>
              <a:rPr sz="2114" i="1" spc="106" dirty="0">
                <a:latin typeface="Arial"/>
                <a:cs typeface="Arial"/>
              </a:rPr>
              <a:t> </a:t>
            </a:r>
            <a:r>
              <a:rPr sz="2114" i="1" spc="-85" dirty="0">
                <a:latin typeface="Arial"/>
                <a:cs typeface="Arial"/>
              </a:rPr>
              <a:t>Program</a:t>
            </a:r>
            <a:r>
              <a:rPr sz="2114" i="1" spc="95" dirty="0">
                <a:latin typeface="Arial"/>
                <a:cs typeface="Arial"/>
              </a:rPr>
              <a:t> </a:t>
            </a:r>
            <a:r>
              <a:rPr sz="2114" i="1" spc="-106" dirty="0">
                <a:latin typeface="Arial"/>
                <a:cs typeface="Arial"/>
              </a:rPr>
              <a:t>Loader</a:t>
            </a:r>
            <a:r>
              <a:rPr sz="2114" i="1" spc="106" dirty="0">
                <a:latin typeface="Arial"/>
                <a:cs typeface="Arial"/>
              </a:rPr>
              <a:t> </a:t>
            </a:r>
            <a:r>
              <a:rPr sz="2114" i="1" spc="-11" dirty="0">
                <a:latin typeface="Arial"/>
                <a:cs typeface="Arial"/>
              </a:rPr>
              <a:t>-</a:t>
            </a:r>
            <a:r>
              <a:rPr sz="2114" i="1" spc="106" dirty="0">
                <a:latin typeface="Arial"/>
                <a:cs typeface="Arial"/>
              </a:rPr>
              <a:t> </a:t>
            </a:r>
            <a:r>
              <a:rPr sz="2114" i="1" spc="-85" dirty="0">
                <a:latin typeface="Arial"/>
                <a:cs typeface="Arial"/>
              </a:rPr>
              <a:t>SPL</a:t>
            </a:r>
            <a:r>
              <a:rPr sz="2114" spc="-85" dirty="0">
                <a:latin typeface="Tahoma"/>
                <a:cs typeface="Tahoma"/>
              </a:rPr>
              <a:t>),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or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by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106" dirty="0">
                <a:latin typeface="Tahoma"/>
                <a:cs typeface="Tahoma"/>
              </a:rPr>
              <a:t>CPU </a:t>
            </a:r>
            <a:r>
              <a:rPr sz="2114" spc="-634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vendor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(usually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open-source).</a:t>
            </a:r>
            <a:endParaRPr sz="2114" dirty="0">
              <a:latin typeface="Tahoma"/>
              <a:cs typeface="Tahoma"/>
            </a:endParaRPr>
          </a:p>
          <a:p>
            <a:pPr marL="652247" marR="181180" indent="-374438">
              <a:lnSpc>
                <a:spcPct val="102600"/>
              </a:lnSpc>
              <a:spcBef>
                <a:spcPts val="581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11" dirty="0"/>
              <a:t>This</a:t>
            </a:r>
            <a:r>
              <a:rPr sz="2325" spc="32" dirty="0"/>
              <a:t> </a:t>
            </a:r>
            <a:r>
              <a:rPr sz="2325" spc="-42" dirty="0"/>
              <a:t>first</a:t>
            </a:r>
            <a:r>
              <a:rPr sz="2325" spc="42" dirty="0"/>
              <a:t> </a:t>
            </a:r>
            <a:r>
              <a:rPr sz="2325" spc="-116" dirty="0"/>
              <a:t>stage</a:t>
            </a:r>
            <a:r>
              <a:rPr sz="2325" spc="42" dirty="0"/>
              <a:t> </a:t>
            </a:r>
            <a:r>
              <a:rPr sz="2325" spc="-74" dirty="0"/>
              <a:t>bootloader</a:t>
            </a:r>
            <a:r>
              <a:rPr sz="2325" spc="42" dirty="0"/>
              <a:t> </a:t>
            </a:r>
            <a:r>
              <a:rPr sz="2325" spc="-85" dirty="0"/>
              <a:t>must</a:t>
            </a:r>
            <a:r>
              <a:rPr sz="2325" spc="42" dirty="0"/>
              <a:t> </a:t>
            </a:r>
            <a:r>
              <a:rPr sz="2325" spc="-32" dirty="0"/>
              <a:t>initialize</a:t>
            </a:r>
            <a:r>
              <a:rPr sz="2325" spc="42" dirty="0"/>
              <a:t> </a:t>
            </a:r>
            <a:r>
              <a:rPr sz="2325" spc="116" dirty="0"/>
              <a:t>DRAM</a:t>
            </a:r>
            <a:r>
              <a:rPr sz="2325" spc="42" dirty="0"/>
              <a:t> </a:t>
            </a:r>
            <a:r>
              <a:rPr sz="2325" spc="-106" dirty="0"/>
              <a:t>and</a:t>
            </a:r>
            <a:r>
              <a:rPr sz="2325" spc="32" dirty="0"/>
              <a:t> </a:t>
            </a:r>
            <a:r>
              <a:rPr sz="2325" spc="-85" dirty="0"/>
              <a:t>other</a:t>
            </a:r>
            <a:r>
              <a:rPr sz="2325" spc="42" dirty="0"/>
              <a:t> </a:t>
            </a:r>
            <a:r>
              <a:rPr sz="2325" spc="-137" dirty="0"/>
              <a:t>hardware</a:t>
            </a:r>
            <a:r>
              <a:rPr sz="2325" spc="42" dirty="0"/>
              <a:t> </a:t>
            </a:r>
            <a:r>
              <a:rPr sz="2325" spc="-116" dirty="0"/>
              <a:t>devices</a:t>
            </a:r>
            <a:r>
              <a:rPr sz="2325" spc="42" dirty="0"/>
              <a:t> </a:t>
            </a:r>
            <a:r>
              <a:rPr sz="2325" spc="-106" dirty="0"/>
              <a:t>and </a:t>
            </a:r>
            <a:r>
              <a:rPr sz="2325" spc="-697" dirty="0"/>
              <a:t> </a:t>
            </a:r>
            <a:r>
              <a:rPr sz="2325" spc="-74" dirty="0"/>
              <a:t>load</a:t>
            </a:r>
            <a:r>
              <a:rPr sz="2325" spc="32" dirty="0"/>
              <a:t> </a:t>
            </a:r>
            <a:r>
              <a:rPr sz="2325" spc="-116" dirty="0"/>
              <a:t>a</a:t>
            </a:r>
            <a:r>
              <a:rPr sz="2325" spc="32" dirty="0"/>
              <a:t> </a:t>
            </a:r>
            <a:r>
              <a:rPr sz="2325" spc="-127" dirty="0"/>
              <a:t>second</a:t>
            </a:r>
            <a:r>
              <a:rPr sz="2325" spc="32" dirty="0"/>
              <a:t> </a:t>
            </a:r>
            <a:r>
              <a:rPr sz="2325" spc="-116" dirty="0"/>
              <a:t>stage</a:t>
            </a:r>
            <a:r>
              <a:rPr sz="2325" spc="32" dirty="0"/>
              <a:t> </a:t>
            </a:r>
            <a:r>
              <a:rPr sz="2325" spc="-74" dirty="0"/>
              <a:t>bootloader</a:t>
            </a:r>
            <a:r>
              <a:rPr sz="2325" spc="32" dirty="0"/>
              <a:t> </a:t>
            </a:r>
            <a:r>
              <a:rPr sz="2325" spc="-42" dirty="0"/>
              <a:t>into</a:t>
            </a:r>
            <a:r>
              <a:rPr sz="2325" spc="32" dirty="0"/>
              <a:t> </a:t>
            </a:r>
            <a:r>
              <a:rPr sz="2325" spc="116" dirty="0"/>
              <a:t>DRAM</a:t>
            </a:r>
            <a:endParaRPr sz="23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6008467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74" dirty="0"/>
              <a:t>Booting</a:t>
            </a:r>
            <a:r>
              <a:rPr sz="2959" dirty="0"/>
              <a:t> </a:t>
            </a:r>
            <a:r>
              <a:rPr sz="2959" spc="-190" dirty="0"/>
              <a:t>on</a:t>
            </a:r>
            <a:r>
              <a:rPr sz="2959" dirty="0"/>
              <a:t> </a:t>
            </a:r>
            <a:r>
              <a:rPr sz="2959" spc="-63" dirty="0"/>
              <a:t>Microchip</a:t>
            </a:r>
            <a:r>
              <a:rPr sz="2959" spc="11" dirty="0"/>
              <a:t> </a:t>
            </a:r>
            <a:r>
              <a:rPr sz="2959" spc="106" dirty="0"/>
              <a:t>ARM</a:t>
            </a:r>
            <a:r>
              <a:rPr sz="2959" dirty="0"/>
              <a:t> SAMA5D3</a:t>
            </a:r>
            <a:endParaRPr sz="2959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221" y="1031331"/>
            <a:ext cx="2345354" cy="51889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32598" y="1422318"/>
            <a:ext cx="7617614" cy="4551705"/>
          </a:xfrm>
          <a:prstGeom prst="rect">
            <a:avLst/>
          </a:prstGeom>
        </p:spPr>
        <p:txBody>
          <a:bodyPr vert="horz" wrap="square" lIns="0" tIns="21473" rIns="0" bIns="0" rtlCol="0">
            <a:spAutoFit/>
          </a:bodyPr>
          <a:lstStyle/>
          <a:p>
            <a:pPr marL="665668" marR="475094" indent="-334176">
              <a:lnSpc>
                <a:spcPct val="101499"/>
              </a:lnSpc>
              <a:spcBef>
                <a:spcPts val="169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1902" b="1" spc="-32" dirty="0">
                <a:latin typeface="Arial"/>
                <a:cs typeface="Arial"/>
              </a:rPr>
              <a:t>RomBoot</a:t>
            </a:r>
            <a:r>
              <a:rPr sz="1902" spc="-32" dirty="0">
                <a:latin typeface="Microsoft Sans Serif"/>
                <a:cs typeface="Microsoft Sans Serif"/>
              </a:rPr>
              <a:t>:</a:t>
            </a:r>
            <a:r>
              <a:rPr sz="1902" spc="-21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tries</a:t>
            </a:r>
            <a:r>
              <a:rPr sz="1902" spc="-32" dirty="0">
                <a:latin typeface="Microsoft Sans Serif"/>
                <a:cs typeface="Microsoft Sans Serif"/>
              </a:rPr>
              <a:t> </a:t>
            </a:r>
            <a:r>
              <a:rPr sz="1902" spc="42" dirty="0">
                <a:latin typeface="Microsoft Sans Serif"/>
                <a:cs typeface="Microsoft Sans Serif"/>
              </a:rPr>
              <a:t>to </a:t>
            </a:r>
            <a:r>
              <a:rPr sz="1902" spc="-11" dirty="0">
                <a:latin typeface="Microsoft Sans Serif"/>
                <a:cs typeface="Microsoft Sans Serif"/>
              </a:rPr>
              <a:t>find </a:t>
            </a:r>
            <a:r>
              <a:rPr sz="1902" spc="-127" dirty="0">
                <a:latin typeface="Microsoft Sans Serif"/>
                <a:cs typeface="Microsoft Sans Serif"/>
              </a:rPr>
              <a:t>a</a:t>
            </a:r>
            <a:r>
              <a:rPr sz="1902" spc="-116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valid</a:t>
            </a:r>
            <a:r>
              <a:rPr sz="1902" spc="-32" dirty="0">
                <a:latin typeface="Microsoft Sans Serif"/>
                <a:cs typeface="Microsoft Sans Serif"/>
              </a:rPr>
              <a:t> </a:t>
            </a:r>
            <a:r>
              <a:rPr sz="1902" spc="-21" dirty="0">
                <a:latin typeface="Microsoft Sans Serif"/>
                <a:cs typeface="Microsoft Sans Serif"/>
              </a:rPr>
              <a:t>bootstrap </a:t>
            </a:r>
            <a:r>
              <a:rPr sz="1902" spc="-85" dirty="0">
                <a:latin typeface="Microsoft Sans Serif"/>
                <a:cs typeface="Microsoft Sans Serif"/>
              </a:rPr>
              <a:t>image</a:t>
            </a:r>
            <a:r>
              <a:rPr sz="1902" spc="-74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from </a:t>
            </a:r>
            <a:r>
              <a:rPr sz="1902" spc="-74" dirty="0">
                <a:latin typeface="Microsoft Sans Serif"/>
                <a:cs typeface="Microsoft Sans Serif"/>
              </a:rPr>
              <a:t>various </a:t>
            </a:r>
            <a:r>
              <a:rPr sz="1902" spc="-63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storage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106" dirty="0">
                <a:latin typeface="Microsoft Sans Serif"/>
                <a:cs typeface="Microsoft Sans Serif"/>
              </a:rPr>
              <a:t>sources,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and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63" dirty="0">
                <a:latin typeface="Microsoft Sans Serif"/>
                <a:cs typeface="Microsoft Sans Serif"/>
              </a:rPr>
              <a:t>load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95" dirty="0">
                <a:latin typeface="Microsoft Sans Serif"/>
                <a:cs typeface="Microsoft Sans Serif"/>
              </a:rPr>
              <a:t>it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11" dirty="0">
                <a:latin typeface="Microsoft Sans Serif"/>
                <a:cs typeface="Microsoft Sans Serif"/>
              </a:rPr>
              <a:t>into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SRAM</a:t>
            </a:r>
            <a:r>
              <a:rPr sz="1902" spc="159" dirty="0">
                <a:latin typeface="Microsoft Sans Serif"/>
                <a:cs typeface="Microsoft Sans Serif"/>
              </a:rPr>
              <a:t> </a:t>
            </a:r>
            <a:r>
              <a:rPr sz="1902" spc="32" dirty="0">
                <a:latin typeface="Microsoft Sans Serif"/>
                <a:cs typeface="Microsoft Sans Serif"/>
              </a:rPr>
              <a:t>(DRAM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11" dirty="0">
                <a:latin typeface="Microsoft Sans Serif"/>
                <a:cs typeface="Microsoft Sans Serif"/>
              </a:rPr>
              <a:t>not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21" dirty="0">
                <a:latin typeface="Microsoft Sans Serif"/>
                <a:cs typeface="Microsoft Sans Serif"/>
              </a:rPr>
              <a:t>initialized </a:t>
            </a:r>
            <a:r>
              <a:rPr sz="1902" spc="-476" dirty="0">
                <a:latin typeface="Microsoft Sans Serif"/>
                <a:cs typeface="Microsoft Sans Serif"/>
              </a:rPr>
              <a:t> </a:t>
            </a:r>
            <a:r>
              <a:rPr sz="1902" dirty="0">
                <a:latin typeface="Microsoft Sans Serif"/>
                <a:cs typeface="Microsoft Sans Serif"/>
              </a:rPr>
              <a:t>yet).</a:t>
            </a:r>
            <a:r>
              <a:rPr sz="1902" spc="11" dirty="0">
                <a:latin typeface="Microsoft Sans Serif"/>
                <a:cs typeface="Microsoft Sans Serif"/>
              </a:rPr>
              <a:t> </a:t>
            </a:r>
            <a:r>
              <a:rPr sz="1902" spc="-116" dirty="0">
                <a:latin typeface="Microsoft Sans Serif"/>
                <a:cs typeface="Microsoft Sans Serif"/>
              </a:rPr>
              <a:t>Size</a:t>
            </a:r>
            <a:r>
              <a:rPr sz="1902" spc="-106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limited </a:t>
            </a:r>
            <a:r>
              <a:rPr sz="1902" spc="42" dirty="0">
                <a:latin typeface="Microsoft Sans Serif"/>
                <a:cs typeface="Microsoft Sans Serif"/>
              </a:rPr>
              <a:t>to </a:t>
            </a:r>
            <a:r>
              <a:rPr sz="1902" spc="-85" dirty="0">
                <a:latin typeface="Microsoft Sans Serif"/>
                <a:cs typeface="Microsoft Sans Serif"/>
              </a:rPr>
              <a:t>64</a:t>
            </a:r>
            <a:r>
              <a:rPr sz="1902" spc="-74" dirty="0">
                <a:latin typeface="Microsoft Sans Serif"/>
                <a:cs typeface="Microsoft Sans Serif"/>
              </a:rPr>
              <a:t> </a:t>
            </a:r>
            <a:r>
              <a:rPr sz="1902" spc="42" dirty="0">
                <a:latin typeface="Microsoft Sans Serif"/>
                <a:cs typeface="Microsoft Sans Serif"/>
              </a:rPr>
              <a:t>KB. </a:t>
            </a:r>
            <a:r>
              <a:rPr sz="1902" spc="-42" dirty="0">
                <a:latin typeface="Microsoft Sans Serif"/>
                <a:cs typeface="Microsoft Sans Serif"/>
              </a:rPr>
              <a:t>No </a:t>
            </a:r>
            <a:r>
              <a:rPr sz="1902" spc="-106" dirty="0">
                <a:latin typeface="Microsoft Sans Serif"/>
                <a:cs typeface="Microsoft Sans Serif"/>
              </a:rPr>
              <a:t>user</a:t>
            </a:r>
            <a:r>
              <a:rPr sz="1902" spc="-95" dirty="0">
                <a:latin typeface="Microsoft Sans Serif"/>
                <a:cs typeface="Microsoft Sans Serif"/>
              </a:rPr>
              <a:t> </a:t>
            </a:r>
            <a:r>
              <a:rPr sz="1902" spc="-21" dirty="0">
                <a:latin typeface="Microsoft Sans Serif"/>
                <a:cs typeface="Microsoft Sans Serif"/>
              </a:rPr>
              <a:t>interaction </a:t>
            </a:r>
            <a:r>
              <a:rPr sz="1902" spc="-85" dirty="0">
                <a:latin typeface="Microsoft Sans Serif"/>
                <a:cs typeface="Microsoft Sans Serif"/>
              </a:rPr>
              <a:t>possible</a:t>
            </a:r>
            <a:r>
              <a:rPr sz="1902" spc="-74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in </a:t>
            </a:r>
            <a:r>
              <a:rPr sz="1902" dirty="0">
                <a:latin typeface="Microsoft Sans Serif"/>
                <a:cs typeface="Microsoft Sans Serif"/>
              </a:rPr>
              <a:t> </a:t>
            </a:r>
            <a:r>
              <a:rPr sz="1902" spc="-63" dirty="0">
                <a:latin typeface="Microsoft Sans Serif"/>
                <a:cs typeface="Microsoft Sans Serif"/>
              </a:rPr>
              <a:t>standard</a:t>
            </a:r>
            <a:r>
              <a:rPr sz="1902" spc="127" dirty="0">
                <a:latin typeface="Microsoft Sans Serif"/>
                <a:cs typeface="Microsoft Sans Serif"/>
              </a:rPr>
              <a:t> </a:t>
            </a:r>
            <a:r>
              <a:rPr sz="1902" spc="11" dirty="0">
                <a:latin typeface="Microsoft Sans Serif"/>
                <a:cs typeface="Microsoft Sans Serif"/>
              </a:rPr>
              <a:t>boot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63" dirty="0">
                <a:latin typeface="Microsoft Sans Serif"/>
                <a:cs typeface="Microsoft Sans Serif"/>
              </a:rPr>
              <a:t>mode.</a:t>
            </a:r>
            <a:endParaRPr sz="1902">
              <a:latin typeface="Microsoft Sans Serif"/>
              <a:cs typeface="Microsoft Sans Serif"/>
            </a:endParaRPr>
          </a:p>
          <a:p>
            <a:pPr marL="665668" marR="88577" indent="-334176" algn="just">
              <a:lnSpc>
                <a:spcPct val="101499"/>
              </a:lnSpc>
              <a:spcBef>
                <a:spcPts val="835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1902" b="1" spc="11" dirty="0">
                <a:latin typeface="Arial"/>
                <a:cs typeface="Arial"/>
              </a:rPr>
              <a:t>U-Boot </a:t>
            </a:r>
            <a:r>
              <a:rPr sz="1902" b="1" spc="-32" dirty="0">
                <a:latin typeface="Arial"/>
                <a:cs typeface="Arial"/>
              </a:rPr>
              <a:t>SPL</a:t>
            </a:r>
            <a:r>
              <a:rPr sz="1902" spc="-32" dirty="0">
                <a:latin typeface="Microsoft Sans Serif"/>
                <a:cs typeface="Microsoft Sans Serif"/>
              </a:rPr>
              <a:t>: </a:t>
            </a:r>
            <a:r>
              <a:rPr sz="1902" spc="-74" dirty="0">
                <a:latin typeface="Microsoft Sans Serif"/>
                <a:cs typeface="Microsoft Sans Serif"/>
              </a:rPr>
              <a:t>runs</a:t>
            </a:r>
            <a:r>
              <a:rPr sz="1902" spc="349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from </a:t>
            </a:r>
            <a:r>
              <a:rPr sz="1902" spc="-32" dirty="0">
                <a:latin typeface="Microsoft Sans Serif"/>
                <a:cs typeface="Microsoft Sans Serif"/>
              </a:rPr>
              <a:t>SRAM. </a:t>
            </a:r>
            <a:r>
              <a:rPr sz="1902" spc="-42" dirty="0">
                <a:latin typeface="Microsoft Sans Serif"/>
                <a:cs typeface="Microsoft Sans Serif"/>
              </a:rPr>
              <a:t>Initializes </a:t>
            </a:r>
            <a:r>
              <a:rPr sz="1902" spc="-32" dirty="0">
                <a:latin typeface="Microsoft Sans Serif"/>
                <a:cs typeface="Microsoft Sans Serif"/>
              </a:rPr>
              <a:t>the </a:t>
            </a:r>
            <a:r>
              <a:rPr sz="1902" spc="11" dirty="0">
                <a:latin typeface="Microsoft Sans Serif"/>
                <a:cs typeface="Microsoft Sans Serif"/>
              </a:rPr>
              <a:t>DRAM, </a:t>
            </a:r>
            <a:r>
              <a:rPr sz="1902" spc="-32" dirty="0">
                <a:latin typeface="Microsoft Sans Serif"/>
                <a:cs typeface="Microsoft Sans Serif"/>
              </a:rPr>
              <a:t>the </a:t>
            </a:r>
            <a:r>
              <a:rPr sz="1902" spc="11" dirty="0">
                <a:latin typeface="Microsoft Sans Serif"/>
                <a:cs typeface="Microsoft Sans Serif"/>
              </a:rPr>
              <a:t>NAND </a:t>
            </a:r>
            <a:r>
              <a:rPr sz="1902" spc="21" dirty="0">
                <a:latin typeface="Microsoft Sans Serif"/>
                <a:cs typeface="Microsoft Sans Serif"/>
              </a:rPr>
              <a:t> </a:t>
            </a:r>
            <a:r>
              <a:rPr sz="1902" spc="-63" dirty="0">
                <a:latin typeface="Microsoft Sans Serif"/>
                <a:cs typeface="Microsoft Sans Serif"/>
              </a:rPr>
              <a:t>or </a:t>
            </a:r>
            <a:r>
              <a:rPr sz="1902" spc="-74" dirty="0">
                <a:latin typeface="Microsoft Sans Serif"/>
                <a:cs typeface="Microsoft Sans Serif"/>
              </a:rPr>
              <a:t>SPI </a:t>
            </a:r>
            <a:r>
              <a:rPr sz="1902" spc="-21" dirty="0">
                <a:latin typeface="Microsoft Sans Serif"/>
                <a:cs typeface="Microsoft Sans Serif"/>
              </a:rPr>
              <a:t>controller, </a:t>
            </a:r>
            <a:r>
              <a:rPr sz="1902" spc="-85" dirty="0">
                <a:latin typeface="Microsoft Sans Serif"/>
                <a:cs typeface="Microsoft Sans Serif"/>
              </a:rPr>
              <a:t>and </a:t>
            </a:r>
            <a:r>
              <a:rPr sz="1902" spc="-95" dirty="0">
                <a:latin typeface="Microsoft Sans Serif"/>
                <a:cs typeface="Microsoft Sans Serif"/>
              </a:rPr>
              <a:t>loads </a:t>
            </a:r>
            <a:r>
              <a:rPr sz="1902" spc="-32" dirty="0">
                <a:latin typeface="Microsoft Sans Serif"/>
                <a:cs typeface="Microsoft Sans Serif"/>
              </a:rPr>
              <a:t>the </a:t>
            </a:r>
            <a:r>
              <a:rPr sz="1902" spc="-106" dirty="0">
                <a:latin typeface="Microsoft Sans Serif"/>
                <a:cs typeface="Microsoft Sans Serif"/>
              </a:rPr>
              <a:t>secondary </a:t>
            </a:r>
            <a:r>
              <a:rPr sz="1902" spc="-42" dirty="0">
                <a:latin typeface="Microsoft Sans Serif"/>
                <a:cs typeface="Microsoft Sans Serif"/>
              </a:rPr>
              <a:t>bootloader </a:t>
            </a:r>
            <a:r>
              <a:rPr sz="1902" spc="11" dirty="0">
                <a:latin typeface="Microsoft Sans Serif"/>
                <a:cs typeface="Microsoft Sans Serif"/>
              </a:rPr>
              <a:t>into DRAM </a:t>
            </a:r>
            <a:r>
              <a:rPr sz="1902" spc="21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and</a:t>
            </a:r>
            <a:r>
              <a:rPr sz="1902" spc="127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starts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63" dirty="0">
                <a:latin typeface="Microsoft Sans Serif"/>
                <a:cs typeface="Microsoft Sans Serif"/>
              </a:rPr>
              <a:t>it.</a:t>
            </a:r>
            <a:r>
              <a:rPr sz="1902" spc="359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No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106" dirty="0">
                <a:latin typeface="Microsoft Sans Serif"/>
                <a:cs typeface="Microsoft Sans Serif"/>
              </a:rPr>
              <a:t>user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21" dirty="0">
                <a:latin typeface="Microsoft Sans Serif"/>
                <a:cs typeface="Microsoft Sans Serif"/>
              </a:rPr>
              <a:t>interaction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possible.</a:t>
            </a:r>
            <a:endParaRPr sz="1902">
              <a:latin typeface="Microsoft Sans Serif"/>
              <a:cs typeface="Microsoft Sans Serif"/>
            </a:endParaRPr>
          </a:p>
          <a:p>
            <a:pPr marL="665668" marR="64419" indent="-334176">
              <a:lnSpc>
                <a:spcPct val="101499"/>
              </a:lnSpc>
              <a:spcBef>
                <a:spcPts val="845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1902" b="1" spc="11" dirty="0">
                <a:latin typeface="Arial"/>
                <a:cs typeface="Arial"/>
              </a:rPr>
              <a:t>U-Boot</a:t>
            </a:r>
            <a:r>
              <a:rPr sz="1902" spc="11" dirty="0">
                <a:latin typeface="Microsoft Sans Serif"/>
                <a:cs typeface="Microsoft Sans Serif"/>
              </a:rPr>
              <a:t>:  </a:t>
            </a:r>
            <a:r>
              <a:rPr sz="1902" spc="-74" dirty="0">
                <a:latin typeface="Microsoft Sans Serif"/>
                <a:cs typeface="Microsoft Sans Serif"/>
              </a:rPr>
              <a:t>runs</a:t>
            </a:r>
            <a:r>
              <a:rPr sz="1902" spc="349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from </a:t>
            </a:r>
            <a:r>
              <a:rPr sz="1902" spc="11" dirty="0">
                <a:latin typeface="Microsoft Sans Serif"/>
                <a:cs typeface="Microsoft Sans Serif"/>
              </a:rPr>
              <a:t>DRAM. </a:t>
            </a:r>
            <a:r>
              <a:rPr sz="1902" spc="-42" dirty="0">
                <a:latin typeface="Microsoft Sans Serif"/>
                <a:cs typeface="Microsoft Sans Serif"/>
              </a:rPr>
              <a:t>Initializes</a:t>
            </a:r>
            <a:r>
              <a:rPr sz="1902" spc="423" dirty="0">
                <a:latin typeface="Microsoft Sans Serif"/>
                <a:cs typeface="Microsoft Sans Serif"/>
              </a:rPr>
              <a:t> </a:t>
            </a:r>
            <a:r>
              <a:rPr sz="1902" spc="-137" dirty="0">
                <a:latin typeface="Microsoft Sans Serif"/>
                <a:cs typeface="Microsoft Sans Serif"/>
              </a:rPr>
              <a:t>some</a:t>
            </a:r>
            <a:r>
              <a:rPr sz="1902" spc="232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other</a:t>
            </a:r>
            <a:r>
              <a:rPr sz="1902" spc="444" dirty="0">
                <a:latin typeface="Microsoft Sans Serif"/>
                <a:cs typeface="Microsoft Sans Serif"/>
              </a:rPr>
              <a:t> </a:t>
            </a:r>
            <a:r>
              <a:rPr sz="1902" spc="-95" dirty="0">
                <a:latin typeface="Microsoft Sans Serif"/>
                <a:cs typeface="Microsoft Sans Serif"/>
              </a:rPr>
              <a:t>hardware </a:t>
            </a:r>
            <a:r>
              <a:rPr sz="1902" spc="-85" dirty="0">
                <a:latin typeface="Microsoft Sans Serif"/>
                <a:cs typeface="Microsoft Sans Serif"/>
              </a:rPr>
              <a:t> </a:t>
            </a:r>
            <a:r>
              <a:rPr sz="1902" spc="-116" dirty="0">
                <a:latin typeface="Microsoft Sans Serif"/>
                <a:cs typeface="Microsoft Sans Serif"/>
              </a:rPr>
              <a:t>devices</a:t>
            </a:r>
            <a:r>
              <a:rPr sz="1902" spc="116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(network,</a:t>
            </a:r>
            <a:r>
              <a:rPr sz="1902" spc="116" dirty="0">
                <a:latin typeface="Microsoft Sans Serif"/>
                <a:cs typeface="Microsoft Sans Serif"/>
              </a:rPr>
              <a:t> </a:t>
            </a:r>
            <a:r>
              <a:rPr sz="1902" spc="-53" dirty="0">
                <a:latin typeface="Microsoft Sans Serif"/>
                <a:cs typeface="Microsoft Sans Serif"/>
              </a:rPr>
              <a:t>USB,</a:t>
            </a:r>
            <a:r>
              <a:rPr sz="1902" spc="127" dirty="0">
                <a:latin typeface="Microsoft Sans Serif"/>
                <a:cs typeface="Microsoft Sans Serif"/>
              </a:rPr>
              <a:t> </a:t>
            </a:r>
            <a:r>
              <a:rPr sz="1902" dirty="0">
                <a:latin typeface="Microsoft Sans Serif"/>
                <a:cs typeface="Microsoft Sans Serif"/>
              </a:rPr>
              <a:t>etc.).</a:t>
            </a:r>
            <a:r>
              <a:rPr sz="1902" spc="370" dirty="0">
                <a:latin typeface="Microsoft Sans Serif"/>
                <a:cs typeface="Microsoft Sans Serif"/>
              </a:rPr>
              <a:t> </a:t>
            </a:r>
            <a:r>
              <a:rPr sz="1902" spc="-95" dirty="0">
                <a:latin typeface="Microsoft Sans Serif"/>
                <a:cs typeface="Microsoft Sans Serif"/>
              </a:rPr>
              <a:t>Loads</a:t>
            </a:r>
            <a:r>
              <a:rPr sz="1902" spc="116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the</a:t>
            </a:r>
            <a:r>
              <a:rPr sz="1902" spc="127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kernel</a:t>
            </a:r>
            <a:r>
              <a:rPr sz="1902" spc="116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image</a:t>
            </a:r>
            <a:r>
              <a:rPr sz="1902" spc="116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from</a:t>
            </a:r>
            <a:r>
              <a:rPr sz="1902" spc="127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storage </a:t>
            </a:r>
            <a:r>
              <a:rPr sz="1902" spc="-476" dirty="0">
                <a:latin typeface="Microsoft Sans Serif"/>
                <a:cs typeface="Microsoft Sans Serif"/>
              </a:rPr>
              <a:t> </a:t>
            </a:r>
            <a:r>
              <a:rPr sz="1902" spc="-63" dirty="0">
                <a:latin typeface="Microsoft Sans Serif"/>
                <a:cs typeface="Microsoft Sans Serif"/>
              </a:rPr>
              <a:t>or</a:t>
            </a:r>
            <a:r>
              <a:rPr sz="1902" spc="85" dirty="0">
                <a:latin typeface="Microsoft Sans Serif"/>
                <a:cs typeface="Microsoft Sans Serif"/>
              </a:rPr>
              <a:t> </a:t>
            </a:r>
            <a:r>
              <a:rPr sz="1902" spc="-53" dirty="0">
                <a:latin typeface="Microsoft Sans Serif"/>
                <a:cs typeface="Microsoft Sans Serif"/>
              </a:rPr>
              <a:t>network</a:t>
            </a:r>
            <a:r>
              <a:rPr sz="1902" spc="95" dirty="0">
                <a:latin typeface="Microsoft Sans Serif"/>
                <a:cs typeface="Microsoft Sans Serif"/>
              </a:rPr>
              <a:t> </a:t>
            </a:r>
            <a:r>
              <a:rPr sz="1902" spc="42" dirty="0">
                <a:latin typeface="Microsoft Sans Serif"/>
                <a:cs typeface="Microsoft Sans Serif"/>
              </a:rPr>
              <a:t>to</a:t>
            </a:r>
            <a:r>
              <a:rPr sz="1902" spc="95" dirty="0">
                <a:latin typeface="Microsoft Sans Serif"/>
                <a:cs typeface="Microsoft Sans Serif"/>
              </a:rPr>
              <a:t> </a:t>
            </a:r>
            <a:r>
              <a:rPr sz="1902" spc="11" dirty="0">
                <a:latin typeface="Microsoft Sans Serif"/>
                <a:cs typeface="Microsoft Sans Serif"/>
              </a:rPr>
              <a:t>DRAM</a:t>
            </a:r>
            <a:r>
              <a:rPr sz="1902" spc="95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and</a:t>
            </a:r>
            <a:r>
              <a:rPr sz="1902" spc="95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starts</a:t>
            </a:r>
            <a:r>
              <a:rPr sz="1902" spc="95" dirty="0">
                <a:latin typeface="Microsoft Sans Serif"/>
                <a:cs typeface="Microsoft Sans Serif"/>
              </a:rPr>
              <a:t> </a:t>
            </a:r>
            <a:r>
              <a:rPr sz="1902" spc="63" dirty="0">
                <a:latin typeface="Microsoft Sans Serif"/>
                <a:cs typeface="Microsoft Sans Serif"/>
              </a:rPr>
              <a:t>it.</a:t>
            </a:r>
            <a:r>
              <a:rPr sz="1902" spc="338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Shell</a:t>
            </a:r>
            <a:r>
              <a:rPr sz="1902" spc="95" dirty="0">
                <a:latin typeface="Microsoft Sans Serif"/>
                <a:cs typeface="Microsoft Sans Serif"/>
              </a:rPr>
              <a:t> </a:t>
            </a:r>
            <a:r>
              <a:rPr sz="1902" spc="21" dirty="0">
                <a:latin typeface="Microsoft Sans Serif"/>
                <a:cs typeface="Microsoft Sans Serif"/>
              </a:rPr>
              <a:t>with</a:t>
            </a:r>
            <a:r>
              <a:rPr sz="1902" spc="95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commands</a:t>
            </a:r>
            <a:r>
              <a:rPr sz="1902" spc="95" dirty="0">
                <a:latin typeface="Microsoft Sans Serif"/>
                <a:cs typeface="Microsoft Sans Serif"/>
              </a:rPr>
              <a:t> </a:t>
            </a:r>
            <a:r>
              <a:rPr sz="1902" spc="-53" dirty="0">
                <a:latin typeface="Microsoft Sans Serif"/>
                <a:cs typeface="Microsoft Sans Serif"/>
              </a:rPr>
              <a:t>provided.</a:t>
            </a:r>
            <a:endParaRPr sz="1902">
              <a:latin typeface="Microsoft Sans Serif"/>
              <a:cs typeface="Microsoft Sans Serif"/>
            </a:endParaRPr>
          </a:p>
          <a:p>
            <a:pPr marL="665668" marR="1115262" indent="-334176">
              <a:lnSpc>
                <a:spcPct val="101499"/>
              </a:lnSpc>
              <a:spcBef>
                <a:spcPts val="845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1902" b="1" spc="-85" dirty="0">
                <a:latin typeface="Arial"/>
                <a:cs typeface="Arial"/>
              </a:rPr>
              <a:t>Linux</a:t>
            </a:r>
            <a:r>
              <a:rPr sz="1902" b="1" spc="159" dirty="0">
                <a:latin typeface="Arial"/>
                <a:cs typeface="Arial"/>
              </a:rPr>
              <a:t> </a:t>
            </a:r>
            <a:r>
              <a:rPr sz="1902" b="1" spc="-42" dirty="0">
                <a:latin typeface="Arial"/>
                <a:cs typeface="Arial"/>
              </a:rPr>
              <a:t>Kernel</a:t>
            </a:r>
            <a:r>
              <a:rPr sz="1902" spc="-42" dirty="0">
                <a:latin typeface="Microsoft Sans Serif"/>
                <a:cs typeface="Microsoft Sans Serif"/>
              </a:rPr>
              <a:t>:</a:t>
            </a:r>
            <a:r>
              <a:rPr sz="1902" spc="370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runs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from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11" dirty="0">
                <a:latin typeface="Microsoft Sans Serif"/>
                <a:cs typeface="Microsoft Sans Serif"/>
              </a:rPr>
              <a:t>DRAM.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127" dirty="0">
                <a:latin typeface="Microsoft Sans Serif"/>
                <a:cs typeface="Microsoft Sans Serif"/>
              </a:rPr>
              <a:t>Takes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over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the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95" dirty="0">
                <a:latin typeface="Microsoft Sans Serif"/>
                <a:cs typeface="Microsoft Sans Serif"/>
              </a:rPr>
              <a:t>system </a:t>
            </a:r>
            <a:r>
              <a:rPr sz="1902" spc="-476" dirty="0">
                <a:latin typeface="Microsoft Sans Serif"/>
                <a:cs typeface="Microsoft Sans Serif"/>
              </a:rPr>
              <a:t> </a:t>
            </a:r>
            <a:r>
              <a:rPr sz="1902" spc="-53" dirty="0">
                <a:latin typeface="Microsoft Sans Serif"/>
                <a:cs typeface="Microsoft Sans Serif"/>
              </a:rPr>
              <a:t>completely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11" dirty="0">
                <a:latin typeface="Microsoft Sans Serif"/>
                <a:cs typeface="Microsoft Sans Serif"/>
              </a:rPr>
              <a:t>(the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bootloader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no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63" dirty="0">
                <a:latin typeface="Microsoft Sans Serif"/>
                <a:cs typeface="Microsoft Sans Serif"/>
              </a:rPr>
              <a:t>longer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exists).</a:t>
            </a:r>
            <a:endParaRPr sz="1902">
              <a:latin typeface="Microsoft Sans Serif"/>
              <a:cs typeface="Microsoft Sans Serif"/>
            </a:endParaRPr>
          </a:p>
          <a:p>
            <a:pPr marL="80524" marR="73814">
              <a:lnSpc>
                <a:spcPct val="101499"/>
              </a:lnSpc>
              <a:spcBef>
                <a:spcPts val="835"/>
              </a:spcBef>
            </a:pPr>
            <a:r>
              <a:rPr sz="1902" spc="-21" dirty="0">
                <a:latin typeface="Microsoft Sans Serif"/>
                <a:cs typeface="Microsoft Sans Serif"/>
              </a:rPr>
              <a:t>Note:</a:t>
            </a:r>
            <a:r>
              <a:rPr sz="1902" spc="359" dirty="0">
                <a:latin typeface="Microsoft Sans Serif"/>
                <a:cs typeface="Microsoft Sans Serif"/>
              </a:rPr>
              <a:t> </a:t>
            </a:r>
            <a:r>
              <a:rPr sz="1902" spc="-148" dirty="0">
                <a:latin typeface="Microsoft Sans Serif"/>
                <a:cs typeface="Microsoft Sans Serif"/>
              </a:rPr>
              <a:t>same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116" dirty="0">
                <a:latin typeface="Microsoft Sans Serif"/>
                <a:cs typeface="Microsoft Sans Serif"/>
              </a:rPr>
              <a:t>process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on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other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Microchip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AT91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127" dirty="0">
                <a:latin typeface="Microsoft Sans Serif"/>
                <a:cs typeface="Microsoft Sans Serif"/>
              </a:rPr>
              <a:t>SoCs,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21" dirty="0">
                <a:latin typeface="Microsoft Sans Serif"/>
                <a:cs typeface="Microsoft Sans Serif"/>
              </a:rPr>
              <a:t>but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the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SRAM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127" dirty="0">
                <a:latin typeface="Microsoft Sans Serif"/>
                <a:cs typeface="Microsoft Sans Serif"/>
              </a:rPr>
              <a:t>size </a:t>
            </a:r>
            <a:r>
              <a:rPr sz="1902" spc="-476" dirty="0">
                <a:latin typeface="Microsoft Sans Serif"/>
                <a:cs typeface="Microsoft Sans Serif"/>
              </a:rPr>
              <a:t> </a:t>
            </a:r>
            <a:r>
              <a:rPr sz="1902" spc="-95" dirty="0">
                <a:latin typeface="Microsoft Sans Serif"/>
                <a:cs typeface="Microsoft Sans Serif"/>
              </a:rPr>
              <a:t>is</a:t>
            </a:r>
            <a:r>
              <a:rPr sz="1902" spc="127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smaller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on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the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63" dirty="0">
                <a:latin typeface="Microsoft Sans Serif"/>
                <a:cs typeface="Microsoft Sans Serif"/>
              </a:rPr>
              <a:t>older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106" dirty="0">
                <a:latin typeface="Microsoft Sans Serif"/>
                <a:cs typeface="Microsoft Sans Serif"/>
              </a:rPr>
              <a:t>ones.</a:t>
            </a:r>
            <a:endParaRPr sz="1902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8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548" y="762464"/>
            <a:ext cx="3191861" cy="5664839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5" y="71650"/>
            <a:ext cx="3834306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74" dirty="0"/>
              <a:t>Booting</a:t>
            </a:r>
            <a:r>
              <a:rPr sz="2959" spc="-11" dirty="0"/>
              <a:t> </a:t>
            </a:r>
            <a:r>
              <a:rPr sz="2959" spc="-190" dirty="0"/>
              <a:t>on</a:t>
            </a:r>
            <a:r>
              <a:rPr sz="2959" dirty="0"/>
              <a:t> </a:t>
            </a:r>
            <a:r>
              <a:rPr sz="2959" spc="-95" dirty="0"/>
              <a:t>Marvell</a:t>
            </a:r>
            <a:r>
              <a:rPr sz="2959" dirty="0"/>
              <a:t> </a:t>
            </a:r>
            <a:r>
              <a:rPr sz="2959" spc="-116" dirty="0"/>
              <a:t>SoCs</a:t>
            </a:r>
            <a:endParaRPr sz="2959" dirty="0"/>
          </a:p>
        </p:txBody>
      </p:sp>
      <p:sp>
        <p:nvSpPr>
          <p:cNvPr id="25" name="object 25"/>
          <p:cNvSpPr txBox="1"/>
          <p:nvPr/>
        </p:nvSpPr>
        <p:spPr>
          <a:xfrm>
            <a:off x="4384613" y="2135308"/>
            <a:ext cx="7366646" cy="3163890"/>
          </a:xfrm>
          <a:prstGeom prst="rect">
            <a:avLst/>
          </a:prstGeom>
        </p:spPr>
        <p:txBody>
          <a:bodyPr vert="horz" wrap="square" lIns="0" tIns="21473" rIns="0" bIns="0" rtlCol="0">
            <a:spAutoFit/>
          </a:bodyPr>
          <a:lstStyle/>
          <a:p>
            <a:pPr marL="413358" marR="173127" indent="-334176">
              <a:lnSpc>
                <a:spcPct val="101499"/>
              </a:lnSpc>
              <a:spcBef>
                <a:spcPts val="169"/>
              </a:spcBef>
              <a:buClr>
                <a:srgbClr val="3333B2"/>
              </a:buClr>
              <a:buFont typeface="Cambria"/>
              <a:buChar char="►"/>
              <a:tabLst>
                <a:tab pos="414700" algn="l"/>
              </a:tabLst>
            </a:pPr>
            <a:r>
              <a:rPr sz="1902" b="1" spc="74" dirty="0">
                <a:latin typeface="Arial"/>
                <a:cs typeface="Arial"/>
              </a:rPr>
              <a:t>ROM </a:t>
            </a:r>
            <a:r>
              <a:rPr sz="1902" b="1" spc="-63" dirty="0">
                <a:latin typeface="Arial"/>
                <a:cs typeface="Arial"/>
              </a:rPr>
              <a:t>Code</a:t>
            </a:r>
            <a:r>
              <a:rPr sz="1902" spc="-63" dirty="0">
                <a:latin typeface="Microsoft Sans Serif"/>
                <a:cs typeface="Microsoft Sans Serif"/>
              </a:rPr>
              <a:t>:</a:t>
            </a:r>
            <a:r>
              <a:rPr sz="1902" spc="-53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tries</a:t>
            </a:r>
            <a:r>
              <a:rPr sz="1902" spc="-32" dirty="0">
                <a:latin typeface="Microsoft Sans Serif"/>
                <a:cs typeface="Microsoft Sans Serif"/>
              </a:rPr>
              <a:t> </a:t>
            </a:r>
            <a:r>
              <a:rPr sz="1902" spc="42" dirty="0">
                <a:latin typeface="Microsoft Sans Serif"/>
                <a:cs typeface="Microsoft Sans Serif"/>
              </a:rPr>
              <a:t>to </a:t>
            </a:r>
            <a:r>
              <a:rPr sz="1902" spc="-11" dirty="0">
                <a:latin typeface="Microsoft Sans Serif"/>
                <a:cs typeface="Microsoft Sans Serif"/>
              </a:rPr>
              <a:t>find </a:t>
            </a:r>
            <a:r>
              <a:rPr sz="1902" spc="-127" dirty="0">
                <a:latin typeface="Microsoft Sans Serif"/>
                <a:cs typeface="Microsoft Sans Serif"/>
              </a:rPr>
              <a:t>a</a:t>
            </a:r>
            <a:r>
              <a:rPr sz="1902" spc="-116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valid</a:t>
            </a:r>
            <a:r>
              <a:rPr sz="1902" spc="-32" dirty="0">
                <a:latin typeface="Microsoft Sans Serif"/>
                <a:cs typeface="Microsoft Sans Serif"/>
              </a:rPr>
              <a:t> </a:t>
            </a:r>
            <a:r>
              <a:rPr sz="1902" spc="-21" dirty="0">
                <a:latin typeface="Microsoft Sans Serif"/>
                <a:cs typeface="Microsoft Sans Serif"/>
              </a:rPr>
              <a:t>bootstrap </a:t>
            </a:r>
            <a:r>
              <a:rPr sz="1902" spc="-85" dirty="0">
                <a:latin typeface="Microsoft Sans Serif"/>
                <a:cs typeface="Microsoft Sans Serif"/>
              </a:rPr>
              <a:t>image</a:t>
            </a:r>
            <a:r>
              <a:rPr sz="1902" spc="-74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from </a:t>
            </a:r>
            <a:r>
              <a:rPr sz="1902" spc="-74" dirty="0">
                <a:latin typeface="Microsoft Sans Serif"/>
                <a:cs typeface="Microsoft Sans Serif"/>
              </a:rPr>
              <a:t>various </a:t>
            </a:r>
            <a:r>
              <a:rPr sz="1902" spc="-63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storage</a:t>
            </a:r>
            <a:r>
              <a:rPr sz="1902" spc="-74" dirty="0">
                <a:latin typeface="Microsoft Sans Serif"/>
                <a:cs typeface="Microsoft Sans Serif"/>
              </a:rPr>
              <a:t> </a:t>
            </a:r>
            <a:r>
              <a:rPr sz="1902" spc="-106" dirty="0">
                <a:latin typeface="Microsoft Sans Serif"/>
                <a:cs typeface="Microsoft Sans Serif"/>
              </a:rPr>
              <a:t>sources,</a:t>
            </a:r>
            <a:r>
              <a:rPr sz="1902" spc="285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and</a:t>
            </a:r>
            <a:r>
              <a:rPr sz="1902" spc="338" dirty="0">
                <a:latin typeface="Microsoft Sans Serif"/>
                <a:cs typeface="Microsoft Sans Serif"/>
              </a:rPr>
              <a:t> </a:t>
            </a:r>
            <a:r>
              <a:rPr sz="1902" spc="-63" dirty="0">
                <a:latin typeface="Microsoft Sans Serif"/>
                <a:cs typeface="Microsoft Sans Serif"/>
              </a:rPr>
              <a:t>load</a:t>
            </a:r>
            <a:r>
              <a:rPr sz="1902" spc="380" dirty="0">
                <a:latin typeface="Microsoft Sans Serif"/>
                <a:cs typeface="Microsoft Sans Serif"/>
              </a:rPr>
              <a:t> </a:t>
            </a:r>
            <a:r>
              <a:rPr sz="1902" spc="95" dirty="0">
                <a:latin typeface="Microsoft Sans Serif"/>
                <a:cs typeface="Microsoft Sans Serif"/>
              </a:rPr>
              <a:t>it </a:t>
            </a:r>
            <a:r>
              <a:rPr sz="1902" spc="11" dirty="0">
                <a:latin typeface="Microsoft Sans Serif"/>
                <a:cs typeface="Microsoft Sans Serif"/>
              </a:rPr>
              <a:t>into DRAM. </a:t>
            </a:r>
            <a:r>
              <a:rPr sz="1902" spc="-32" dirty="0">
                <a:latin typeface="Microsoft Sans Serif"/>
                <a:cs typeface="Microsoft Sans Serif"/>
              </a:rPr>
              <a:t>The </a:t>
            </a:r>
            <a:r>
              <a:rPr sz="1902" spc="11" dirty="0">
                <a:latin typeface="Microsoft Sans Serif"/>
                <a:cs typeface="Microsoft Sans Serif"/>
              </a:rPr>
              <a:t>DRAM </a:t>
            </a:r>
            <a:r>
              <a:rPr sz="1902" spc="21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configuration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95" dirty="0">
                <a:latin typeface="Microsoft Sans Serif"/>
                <a:cs typeface="Microsoft Sans Serif"/>
              </a:rPr>
              <a:t>is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described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in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127" dirty="0">
                <a:latin typeface="Microsoft Sans Serif"/>
                <a:cs typeface="Microsoft Sans Serif"/>
              </a:rPr>
              <a:t>a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53" dirty="0">
                <a:latin typeface="Microsoft Sans Serif"/>
                <a:cs typeface="Microsoft Sans Serif"/>
              </a:rPr>
              <a:t>CPU-specific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header,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95" dirty="0">
                <a:latin typeface="Microsoft Sans Serif"/>
                <a:cs typeface="Microsoft Sans Serif"/>
              </a:rPr>
              <a:t>prepended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42" dirty="0">
                <a:latin typeface="Microsoft Sans Serif"/>
                <a:cs typeface="Microsoft Sans Serif"/>
              </a:rPr>
              <a:t>to </a:t>
            </a:r>
            <a:r>
              <a:rPr sz="1902" spc="-476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the</a:t>
            </a:r>
            <a:r>
              <a:rPr sz="1902" spc="127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bootloader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image.</a:t>
            </a:r>
            <a:endParaRPr sz="1902">
              <a:latin typeface="Microsoft Sans Serif"/>
              <a:cs typeface="Microsoft Sans Serif"/>
            </a:endParaRPr>
          </a:p>
          <a:p>
            <a:pPr marL="413358" marR="64419" indent="-334176">
              <a:lnSpc>
                <a:spcPct val="101499"/>
              </a:lnSpc>
              <a:spcBef>
                <a:spcPts val="835"/>
              </a:spcBef>
              <a:buClr>
                <a:srgbClr val="3333B2"/>
              </a:buClr>
              <a:buFont typeface="Cambria"/>
              <a:buChar char="►"/>
              <a:tabLst>
                <a:tab pos="414700" algn="l"/>
              </a:tabLst>
            </a:pPr>
            <a:r>
              <a:rPr sz="1902" b="1" spc="11" dirty="0">
                <a:latin typeface="Arial"/>
                <a:cs typeface="Arial"/>
              </a:rPr>
              <a:t>U-Boot</a:t>
            </a:r>
            <a:r>
              <a:rPr sz="1902" spc="11" dirty="0">
                <a:latin typeface="Microsoft Sans Serif"/>
                <a:cs typeface="Microsoft Sans Serif"/>
              </a:rPr>
              <a:t>:  </a:t>
            </a:r>
            <a:r>
              <a:rPr sz="1902" spc="-74" dirty="0">
                <a:latin typeface="Microsoft Sans Serif"/>
                <a:cs typeface="Microsoft Sans Serif"/>
              </a:rPr>
              <a:t>runs</a:t>
            </a:r>
            <a:r>
              <a:rPr sz="1902" spc="349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from </a:t>
            </a:r>
            <a:r>
              <a:rPr sz="1902" spc="11" dirty="0">
                <a:latin typeface="Microsoft Sans Serif"/>
                <a:cs typeface="Microsoft Sans Serif"/>
              </a:rPr>
              <a:t>DRAM. </a:t>
            </a:r>
            <a:r>
              <a:rPr sz="1902" spc="-42" dirty="0">
                <a:latin typeface="Microsoft Sans Serif"/>
                <a:cs typeface="Microsoft Sans Serif"/>
              </a:rPr>
              <a:t>Initializes</a:t>
            </a:r>
            <a:r>
              <a:rPr sz="1902" spc="423" dirty="0">
                <a:latin typeface="Microsoft Sans Serif"/>
                <a:cs typeface="Microsoft Sans Serif"/>
              </a:rPr>
              <a:t> </a:t>
            </a:r>
            <a:r>
              <a:rPr sz="1902" spc="-137" dirty="0">
                <a:latin typeface="Microsoft Sans Serif"/>
                <a:cs typeface="Microsoft Sans Serif"/>
              </a:rPr>
              <a:t>some</a:t>
            </a:r>
            <a:r>
              <a:rPr sz="1902" spc="232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other</a:t>
            </a:r>
            <a:r>
              <a:rPr sz="1902" spc="444" dirty="0">
                <a:latin typeface="Microsoft Sans Serif"/>
                <a:cs typeface="Microsoft Sans Serif"/>
              </a:rPr>
              <a:t> </a:t>
            </a:r>
            <a:r>
              <a:rPr sz="1902" spc="-95" dirty="0">
                <a:latin typeface="Microsoft Sans Serif"/>
                <a:cs typeface="Microsoft Sans Serif"/>
              </a:rPr>
              <a:t>hardware </a:t>
            </a:r>
            <a:r>
              <a:rPr sz="1902" spc="-85" dirty="0">
                <a:latin typeface="Microsoft Sans Serif"/>
                <a:cs typeface="Microsoft Sans Serif"/>
              </a:rPr>
              <a:t> </a:t>
            </a:r>
            <a:r>
              <a:rPr sz="1902" spc="-116" dirty="0">
                <a:latin typeface="Microsoft Sans Serif"/>
                <a:cs typeface="Microsoft Sans Serif"/>
              </a:rPr>
              <a:t>devices</a:t>
            </a:r>
            <a:r>
              <a:rPr sz="1902" spc="116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(network,</a:t>
            </a:r>
            <a:r>
              <a:rPr sz="1902" spc="116" dirty="0">
                <a:latin typeface="Microsoft Sans Serif"/>
                <a:cs typeface="Microsoft Sans Serif"/>
              </a:rPr>
              <a:t> </a:t>
            </a:r>
            <a:r>
              <a:rPr sz="1902" spc="-53" dirty="0">
                <a:latin typeface="Microsoft Sans Serif"/>
                <a:cs typeface="Microsoft Sans Serif"/>
              </a:rPr>
              <a:t>USB,</a:t>
            </a:r>
            <a:r>
              <a:rPr sz="1902" spc="127" dirty="0">
                <a:latin typeface="Microsoft Sans Serif"/>
                <a:cs typeface="Microsoft Sans Serif"/>
              </a:rPr>
              <a:t> </a:t>
            </a:r>
            <a:r>
              <a:rPr sz="1902" dirty="0">
                <a:latin typeface="Microsoft Sans Serif"/>
                <a:cs typeface="Microsoft Sans Serif"/>
              </a:rPr>
              <a:t>etc.).</a:t>
            </a:r>
            <a:r>
              <a:rPr sz="1902" spc="370" dirty="0">
                <a:latin typeface="Microsoft Sans Serif"/>
                <a:cs typeface="Microsoft Sans Serif"/>
              </a:rPr>
              <a:t> </a:t>
            </a:r>
            <a:r>
              <a:rPr sz="1902" spc="-95" dirty="0">
                <a:latin typeface="Microsoft Sans Serif"/>
                <a:cs typeface="Microsoft Sans Serif"/>
              </a:rPr>
              <a:t>Loads</a:t>
            </a:r>
            <a:r>
              <a:rPr sz="1902" spc="116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the</a:t>
            </a:r>
            <a:r>
              <a:rPr sz="1902" spc="127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kernel</a:t>
            </a:r>
            <a:r>
              <a:rPr sz="1902" spc="116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image</a:t>
            </a:r>
            <a:r>
              <a:rPr sz="1902" spc="116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from</a:t>
            </a:r>
            <a:r>
              <a:rPr sz="1902" spc="127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storage </a:t>
            </a:r>
            <a:r>
              <a:rPr sz="1902" spc="-476" dirty="0">
                <a:latin typeface="Microsoft Sans Serif"/>
                <a:cs typeface="Microsoft Sans Serif"/>
              </a:rPr>
              <a:t> </a:t>
            </a:r>
            <a:r>
              <a:rPr sz="1902" spc="-63" dirty="0">
                <a:latin typeface="Microsoft Sans Serif"/>
                <a:cs typeface="Microsoft Sans Serif"/>
              </a:rPr>
              <a:t>or</a:t>
            </a:r>
            <a:r>
              <a:rPr sz="1902" spc="-53" dirty="0">
                <a:latin typeface="Microsoft Sans Serif"/>
                <a:cs typeface="Microsoft Sans Serif"/>
              </a:rPr>
              <a:t> network</a:t>
            </a:r>
            <a:r>
              <a:rPr sz="1902" spc="391" dirty="0">
                <a:latin typeface="Microsoft Sans Serif"/>
                <a:cs typeface="Microsoft Sans Serif"/>
              </a:rPr>
              <a:t> </a:t>
            </a:r>
            <a:r>
              <a:rPr sz="1902" spc="42" dirty="0">
                <a:latin typeface="Microsoft Sans Serif"/>
                <a:cs typeface="Microsoft Sans Serif"/>
              </a:rPr>
              <a:t>to </a:t>
            </a:r>
            <a:r>
              <a:rPr sz="1902" spc="11" dirty="0">
                <a:latin typeface="Microsoft Sans Serif"/>
                <a:cs typeface="Microsoft Sans Serif"/>
              </a:rPr>
              <a:t>DRAM </a:t>
            </a:r>
            <a:r>
              <a:rPr sz="1902" spc="-85" dirty="0">
                <a:latin typeface="Microsoft Sans Serif"/>
                <a:cs typeface="Microsoft Sans Serif"/>
              </a:rPr>
              <a:t>and</a:t>
            </a:r>
            <a:r>
              <a:rPr sz="1902" spc="338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starts</a:t>
            </a:r>
            <a:r>
              <a:rPr sz="1902" spc="423" dirty="0">
                <a:latin typeface="Microsoft Sans Serif"/>
                <a:cs typeface="Microsoft Sans Serif"/>
              </a:rPr>
              <a:t> </a:t>
            </a:r>
            <a:r>
              <a:rPr sz="1902" spc="63" dirty="0">
                <a:latin typeface="Microsoft Sans Serif"/>
                <a:cs typeface="Microsoft Sans Serif"/>
              </a:rPr>
              <a:t>it.  </a:t>
            </a:r>
            <a:r>
              <a:rPr sz="1902" spc="-74" dirty="0">
                <a:latin typeface="Microsoft Sans Serif"/>
                <a:cs typeface="Microsoft Sans Serif"/>
              </a:rPr>
              <a:t>Shell</a:t>
            </a:r>
            <a:r>
              <a:rPr sz="1902" spc="359" dirty="0">
                <a:latin typeface="Microsoft Sans Serif"/>
                <a:cs typeface="Microsoft Sans Serif"/>
              </a:rPr>
              <a:t> </a:t>
            </a:r>
            <a:r>
              <a:rPr sz="1902" spc="21" dirty="0">
                <a:latin typeface="Microsoft Sans Serif"/>
                <a:cs typeface="Microsoft Sans Serif"/>
              </a:rPr>
              <a:t>with </a:t>
            </a:r>
            <a:r>
              <a:rPr sz="1902" spc="-85" dirty="0">
                <a:latin typeface="Microsoft Sans Serif"/>
                <a:cs typeface="Microsoft Sans Serif"/>
              </a:rPr>
              <a:t>commands </a:t>
            </a:r>
            <a:r>
              <a:rPr sz="1902" spc="-74" dirty="0">
                <a:latin typeface="Microsoft Sans Serif"/>
                <a:cs typeface="Microsoft Sans Serif"/>
              </a:rPr>
              <a:t> </a:t>
            </a:r>
            <a:r>
              <a:rPr sz="1902" spc="-53" dirty="0">
                <a:latin typeface="Microsoft Sans Serif"/>
                <a:cs typeface="Microsoft Sans Serif"/>
              </a:rPr>
              <a:t>provided.</a:t>
            </a:r>
            <a:r>
              <a:rPr sz="1902" spc="349" dirty="0">
                <a:latin typeface="Microsoft Sans Serif"/>
                <a:cs typeface="Microsoft Sans Serif"/>
              </a:rPr>
              <a:t> </a:t>
            </a:r>
            <a:r>
              <a:rPr sz="1902" spc="-53" dirty="0">
                <a:latin typeface="Microsoft Sans Serif"/>
                <a:cs typeface="Microsoft Sans Serif"/>
              </a:rPr>
              <a:t>File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called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dirty="0">
                <a:solidFill>
                  <a:srgbClr val="7F7F7F"/>
                </a:solidFill>
                <a:latin typeface="SimSun"/>
                <a:cs typeface="SimSun"/>
              </a:rPr>
              <a:t>u-boot.kwb</a:t>
            </a:r>
            <a:r>
              <a:rPr sz="1902" dirty="0">
                <a:latin typeface="Microsoft Sans Serif"/>
                <a:cs typeface="Microsoft Sans Serif"/>
              </a:rPr>
              <a:t>.</a:t>
            </a:r>
            <a:endParaRPr sz="1902">
              <a:latin typeface="Microsoft Sans Serif"/>
              <a:cs typeface="Microsoft Sans Serif"/>
            </a:endParaRPr>
          </a:p>
          <a:p>
            <a:pPr marL="413358" marR="1115262" indent="-334176">
              <a:lnSpc>
                <a:spcPct val="101499"/>
              </a:lnSpc>
              <a:spcBef>
                <a:spcPts val="845"/>
              </a:spcBef>
              <a:buClr>
                <a:srgbClr val="3333B2"/>
              </a:buClr>
              <a:buFont typeface="Cambria"/>
              <a:buChar char="►"/>
              <a:tabLst>
                <a:tab pos="414700" algn="l"/>
              </a:tabLst>
            </a:pPr>
            <a:r>
              <a:rPr sz="1902" b="1" spc="-85" dirty="0">
                <a:latin typeface="Arial"/>
                <a:cs typeface="Arial"/>
              </a:rPr>
              <a:t>Linux</a:t>
            </a:r>
            <a:r>
              <a:rPr sz="1902" b="1" spc="159" dirty="0">
                <a:latin typeface="Arial"/>
                <a:cs typeface="Arial"/>
              </a:rPr>
              <a:t> </a:t>
            </a:r>
            <a:r>
              <a:rPr sz="1902" b="1" spc="-42" dirty="0">
                <a:latin typeface="Arial"/>
                <a:cs typeface="Arial"/>
              </a:rPr>
              <a:t>Kernel</a:t>
            </a:r>
            <a:r>
              <a:rPr sz="1902" spc="-42" dirty="0">
                <a:latin typeface="Microsoft Sans Serif"/>
                <a:cs typeface="Microsoft Sans Serif"/>
              </a:rPr>
              <a:t>:</a:t>
            </a:r>
            <a:r>
              <a:rPr sz="1902" spc="370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runs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11" dirty="0">
                <a:latin typeface="Microsoft Sans Serif"/>
                <a:cs typeface="Microsoft Sans Serif"/>
              </a:rPr>
              <a:t>from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11" dirty="0">
                <a:latin typeface="Microsoft Sans Serif"/>
                <a:cs typeface="Microsoft Sans Serif"/>
              </a:rPr>
              <a:t>DRAM.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127" dirty="0">
                <a:latin typeface="Microsoft Sans Serif"/>
                <a:cs typeface="Microsoft Sans Serif"/>
              </a:rPr>
              <a:t>Takes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85" dirty="0">
                <a:latin typeface="Microsoft Sans Serif"/>
                <a:cs typeface="Microsoft Sans Serif"/>
              </a:rPr>
              <a:t>over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32" dirty="0">
                <a:latin typeface="Microsoft Sans Serif"/>
                <a:cs typeface="Microsoft Sans Serif"/>
              </a:rPr>
              <a:t>the</a:t>
            </a:r>
            <a:r>
              <a:rPr sz="1902" spc="148" dirty="0">
                <a:latin typeface="Microsoft Sans Serif"/>
                <a:cs typeface="Microsoft Sans Serif"/>
              </a:rPr>
              <a:t> </a:t>
            </a:r>
            <a:r>
              <a:rPr sz="1902" spc="-95" dirty="0">
                <a:latin typeface="Microsoft Sans Serif"/>
                <a:cs typeface="Microsoft Sans Serif"/>
              </a:rPr>
              <a:t>system </a:t>
            </a:r>
            <a:r>
              <a:rPr sz="1902" spc="-476" dirty="0">
                <a:latin typeface="Microsoft Sans Serif"/>
                <a:cs typeface="Microsoft Sans Serif"/>
              </a:rPr>
              <a:t> </a:t>
            </a:r>
            <a:r>
              <a:rPr sz="1902" spc="-53" dirty="0">
                <a:latin typeface="Microsoft Sans Serif"/>
                <a:cs typeface="Microsoft Sans Serif"/>
              </a:rPr>
              <a:t>completely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(bootloaders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74" dirty="0">
                <a:latin typeface="Microsoft Sans Serif"/>
                <a:cs typeface="Microsoft Sans Serif"/>
              </a:rPr>
              <a:t>no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63" dirty="0">
                <a:latin typeface="Microsoft Sans Serif"/>
                <a:cs typeface="Microsoft Sans Serif"/>
              </a:rPr>
              <a:t>longer</a:t>
            </a:r>
            <a:r>
              <a:rPr sz="1902" spc="137" dirty="0">
                <a:latin typeface="Microsoft Sans Serif"/>
                <a:cs typeface="Microsoft Sans Serif"/>
              </a:rPr>
              <a:t> </a:t>
            </a:r>
            <a:r>
              <a:rPr sz="1902" spc="-42" dirty="0">
                <a:latin typeface="Microsoft Sans Serif"/>
                <a:cs typeface="Microsoft Sans Serif"/>
              </a:rPr>
              <a:t>exists).</a:t>
            </a:r>
            <a:endParaRPr sz="1902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9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1"/>
            <a:ext cx="6184279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48" dirty="0"/>
              <a:t>Generic</a:t>
            </a:r>
            <a:r>
              <a:rPr sz="2959" dirty="0"/>
              <a:t> </a:t>
            </a:r>
            <a:r>
              <a:rPr sz="2959" spc="-137" dirty="0"/>
              <a:t>bootloaders</a:t>
            </a:r>
            <a:r>
              <a:rPr sz="2959" dirty="0"/>
              <a:t> </a:t>
            </a:r>
            <a:r>
              <a:rPr sz="2959" spc="-148" dirty="0"/>
              <a:t>for</a:t>
            </a:r>
            <a:r>
              <a:rPr sz="2959" dirty="0"/>
              <a:t> </a:t>
            </a:r>
            <a:r>
              <a:rPr sz="2959" spc="-222" dirty="0"/>
              <a:t>embedded</a:t>
            </a:r>
            <a:r>
              <a:rPr sz="2959" dirty="0"/>
              <a:t> CPUs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429708" y="862053"/>
            <a:ext cx="6349354" cy="5441718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80524" marR="598564">
              <a:spcBef>
                <a:spcPts val="201"/>
              </a:spcBef>
            </a:pPr>
            <a:r>
              <a:rPr sz="2114" spc="-63" dirty="0">
                <a:latin typeface="Tahoma"/>
                <a:cs typeface="Tahoma"/>
              </a:rPr>
              <a:t>There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are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several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open-source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generic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bootloaders. </a:t>
            </a:r>
            <a:r>
              <a:rPr sz="2114" spc="-634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Here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are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most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popular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37" dirty="0">
                <a:latin typeface="Tahoma"/>
                <a:cs typeface="Tahoma"/>
              </a:rPr>
              <a:t>ones:</a:t>
            </a:r>
            <a:endParaRPr sz="2114" dirty="0">
              <a:latin typeface="Tahoma"/>
              <a:cs typeface="Tahoma"/>
            </a:endParaRPr>
          </a:p>
          <a:p>
            <a:pPr marL="665668" indent="-355649">
              <a:spcBef>
                <a:spcPts val="1247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114" b="1" dirty="0">
                <a:latin typeface="Arial"/>
                <a:cs typeface="Arial"/>
              </a:rPr>
              <a:t>U-Boot</a:t>
            </a:r>
            <a:r>
              <a:rPr sz="2114" dirty="0">
                <a:latin typeface="Tahoma"/>
                <a:cs typeface="Tahoma"/>
              </a:rPr>
              <a:t>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universal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bootloader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by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Denx</a:t>
            </a:r>
            <a:endParaRPr sz="2114" dirty="0">
              <a:latin typeface="Tahoma"/>
              <a:cs typeface="Tahoma"/>
            </a:endParaRPr>
          </a:p>
          <a:p>
            <a:pPr marL="1250812" marR="170443" lvl="1" indent="-355649">
              <a:spcBef>
                <a:spcPts val="1036"/>
              </a:spcBef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-32" dirty="0">
                <a:latin typeface="Tahoma"/>
                <a:cs typeface="Tahoma"/>
              </a:rPr>
              <a:t>The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most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used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on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85" dirty="0">
                <a:latin typeface="Tahoma"/>
                <a:cs typeface="Tahoma"/>
              </a:rPr>
              <a:t>ARM,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also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used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on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95" dirty="0">
                <a:latin typeface="Tahoma"/>
                <a:cs typeface="Tahoma"/>
              </a:rPr>
              <a:t>PPC, </a:t>
            </a:r>
            <a:r>
              <a:rPr sz="2114" spc="-634" dirty="0">
                <a:latin typeface="Tahoma"/>
                <a:cs typeface="Tahoma"/>
              </a:rPr>
              <a:t> </a:t>
            </a:r>
            <a:r>
              <a:rPr sz="2114" spc="21" dirty="0">
                <a:latin typeface="Tahoma"/>
                <a:cs typeface="Tahoma"/>
              </a:rPr>
              <a:t>MIPS, </a:t>
            </a:r>
            <a:r>
              <a:rPr sz="2114" spc="-85" dirty="0">
                <a:latin typeface="Tahoma"/>
                <a:cs typeface="Tahoma"/>
              </a:rPr>
              <a:t>x86,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m68k,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1" dirty="0">
                <a:latin typeface="Tahoma"/>
                <a:cs typeface="Tahoma"/>
              </a:rPr>
              <a:t>RISC-V,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etc.</a:t>
            </a:r>
            <a:endParaRPr sz="2114" dirty="0">
              <a:latin typeface="Tahoma"/>
              <a:cs typeface="Tahoma"/>
            </a:endParaRPr>
          </a:p>
          <a:p>
            <a:pPr marL="1250812" marR="440198" lvl="1" indent="-355649">
              <a:lnSpc>
                <a:spcPts val="2536"/>
              </a:lnSpc>
              <a:spcBef>
                <a:spcPts val="74"/>
              </a:spcBef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-32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de-facto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standard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nowadays.</a:t>
            </a:r>
            <a:r>
              <a:rPr sz="2114" spc="275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We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will </a:t>
            </a:r>
            <a:r>
              <a:rPr sz="2114" spc="-634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study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32" dirty="0">
                <a:latin typeface="Tahoma"/>
                <a:cs typeface="Tahoma"/>
              </a:rPr>
              <a:t>it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detail.</a:t>
            </a:r>
            <a:endParaRPr sz="2114" dirty="0">
              <a:latin typeface="Tahoma"/>
              <a:cs typeface="Tahoma"/>
            </a:endParaRPr>
          </a:p>
          <a:p>
            <a:pPr marL="1250812" lvl="1" indent="-355649">
              <a:lnSpc>
                <a:spcPts val="2431"/>
              </a:lnSpc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-11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https://www.denx.de/wiki/U-Boot</a:t>
            </a:r>
            <a:endParaRPr sz="2114" dirty="0">
              <a:latin typeface="SimSun"/>
              <a:cs typeface="SimSun"/>
            </a:endParaRPr>
          </a:p>
          <a:p>
            <a:pPr marL="665668" marR="693851" indent="-355649">
              <a:spcBef>
                <a:spcPts val="1247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114" b="1" spc="-95" dirty="0">
                <a:latin typeface="Arial"/>
                <a:cs typeface="Arial"/>
              </a:rPr>
              <a:t>Barebox</a:t>
            </a:r>
            <a:r>
              <a:rPr sz="2114" spc="-95" dirty="0">
                <a:latin typeface="Tahoma"/>
                <a:cs typeface="Tahoma"/>
              </a:rPr>
              <a:t>,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architecture-neutral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bootloader </a:t>
            </a:r>
            <a:r>
              <a:rPr sz="2114" spc="-634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created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by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Pengutronix.</a:t>
            </a:r>
            <a:endParaRPr sz="2114" dirty="0">
              <a:latin typeface="Tahoma"/>
              <a:cs typeface="Tahoma"/>
            </a:endParaRPr>
          </a:p>
          <a:p>
            <a:pPr marL="1250812" marR="64419" lvl="1" indent="-355649">
              <a:spcBef>
                <a:spcPts val="1036"/>
              </a:spcBef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-85" dirty="0">
                <a:latin typeface="Tahoma"/>
                <a:cs typeface="Tahoma"/>
              </a:rPr>
              <a:t>It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doesn’t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have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as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much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hardware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support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as </a:t>
            </a:r>
            <a:r>
              <a:rPr sz="2114" spc="-623" dirty="0">
                <a:latin typeface="Tahoma"/>
                <a:cs typeface="Tahoma"/>
              </a:rPr>
              <a:t> </a:t>
            </a:r>
            <a:r>
              <a:rPr sz="2114" spc="11" dirty="0">
                <a:latin typeface="Tahoma"/>
                <a:cs typeface="Tahoma"/>
              </a:rPr>
              <a:t>U-Boot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yet.</a:t>
            </a:r>
            <a:endParaRPr sz="2114" dirty="0">
              <a:latin typeface="Tahoma"/>
              <a:cs typeface="Tahoma"/>
            </a:endParaRPr>
          </a:p>
          <a:p>
            <a:pPr marL="1250812" marR="308677" lvl="1" indent="-355649">
              <a:lnSpc>
                <a:spcPts val="2536"/>
              </a:lnSpc>
              <a:spcBef>
                <a:spcPts val="63"/>
              </a:spcBef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11" dirty="0">
                <a:latin typeface="Tahoma"/>
                <a:cs typeface="Tahoma"/>
              </a:rPr>
              <a:t>U-Boot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has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improved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quite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" dirty="0">
                <a:latin typeface="Tahoma"/>
                <a:cs typeface="Tahoma"/>
              </a:rPr>
              <a:t>lot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thanks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 </a:t>
            </a:r>
            <a:r>
              <a:rPr sz="2114" spc="-623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this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competitor.</a:t>
            </a:r>
            <a:endParaRPr sz="2114" dirty="0">
              <a:latin typeface="Tahoma"/>
              <a:cs typeface="Tahoma"/>
            </a:endParaRPr>
          </a:p>
          <a:p>
            <a:pPr marL="1250812" lvl="1" indent="-355649">
              <a:lnSpc>
                <a:spcPts val="2431"/>
              </a:lnSpc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-11" dirty="0">
                <a:solidFill>
                  <a:srgbClr val="3F3FBF"/>
                </a:solidFill>
                <a:latin typeface="SimSun"/>
                <a:cs typeface="SimSun"/>
                <a:hlinkClick r:id="rId3"/>
              </a:rPr>
              <a:t>https://www.barebox.org</a:t>
            </a:r>
            <a:endParaRPr sz="2114" dirty="0">
              <a:latin typeface="SimSun"/>
              <a:cs typeface="SimSun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8763" y="2612370"/>
            <a:ext cx="4260765" cy="23866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81922" y="5227228"/>
            <a:ext cx="4206059" cy="998392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 marR="1536673">
              <a:lnSpc>
                <a:spcPts val="1479"/>
              </a:lnSpc>
              <a:spcBef>
                <a:spcPts val="285"/>
              </a:spcBef>
            </a:pPr>
            <a:r>
              <a:rPr sz="1268" spc="-116" dirty="0">
                <a:latin typeface="Microsoft Sans Serif"/>
                <a:cs typeface="Microsoft Sans Serif"/>
              </a:rPr>
              <a:t>See</a:t>
            </a:r>
            <a:r>
              <a:rPr sz="1268" spc="-95" dirty="0">
                <a:latin typeface="Microsoft Sans Serif"/>
                <a:cs typeface="Microsoft Sans Serif"/>
              </a:rPr>
              <a:t> </a:t>
            </a:r>
            <a:r>
              <a:rPr sz="1268" dirty="0">
                <a:latin typeface="Microsoft Sans Serif"/>
                <a:cs typeface="Microsoft Sans Serif"/>
              </a:rPr>
              <a:t>the</a:t>
            </a:r>
            <a:r>
              <a:rPr sz="1268" spc="106" dirty="0">
                <a:latin typeface="Microsoft Sans Serif"/>
                <a:cs typeface="Microsoft Sans Serif"/>
              </a:rPr>
              <a:t> </a:t>
            </a:r>
            <a:r>
              <a:rPr sz="1268" spc="-42" dirty="0">
                <a:latin typeface="Microsoft Sans Serif"/>
                <a:cs typeface="Microsoft Sans Serif"/>
              </a:rPr>
              <a:t>nice</a:t>
            </a:r>
            <a:r>
              <a:rPr sz="1268" spc="106" dirty="0">
                <a:latin typeface="Microsoft Sans Serif"/>
                <a:cs typeface="Microsoft Sans Serif"/>
              </a:rPr>
              <a:t> </a:t>
            </a:r>
            <a:r>
              <a:rPr sz="1268" spc="11" dirty="0">
                <a:latin typeface="Microsoft Sans Serif"/>
                <a:cs typeface="Microsoft Sans Serif"/>
              </a:rPr>
              <a:t>introduction</a:t>
            </a:r>
            <a:r>
              <a:rPr sz="1268" spc="116" dirty="0">
                <a:latin typeface="Microsoft Sans Serif"/>
                <a:cs typeface="Microsoft Sans Serif"/>
              </a:rPr>
              <a:t> </a:t>
            </a:r>
            <a:r>
              <a:rPr sz="1268" spc="42" dirty="0">
                <a:latin typeface="Microsoft Sans Serif"/>
                <a:cs typeface="Microsoft Sans Serif"/>
              </a:rPr>
              <a:t>to</a:t>
            </a:r>
            <a:r>
              <a:rPr sz="1268" spc="106" dirty="0">
                <a:latin typeface="Microsoft Sans Serif"/>
                <a:cs typeface="Microsoft Sans Serif"/>
              </a:rPr>
              <a:t> </a:t>
            </a:r>
            <a:r>
              <a:rPr sz="1268" spc="-32" dirty="0">
                <a:latin typeface="Microsoft Sans Serif"/>
                <a:cs typeface="Microsoft Sans Serif"/>
              </a:rPr>
              <a:t>Barebox </a:t>
            </a:r>
            <a:r>
              <a:rPr sz="1268" spc="-306" dirty="0">
                <a:latin typeface="Microsoft Sans Serif"/>
                <a:cs typeface="Microsoft Sans Serif"/>
              </a:rPr>
              <a:t> </a:t>
            </a:r>
            <a:r>
              <a:rPr sz="1268" spc="11" dirty="0">
                <a:latin typeface="Microsoft Sans Serif"/>
                <a:cs typeface="Microsoft Sans Serif"/>
              </a:rPr>
              <a:t>from</a:t>
            </a:r>
            <a:r>
              <a:rPr sz="1268" spc="95" dirty="0">
                <a:latin typeface="Microsoft Sans Serif"/>
                <a:cs typeface="Microsoft Sans Serif"/>
              </a:rPr>
              <a:t> </a:t>
            </a:r>
            <a:r>
              <a:rPr sz="1268" spc="-11" dirty="0">
                <a:latin typeface="Microsoft Sans Serif"/>
                <a:cs typeface="Microsoft Sans Serif"/>
              </a:rPr>
              <a:t>Ahmad</a:t>
            </a:r>
            <a:r>
              <a:rPr sz="1268" spc="95" dirty="0">
                <a:latin typeface="Microsoft Sans Serif"/>
                <a:cs typeface="Microsoft Sans Serif"/>
              </a:rPr>
              <a:t> </a:t>
            </a:r>
            <a:r>
              <a:rPr sz="1268" spc="-11" dirty="0">
                <a:latin typeface="Microsoft Sans Serif"/>
                <a:cs typeface="Microsoft Sans Serif"/>
              </a:rPr>
              <a:t>Fatoum</a:t>
            </a:r>
            <a:r>
              <a:rPr sz="1268" spc="95" dirty="0">
                <a:latin typeface="Microsoft Sans Serif"/>
                <a:cs typeface="Microsoft Sans Serif"/>
              </a:rPr>
              <a:t> </a:t>
            </a:r>
            <a:r>
              <a:rPr sz="1268" spc="32" dirty="0">
                <a:latin typeface="Microsoft Sans Serif"/>
                <a:cs typeface="Microsoft Sans Serif"/>
              </a:rPr>
              <a:t>at</a:t>
            </a:r>
            <a:r>
              <a:rPr sz="1268" spc="95" dirty="0">
                <a:latin typeface="Microsoft Sans Serif"/>
                <a:cs typeface="Microsoft Sans Serif"/>
              </a:rPr>
              <a:t> </a:t>
            </a:r>
            <a:r>
              <a:rPr sz="1268" spc="-32" dirty="0">
                <a:latin typeface="Microsoft Sans Serif"/>
                <a:cs typeface="Microsoft Sans Serif"/>
              </a:rPr>
              <a:t>ELCE</a:t>
            </a:r>
            <a:r>
              <a:rPr sz="1268" spc="106" dirty="0">
                <a:latin typeface="Microsoft Sans Serif"/>
                <a:cs typeface="Microsoft Sans Serif"/>
              </a:rPr>
              <a:t> </a:t>
            </a:r>
            <a:r>
              <a:rPr sz="1268" spc="-32" dirty="0">
                <a:latin typeface="Microsoft Sans Serif"/>
                <a:cs typeface="Microsoft Sans Serif"/>
              </a:rPr>
              <a:t>2020:</a:t>
            </a:r>
            <a:endParaRPr sz="1268">
              <a:latin typeface="Microsoft Sans Serif"/>
              <a:cs typeface="Microsoft Sans Serif"/>
            </a:endParaRPr>
          </a:p>
          <a:p>
            <a:pPr marL="26841">
              <a:lnSpc>
                <a:spcPts val="1405"/>
              </a:lnSpc>
            </a:pPr>
            <a:r>
              <a:rPr sz="1268" spc="-11" dirty="0">
                <a:latin typeface="Microsoft Sans Serif"/>
                <a:cs typeface="Microsoft Sans Serif"/>
              </a:rPr>
              <a:t>Video:</a:t>
            </a:r>
            <a:r>
              <a:rPr sz="1268" spc="264" dirty="0">
                <a:latin typeface="Microsoft Sans Serif"/>
                <a:cs typeface="Microsoft Sans Serif"/>
              </a:rPr>
              <a:t> </a:t>
            </a:r>
            <a:r>
              <a:rPr sz="1268" spc="-11" dirty="0">
                <a:solidFill>
                  <a:srgbClr val="3F3FBF"/>
                </a:solidFill>
                <a:latin typeface="SimSun"/>
                <a:cs typeface="SimSun"/>
                <a:hlinkClick r:id="rId5"/>
              </a:rPr>
              <a:t>https://youtu.be/Oj7lKbFtyM0</a:t>
            </a:r>
            <a:endParaRPr sz="1268">
              <a:latin typeface="SimSun"/>
              <a:cs typeface="SimSun"/>
            </a:endParaRPr>
          </a:p>
          <a:p>
            <a:pPr marL="26841" marR="10737">
              <a:lnSpc>
                <a:spcPts val="1479"/>
              </a:lnSpc>
              <a:spcBef>
                <a:spcPts val="63"/>
              </a:spcBef>
            </a:pPr>
            <a:r>
              <a:rPr sz="1268" spc="-42" dirty="0">
                <a:latin typeface="Microsoft Sans Serif"/>
                <a:cs typeface="Microsoft Sans Serif"/>
              </a:rPr>
              <a:t>Slides:</a:t>
            </a:r>
            <a:r>
              <a:rPr sz="1268" spc="-32" dirty="0">
                <a:latin typeface="Microsoft Sans Serif"/>
                <a:cs typeface="Microsoft Sans Serif"/>
              </a:rPr>
              <a:t> </a:t>
            </a:r>
            <a:r>
              <a:rPr sz="1268" spc="-11" dirty="0">
                <a:solidFill>
                  <a:srgbClr val="3F3FBF"/>
                </a:solidFill>
                <a:latin typeface="SimSun"/>
                <a:cs typeface="SimSun"/>
                <a:hlinkClick r:id="rId6"/>
              </a:rPr>
              <a:t>https://elinux.org/images/9/9d/Barebox-bells- </a:t>
            </a:r>
            <a:r>
              <a:rPr sz="1268" spc="-602" dirty="0">
                <a:solidFill>
                  <a:srgbClr val="3F3FBF"/>
                </a:solidFill>
                <a:latin typeface="SimSun"/>
                <a:cs typeface="SimSun"/>
              </a:rPr>
              <a:t> </a:t>
            </a:r>
            <a:r>
              <a:rPr sz="1268" dirty="0">
                <a:solidFill>
                  <a:srgbClr val="3F3FBF"/>
                </a:solidFill>
                <a:latin typeface="SimSun"/>
                <a:cs typeface="SimSun"/>
                <a:hlinkClick r:id="rId6"/>
              </a:rPr>
              <a:t>n-whistles.pdf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10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7734" y="59286"/>
            <a:ext cx="1848034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1" dirty="0">
                <a:latin typeface="Tahoma"/>
                <a:cs typeface="Tahoma"/>
                <a:hlinkClick r:id="rId2" action="ppaction://hlinksldjump"/>
              </a:rPr>
              <a:t>B</a:t>
            </a:r>
            <a:r>
              <a:rPr sz="2959" spc="53" dirty="0">
                <a:latin typeface="Tahoma"/>
                <a:cs typeface="Tahoma"/>
                <a:hlinkClick r:id="rId2" action="ppaction://hlinksldjump"/>
              </a:rPr>
              <a:t>o</a:t>
            </a:r>
            <a:r>
              <a:rPr sz="2959" spc="-148" dirty="0">
                <a:latin typeface="Tahoma"/>
                <a:cs typeface="Tahoma"/>
                <a:hlinkClick r:id="rId2" action="ppaction://hlinksldjump"/>
              </a:rPr>
              <a:t>otloaders</a:t>
            </a:r>
            <a:endParaRPr sz="2959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2880" y="2970738"/>
            <a:ext cx="5114645" cy="697953"/>
          </a:xfrm>
          <a:prstGeom prst="rect">
            <a:avLst/>
          </a:prstGeom>
        </p:spPr>
        <p:txBody>
          <a:bodyPr vert="horz" wrap="square" lIns="0" tIns="3086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41"/>
              </a:spcBef>
            </a:pPr>
            <a:r>
              <a:rPr sz="4333" spc="-169" dirty="0">
                <a:hlinkClick r:id="rId3" action="ppaction://hlinksldjump"/>
              </a:rPr>
              <a:t>The</a:t>
            </a:r>
            <a:r>
              <a:rPr sz="4333" spc="-42" dirty="0">
                <a:hlinkClick r:id="rId3" action="ppaction://hlinksldjump"/>
              </a:rPr>
              <a:t> </a:t>
            </a:r>
            <a:r>
              <a:rPr sz="4333" spc="-148" dirty="0">
                <a:hlinkClick r:id="rId3" action="ppaction://hlinksldjump"/>
              </a:rPr>
              <a:t>U-boot</a:t>
            </a:r>
            <a:r>
              <a:rPr sz="4333" spc="-42" dirty="0">
                <a:hlinkClick r:id="rId3" action="ppaction://hlinksldjump"/>
              </a:rPr>
              <a:t> </a:t>
            </a:r>
            <a:r>
              <a:rPr sz="4333" spc="-222" dirty="0">
                <a:hlinkClick r:id="rId3" action="ppaction://hlinksldjump"/>
              </a:rPr>
              <a:t>bootloader</a:t>
            </a:r>
            <a:endParaRPr sz="4333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1166263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63" dirty="0"/>
              <a:t>U-</a:t>
            </a:r>
            <a:r>
              <a:rPr sz="2959" spc="-21" dirty="0"/>
              <a:t>B</a:t>
            </a:r>
            <a:r>
              <a:rPr sz="2959" spc="53" dirty="0"/>
              <a:t>o</a:t>
            </a:r>
            <a:r>
              <a:rPr sz="2959" spc="-74" dirty="0"/>
              <a:t>ot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429707" y="1013340"/>
            <a:ext cx="7617614" cy="4968778"/>
          </a:xfrm>
          <a:prstGeom prst="rect">
            <a:avLst/>
          </a:prstGeom>
        </p:spPr>
        <p:txBody>
          <a:bodyPr vert="horz" wrap="square" lIns="0" tIns="116758" rIns="0" bIns="0" rtlCol="0">
            <a:spAutoFit/>
          </a:bodyPr>
          <a:lstStyle/>
          <a:p>
            <a:pPr marL="80524">
              <a:spcBef>
                <a:spcPts val="917"/>
              </a:spcBef>
            </a:pPr>
            <a:r>
              <a:rPr sz="2325" dirty="0">
                <a:latin typeface="Tahoma"/>
                <a:cs typeface="Tahoma"/>
              </a:rPr>
              <a:t>U-Boot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typical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free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software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project</a:t>
            </a:r>
            <a:endParaRPr sz="2325" dirty="0">
              <a:latin typeface="Tahoma"/>
              <a:cs typeface="Tahoma"/>
            </a:endParaRPr>
          </a:p>
          <a:p>
            <a:pPr marL="665668" indent="-375780">
              <a:spcBef>
                <a:spcPts val="706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06" dirty="0">
                <a:latin typeface="Tahoma"/>
                <a:cs typeface="Tahoma"/>
              </a:rPr>
              <a:t>License:</a:t>
            </a:r>
            <a:r>
              <a:rPr sz="2325" spc="254" dirty="0">
                <a:latin typeface="Tahoma"/>
                <a:cs typeface="Tahoma"/>
              </a:rPr>
              <a:t> </a:t>
            </a:r>
            <a:r>
              <a:rPr sz="2325" spc="11" dirty="0">
                <a:latin typeface="Tahoma"/>
                <a:cs typeface="Tahoma"/>
              </a:rPr>
              <a:t>GPLv2 </a:t>
            </a:r>
            <a:r>
              <a:rPr sz="2325" spc="-116" dirty="0">
                <a:latin typeface="Tahoma"/>
                <a:cs typeface="Tahoma"/>
              </a:rPr>
              <a:t>(same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Linux)</a:t>
            </a:r>
            <a:endParaRPr sz="2325" dirty="0">
              <a:latin typeface="Tahoma"/>
              <a:cs typeface="Tahoma"/>
            </a:endParaRPr>
          </a:p>
          <a:p>
            <a:pPr marL="665668" indent="-375780">
              <a:spcBef>
                <a:spcPts val="697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85" dirty="0">
                <a:latin typeface="Tahoma"/>
                <a:cs typeface="Tahoma"/>
              </a:rPr>
              <a:t>Freely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available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https://www.denx.de/wiki/U-Boot</a:t>
            </a:r>
            <a:endParaRPr sz="2325" dirty="0">
              <a:latin typeface="SimSun"/>
              <a:cs typeface="SimSun"/>
            </a:endParaRPr>
          </a:p>
          <a:p>
            <a:pPr marL="665668" indent="-375780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63" dirty="0">
                <a:latin typeface="Tahoma"/>
                <a:cs typeface="Tahoma"/>
              </a:rPr>
              <a:t>Documentation</a:t>
            </a:r>
            <a:r>
              <a:rPr sz="2325" spc="-1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available</a:t>
            </a:r>
            <a:r>
              <a:rPr sz="2325" spc="-1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endParaRPr sz="2325" dirty="0">
              <a:latin typeface="Tahoma"/>
              <a:cs typeface="Tahoma"/>
            </a:endParaRPr>
          </a:p>
          <a:p>
            <a:pPr marL="665668">
              <a:spcBef>
                <a:spcPts val="74"/>
              </a:spcBef>
            </a:pPr>
            <a:r>
              <a:rPr sz="2325" spc="-11" dirty="0">
                <a:solidFill>
                  <a:srgbClr val="3F3FBF"/>
                </a:solidFill>
                <a:latin typeface="SimSun"/>
                <a:cs typeface="SimSun"/>
                <a:hlinkClick r:id="rId3"/>
              </a:rPr>
              <a:t>https://u-boot.readthedocs.io/en/latest/</a:t>
            </a:r>
            <a:endParaRPr sz="2325" dirty="0">
              <a:latin typeface="SimSun"/>
              <a:cs typeface="SimSun"/>
            </a:endParaRPr>
          </a:p>
          <a:p>
            <a:pPr marL="665668" marR="77840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latest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development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source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code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available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1" dirty="0">
                <a:latin typeface="Tahoma"/>
                <a:cs typeface="Tahoma"/>
              </a:rPr>
              <a:t>Git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repository:</a:t>
            </a:r>
            <a:r>
              <a:rPr sz="2325" spc="338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3F3FBF"/>
                </a:solidFill>
                <a:latin typeface="SimSun"/>
                <a:cs typeface="SimSun"/>
                <a:hlinkClick r:id="rId4"/>
              </a:rPr>
              <a:t>https://gitlab.denx.de/u-boot/u-boot</a:t>
            </a:r>
            <a:endParaRPr sz="2325" dirty="0">
              <a:latin typeface="SimSun"/>
              <a:cs typeface="SimSun"/>
            </a:endParaRPr>
          </a:p>
          <a:p>
            <a:pPr marL="665668" marR="39456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95" dirty="0">
                <a:latin typeface="Tahoma"/>
                <a:cs typeface="Tahoma"/>
              </a:rPr>
              <a:t>Development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discussions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happen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around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open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mailing-list</a:t>
            </a:r>
            <a:endParaRPr sz="2325" dirty="0">
              <a:latin typeface="Tahoma"/>
              <a:cs typeface="Tahoma"/>
            </a:endParaRPr>
          </a:p>
          <a:p>
            <a:pPr marL="665668">
              <a:spcBef>
                <a:spcPts val="74"/>
              </a:spcBef>
            </a:pPr>
            <a:r>
              <a:rPr sz="2325" spc="-11" dirty="0">
                <a:solidFill>
                  <a:srgbClr val="3F3FBF"/>
                </a:solidFill>
                <a:latin typeface="SimSun"/>
                <a:cs typeface="SimSun"/>
                <a:hlinkClick r:id="rId5"/>
              </a:rPr>
              <a:t>https://lists.denx.de/pipermail/u-boot/</a:t>
            </a:r>
            <a:endParaRPr sz="2325" dirty="0">
              <a:latin typeface="SimSun"/>
              <a:cs typeface="SimSun"/>
            </a:endParaRPr>
          </a:p>
          <a:p>
            <a:pPr marL="665668" marR="64419" indent="-374438">
              <a:lnSpc>
                <a:spcPct val="102699"/>
              </a:lnSpc>
              <a:spcBef>
                <a:spcPts val="623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85" dirty="0">
                <a:latin typeface="Tahoma"/>
                <a:cs typeface="Tahoma"/>
              </a:rPr>
              <a:t>Follows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regular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release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schedule.</a:t>
            </a:r>
            <a:r>
              <a:rPr sz="2325" spc="296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Every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2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3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months,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new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version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released.</a:t>
            </a:r>
            <a:r>
              <a:rPr sz="2325" spc="306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Versions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named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YYYY.MM</a:t>
            </a:r>
            <a:r>
              <a:rPr sz="2325" spc="-21" dirty="0">
                <a:latin typeface="Tahoma"/>
                <a:cs typeface="Tahoma"/>
              </a:rPr>
              <a:t>.</a:t>
            </a:r>
            <a:endParaRPr sz="2325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73854" y="1268178"/>
            <a:ext cx="3196821" cy="3196821"/>
            <a:chOff x="4007977" y="600036"/>
            <a:chExt cx="1512570" cy="1512570"/>
          </a:xfrm>
        </p:grpSpPr>
        <p:sp>
          <p:nvSpPr>
            <p:cNvPr id="5" name="object 5"/>
            <p:cNvSpPr/>
            <p:nvPr/>
          </p:nvSpPr>
          <p:spPr>
            <a:xfrm>
              <a:off x="4007977" y="600036"/>
              <a:ext cx="1512570" cy="1512570"/>
            </a:xfrm>
            <a:custGeom>
              <a:avLst/>
              <a:gdLst/>
              <a:ahLst/>
              <a:cxnLst/>
              <a:rect l="l" t="t" r="r" b="b"/>
              <a:pathLst>
                <a:path w="1512570" h="1512570">
                  <a:moveTo>
                    <a:pt x="756042" y="1512085"/>
                  </a:moveTo>
                  <a:lnTo>
                    <a:pt x="708228" y="1510598"/>
                  </a:lnTo>
                  <a:lnTo>
                    <a:pt x="661203" y="1506195"/>
                  </a:lnTo>
                  <a:lnTo>
                    <a:pt x="615058" y="1498964"/>
                  </a:lnTo>
                  <a:lnTo>
                    <a:pt x="569881" y="1488996"/>
                  </a:lnTo>
                  <a:lnTo>
                    <a:pt x="525759" y="1476377"/>
                  </a:lnTo>
                  <a:lnTo>
                    <a:pt x="482783" y="1461196"/>
                  </a:lnTo>
                  <a:lnTo>
                    <a:pt x="441039" y="1443543"/>
                  </a:lnTo>
                  <a:lnTo>
                    <a:pt x="400617" y="1423505"/>
                  </a:lnTo>
                  <a:lnTo>
                    <a:pt x="361606" y="1401172"/>
                  </a:lnTo>
                  <a:lnTo>
                    <a:pt x="324093" y="1376631"/>
                  </a:lnTo>
                  <a:lnTo>
                    <a:pt x="288168" y="1349971"/>
                  </a:lnTo>
                  <a:lnTo>
                    <a:pt x="253919" y="1321281"/>
                  </a:lnTo>
                  <a:lnTo>
                    <a:pt x="221435" y="1290650"/>
                  </a:lnTo>
                  <a:lnTo>
                    <a:pt x="190803" y="1258165"/>
                  </a:lnTo>
                  <a:lnTo>
                    <a:pt x="162113" y="1223916"/>
                  </a:lnTo>
                  <a:lnTo>
                    <a:pt x="135454" y="1187991"/>
                  </a:lnTo>
                  <a:lnTo>
                    <a:pt x="110913" y="1150479"/>
                  </a:lnTo>
                  <a:lnTo>
                    <a:pt x="88579" y="1111467"/>
                  </a:lnTo>
                  <a:lnTo>
                    <a:pt x="68542" y="1071046"/>
                  </a:lnTo>
                  <a:lnTo>
                    <a:pt x="50888" y="1029302"/>
                  </a:lnTo>
                  <a:lnTo>
                    <a:pt x="35708" y="986325"/>
                  </a:lnTo>
                  <a:lnTo>
                    <a:pt x="23089" y="942204"/>
                  </a:lnTo>
                  <a:lnTo>
                    <a:pt x="13120" y="897026"/>
                  </a:lnTo>
                  <a:lnTo>
                    <a:pt x="5890" y="850881"/>
                  </a:lnTo>
                  <a:lnTo>
                    <a:pt x="1487" y="803857"/>
                  </a:lnTo>
                  <a:lnTo>
                    <a:pt x="0" y="756042"/>
                  </a:lnTo>
                  <a:lnTo>
                    <a:pt x="1487" y="708228"/>
                  </a:lnTo>
                  <a:lnTo>
                    <a:pt x="5890" y="661203"/>
                  </a:lnTo>
                  <a:lnTo>
                    <a:pt x="13120" y="615058"/>
                  </a:lnTo>
                  <a:lnTo>
                    <a:pt x="23089" y="569881"/>
                  </a:lnTo>
                  <a:lnTo>
                    <a:pt x="35708" y="525759"/>
                  </a:lnTo>
                  <a:lnTo>
                    <a:pt x="50888" y="482783"/>
                  </a:lnTo>
                  <a:lnTo>
                    <a:pt x="68542" y="441039"/>
                  </a:lnTo>
                  <a:lnTo>
                    <a:pt x="88579" y="400617"/>
                  </a:lnTo>
                  <a:lnTo>
                    <a:pt x="110913" y="361606"/>
                  </a:lnTo>
                  <a:lnTo>
                    <a:pt x="135454" y="324093"/>
                  </a:lnTo>
                  <a:lnTo>
                    <a:pt x="162113" y="288168"/>
                  </a:lnTo>
                  <a:lnTo>
                    <a:pt x="190803" y="253919"/>
                  </a:lnTo>
                  <a:lnTo>
                    <a:pt x="221435" y="221435"/>
                  </a:lnTo>
                  <a:lnTo>
                    <a:pt x="253919" y="190803"/>
                  </a:lnTo>
                  <a:lnTo>
                    <a:pt x="288168" y="162113"/>
                  </a:lnTo>
                  <a:lnTo>
                    <a:pt x="324093" y="135454"/>
                  </a:lnTo>
                  <a:lnTo>
                    <a:pt x="361606" y="110913"/>
                  </a:lnTo>
                  <a:lnTo>
                    <a:pt x="400617" y="88579"/>
                  </a:lnTo>
                  <a:lnTo>
                    <a:pt x="441039" y="68542"/>
                  </a:lnTo>
                  <a:lnTo>
                    <a:pt x="482783" y="50888"/>
                  </a:lnTo>
                  <a:lnTo>
                    <a:pt x="525759" y="35708"/>
                  </a:lnTo>
                  <a:lnTo>
                    <a:pt x="569881" y="23089"/>
                  </a:lnTo>
                  <a:lnTo>
                    <a:pt x="615058" y="13120"/>
                  </a:lnTo>
                  <a:lnTo>
                    <a:pt x="661203" y="5890"/>
                  </a:lnTo>
                  <a:lnTo>
                    <a:pt x="708228" y="1487"/>
                  </a:lnTo>
                  <a:lnTo>
                    <a:pt x="756042" y="0"/>
                  </a:lnTo>
                  <a:lnTo>
                    <a:pt x="803857" y="1487"/>
                  </a:lnTo>
                  <a:lnTo>
                    <a:pt x="850881" y="5890"/>
                  </a:lnTo>
                  <a:lnTo>
                    <a:pt x="897026" y="13120"/>
                  </a:lnTo>
                  <a:lnTo>
                    <a:pt x="942204" y="23089"/>
                  </a:lnTo>
                  <a:lnTo>
                    <a:pt x="986325" y="35708"/>
                  </a:lnTo>
                  <a:lnTo>
                    <a:pt x="1029302" y="50888"/>
                  </a:lnTo>
                  <a:lnTo>
                    <a:pt x="1071046" y="68542"/>
                  </a:lnTo>
                  <a:lnTo>
                    <a:pt x="1111467" y="88579"/>
                  </a:lnTo>
                  <a:lnTo>
                    <a:pt x="1150479" y="110913"/>
                  </a:lnTo>
                  <a:lnTo>
                    <a:pt x="1187991" y="135454"/>
                  </a:lnTo>
                  <a:lnTo>
                    <a:pt x="1223916" y="162113"/>
                  </a:lnTo>
                  <a:lnTo>
                    <a:pt x="1258165" y="190803"/>
                  </a:lnTo>
                  <a:lnTo>
                    <a:pt x="1290650" y="221435"/>
                  </a:lnTo>
                  <a:lnTo>
                    <a:pt x="1321281" y="253919"/>
                  </a:lnTo>
                  <a:lnTo>
                    <a:pt x="1349971" y="288168"/>
                  </a:lnTo>
                  <a:lnTo>
                    <a:pt x="1376631" y="324093"/>
                  </a:lnTo>
                  <a:lnTo>
                    <a:pt x="1401172" y="361606"/>
                  </a:lnTo>
                  <a:lnTo>
                    <a:pt x="1423505" y="400617"/>
                  </a:lnTo>
                  <a:lnTo>
                    <a:pt x="1443543" y="441039"/>
                  </a:lnTo>
                  <a:lnTo>
                    <a:pt x="1461196" y="482783"/>
                  </a:lnTo>
                  <a:lnTo>
                    <a:pt x="1476377" y="525759"/>
                  </a:lnTo>
                  <a:lnTo>
                    <a:pt x="1488996" y="569881"/>
                  </a:lnTo>
                  <a:lnTo>
                    <a:pt x="1498964" y="615058"/>
                  </a:lnTo>
                  <a:lnTo>
                    <a:pt x="1506195" y="661203"/>
                  </a:lnTo>
                  <a:lnTo>
                    <a:pt x="1510598" y="708228"/>
                  </a:lnTo>
                  <a:lnTo>
                    <a:pt x="1512085" y="756042"/>
                  </a:lnTo>
                  <a:lnTo>
                    <a:pt x="1510598" y="803857"/>
                  </a:lnTo>
                  <a:lnTo>
                    <a:pt x="1506195" y="850881"/>
                  </a:lnTo>
                  <a:lnTo>
                    <a:pt x="1498964" y="897026"/>
                  </a:lnTo>
                  <a:lnTo>
                    <a:pt x="1488996" y="942204"/>
                  </a:lnTo>
                  <a:lnTo>
                    <a:pt x="1476377" y="986325"/>
                  </a:lnTo>
                  <a:lnTo>
                    <a:pt x="1461196" y="1029302"/>
                  </a:lnTo>
                  <a:lnTo>
                    <a:pt x="1443543" y="1071046"/>
                  </a:lnTo>
                  <a:lnTo>
                    <a:pt x="1423505" y="1111467"/>
                  </a:lnTo>
                  <a:lnTo>
                    <a:pt x="1401172" y="1150479"/>
                  </a:lnTo>
                  <a:lnTo>
                    <a:pt x="1376631" y="1187991"/>
                  </a:lnTo>
                  <a:lnTo>
                    <a:pt x="1349971" y="1223916"/>
                  </a:lnTo>
                  <a:lnTo>
                    <a:pt x="1321281" y="1258165"/>
                  </a:lnTo>
                  <a:lnTo>
                    <a:pt x="1290650" y="1290650"/>
                  </a:lnTo>
                  <a:lnTo>
                    <a:pt x="1258165" y="1321281"/>
                  </a:lnTo>
                  <a:lnTo>
                    <a:pt x="1223916" y="1349971"/>
                  </a:lnTo>
                  <a:lnTo>
                    <a:pt x="1187991" y="1376631"/>
                  </a:lnTo>
                  <a:lnTo>
                    <a:pt x="1150479" y="1401172"/>
                  </a:lnTo>
                  <a:lnTo>
                    <a:pt x="1111467" y="1423505"/>
                  </a:lnTo>
                  <a:lnTo>
                    <a:pt x="1071046" y="1443543"/>
                  </a:lnTo>
                  <a:lnTo>
                    <a:pt x="1029302" y="1461196"/>
                  </a:lnTo>
                  <a:lnTo>
                    <a:pt x="986325" y="1476377"/>
                  </a:lnTo>
                  <a:lnTo>
                    <a:pt x="942204" y="1488996"/>
                  </a:lnTo>
                  <a:lnTo>
                    <a:pt x="897026" y="1498964"/>
                  </a:lnTo>
                  <a:lnTo>
                    <a:pt x="850881" y="1506195"/>
                  </a:lnTo>
                  <a:lnTo>
                    <a:pt x="803857" y="1510598"/>
                  </a:lnTo>
                  <a:lnTo>
                    <a:pt x="756042" y="1512085"/>
                  </a:lnTo>
                  <a:close/>
                </a:path>
              </a:pathLst>
            </a:custGeom>
            <a:solidFill>
              <a:srgbClr val="004466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/>
            <p:cNvSpPr/>
            <p:nvPr/>
          </p:nvSpPr>
          <p:spPr>
            <a:xfrm>
              <a:off x="4788408" y="892708"/>
              <a:ext cx="163195" cy="325755"/>
            </a:xfrm>
            <a:custGeom>
              <a:avLst/>
              <a:gdLst/>
              <a:ahLst/>
              <a:cxnLst/>
              <a:rect l="l" t="t" r="r" b="b"/>
              <a:pathLst>
                <a:path w="163195" h="325755">
                  <a:moveTo>
                    <a:pt x="162585" y="0"/>
                  </a:moveTo>
                  <a:lnTo>
                    <a:pt x="119354" y="5803"/>
                  </a:lnTo>
                  <a:lnTo>
                    <a:pt x="80518" y="22186"/>
                  </a:lnTo>
                  <a:lnTo>
                    <a:pt x="47612" y="47612"/>
                  </a:lnTo>
                  <a:lnTo>
                    <a:pt x="22186" y="80518"/>
                  </a:lnTo>
                  <a:lnTo>
                    <a:pt x="5803" y="119354"/>
                  </a:lnTo>
                  <a:lnTo>
                    <a:pt x="0" y="162585"/>
                  </a:lnTo>
                  <a:lnTo>
                    <a:pt x="5803" y="205816"/>
                  </a:lnTo>
                  <a:lnTo>
                    <a:pt x="22186" y="244652"/>
                  </a:lnTo>
                  <a:lnTo>
                    <a:pt x="47612" y="277558"/>
                  </a:lnTo>
                  <a:lnTo>
                    <a:pt x="80518" y="302983"/>
                  </a:lnTo>
                  <a:lnTo>
                    <a:pt x="119354" y="319366"/>
                  </a:lnTo>
                  <a:lnTo>
                    <a:pt x="162585" y="325170"/>
                  </a:lnTo>
                  <a:lnTo>
                    <a:pt x="162585" y="243878"/>
                  </a:lnTo>
                  <a:lnTo>
                    <a:pt x="162585" y="235750"/>
                  </a:lnTo>
                  <a:lnTo>
                    <a:pt x="134112" y="229997"/>
                  </a:lnTo>
                  <a:lnTo>
                    <a:pt x="110858" y="214312"/>
                  </a:lnTo>
                  <a:lnTo>
                    <a:pt x="95173" y="191058"/>
                  </a:lnTo>
                  <a:lnTo>
                    <a:pt x="89420" y="162585"/>
                  </a:lnTo>
                  <a:lnTo>
                    <a:pt x="95173" y="134112"/>
                  </a:lnTo>
                  <a:lnTo>
                    <a:pt x="110858" y="110858"/>
                  </a:lnTo>
                  <a:lnTo>
                    <a:pt x="134112" y="95173"/>
                  </a:lnTo>
                  <a:lnTo>
                    <a:pt x="162585" y="89420"/>
                  </a:lnTo>
                  <a:lnTo>
                    <a:pt x="162585" y="81292"/>
                  </a:lnTo>
                  <a:lnTo>
                    <a:pt x="162585" y="0"/>
                  </a:lnTo>
                  <a:close/>
                </a:path>
              </a:pathLst>
            </a:custGeom>
            <a:solidFill>
              <a:srgbClr val="FFCC87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/>
            <p:cNvSpPr/>
            <p:nvPr/>
          </p:nvSpPr>
          <p:spPr>
            <a:xfrm>
              <a:off x="4918480" y="892697"/>
              <a:ext cx="65405" cy="89535"/>
            </a:xfrm>
            <a:custGeom>
              <a:avLst/>
              <a:gdLst/>
              <a:ahLst/>
              <a:cxnLst/>
              <a:rect l="l" t="t" r="r" b="b"/>
              <a:pathLst>
                <a:path w="65404" h="89534">
                  <a:moveTo>
                    <a:pt x="32517" y="89424"/>
                  </a:moveTo>
                  <a:lnTo>
                    <a:pt x="19864" y="85908"/>
                  </a:lnTo>
                  <a:lnTo>
                    <a:pt x="9527" y="76323"/>
                  </a:lnTo>
                  <a:lnTo>
                    <a:pt x="2556" y="62110"/>
                  </a:lnTo>
                  <a:lnTo>
                    <a:pt x="0" y="44712"/>
                  </a:lnTo>
                  <a:lnTo>
                    <a:pt x="2556" y="27313"/>
                  </a:lnTo>
                  <a:lnTo>
                    <a:pt x="9527" y="13100"/>
                  </a:lnTo>
                  <a:lnTo>
                    <a:pt x="19864" y="3515"/>
                  </a:lnTo>
                  <a:lnTo>
                    <a:pt x="32517" y="0"/>
                  </a:lnTo>
                  <a:lnTo>
                    <a:pt x="45171" y="3515"/>
                  </a:lnTo>
                  <a:lnTo>
                    <a:pt x="55508" y="13100"/>
                  </a:lnTo>
                  <a:lnTo>
                    <a:pt x="62479" y="27313"/>
                  </a:lnTo>
                  <a:lnTo>
                    <a:pt x="65035" y="44712"/>
                  </a:lnTo>
                  <a:lnTo>
                    <a:pt x="62479" y="62110"/>
                  </a:lnTo>
                  <a:lnTo>
                    <a:pt x="55508" y="76323"/>
                  </a:lnTo>
                  <a:lnTo>
                    <a:pt x="45171" y="85908"/>
                  </a:lnTo>
                  <a:lnTo>
                    <a:pt x="32517" y="89424"/>
                  </a:lnTo>
                  <a:close/>
                </a:path>
              </a:pathLst>
            </a:custGeom>
            <a:solidFill>
              <a:srgbClr val="DD9954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5818" y="1055287"/>
              <a:ext cx="162589" cy="1625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178693" y="1055293"/>
              <a:ext cx="935355" cy="650875"/>
            </a:xfrm>
            <a:custGeom>
              <a:avLst/>
              <a:gdLst/>
              <a:ahLst/>
              <a:cxnLst/>
              <a:rect l="l" t="t" r="r" b="b"/>
              <a:pathLst>
                <a:path w="935354" h="650875">
                  <a:moveTo>
                    <a:pt x="243878" y="528421"/>
                  </a:moveTo>
                  <a:lnTo>
                    <a:pt x="234302" y="480949"/>
                  </a:lnTo>
                  <a:lnTo>
                    <a:pt x="208178" y="442188"/>
                  </a:lnTo>
                  <a:lnTo>
                    <a:pt x="169418" y="416052"/>
                  </a:lnTo>
                  <a:lnTo>
                    <a:pt x="121945" y="406476"/>
                  </a:lnTo>
                  <a:lnTo>
                    <a:pt x="74460" y="416052"/>
                  </a:lnTo>
                  <a:lnTo>
                    <a:pt x="35699" y="442188"/>
                  </a:lnTo>
                  <a:lnTo>
                    <a:pt x="9575" y="480949"/>
                  </a:lnTo>
                  <a:lnTo>
                    <a:pt x="0" y="528421"/>
                  </a:lnTo>
                  <a:lnTo>
                    <a:pt x="9575" y="575894"/>
                  </a:lnTo>
                  <a:lnTo>
                    <a:pt x="35699" y="614654"/>
                  </a:lnTo>
                  <a:lnTo>
                    <a:pt x="74460" y="640778"/>
                  </a:lnTo>
                  <a:lnTo>
                    <a:pt x="121945" y="650354"/>
                  </a:lnTo>
                  <a:lnTo>
                    <a:pt x="169418" y="640778"/>
                  </a:lnTo>
                  <a:lnTo>
                    <a:pt x="208178" y="614654"/>
                  </a:lnTo>
                  <a:lnTo>
                    <a:pt x="234302" y="575894"/>
                  </a:lnTo>
                  <a:lnTo>
                    <a:pt x="243878" y="528421"/>
                  </a:lnTo>
                  <a:close/>
                </a:path>
                <a:path w="935354" h="650875">
                  <a:moveTo>
                    <a:pt x="243878" y="203238"/>
                  </a:moveTo>
                  <a:lnTo>
                    <a:pt x="234302" y="155765"/>
                  </a:lnTo>
                  <a:lnTo>
                    <a:pt x="208178" y="117005"/>
                  </a:lnTo>
                  <a:lnTo>
                    <a:pt x="169418" y="90881"/>
                  </a:lnTo>
                  <a:lnTo>
                    <a:pt x="121945" y="81292"/>
                  </a:lnTo>
                  <a:lnTo>
                    <a:pt x="98044" y="83654"/>
                  </a:lnTo>
                  <a:lnTo>
                    <a:pt x="54305" y="101790"/>
                  </a:lnTo>
                  <a:lnTo>
                    <a:pt x="20485" y="135597"/>
                  </a:lnTo>
                  <a:lnTo>
                    <a:pt x="2362" y="179336"/>
                  </a:lnTo>
                  <a:lnTo>
                    <a:pt x="0" y="203238"/>
                  </a:lnTo>
                  <a:lnTo>
                    <a:pt x="9575" y="250710"/>
                  </a:lnTo>
                  <a:lnTo>
                    <a:pt x="35699" y="289471"/>
                  </a:lnTo>
                  <a:lnTo>
                    <a:pt x="74460" y="315595"/>
                  </a:lnTo>
                  <a:lnTo>
                    <a:pt x="121945" y="325183"/>
                  </a:lnTo>
                  <a:lnTo>
                    <a:pt x="169418" y="315595"/>
                  </a:lnTo>
                  <a:lnTo>
                    <a:pt x="208178" y="289471"/>
                  </a:lnTo>
                  <a:lnTo>
                    <a:pt x="234302" y="250710"/>
                  </a:lnTo>
                  <a:lnTo>
                    <a:pt x="243878" y="203238"/>
                  </a:lnTo>
                  <a:close/>
                </a:path>
                <a:path w="935354" h="650875">
                  <a:moveTo>
                    <a:pt x="934885" y="81292"/>
                  </a:moveTo>
                  <a:lnTo>
                    <a:pt x="928497" y="49657"/>
                  </a:lnTo>
                  <a:lnTo>
                    <a:pt x="911072" y="23812"/>
                  </a:lnTo>
                  <a:lnTo>
                    <a:pt x="885228" y="6388"/>
                  </a:lnTo>
                  <a:lnTo>
                    <a:pt x="853592" y="0"/>
                  </a:lnTo>
                  <a:lnTo>
                    <a:pt x="849528" y="825"/>
                  </a:lnTo>
                  <a:lnTo>
                    <a:pt x="849528" y="0"/>
                  </a:lnTo>
                  <a:lnTo>
                    <a:pt x="532472" y="0"/>
                  </a:lnTo>
                  <a:lnTo>
                    <a:pt x="532472" y="85356"/>
                  </a:lnTo>
                  <a:lnTo>
                    <a:pt x="447116" y="85356"/>
                  </a:lnTo>
                  <a:lnTo>
                    <a:pt x="447116" y="162585"/>
                  </a:lnTo>
                  <a:lnTo>
                    <a:pt x="532472" y="162585"/>
                  </a:lnTo>
                  <a:lnTo>
                    <a:pt x="849528" y="162585"/>
                  </a:lnTo>
                  <a:lnTo>
                    <a:pt x="853592" y="162585"/>
                  </a:lnTo>
                  <a:lnTo>
                    <a:pt x="934885" y="162585"/>
                  </a:lnTo>
                  <a:lnTo>
                    <a:pt x="934885" y="85356"/>
                  </a:lnTo>
                  <a:lnTo>
                    <a:pt x="934059" y="85356"/>
                  </a:lnTo>
                  <a:lnTo>
                    <a:pt x="934885" y="81292"/>
                  </a:lnTo>
                  <a:close/>
                </a:path>
              </a:pathLst>
            </a:custGeom>
            <a:solidFill>
              <a:srgbClr val="DD9954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/>
            <p:cNvSpPr/>
            <p:nvPr/>
          </p:nvSpPr>
          <p:spPr>
            <a:xfrm>
              <a:off x="4097401" y="1258531"/>
              <a:ext cx="65405" cy="325755"/>
            </a:xfrm>
            <a:custGeom>
              <a:avLst/>
              <a:gdLst/>
              <a:ahLst/>
              <a:cxnLst/>
              <a:rect l="l" t="t" r="r" b="b"/>
              <a:pathLst>
                <a:path w="65404" h="325755">
                  <a:moveTo>
                    <a:pt x="65036" y="243878"/>
                  </a:moveTo>
                  <a:lnTo>
                    <a:pt x="62471" y="212242"/>
                  </a:lnTo>
                  <a:lnTo>
                    <a:pt x="55499" y="186410"/>
                  </a:lnTo>
                  <a:lnTo>
                    <a:pt x="45161" y="168973"/>
                  </a:lnTo>
                  <a:lnTo>
                    <a:pt x="32512" y="162585"/>
                  </a:lnTo>
                  <a:lnTo>
                    <a:pt x="19862" y="168973"/>
                  </a:lnTo>
                  <a:lnTo>
                    <a:pt x="9525" y="186410"/>
                  </a:lnTo>
                  <a:lnTo>
                    <a:pt x="2552" y="212242"/>
                  </a:lnTo>
                  <a:lnTo>
                    <a:pt x="0" y="243878"/>
                  </a:lnTo>
                  <a:lnTo>
                    <a:pt x="2552" y="275526"/>
                  </a:lnTo>
                  <a:lnTo>
                    <a:pt x="9525" y="301358"/>
                  </a:lnTo>
                  <a:lnTo>
                    <a:pt x="19862" y="318782"/>
                  </a:lnTo>
                  <a:lnTo>
                    <a:pt x="32512" y="325183"/>
                  </a:lnTo>
                  <a:lnTo>
                    <a:pt x="45161" y="318782"/>
                  </a:lnTo>
                  <a:lnTo>
                    <a:pt x="55499" y="301358"/>
                  </a:lnTo>
                  <a:lnTo>
                    <a:pt x="62471" y="275526"/>
                  </a:lnTo>
                  <a:lnTo>
                    <a:pt x="65036" y="243878"/>
                  </a:lnTo>
                  <a:close/>
                </a:path>
                <a:path w="65404" h="325755">
                  <a:moveTo>
                    <a:pt x="65036" y="81292"/>
                  </a:moveTo>
                  <a:lnTo>
                    <a:pt x="62471" y="49657"/>
                  </a:lnTo>
                  <a:lnTo>
                    <a:pt x="55499" y="23812"/>
                  </a:lnTo>
                  <a:lnTo>
                    <a:pt x="45161" y="6388"/>
                  </a:lnTo>
                  <a:lnTo>
                    <a:pt x="32512" y="0"/>
                  </a:lnTo>
                  <a:lnTo>
                    <a:pt x="19862" y="6388"/>
                  </a:lnTo>
                  <a:lnTo>
                    <a:pt x="9525" y="23812"/>
                  </a:lnTo>
                  <a:lnTo>
                    <a:pt x="2552" y="49657"/>
                  </a:lnTo>
                  <a:lnTo>
                    <a:pt x="0" y="81292"/>
                  </a:lnTo>
                  <a:lnTo>
                    <a:pt x="2552" y="112928"/>
                  </a:lnTo>
                  <a:lnTo>
                    <a:pt x="9525" y="138772"/>
                  </a:lnTo>
                  <a:lnTo>
                    <a:pt x="19862" y="156197"/>
                  </a:lnTo>
                  <a:lnTo>
                    <a:pt x="32512" y="162585"/>
                  </a:lnTo>
                  <a:lnTo>
                    <a:pt x="45161" y="156197"/>
                  </a:lnTo>
                  <a:lnTo>
                    <a:pt x="55499" y="138772"/>
                  </a:lnTo>
                  <a:lnTo>
                    <a:pt x="62471" y="112928"/>
                  </a:lnTo>
                  <a:lnTo>
                    <a:pt x="65036" y="81292"/>
                  </a:lnTo>
                  <a:close/>
                </a:path>
              </a:pathLst>
            </a:custGeom>
            <a:solidFill>
              <a:srgbClr val="FFCC87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/>
            <p:cNvSpPr/>
            <p:nvPr/>
          </p:nvSpPr>
          <p:spPr>
            <a:xfrm>
              <a:off x="4097401" y="1404855"/>
              <a:ext cx="528955" cy="33020"/>
            </a:xfrm>
            <a:custGeom>
              <a:avLst/>
              <a:gdLst/>
              <a:ahLst/>
              <a:cxnLst/>
              <a:rect l="l" t="t" r="r" b="b"/>
              <a:pathLst>
                <a:path w="528954" h="33019">
                  <a:moveTo>
                    <a:pt x="528416" y="32517"/>
                  </a:moveTo>
                  <a:lnTo>
                    <a:pt x="0" y="32517"/>
                  </a:lnTo>
                  <a:lnTo>
                    <a:pt x="0" y="0"/>
                  </a:lnTo>
                  <a:lnTo>
                    <a:pt x="528416" y="0"/>
                  </a:lnTo>
                  <a:lnTo>
                    <a:pt x="528416" y="32517"/>
                  </a:lnTo>
                  <a:close/>
                </a:path>
              </a:pathLst>
            </a:custGeom>
            <a:solidFill>
              <a:srgbClr val="DD9954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/>
            <p:cNvSpPr/>
            <p:nvPr/>
          </p:nvSpPr>
          <p:spPr>
            <a:xfrm>
              <a:off x="4219344" y="1136582"/>
              <a:ext cx="1211580" cy="561340"/>
            </a:xfrm>
            <a:custGeom>
              <a:avLst/>
              <a:gdLst/>
              <a:ahLst/>
              <a:cxnLst/>
              <a:rect l="l" t="t" r="r" b="b"/>
              <a:pathLst>
                <a:path w="1211579" h="561339">
                  <a:moveTo>
                    <a:pt x="605647" y="560934"/>
                  </a:moveTo>
                  <a:lnTo>
                    <a:pt x="543723" y="559486"/>
                  </a:lnTo>
                  <a:lnTo>
                    <a:pt x="483587" y="555236"/>
                  </a:lnTo>
                  <a:lnTo>
                    <a:pt x="425545" y="548324"/>
                  </a:lnTo>
                  <a:lnTo>
                    <a:pt x="369901" y="538892"/>
                  </a:lnTo>
                  <a:lnTo>
                    <a:pt x="316959" y="527081"/>
                  </a:lnTo>
                  <a:lnTo>
                    <a:pt x="267023" y="513031"/>
                  </a:lnTo>
                  <a:lnTo>
                    <a:pt x="220398" y="496885"/>
                  </a:lnTo>
                  <a:lnTo>
                    <a:pt x="177389" y="478782"/>
                  </a:lnTo>
                  <a:lnTo>
                    <a:pt x="138300" y="458864"/>
                  </a:lnTo>
                  <a:lnTo>
                    <a:pt x="103434" y="437273"/>
                  </a:lnTo>
                  <a:lnTo>
                    <a:pt x="73098" y="414148"/>
                  </a:lnTo>
                  <a:lnTo>
                    <a:pt x="27228" y="363864"/>
                  </a:lnTo>
                  <a:lnTo>
                    <a:pt x="3126" y="309141"/>
                  </a:lnTo>
                  <a:lnTo>
                    <a:pt x="0" y="280467"/>
                  </a:lnTo>
                  <a:lnTo>
                    <a:pt x="3126" y="251793"/>
                  </a:lnTo>
                  <a:lnTo>
                    <a:pt x="27228" y="197070"/>
                  </a:lnTo>
                  <a:lnTo>
                    <a:pt x="73098" y="146786"/>
                  </a:lnTo>
                  <a:lnTo>
                    <a:pt x="103434" y="123661"/>
                  </a:lnTo>
                  <a:lnTo>
                    <a:pt x="138300" y="102070"/>
                  </a:lnTo>
                  <a:lnTo>
                    <a:pt x="177389" y="82152"/>
                  </a:lnTo>
                  <a:lnTo>
                    <a:pt x="220398" y="64049"/>
                  </a:lnTo>
                  <a:lnTo>
                    <a:pt x="267023" y="47903"/>
                  </a:lnTo>
                  <a:lnTo>
                    <a:pt x="316959" y="33853"/>
                  </a:lnTo>
                  <a:lnTo>
                    <a:pt x="369901" y="22042"/>
                  </a:lnTo>
                  <a:lnTo>
                    <a:pt x="425545" y="12610"/>
                  </a:lnTo>
                  <a:lnTo>
                    <a:pt x="483587" y="5698"/>
                  </a:lnTo>
                  <a:lnTo>
                    <a:pt x="543723" y="1448"/>
                  </a:lnTo>
                  <a:lnTo>
                    <a:pt x="605647" y="0"/>
                  </a:lnTo>
                  <a:lnTo>
                    <a:pt x="667571" y="1448"/>
                  </a:lnTo>
                  <a:lnTo>
                    <a:pt x="727706" y="5698"/>
                  </a:lnTo>
                  <a:lnTo>
                    <a:pt x="785748" y="12610"/>
                  </a:lnTo>
                  <a:lnTo>
                    <a:pt x="841392" y="22042"/>
                  </a:lnTo>
                  <a:lnTo>
                    <a:pt x="894335" y="33853"/>
                  </a:lnTo>
                  <a:lnTo>
                    <a:pt x="944270" y="47903"/>
                  </a:lnTo>
                  <a:lnTo>
                    <a:pt x="990895" y="64049"/>
                  </a:lnTo>
                  <a:lnTo>
                    <a:pt x="1033904" y="82152"/>
                  </a:lnTo>
                  <a:lnTo>
                    <a:pt x="1072994" y="102070"/>
                  </a:lnTo>
                  <a:lnTo>
                    <a:pt x="1107859" y="123661"/>
                  </a:lnTo>
                  <a:lnTo>
                    <a:pt x="1138196" y="146786"/>
                  </a:lnTo>
                  <a:lnTo>
                    <a:pt x="1184065" y="197070"/>
                  </a:lnTo>
                  <a:lnTo>
                    <a:pt x="1208167" y="251793"/>
                  </a:lnTo>
                  <a:lnTo>
                    <a:pt x="1211294" y="280467"/>
                  </a:lnTo>
                  <a:lnTo>
                    <a:pt x="1208167" y="309141"/>
                  </a:lnTo>
                  <a:lnTo>
                    <a:pt x="1184065" y="363864"/>
                  </a:lnTo>
                  <a:lnTo>
                    <a:pt x="1138196" y="414148"/>
                  </a:lnTo>
                  <a:lnTo>
                    <a:pt x="1107859" y="437273"/>
                  </a:lnTo>
                  <a:lnTo>
                    <a:pt x="1072994" y="458864"/>
                  </a:lnTo>
                  <a:lnTo>
                    <a:pt x="1033904" y="478782"/>
                  </a:lnTo>
                  <a:lnTo>
                    <a:pt x="990895" y="496885"/>
                  </a:lnTo>
                  <a:lnTo>
                    <a:pt x="944270" y="513031"/>
                  </a:lnTo>
                  <a:lnTo>
                    <a:pt x="894335" y="527081"/>
                  </a:lnTo>
                  <a:lnTo>
                    <a:pt x="841392" y="538892"/>
                  </a:lnTo>
                  <a:lnTo>
                    <a:pt x="785748" y="548324"/>
                  </a:lnTo>
                  <a:lnTo>
                    <a:pt x="727706" y="555236"/>
                  </a:lnTo>
                  <a:lnTo>
                    <a:pt x="667571" y="559486"/>
                  </a:lnTo>
                  <a:lnTo>
                    <a:pt x="605647" y="560934"/>
                  </a:lnTo>
                  <a:close/>
                </a:path>
              </a:pathLst>
            </a:custGeom>
            <a:solidFill>
              <a:srgbClr val="FFCC87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55099" y="1274783"/>
              <a:ext cx="243884" cy="20323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0279" y="1274783"/>
              <a:ext cx="243884" cy="2032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58" y="1274783"/>
              <a:ext cx="243884" cy="203237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8473855" y="4729306"/>
            <a:ext cx="543540" cy="731431"/>
          </a:xfrm>
          <a:custGeom>
            <a:avLst/>
            <a:gdLst/>
            <a:ahLst/>
            <a:cxnLst/>
            <a:rect l="l" t="t" r="r" b="b"/>
            <a:pathLst>
              <a:path w="257175" h="346075">
                <a:moveTo>
                  <a:pt x="128630" y="345969"/>
                </a:moveTo>
                <a:lnTo>
                  <a:pt x="72745" y="337495"/>
                </a:lnTo>
                <a:lnTo>
                  <a:pt x="32387" y="312096"/>
                </a:lnTo>
                <a:lnTo>
                  <a:pt x="8096" y="270110"/>
                </a:lnTo>
                <a:lnTo>
                  <a:pt x="0" y="211832"/>
                </a:lnTo>
                <a:lnTo>
                  <a:pt x="0" y="0"/>
                </a:lnTo>
                <a:lnTo>
                  <a:pt x="45644" y="0"/>
                </a:lnTo>
                <a:lnTo>
                  <a:pt x="45644" y="206163"/>
                </a:lnTo>
                <a:lnTo>
                  <a:pt x="46866" y="231534"/>
                </a:lnTo>
                <a:lnTo>
                  <a:pt x="56646" y="270861"/>
                </a:lnTo>
                <a:lnTo>
                  <a:pt x="90838" y="302735"/>
                </a:lnTo>
                <a:lnTo>
                  <a:pt x="128630" y="308703"/>
                </a:lnTo>
                <a:lnTo>
                  <a:pt x="226958" y="308703"/>
                </a:lnTo>
                <a:lnTo>
                  <a:pt x="224406" y="312096"/>
                </a:lnTo>
                <a:lnTo>
                  <a:pt x="206275" y="326909"/>
                </a:lnTo>
                <a:lnTo>
                  <a:pt x="184269" y="337495"/>
                </a:lnTo>
                <a:lnTo>
                  <a:pt x="158388" y="343850"/>
                </a:lnTo>
                <a:lnTo>
                  <a:pt x="128630" y="345969"/>
                </a:lnTo>
                <a:close/>
              </a:path>
              <a:path w="257175" h="346075">
                <a:moveTo>
                  <a:pt x="226958" y="308703"/>
                </a:moveTo>
                <a:lnTo>
                  <a:pt x="128630" y="308703"/>
                </a:lnTo>
                <a:lnTo>
                  <a:pt x="148922" y="307211"/>
                </a:lnTo>
                <a:lnTo>
                  <a:pt x="166219" y="302735"/>
                </a:lnTo>
                <a:lnTo>
                  <a:pt x="200359" y="270861"/>
                </a:lnTo>
                <a:lnTo>
                  <a:pt x="210143" y="231534"/>
                </a:lnTo>
                <a:lnTo>
                  <a:pt x="211366" y="206163"/>
                </a:lnTo>
                <a:lnTo>
                  <a:pt x="211366" y="0"/>
                </a:lnTo>
                <a:lnTo>
                  <a:pt x="257011" y="0"/>
                </a:lnTo>
                <a:lnTo>
                  <a:pt x="257011" y="211832"/>
                </a:lnTo>
                <a:lnTo>
                  <a:pt x="254971" y="243010"/>
                </a:lnTo>
                <a:lnTo>
                  <a:pt x="248854" y="270110"/>
                </a:lnTo>
                <a:lnTo>
                  <a:pt x="238664" y="293137"/>
                </a:lnTo>
                <a:lnTo>
                  <a:pt x="226958" y="308703"/>
                </a:lnTo>
                <a:close/>
              </a:path>
            </a:pathLst>
          </a:custGeom>
          <a:solidFill>
            <a:srgbClr val="004466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7" name="object 17"/>
          <p:cNvSpPr/>
          <p:nvPr/>
        </p:nvSpPr>
        <p:spPr>
          <a:xfrm>
            <a:off x="9149142" y="5137635"/>
            <a:ext cx="256336" cy="79182"/>
          </a:xfrm>
          <a:custGeom>
            <a:avLst/>
            <a:gdLst/>
            <a:ahLst/>
            <a:cxnLst/>
            <a:rect l="l" t="t" r="r" b="b"/>
            <a:pathLst>
              <a:path w="121285" h="37464">
                <a:moveTo>
                  <a:pt x="121183" y="37298"/>
                </a:moveTo>
                <a:lnTo>
                  <a:pt x="0" y="37298"/>
                </a:lnTo>
                <a:lnTo>
                  <a:pt x="0" y="0"/>
                </a:lnTo>
                <a:lnTo>
                  <a:pt x="121183" y="0"/>
                </a:lnTo>
                <a:lnTo>
                  <a:pt x="121183" y="37298"/>
                </a:lnTo>
                <a:close/>
              </a:path>
            </a:pathLst>
          </a:custGeom>
          <a:solidFill>
            <a:srgbClr val="DD9954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8" name="object 18"/>
          <p:cNvSpPr/>
          <p:nvPr/>
        </p:nvSpPr>
        <p:spPr>
          <a:xfrm>
            <a:off x="9548330" y="4729306"/>
            <a:ext cx="503278" cy="718010"/>
          </a:xfrm>
          <a:custGeom>
            <a:avLst/>
            <a:gdLst/>
            <a:ahLst/>
            <a:cxnLst/>
            <a:rect l="l" t="t" r="r" b="b"/>
            <a:pathLst>
              <a:path w="238125" h="339725">
                <a:moveTo>
                  <a:pt x="120511" y="339368"/>
                </a:moveTo>
                <a:lnTo>
                  <a:pt x="0" y="339368"/>
                </a:lnTo>
                <a:lnTo>
                  <a:pt x="0" y="0"/>
                </a:lnTo>
                <a:lnTo>
                  <a:pt x="116013" y="0"/>
                </a:lnTo>
                <a:lnTo>
                  <a:pt x="140501" y="1365"/>
                </a:lnTo>
                <a:lnTo>
                  <a:pt x="180514" y="12273"/>
                </a:lnTo>
                <a:lnTo>
                  <a:pt x="210699" y="37720"/>
                </a:lnTo>
                <a:lnTo>
                  <a:pt x="45395" y="37720"/>
                </a:lnTo>
                <a:lnTo>
                  <a:pt x="45395" y="140022"/>
                </a:lnTo>
                <a:lnTo>
                  <a:pt x="203408" y="140022"/>
                </a:lnTo>
                <a:lnTo>
                  <a:pt x="201735" y="141760"/>
                </a:lnTo>
                <a:lnTo>
                  <a:pt x="192013" y="148371"/>
                </a:lnTo>
                <a:lnTo>
                  <a:pt x="180600" y="153255"/>
                </a:lnTo>
                <a:lnTo>
                  <a:pt x="167500" y="156411"/>
                </a:lnTo>
                <a:lnTo>
                  <a:pt x="183301" y="161030"/>
                </a:lnTo>
                <a:lnTo>
                  <a:pt x="197228" y="167646"/>
                </a:lnTo>
                <a:lnTo>
                  <a:pt x="209279" y="176254"/>
                </a:lnTo>
                <a:lnTo>
                  <a:pt x="210271" y="177287"/>
                </a:lnTo>
                <a:lnTo>
                  <a:pt x="45395" y="177287"/>
                </a:lnTo>
                <a:lnTo>
                  <a:pt x="45395" y="301636"/>
                </a:lnTo>
                <a:lnTo>
                  <a:pt x="220198" y="301636"/>
                </a:lnTo>
                <a:lnTo>
                  <a:pt x="207518" y="314589"/>
                </a:lnTo>
                <a:lnTo>
                  <a:pt x="190623" y="325430"/>
                </a:lnTo>
                <a:lnTo>
                  <a:pt x="170490" y="333173"/>
                </a:lnTo>
                <a:lnTo>
                  <a:pt x="147119" y="337819"/>
                </a:lnTo>
                <a:lnTo>
                  <a:pt x="120511" y="339368"/>
                </a:lnTo>
                <a:close/>
              </a:path>
              <a:path w="238125" h="339725">
                <a:moveTo>
                  <a:pt x="203408" y="140022"/>
                </a:moveTo>
                <a:lnTo>
                  <a:pt x="112631" y="140022"/>
                </a:lnTo>
                <a:lnTo>
                  <a:pt x="128206" y="139243"/>
                </a:lnTo>
                <a:lnTo>
                  <a:pt x="141644" y="136904"/>
                </a:lnTo>
                <a:lnTo>
                  <a:pt x="174410" y="111487"/>
                </a:lnTo>
                <a:lnTo>
                  <a:pt x="178512" y="88871"/>
                </a:lnTo>
                <a:lnTo>
                  <a:pt x="177487" y="76847"/>
                </a:lnTo>
                <a:lnTo>
                  <a:pt x="152937" y="44886"/>
                </a:lnTo>
                <a:lnTo>
                  <a:pt x="112631" y="37720"/>
                </a:lnTo>
                <a:lnTo>
                  <a:pt x="210699" y="37720"/>
                </a:lnTo>
                <a:lnTo>
                  <a:pt x="217134" y="48240"/>
                </a:lnTo>
                <a:lnTo>
                  <a:pt x="222402" y="64903"/>
                </a:lnTo>
                <a:lnTo>
                  <a:pt x="224157" y="83874"/>
                </a:lnTo>
                <a:lnTo>
                  <a:pt x="223260" y="98641"/>
                </a:lnTo>
                <a:lnTo>
                  <a:pt x="220565" y="111822"/>
                </a:lnTo>
                <a:lnTo>
                  <a:pt x="216067" y="123416"/>
                </a:lnTo>
                <a:lnTo>
                  <a:pt x="209762" y="133421"/>
                </a:lnTo>
                <a:lnTo>
                  <a:pt x="203408" y="140022"/>
                </a:lnTo>
                <a:close/>
              </a:path>
              <a:path w="238125" h="339725">
                <a:moveTo>
                  <a:pt x="220198" y="301636"/>
                </a:moveTo>
                <a:lnTo>
                  <a:pt x="118257" y="301636"/>
                </a:lnTo>
                <a:lnTo>
                  <a:pt x="135389" y="300683"/>
                </a:lnTo>
                <a:lnTo>
                  <a:pt x="150135" y="297825"/>
                </a:lnTo>
                <a:lnTo>
                  <a:pt x="185756" y="266923"/>
                </a:lnTo>
                <a:lnTo>
                  <a:pt x="190197" y="239353"/>
                </a:lnTo>
                <a:lnTo>
                  <a:pt x="189086" y="224493"/>
                </a:lnTo>
                <a:lnTo>
                  <a:pt x="162491" y="185857"/>
                </a:lnTo>
                <a:lnTo>
                  <a:pt x="118257" y="177287"/>
                </a:lnTo>
                <a:lnTo>
                  <a:pt x="210271" y="177287"/>
                </a:lnTo>
                <a:lnTo>
                  <a:pt x="233423" y="212693"/>
                </a:lnTo>
                <a:lnTo>
                  <a:pt x="238085" y="244350"/>
                </a:lnTo>
                <a:lnTo>
                  <a:pt x="236179" y="265794"/>
                </a:lnTo>
                <a:lnTo>
                  <a:pt x="230456" y="284648"/>
                </a:lnTo>
                <a:lnTo>
                  <a:pt x="220905" y="300913"/>
                </a:lnTo>
                <a:lnTo>
                  <a:pt x="220198" y="301636"/>
                </a:lnTo>
                <a:close/>
              </a:path>
            </a:pathLst>
          </a:custGeom>
          <a:solidFill>
            <a:srgbClr val="004466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9" name="object 19"/>
          <p:cNvSpPr/>
          <p:nvPr/>
        </p:nvSpPr>
        <p:spPr>
          <a:xfrm>
            <a:off x="10174133" y="4895489"/>
            <a:ext cx="488515" cy="565013"/>
          </a:xfrm>
          <a:custGeom>
            <a:avLst/>
            <a:gdLst/>
            <a:ahLst/>
            <a:cxnLst/>
            <a:rect l="l" t="t" r="r" b="b"/>
            <a:pathLst>
              <a:path w="231139" h="267335">
                <a:moveTo>
                  <a:pt x="115590" y="267341"/>
                </a:moveTo>
                <a:lnTo>
                  <a:pt x="67259" y="258475"/>
                </a:lnTo>
                <a:lnTo>
                  <a:pt x="30610" y="231863"/>
                </a:lnTo>
                <a:lnTo>
                  <a:pt x="7651" y="189482"/>
                </a:lnTo>
                <a:lnTo>
                  <a:pt x="0" y="133670"/>
                </a:lnTo>
                <a:lnTo>
                  <a:pt x="1912" y="104004"/>
                </a:lnTo>
                <a:lnTo>
                  <a:pt x="17216" y="54906"/>
                </a:lnTo>
                <a:lnTo>
                  <a:pt x="47475" y="19969"/>
                </a:lnTo>
                <a:lnTo>
                  <a:pt x="89964" y="2221"/>
                </a:lnTo>
                <a:lnTo>
                  <a:pt x="115590" y="0"/>
                </a:lnTo>
                <a:lnTo>
                  <a:pt x="141129" y="2221"/>
                </a:lnTo>
                <a:lnTo>
                  <a:pt x="163768" y="8881"/>
                </a:lnTo>
                <a:lnTo>
                  <a:pt x="183509" y="19969"/>
                </a:lnTo>
                <a:lnTo>
                  <a:pt x="200354" y="35477"/>
                </a:lnTo>
                <a:lnTo>
                  <a:pt x="115590" y="35477"/>
                </a:lnTo>
                <a:lnTo>
                  <a:pt x="99796" y="37137"/>
                </a:lnTo>
                <a:lnTo>
                  <a:pt x="62954" y="61860"/>
                </a:lnTo>
                <a:lnTo>
                  <a:pt x="44857" y="112051"/>
                </a:lnTo>
                <a:lnTo>
                  <a:pt x="43649" y="133670"/>
                </a:lnTo>
                <a:lnTo>
                  <a:pt x="44841" y="155317"/>
                </a:lnTo>
                <a:lnTo>
                  <a:pt x="62748" y="205730"/>
                </a:lnTo>
                <a:lnTo>
                  <a:pt x="99709" y="230234"/>
                </a:lnTo>
                <a:lnTo>
                  <a:pt x="115590" y="231863"/>
                </a:lnTo>
                <a:lnTo>
                  <a:pt x="200354" y="231863"/>
                </a:lnTo>
                <a:lnTo>
                  <a:pt x="183509" y="247389"/>
                </a:lnTo>
                <a:lnTo>
                  <a:pt x="163768" y="258475"/>
                </a:lnTo>
                <a:lnTo>
                  <a:pt x="141129" y="265125"/>
                </a:lnTo>
                <a:lnTo>
                  <a:pt x="115590" y="267341"/>
                </a:lnTo>
                <a:close/>
              </a:path>
              <a:path w="231139" h="267335">
                <a:moveTo>
                  <a:pt x="200354" y="231863"/>
                </a:moveTo>
                <a:lnTo>
                  <a:pt x="115590" y="231863"/>
                </a:lnTo>
                <a:lnTo>
                  <a:pt x="131250" y="230219"/>
                </a:lnTo>
                <a:lnTo>
                  <a:pt x="145204" y="225283"/>
                </a:lnTo>
                <a:lnTo>
                  <a:pt x="176435" y="191148"/>
                </a:lnTo>
                <a:lnTo>
                  <a:pt x="187314" y="133670"/>
                </a:lnTo>
                <a:lnTo>
                  <a:pt x="186106" y="112237"/>
                </a:lnTo>
                <a:lnTo>
                  <a:pt x="167966" y="62065"/>
                </a:lnTo>
                <a:lnTo>
                  <a:pt x="131250" y="37137"/>
                </a:lnTo>
                <a:lnTo>
                  <a:pt x="115590" y="35477"/>
                </a:lnTo>
                <a:lnTo>
                  <a:pt x="200354" y="35477"/>
                </a:lnTo>
                <a:lnTo>
                  <a:pt x="213829" y="54906"/>
                </a:lnTo>
                <a:lnTo>
                  <a:pt x="223448" y="77749"/>
                </a:lnTo>
                <a:lnTo>
                  <a:pt x="229216" y="104004"/>
                </a:lnTo>
                <a:lnTo>
                  <a:pt x="231137" y="133670"/>
                </a:lnTo>
                <a:lnTo>
                  <a:pt x="229216" y="163250"/>
                </a:lnTo>
                <a:lnTo>
                  <a:pt x="223448" y="189482"/>
                </a:lnTo>
                <a:lnTo>
                  <a:pt x="213829" y="212356"/>
                </a:lnTo>
                <a:lnTo>
                  <a:pt x="200354" y="231863"/>
                </a:lnTo>
                <a:close/>
              </a:path>
            </a:pathLst>
          </a:custGeom>
          <a:solidFill>
            <a:srgbClr val="004466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20" name="object 20"/>
          <p:cNvSpPr/>
          <p:nvPr/>
        </p:nvSpPr>
        <p:spPr>
          <a:xfrm>
            <a:off x="10769557" y="4755720"/>
            <a:ext cx="900530" cy="705931"/>
          </a:xfrm>
          <a:custGeom>
            <a:avLst/>
            <a:gdLst/>
            <a:ahLst/>
            <a:cxnLst/>
            <a:rect l="l" t="t" r="r" b="b"/>
            <a:pathLst>
              <a:path w="426085" h="334010">
                <a:moveTo>
                  <a:pt x="231140" y="199809"/>
                </a:moveTo>
                <a:lnTo>
                  <a:pt x="223456" y="143891"/>
                </a:lnTo>
                <a:lnTo>
                  <a:pt x="200355" y="101612"/>
                </a:lnTo>
                <a:lnTo>
                  <a:pt x="187325" y="89623"/>
                </a:lnTo>
                <a:lnTo>
                  <a:pt x="187325" y="199809"/>
                </a:lnTo>
                <a:lnTo>
                  <a:pt x="186105" y="221348"/>
                </a:lnTo>
                <a:lnTo>
                  <a:pt x="167970" y="271665"/>
                </a:lnTo>
                <a:lnTo>
                  <a:pt x="131254" y="296354"/>
                </a:lnTo>
                <a:lnTo>
                  <a:pt x="115595" y="298005"/>
                </a:lnTo>
                <a:lnTo>
                  <a:pt x="99720" y="296367"/>
                </a:lnTo>
                <a:lnTo>
                  <a:pt x="62750" y="271868"/>
                </a:lnTo>
                <a:lnTo>
                  <a:pt x="44805" y="221449"/>
                </a:lnTo>
                <a:lnTo>
                  <a:pt x="43611" y="199809"/>
                </a:lnTo>
                <a:lnTo>
                  <a:pt x="44831" y="178193"/>
                </a:lnTo>
                <a:lnTo>
                  <a:pt x="62966" y="127990"/>
                </a:lnTo>
                <a:lnTo>
                  <a:pt x="99796" y="103276"/>
                </a:lnTo>
                <a:lnTo>
                  <a:pt x="115595" y="101612"/>
                </a:lnTo>
                <a:lnTo>
                  <a:pt x="131254" y="103276"/>
                </a:lnTo>
                <a:lnTo>
                  <a:pt x="167970" y="128206"/>
                </a:lnTo>
                <a:lnTo>
                  <a:pt x="186105" y="178371"/>
                </a:lnTo>
                <a:lnTo>
                  <a:pt x="187325" y="199809"/>
                </a:lnTo>
                <a:lnTo>
                  <a:pt x="187325" y="89623"/>
                </a:lnTo>
                <a:lnTo>
                  <a:pt x="183502" y="86106"/>
                </a:lnTo>
                <a:lnTo>
                  <a:pt x="163753" y="75018"/>
                </a:lnTo>
                <a:lnTo>
                  <a:pt x="141109" y="68364"/>
                </a:lnTo>
                <a:lnTo>
                  <a:pt x="115595" y="66141"/>
                </a:lnTo>
                <a:lnTo>
                  <a:pt x="89966" y="68364"/>
                </a:lnTo>
                <a:lnTo>
                  <a:pt x="47447" y="86106"/>
                </a:lnTo>
                <a:lnTo>
                  <a:pt x="17208" y="121043"/>
                </a:lnTo>
                <a:lnTo>
                  <a:pt x="1917" y="170141"/>
                </a:lnTo>
                <a:lnTo>
                  <a:pt x="0" y="199809"/>
                </a:lnTo>
                <a:lnTo>
                  <a:pt x="1917" y="229387"/>
                </a:lnTo>
                <a:lnTo>
                  <a:pt x="17208" y="278498"/>
                </a:lnTo>
                <a:lnTo>
                  <a:pt x="47447" y="313524"/>
                </a:lnTo>
                <a:lnTo>
                  <a:pt x="89966" y="331266"/>
                </a:lnTo>
                <a:lnTo>
                  <a:pt x="115595" y="333476"/>
                </a:lnTo>
                <a:lnTo>
                  <a:pt x="141109" y="331266"/>
                </a:lnTo>
                <a:lnTo>
                  <a:pt x="183502" y="313524"/>
                </a:lnTo>
                <a:lnTo>
                  <a:pt x="213829" y="278498"/>
                </a:lnTo>
                <a:lnTo>
                  <a:pt x="229222" y="229387"/>
                </a:lnTo>
                <a:lnTo>
                  <a:pt x="231140" y="199809"/>
                </a:lnTo>
                <a:close/>
              </a:path>
              <a:path w="426085" h="334010">
                <a:moveTo>
                  <a:pt x="425869" y="72275"/>
                </a:moveTo>
                <a:lnTo>
                  <a:pt x="340639" y="72275"/>
                </a:lnTo>
                <a:lnTo>
                  <a:pt x="340639" y="0"/>
                </a:lnTo>
                <a:lnTo>
                  <a:pt x="299059" y="0"/>
                </a:lnTo>
                <a:lnTo>
                  <a:pt x="299059" y="72275"/>
                </a:lnTo>
                <a:lnTo>
                  <a:pt x="268706" y="72275"/>
                </a:lnTo>
                <a:lnTo>
                  <a:pt x="268706" y="104787"/>
                </a:lnTo>
                <a:lnTo>
                  <a:pt x="299059" y="104787"/>
                </a:lnTo>
                <a:lnTo>
                  <a:pt x="299059" y="242989"/>
                </a:lnTo>
                <a:lnTo>
                  <a:pt x="300202" y="265023"/>
                </a:lnTo>
                <a:lnTo>
                  <a:pt x="317258" y="308914"/>
                </a:lnTo>
                <a:lnTo>
                  <a:pt x="361276" y="325755"/>
                </a:lnTo>
                <a:lnTo>
                  <a:pt x="383362" y="326872"/>
                </a:lnTo>
                <a:lnTo>
                  <a:pt x="425869" y="326872"/>
                </a:lnTo>
                <a:lnTo>
                  <a:pt x="425869" y="291896"/>
                </a:lnTo>
                <a:lnTo>
                  <a:pt x="383362" y="291896"/>
                </a:lnTo>
                <a:lnTo>
                  <a:pt x="371513" y="291338"/>
                </a:lnTo>
                <a:lnTo>
                  <a:pt x="341160" y="257187"/>
                </a:lnTo>
                <a:lnTo>
                  <a:pt x="340639" y="242989"/>
                </a:lnTo>
                <a:lnTo>
                  <a:pt x="340639" y="104787"/>
                </a:lnTo>
                <a:lnTo>
                  <a:pt x="425869" y="104787"/>
                </a:lnTo>
                <a:lnTo>
                  <a:pt x="425869" y="72275"/>
                </a:lnTo>
                <a:close/>
              </a:path>
            </a:pathLst>
          </a:custGeom>
          <a:solidFill>
            <a:srgbClr val="004466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21" name="object 21"/>
          <p:cNvSpPr txBox="1"/>
          <p:nvPr/>
        </p:nvSpPr>
        <p:spPr>
          <a:xfrm>
            <a:off x="8447018" y="5460427"/>
            <a:ext cx="2233212" cy="410469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lnSpc>
                <a:spcPts val="1501"/>
              </a:lnSpc>
              <a:spcBef>
                <a:spcPts val="201"/>
              </a:spcBef>
            </a:pPr>
            <a:r>
              <a:rPr sz="1268" spc="-42" dirty="0">
                <a:latin typeface="Microsoft Sans Serif"/>
                <a:cs typeface="Microsoft Sans Serif"/>
              </a:rPr>
              <a:t>Image</a:t>
            </a:r>
            <a:r>
              <a:rPr sz="1268" spc="21" dirty="0">
                <a:latin typeface="Microsoft Sans Serif"/>
                <a:cs typeface="Microsoft Sans Serif"/>
              </a:rPr>
              <a:t> </a:t>
            </a:r>
            <a:r>
              <a:rPr sz="1268" spc="-11" dirty="0">
                <a:latin typeface="Microsoft Sans Serif"/>
                <a:cs typeface="Microsoft Sans Serif"/>
              </a:rPr>
              <a:t>credits:</a:t>
            </a:r>
            <a:endParaRPr sz="1268">
              <a:latin typeface="Microsoft Sans Serif"/>
              <a:cs typeface="Microsoft Sans Serif"/>
            </a:endParaRPr>
          </a:p>
          <a:p>
            <a:pPr marL="26841">
              <a:lnSpc>
                <a:spcPts val="1501"/>
              </a:lnSpc>
            </a:pPr>
            <a:r>
              <a:rPr sz="1268" spc="-11" dirty="0">
                <a:solidFill>
                  <a:srgbClr val="3F3FBF"/>
                </a:solidFill>
                <a:latin typeface="SimSun"/>
                <a:cs typeface="SimSun"/>
                <a:hlinkClick r:id="rId9"/>
              </a:rPr>
              <a:t>https://frama.link/rwCUFc</a:t>
            </a:r>
            <a:r>
              <a:rPr sz="1268" spc="85" dirty="0">
                <a:solidFill>
                  <a:srgbClr val="3F3FBF"/>
                </a:solidFill>
                <a:latin typeface="SimSun"/>
                <a:cs typeface="SimSun"/>
                <a:hlinkClick r:id="rId9"/>
              </a:rPr>
              <a:t>-</a:t>
            </a:r>
            <a:r>
              <a:rPr sz="1268" spc="-11" dirty="0">
                <a:solidFill>
                  <a:srgbClr val="3F3FBF"/>
                </a:solidFill>
                <a:latin typeface="SimSun"/>
                <a:cs typeface="SimSun"/>
                <a:hlinkClick r:id="rId9"/>
              </a:rPr>
              <a:t>T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12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5" y="71650"/>
            <a:ext cx="3257214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42" dirty="0"/>
              <a:t>U-Boot </a:t>
            </a:r>
            <a:r>
              <a:rPr sz="2959" spc="-127" dirty="0"/>
              <a:t>configuration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89" y="1183839"/>
            <a:ext cx="10223923" cy="4878927"/>
          </a:xfrm>
          <a:prstGeom prst="rect">
            <a:avLst/>
          </a:prstGeom>
        </p:spPr>
        <p:txBody>
          <a:bodyPr vert="horz" wrap="square" lIns="0" tIns="73814" rIns="0" bIns="0" rtlCol="0">
            <a:spAutoFit/>
          </a:bodyPr>
          <a:lstStyle/>
          <a:p>
            <a:pPr marL="453618" indent="-374438">
              <a:spcBef>
                <a:spcPts val="581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63" dirty="0">
                <a:latin typeface="Tahoma"/>
                <a:cs typeface="Tahoma"/>
              </a:rPr>
              <a:t>Get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source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code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website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21" dirty="0">
                <a:latin typeface="Tahoma"/>
                <a:cs typeface="Tahoma"/>
              </a:rPr>
              <a:t>git</a:t>
            </a:r>
            <a:endParaRPr sz="2325">
              <a:latin typeface="Tahoma"/>
              <a:cs typeface="Tahoma"/>
            </a:endParaRPr>
          </a:p>
          <a:p>
            <a:pPr marL="453618" marR="398596" indent="-374438">
              <a:lnSpc>
                <a:spcPts val="2536"/>
              </a:lnSpc>
              <a:spcBef>
                <a:spcPts val="66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configs/</a:t>
            </a:r>
            <a:r>
              <a:rPr sz="2325" spc="-391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 </a:t>
            </a:r>
            <a:r>
              <a:rPr sz="2325" spc="-74" dirty="0">
                <a:latin typeface="Tahoma"/>
                <a:cs typeface="Tahoma"/>
              </a:rPr>
              <a:t>directory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contains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one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several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configuration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file(s)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each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supported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board</a:t>
            </a:r>
            <a:endParaRPr sz="2325">
              <a:latin typeface="Tahoma"/>
              <a:cs typeface="Tahoma"/>
            </a:endParaRPr>
          </a:p>
          <a:p>
            <a:pPr marL="1040106" marR="586486" lvl="1" indent="-355649">
              <a:spcBef>
                <a:spcPts val="317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85" dirty="0">
                <a:latin typeface="Tahoma"/>
                <a:cs typeface="Tahoma"/>
              </a:rPr>
              <a:t>It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defines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106" dirty="0">
                <a:latin typeface="Tahoma"/>
                <a:cs typeface="Tahoma"/>
              </a:rPr>
              <a:t>CPU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type,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peripherals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their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configuration,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memory </a:t>
            </a:r>
            <a:r>
              <a:rPr sz="2114" spc="-623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mapping,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11" dirty="0">
                <a:latin typeface="Tahoma"/>
                <a:cs typeface="Tahoma"/>
              </a:rPr>
              <a:t>U-Boot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features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that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should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be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compiled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etc.</a:t>
            </a:r>
            <a:endParaRPr sz="2114">
              <a:latin typeface="Tahoma"/>
              <a:cs typeface="Tahoma"/>
            </a:endParaRPr>
          </a:p>
          <a:p>
            <a:pPr marL="1040106" marR="4486548" lvl="1" indent="-355649">
              <a:lnSpc>
                <a:spcPts val="2536"/>
              </a:lnSpc>
              <a:spcBef>
                <a:spcPts val="63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85" dirty="0">
                <a:latin typeface="Tahoma"/>
                <a:cs typeface="Tahoma"/>
              </a:rPr>
              <a:t>Examples: </a:t>
            </a:r>
            <a:r>
              <a:rPr sz="2114" spc="-74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3F3FBF"/>
                </a:solidFill>
                <a:latin typeface="SimSun"/>
                <a:cs typeface="SimSun"/>
                <a:hlinkClick r:id="rId3"/>
              </a:rPr>
              <a:t>configs/stm32mp15_basic_defconfig </a:t>
            </a:r>
            <a:r>
              <a:rPr sz="2114" dirty="0">
                <a:solidFill>
                  <a:srgbClr val="3F3FB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3F3FBF"/>
                </a:solidFill>
                <a:latin typeface="SimSun"/>
                <a:cs typeface="SimSun"/>
                <a:hlinkClick r:id="rId4"/>
              </a:rPr>
              <a:t>configs/stm32mp15_trusted_defconfig</a:t>
            </a:r>
            <a:endParaRPr sz="2114">
              <a:latin typeface="SimSun"/>
              <a:cs typeface="SimSun"/>
            </a:endParaRPr>
          </a:p>
          <a:p>
            <a:pPr marL="453618" marR="322097" indent="-374438">
              <a:lnSpc>
                <a:spcPts val="2536"/>
              </a:lnSpc>
              <a:spcBef>
                <a:spcPts val="60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74" dirty="0">
                <a:latin typeface="Tahoma"/>
                <a:cs typeface="Tahoma"/>
              </a:rPr>
              <a:t>Note:</a:t>
            </a:r>
            <a:r>
              <a:rPr sz="2325" spc="285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migrating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board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configuration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defined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74" dirty="0">
                <a:latin typeface="Tahoma"/>
                <a:cs typeface="Tahoma"/>
              </a:rPr>
              <a:t>C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header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files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(</a:t>
            </a:r>
            <a:r>
              <a:rPr sz="2325" spc="-11" dirty="0">
                <a:solidFill>
                  <a:srgbClr val="3F3FBF"/>
                </a:solidFill>
                <a:latin typeface="SimSun"/>
                <a:cs typeface="SimSun"/>
                <a:hlinkClick r:id="rId5"/>
              </a:rPr>
              <a:t>include/configs/</a:t>
            </a:r>
            <a:r>
              <a:rPr sz="2325" spc="-11" dirty="0">
                <a:latin typeface="Tahoma"/>
                <a:cs typeface="Tahoma"/>
              </a:rPr>
              <a:t>)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i="1" spc="-85" dirty="0">
                <a:latin typeface="Arial"/>
                <a:cs typeface="Arial"/>
              </a:rPr>
              <a:t>defconfig</a:t>
            </a:r>
            <a:r>
              <a:rPr sz="2325" i="1" spc="116" dirty="0">
                <a:latin typeface="Arial"/>
                <a:cs typeface="Arial"/>
              </a:rPr>
              <a:t> </a:t>
            </a:r>
            <a:r>
              <a:rPr sz="2325" spc="-74" dirty="0">
                <a:latin typeface="Tahoma"/>
                <a:cs typeface="Tahoma"/>
              </a:rPr>
              <a:t>like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(</a:t>
            </a:r>
            <a:r>
              <a:rPr sz="2325" spc="-11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configs/</a:t>
            </a:r>
            <a:r>
              <a:rPr sz="2325" spc="-11" dirty="0">
                <a:latin typeface="Tahoma"/>
                <a:cs typeface="Tahoma"/>
              </a:rPr>
              <a:t>)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17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11" dirty="0">
                <a:latin typeface="Tahoma"/>
                <a:cs typeface="Tahoma"/>
              </a:rPr>
              <a:t>Not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all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boards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have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been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converted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37" dirty="0">
                <a:latin typeface="Tahoma"/>
                <a:cs typeface="Tahoma"/>
              </a:rPr>
              <a:t>new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configuration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system.</a:t>
            </a:r>
            <a:endParaRPr sz="2114">
              <a:latin typeface="Tahoma"/>
              <a:cs typeface="Tahoma"/>
            </a:endParaRPr>
          </a:p>
          <a:p>
            <a:pPr marL="1040106" marR="64419" lvl="1" indent="-355649">
              <a:lnSpc>
                <a:spcPts val="2536"/>
              </a:lnSpc>
              <a:spcBef>
                <a:spcPts val="85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21" dirty="0">
                <a:latin typeface="Tahoma"/>
                <a:cs typeface="Tahoma"/>
              </a:rPr>
              <a:t>Many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boards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latin typeface="Tahoma"/>
                <a:cs typeface="Tahoma"/>
              </a:rPr>
              <a:t>still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have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i="1" spc="-21" dirty="0">
                <a:latin typeface="Arial"/>
                <a:cs typeface="Arial"/>
              </a:rPr>
              <a:t>both</a:t>
            </a:r>
            <a:r>
              <a:rPr sz="2114" i="1" spc="127" dirty="0">
                <a:latin typeface="Arial"/>
                <a:cs typeface="Arial"/>
              </a:rPr>
              <a:t> </a:t>
            </a:r>
            <a:r>
              <a:rPr sz="2114" spc="-95" dirty="0">
                <a:latin typeface="Tahoma"/>
                <a:cs typeface="Tahoma"/>
              </a:rPr>
              <a:t>hardcoded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configuration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settings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.h</a:t>
            </a:r>
            <a:r>
              <a:rPr sz="2114" spc="-34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63" dirty="0">
                <a:latin typeface="Tahoma"/>
                <a:cs typeface="Tahoma"/>
              </a:rPr>
              <a:t>files,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 </a:t>
            </a:r>
            <a:r>
              <a:rPr sz="2114" spc="-85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configuration</a:t>
            </a:r>
            <a:r>
              <a:rPr sz="2114" spc="6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settings</a:t>
            </a:r>
            <a:r>
              <a:rPr sz="2114" spc="63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85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defconfig</a:t>
            </a:r>
            <a:r>
              <a:rPr sz="2114" spc="-32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74" dirty="0">
                <a:latin typeface="Tahoma"/>
                <a:cs typeface="Tahoma"/>
              </a:rPr>
              <a:t>files</a:t>
            </a:r>
            <a:r>
              <a:rPr sz="2114" spc="63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that</a:t>
            </a:r>
            <a:r>
              <a:rPr sz="2114" spc="74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can</a:t>
            </a:r>
            <a:r>
              <a:rPr sz="2114" spc="63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be</a:t>
            </a:r>
            <a:r>
              <a:rPr sz="2114" spc="6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overriden</a:t>
            </a:r>
            <a:r>
              <a:rPr sz="2114" spc="74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with</a:t>
            </a:r>
            <a:r>
              <a:rPr sz="2114" spc="63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configuration </a:t>
            </a:r>
            <a:r>
              <a:rPr sz="2114" spc="-62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interfaces.</a:t>
            </a:r>
            <a:endParaRPr sz="2114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13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3818202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42" dirty="0"/>
              <a:t>U-Boot</a:t>
            </a:r>
            <a:r>
              <a:rPr sz="2959" dirty="0"/>
              <a:t> </a:t>
            </a:r>
            <a:r>
              <a:rPr sz="2959" spc="-127" dirty="0"/>
              <a:t>configuration</a:t>
            </a:r>
            <a:r>
              <a:rPr sz="2959" spc="11" dirty="0"/>
              <a:t> </a:t>
            </a:r>
            <a:r>
              <a:rPr sz="2959" spc="-106" dirty="0"/>
              <a:t>file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736989" y="1265490"/>
            <a:ext cx="2147319" cy="41598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536" spc="-95" dirty="0">
                <a:solidFill>
                  <a:srgbClr val="3333B2"/>
                </a:solidFill>
                <a:latin typeface="Microsoft Sans Serif"/>
                <a:cs typeface="Microsoft Sans Serif"/>
              </a:rPr>
              <a:t>CHIP_defconfig</a:t>
            </a:r>
            <a:endParaRPr sz="2536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6463" y="1705749"/>
            <a:ext cx="10868118" cy="4302690"/>
            <a:chOff x="309193" y="807072"/>
            <a:chExt cx="5142230" cy="20358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807072"/>
              <a:ext cx="5141665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9193" y="851327"/>
              <a:ext cx="5142230" cy="1991360"/>
            </a:xfrm>
            <a:custGeom>
              <a:avLst/>
              <a:gdLst/>
              <a:ahLst/>
              <a:cxnLst/>
              <a:rect l="l" t="t" r="r" b="b"/>
              <a:pathLst>
                <a:path w="5142230" h="1991360">
                  <a:moveTo>
                    <a:pt x="5141666" y="0"/>
                  </a:moveTo>
                  <a:lnTo>
                    <a:pt x="0" y="0"/>
                  </a:lnTo>
                  <a:lnTo>
                    <a:pt x="0" y="1940221"/>
                  </a:lnTo>
                  <a:lnTo>
                    <a:pt x="4008" y="1959946"/>
                  </a:lnTo>
                  <a:lnTo>
                    <a:pt x="14922" y="1976098"/>
                  </a:lnTo>
                  <a:lnTo>
                    <a:pt x="31075" y="1987013"/>
                  </a:lnTo>
                  <a:lnTo>
                    <a:pt x="50800" y="1991021"/>
                  </a:lnTo>
                  <a:lnTo>
                    <a:pt x="5090865" y="1991021"/>
                  </a:lnTo>
                  <a:lnTo>
                    <a:pt x="5110590" y="1987013"/>
                  </a:lnTo>
                  <a:lnTo>
                    <a:pt x="5126743" y="1976098"/>
                  </a:lnTo>
                  <a:lnTo>
                    <a:pt x="5137657" y="1959946"/>
                  </a:lnTo>
                  <a:lnTo>
                    <a:pt x="5141666" y="194022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36989" y="1767252"/>
            <a:ext cx="3905436" cy="4268518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 marR="2336548">
              <a:lnSpc>
                <a:spcPts val="1479"/>
              </a:lnSpc>
              <a:spcBef>
                <a:spcPts val="285"/>
              </a:spcBef>
            </a:pPr>
            <a:r>
              <a:rPr sz="1268" spc="-11" dirty="0">
                <a:latin typeface="SimSun"/>
                <a:cs typeface="SimSun"/>
              </a:rPr>
              <a:t>CONFIG_ARM=y </a:t>
            </a:r>
            <a:r>
              <a:rPr sz="1268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CONFIG_ARCH_SUNXI=y  CONFIG_MACH_SUN5I=y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395"/>
              </a:lnSpc>
            </a:pPr>
            <a:r>
              <a:rPr sz="1268" spc="-11" dirty="0">
                <a:latin typeface="SimSun"/>
                <a:cs typeface="SimSun"/>
              </a:rPr>
              <a:t>CONFIG_DRAM_TIMINGS_DDR3_800E_1066G_1333J=y</a:t>
            </a:r>
            <a:endParaRPr sz="1268">
              <a:latin typeface="SimSun"/>
              <a:cs typeface="SimSun"/>
            </a:endParaRPr>
          </a:p>
          <a:p>
            <a:pPr marL="26841" marR="491199">
              <a:lnSpc>
                <a:spcPts val="1479"/>
              </a:lnSpc>
              <a:spcBef>
                <a:spcPts val="63"/>
              </a:spcBef>
            </a:pPr>
            <a:r>
              <a:rPr sz="1268" spc="-11" dirty="0">
                <a:latin typeface="SimSun"/>
                <a:cs typeface="SimSun"/>
              </a:rPr>
              <a:t># CONFIG_MMC is not set </a:t>
            </a:r>
            <a:r>
              <a:rPr sz="1268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CONFIG_USB0_VBUS_PIN="PB10" </a:t>
            </a:r>
            <a:r>
              <a:rPr sz="1268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CONFIG_VIDEO_COMPOSITE=y </a:t>
            </a:r>
            <a:r>
              <a:rPr sz="1268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CONFIG_DEFAULT_DEVICE_TREE="sun5i-r8-chip" </a:t>
            </a:r>
            <a:r>
              <a:rPr sz="1268" spc="-602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CONFIG_SPL=y </a:t>
            </a:r>
            <a:r>
              <a:rPr sz="1268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CONFIG_SYS_EXTRA_OPTIONS="CONS_INDEX=2"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384"/>
              </a:lnSpc>
            </a:pPr>
            <a:r>
              <a:rPr sz="1268" spc="-11" dirty="0">
                <a:latin typeface="SimSun"/>
                <a:cs typeface="SimSun"/>
              </a:rPr>
              <a:t>#</a:t>
            </a:r>
            <a:r>
              <a:rPr sz="1268" spc="-21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CONFIG_CMD_IMLS is</a:t>
            </a:r>
            <a:r>
              <a:rPr sz="1268" spc="-21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not set</a:t>
            </a:r>
            <a:endParaRPr sz="1268">
              <a:latin typeface="SimSun"/>
              <a:cs typeface="SimSun"/>
            </a:endParaRPr>
          </a:p>
          <a:p>
            <a:pPr marL="26841" marR="1533989">
              <a:lnSpc>
                <a:spcPts val="1479"/>
              </a:lnSpc>
              <a:spcBef>
                <a:spcPts val="63"/>
              </a:spcBef>
            </a:pPr>
            <a:r>
              <a:rPr sz="1268" spc="-11" dirty="0">
                <a:latin typeface="SimSun"/>
                <a:cs typeface="SimSun"/>
              </a:rPr>
              <a:t>CONFIG_CMD_DFU=y </a:t>
            </a:r>
            <a:r>
              <a:rPr sz="1268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CONFIG_CMD_USB_MASS_STORAGE=y </a:t>
            </a:r>
            <a:r>
              <a:rPr sz="1268" spc="-602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CONFIG_AXP_ALDO3_VOLT=3300 </a:t>
            </a:r>
            <a:r>
              <a:rPr sz="1268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CONFIG_AXP_ALDO4_VOLT=3300 </a:t>
            </a:r>
            <a:r>
              <a:rPr sz="1268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CONFIG_USB_MUSB_GADGET=y </a:t>
            </a:r>
            <a:r>
              <a:rPr sz="1268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CONFIG_USB_GADGET=y </a:t>
            </a:r>
            <a:r>
              <a:rPr sz="1268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CONFIG_USB_GADGET_DOWNLOAD=y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374"/>
              </a:lnSpc>
            </a:pPr>
            <a:r>
              <a:rPr sz="1268" spc="-11" dirty="0">
                <a:latin typeface="SimSun"/>
                <a:cs typeface="SimSun"/>
              </a:rPr>
              <a:t>CONFIG_G_DNL_MANUFACTURER="Allwinner</a:t>
            </a:r>
            <a:r>
              <a:rPr sz="1268" spc="137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Technology"</a:t>
            </a:r>
            <a:endParaRPr sz="1268">
              <a:latin typeface="SimSun"/>
              <a:cs typeface="SimSun"/>
            </a:endParaRPr>
          </a:p>
          <a:p>
            <a:pPr marL="26841" marR="1374282">
              <a:lnSpc>
                <a:spcPts val="1479"/>
              </a:lnSpc>
              <a:spcBef>
                <a:spcPts val="53"/>
              </a:spcBef>
            </a:pPr>
            <a:r>
              <a:rPr sz="1268" spc="-11" dirty="0">
                <a:latin typeface="SimSun"/>
                <a:cs typeface="SimSun"/>
              </a:rPr>
              <a:t>CONFIG_G_DNL_VENDOR_NUM=0x1f3a </a:t>
            </a:r>
            <a:r>
              <a:rPr sz="1268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CONFIG_G_DNL_PRODUCT_NUM=0x1010 </a:t>
            </a:r>
            <a:r>
              <a:rPr sz="1268" spc="-602" dirty="0">
                <a:latin typeface="SimSun"/>
                <a:cs typeface="SimSun"/>
              </a:rPr>
              <a:t> </a:t>
            </a:r>
            <a:r>
              <a:rPr sz="1268" spc="-11" dirty="0">
                <a:latin typeface="SimSun"/>
                <a:cs typeface="SimSun"/>
              </a:rPr>
              <a:t>CONFIG_USB_EHCI_HCD=y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14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1"/>
            <a:ext cx="5251537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27" dirty="0"/>
              <a:t>Configuring</a:t>
            </a:r>
            <a:r>
              <a:rPr sz="2959" spc="21" dirty="0"/>
              <a:t> </a:t>
            </a:r>
            <a:r>
              <a:rPr sz="2959" spc="-180" dirty="0"/>
              <a:t>and</a:t>
            </a:r>
            <a:r>
              <a:rPr sz="2959" spc="21" dirty="0"/>
              <a:t> </a:t>
            </a:r>
            <a:r>
              <a:rPr sz="2959" spc="-127" dirty="0"/>
              <a:t>compiling</a:t>
            </a:r>
            <a:r>
              <a:rPr sz="2959" spc="32" dirty="0"/>
              <a:t> </a:t>
            </a:r>
            <a:r>
              <a:rPr sz="2959" spc="-42" dirty="0"/>
              <a:t>U-Boot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0" y="887227"/>
            <a:ext cx="10393024" cy="5532237"/>
          </a:xfrm>
          <a:prstGeom prst="rect">
            <a:avLst/>
          </a:prstGeom>
        </p:spPr>
        <p:txBody>
          <a:bodyPr vert="horz" wrap="square" lIns="0" tIns="52341" rIns="0" bIns="0" rtlCol="0">
            <a:spAutoFit/>
          </a:bodyPr>
          <a:lstStyle/>
          <a:p>
            <a:pPr marL="453618" indent="-374438">
              <a:spcBef>
                <a:spcPts val="41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dirty="0">
                <a:latin typeface="Tahoma"/>
                <a:cs typeface="Tahoma"/>
              </a:rPr>
              <a:t>U-Boot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must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configured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before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being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compiled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19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Configuration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stored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.config</a:t>
            </a:r>
            <a:r>
              <a:rPr sz="2114" spc="-35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53" dirty="0">
                <a:latin typeface="Tahoma"/>
                <a:cs typeface="Tahoma"/>
              </a:rPr>
              <a:t>file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make</a:t>
            </a:r>
            <a:r>
              <a:rPr sz="2114" spc="-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BOARDNAME_defconfig</a:t>
            </a:r>
            <a:endParaRPr sz="2114">
              <a:latin typeface="SimSun"/>
              <a:cs typeface="SimSun"/>
            </a:endParaRPr>
          </a:p>
          <a:p>
            <a:pPr marL="1040106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85" dirty="0">
                <a:latin typeface="Tahoma"/>
                <a:cs typeface="Tahoma"/>
              </a:rPr>
              <a:t>Where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BOARDNAME</a:t>
            </a:r>
            <a:r>
              <a:rPr sz="2114" spc="-33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63" dirty="0">
                <a:latin typeface="Tahoma"/>
                <a:cs typeface="Tahoma"/>
              </a:rPr>
              <a:t>is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name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configuration,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as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visible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configs/</a:t>
            </a:r>
            <a:endParaRPr sz="2114">
              <a:latin typeface="SimSun"/>
              <a:cs typeface="SimSun"/>
            </a:endParaRPr>
          </a:p>
          <a:p>
            <a:pPr marL="1040106">
              <a:lnSpc>
                <a:spcPts val="2526"/>
              </a:lnSpc>
            </a:pPr>
            <a:r>
              <a:rPr sz="2114" spc="-85" dirty="0">
                <a:latin typeface="Tahoma"/>
                <a:cs typeface="Tahoma"/>
              </a:rPr>
              <a:t>directory.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63" dirty="0">
                <a:latin typeface="Tahoma"/>
                <a:cs typeface="Tahoma"/>
              </a:rPr>
              <a:t>You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can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then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run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make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menuconfig</a:t>
            </a:r>
            <a:r>
              <a:rPr sz="2114" spc="-34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further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customize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dirty="0">
                <a:latin typeface="Tahoma"/>
                <a:cs typeface="Tahoma"/>
              </a:rPr>
              <a:t>U-Boot’s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configuration!</a:t>
            </a:r>
            <a:endParaRPr sz="2114">
              <a:latin typeface="Tahoma"/>
              <a:cs typeface="Tahoma"/>
            </a:endParaRPr>
          </a:p>
          <a:p>
            <a:pPr marL="453618" indent="-374438">
              <a:spcBef>
                <a:spcPts val="47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53" dirty="0">
                <a:latin typeface="Tahoma"/>
                <a:cs typeface="Tahoma"/>
              </a:rPr>
              <a:t>Make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sure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that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cross-compiler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available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PATH</a:t>
            </a:r>
            <a:endParaRPr sz="2325">
              <a:latin typeface="SimSun"/>
              <a:cs typeface="SimSun"/>
            </a:endParaRPr>
          </a:p>
          <a:p>
            <a:pPr marL="453618" marR="2339232" indent="-374438">
              <a:lnSpc>
                <a:spcPct val="102600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63" dirty="0">
                <a:latin typeface="Tahoma"/>
                <a:cs typeface="Tahoma"/>
              </a:rPr>
              <a:t>Compile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U-Boot,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by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specifying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cross-compiler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prefix. </a:t>
            </a:r>
            <a:r>
              <a:rPr sz="2325" spc="-74" dirty="0">
                <a:latin typeface="Tahoma"/>
                <a:cs typeface="Tahoma"/>
              </a:rPr>
              <a:t> Example,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if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your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cross-compiler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executable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arm-linux-gcc</a:t>
            </a:r>
            <a:r>
              <a:rPr sz="2325" spc="-11" dirty="0">
                <a:latin typeface="Tahoma"/>
                <a:cs typeface="Tahoma"/>
              </a:rPr>
              <a:t>: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make</a:t>
            </a:r>
            <a:r>
              <a:rPr sz="2325" spc="-3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CROSS_COMPILE=arm-linux-</a:t>
            </a:r>
            <a:endParaRPr sz="2325">
              <a:latin typeface="SimSun"/>
              <a:cs typeface="SimSun"/>
            </a:endParaRPr>
          </a:p>
          <a:p>
            <a:pPr marL="453618" marR="64419" indent="-374438">
              <a:lnSpc>
                <a:spcPct val="102600"/>
              </a:lnSpc>
              <a:spcBef>
                <a:spcPts val="359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main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result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dirty="0">
                <a:solidFill>
                  <a:srgbClr val="7F7F7F"/>
                </a:solidFill>
                <a:latin typeface="SimSun"/>
                <a:cs typeface="SimSun"/>
              </a:rPr>
              <a:t>u-boot.bin</a:t>
            </a:r>
            <a:r>
              <a:rPr sz="2325" spc="-40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63" dirty="0">
                <a:latin typeface="Tahoma"/>
                <a:cs typeface="Tahoma"/>
              </a:rPr>
              <a:t>file,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which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image.</a:t>
            </a:r>
            <a:r>
              <a:rPr sz="2325" spc="296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Depending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 </a:t>
            </a:r>
            <a:r>
              <a:rPr sz="2325" spc="-687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your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specific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platform,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what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storage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device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you’re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booting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74" dirty="0">
                <a:latin typeface="Tahoma"/>
                <a:cs typeface="Tahoma"/>
              </a:rPr>
              <a:t>(NAND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 </a:t>
            </a:r>
            <a:r>
              <a:rPr sz="2325" spc="-106" dirty="0">
                <a:latin typeface="Tahoma"/>
                <a:cs typeface="Tahoma"/>
              </a:rPr>
              <a:t> </a:t>
            </a:r>
            <a:r>
              <a:rPr sz="2325" spc="85" dirty="0">
                <a:latin typeface="Tahoma"/>
                <a:cs typeface="Tahoma"/>
              </a:rPr>
              <a:t>MMC),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there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may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other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specialized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images:</a:t>
            </a:r>
            <a:r>
              <a:rPr sz="2325" spc="296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u-boot.img</a:t>
            </a:r>
            <a:r>
              <a:rPr sz="2325" spc="-11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u-boot.kwb</a:t>
            </a:r>
            <a:r>
              <a:rPr sz="2325" spc="-21" dirty="0">
                <a:latin typeface="Tahoma"/>
                <a:cs typeface="Tahoma"/>
              </a:rPr>
              <a:t>...</a:t>
            </a:r>
            <a:endParaRPr sz="2325">
              <a:latin typeface="Tahoma"/>
              <a:cs typeface="Tahoma"/>
            </a:endParaRPr>
          </a:p>
          <a:p>
            <a:pPr marL="453618" marR="175811" indent="-374438">
              <a:lnSpc>
                <a:spcPct val="102600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11" dirty="0">
                <a:latin typeface="Tahoma"/>
                <a:cs typeface="Tahoma"/>
              </a:rPr>
              <a:t>This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also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generates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85" dirty="0">
                <a:latin typeface="Tahoma"/>
                <a:cs typeface="Tahoma"/>
              </a:rPr>
              <a:t>SPL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image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flashed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together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U-Boot. </a:t>
            </a:r>
            <a:r>
              <a:rPr sz="2325" spc="-687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exact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file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name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can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vary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too,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depending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what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romcode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expects.</a:t>
            </a:r>
            <a:endParaRPr sz="2325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15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1"/>
            <a:ext cx="2641202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27" dirty="0"/>
              <a:t>Installing</a:t>
            </a:r>
            <a:r>
              <a:rPr sz="2959" spc="21" dirty="0"/>
              <a:t> </a:t>
            </a:r>
            <a:r>
              <a:rPr sz="2959" spc="-42" dirty="0"/>
              <a:t>U-B</a:t>
            </a:r>
            <a:r>
              <a:rPr sz="2959" spc="32" dirty="0"/>
              <a:t>o</a:t>
            </a:r>
            <a:r>
              <a:rPr sz="2959" spc="-74" dirty="0"/>
              <a:t>ot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83307" y="1216373"/>
            <a:ext cx="10813093" cy="4713822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80524" marR="629432">
              <a:lnSpc>
                <a:spcPct val="102600"/>
              </a:lnSpc>
              <a:spcBef>
                <a:spcPts val="116"/>
              </a:spcBef>
            </a:pPr>
            <a:r>
              <a:rPr sz="2325" dirty="0">
                <a:latin typeface="Tahoma"/>
                <a:cs typeface="Tahoma"/>
              </a:rPr>
              <a:t>U-Boot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must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usually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installed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flash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memory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executed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by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hardware. </a:t>
            </a:r>
            <a:r>
              <a:rPr sz="2325" spc="-687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Depending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hardware,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installation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done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different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69" dirty="0">
                <a:latin typeface="Tahoma"/>
                <a:cs typeface="Tahoma"/>
              </a:rPr>
              <a:t>way:</a:t>
            </a:r>
            <a:endParaRPr sz="2325">
              <a:latin typeface="Tahoma"/>
              <a:cs typeface="Tahoma"/>
            </a:endParaRPr>
          </a:p>
          <a:p>
            <a:pPr marL="665668" marR="1065606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06" dirty="0">
                <a:latin typeface="Tahoma"/>
                <a:cs typeface="Tahoma"/>
              </a:rPr>
              <a:t>CPU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provides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some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kind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specific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monitor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which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you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can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communicate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through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serial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port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63" dirty="0">
                <a:latin typeface="Tahoma"/>
                <a:cs typeface="Tahoma"/>
              </a:rPr>
              <a:t>USB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using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specific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protocol</a:t>
            </a:r>
            <a:endParaRPr sz="2325">
              <a:latin typeface="Tahoma"/>
              <a:cs typeface="Tahoma"/>
            </a:endParaRPr>
          </a:p>
          <a:p>
            <a:pPr marL="665668" marR="6441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106" dirty="0">
                <a:latin typeface="Tahoma"/>
                <a:cs typeface="Tahoma"/>
              </a:rPr>
              <a:t>CPU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boots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first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removable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media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106" dirty="0">
                <a:latin typeface="Tahoma"/>
                <a:cs typeface="Tahoma"/>
              </a:rPr>
              <a:t>(MMC)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before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booting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fixed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media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42" dirty="0">
                <a:latin typeface="Tahoma"/>
                <a:cs typeface="Tahoma"/>
              </a:rPr>
              <a:t>(NAND).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69" dirty="0">
                <a:latin typeface="Tahoma"/>
                <a:cs typeface="Tahoma"/>
              </a:rPr>
              <a:t>In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this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case,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69" dirty="0">
                <a:latin typeface="Tahoma"/>
                <a:cs typeface="Tahoma"/>
              </a:rPr>
              <a:t>MMC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reflash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new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version</a:t>
            </a:r>
            <a:endParaRPr sz="2325">
              <a:latin typeface="Tahoma"/>
              <a:cs typeface="Tahoma"/>
            </a:endParaRPr>
          </a:p>
          <a:p>
            <a:pPr marL="665668" marR="531461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dirty="0">
                <a:latin typeface="Tahoma"/>
                <a:cs typeface="Tahoma"/>
              </a:rPr>
              <a:t>U-Boot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already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installed,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can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used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flash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new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version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U-Boot. </a:t>
            </a:r>
            <a:r>
              <a:rPr sz="2325" spc="-687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However,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careful:</a:t>
            </a:r>
            <a:r>
              <a:rPr sz="2325" spc="296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if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new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version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doesn’t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work,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board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 </a:t>
            </a:r>
            <a:r>
              <a:rPr sz="2325" spc="-6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unusable</a:t>
            </a:r>
            <a:endParaRPr sz="2325">
              <a:latin typeface="Tahoma"/>
              <a:cs typeface="Tahoma"/>
            </a:endParaRPr>
          </a:p>
          <a:p>
            <a:pPr marL="665668" marR="276467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board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provides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42" dirty="0">
                <a:latin typeface="Tahoma"/>
                <a:cs typeface="Tahoma"/>
              </a:rPr>
              <a:t>JTAG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interface,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which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allows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write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flash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memory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remotely,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without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system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running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board.</a:t>
            </a:r>
            <a:r>
              <a:rPr sz="2325" spc="296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It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also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allows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rescue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 </a:t>
            </a:r>
            <a:r>
              <a:rPr sz="2325" spc="-106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board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if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bootloader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doesn’t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work.</a:t>
            </a:r>
            <a:endParaRPr sz="2325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16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1"/>
            <a:ext cx="2327157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85" dirty="0"/>
              <a:t>U-boot</a:t>
            </a:r>
            <a:r>
              <a:rPr sz="2959" spc="-106" dirty="0"/>
              <a:t> </a:t>
            </a:r>
            <a:r>
              <a:rPr sz="2959" spc="-148" dirty="0"/>
              <a:t>prompt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83306" y="898110"/>
            <a:ext cx="9434783" cy="1241714"/>
          </a:xfrm>
          <a:prstGeom prst="rect">
            <a:avLst/>
          </a:prstGeom>
        </p:spPr>
        <p:txBody>
          <a:bodyPr vert="horz" wrap="square" lIns="0" tIns="73814" rIns="0" bIns="0" rtlCol="0">
            <a:spAutoFit/>
          </a:bodyPr>
          <a:lstStyle/>
          <a:p>
            <a:pPr marL="665668" indent="-375780">
              <a:spcBef>
                <a:spcPts val="581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63" dirty="0">
                <a:latin typeface="Tahoma"/>
                <a:cs typeface="Tahoma"/>
              </a:rPr>
              <a:t>Connect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target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host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through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serial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console.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359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06" dirty="0">
                <a:latin typeface="Tahoma"/>
                <a:cs typeface="Tahoma"/>
              </a:rPr>
              <a:t>Power-up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board.</a:t>
            </a:r>
            <a:r>
              <a:rPr sz="2325" spc="296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serial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console,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you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will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90" dirty="0">
                <a:latin typeface="Tahoma"/>
                <a:cs typeface="Tahoma"/>
              </a:rPr>
              <a:t>see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something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like:</a:t>
            </a:r>
            <a:endParaRPr sz="2325">
              <a:latin typeface="Tahoma"/>
              <a:cs typeface="Tahoma"/>
            </a:endParaRPr>
          </a:p>
          <a:p>
            <a:pPr marL="80524">
              <a:spcBef>
                <a:spcPts val="1585"/>
              </a:spcBef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U-Boot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2020.04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(May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26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2020</a:t>
            </a:r>
            <a:r>
              <a:rPr sz="1268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-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16:05:43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+0200)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989" y="2276006"/>
            <a:ext cx="1497755" cy="1179910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lnSpc>
                <a:spcPts val="1501"/>
              </a:lnSpc>
              <a:spcBef>
                <a:spcPts val="201"/>
              </a:spcBef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CPU:</a:t>
            </a:r>
            <a:r>
              <a:rPr sz="1268" spc="-8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SAMA5D36</a:t>
            </a:r>
            <a:endParaRPr sz="1268">
              <a:latin typeface="SimSun"/>
              <a:cs typeface="SimSun"/>
            </a:endParaRPr>
          </a:p>
          <a:p>
            <a:pPr marL="26841" marR="10737">
              <a:lnSpc>
                <a:spcPts val="1479"/>
              </a:lnSpc>
              <a:spcBef>
                <a:spcPts val="63"/>
              </a:spcBef>
              <a:tabLst>
                <a:tab pos="1390387" algn="l"/>
              </a:tabLst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Crystal</a:t>
            </a:r>
            <a:r>
              <a:rPr sz="1268" spc="-8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frequency: </a:t>
            </a:r>
            <a:r>
              <a:rPr sz="1268" spc="-61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CPU clock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	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: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405"/>
              </a:lnSpc>
              <a:tabLst>
                <a:tab pos="1390387" algn="l"/>
              </a:tabLst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Master clock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	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: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469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DRAM:</a:t>
            </a:r>
            <a:r>
              <a:rPr sz="1268" spc="537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256</a:t>
            </a:r>
            <a:r>
              <a:rPr sz="1268" spc="-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MiB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501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NAND:</a:t>
            </a:r>
            <a:r>
              <a:rPr sz="1268" spc="537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256</a:t>
            </a:r>
            <a:r>
              <a:rPr sz="1268" spc="-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MiB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2212" y="2463200"/>
            <a:ext cx="616012" cy="602829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106024">
              <a:lnSpc>
                <a:spcPts val="1501"/>
              </a:lnSpc>
              <a:spcBef>
                <a:spcPts val="201"/>
              </a:spcBef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12 MHz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469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528 MHz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501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132 MHz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990" y="3399135"/>
            <a:ext cx="3343107" cy="1930506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 marR="491199">
              <a:lnSpc>
                <a:spcPts val="1479"/>
              </a:lnSpc>
              <a:spcBef>
                <a:spcPts val="285"/>
              </a:spcBef>
              <a:tabLst>
                <a:tab pos="587828" algn="l"/>
              </a:tabLst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MMC:</a:t>
            </a:r>
            <a:r>
              <a:rPr sz="1268" spc="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Atmel</a:t>
            </a:r>
            <a:r>
              <a:rPr sz="1268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mci: 0, Atmel mci: 1 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Loading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Environment from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NAND...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OK </a:t>
            </a:r>
            <a:r>
              <a:rPr sz="1268" spc="-60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In:	serial@ffffee00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395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Out:</a:t>
            </a:r>
            <a:r>
              <a:rPr sz="1268" spc="119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serial@ffffee00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469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Err:</a:t>
            </a:r>
            <a:r>
              <a:rPr sz="1268" spc="119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serial@ffffee00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469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Net:</a:t>
            </a:r>
            <a:r>
              <a:rPr sz="1268" spc="125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eth0: ethernet@f0028000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501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Error: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ethernet@f802c000</a:t>
            </a:r>
            <a:r>
              <a:rPr sz="1268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address</a:t>
            </a:r>
            <a:r>
              <a:rPr sz="1268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not</a:t>
            </a:r>
            <a:r>
              <a:rPr sz="1268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set.</a:t>
            </a:r>
            <a:endParaRPr sz="1268">
              <a:latin typeface="SimSun"/>
              <a:cs typeface="SimSun"/>
            </a:endParaRPr>
          </a:p>
          <a:p>
            <a:pPr>
              <a:spcBef>
                <a:spcPts val="74"/>
              </a:spcBef>
            </a:pPr>
            <a:endParaRPr sz="1057">
              <a:latin typeface="SimSun"/>
              <a:cs typeface="SimSun"/>
            </a:endParaRPr>
          </a:p>
          <a:p>
            <a:pPr marL="26841">
              <a:lnSpc>
                <a:spcPts val="1501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Hit</a:t>
            </a:r>
            <a:r>
              <a:rPr sz="1268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any key to stop autoboot:</a:t>
            </a:r>
            <a:r>
              <a:rPr sz="1268" spc="62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0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501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=&gt;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1632" y="5659283"/>
            <a:ext cx="10112530" cy="719267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426779" marR="37578" indent="-374438">
              <a:lnSpc>
                <a:spcPct val="102600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428121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shell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offers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set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commands.</a:t>
            </a:r>
            <a:r>
              <a:rPr sz="2325" spc="296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We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will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study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most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important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ones,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90" dirty="0">
                <a:latin typeface="Tahoma"/>
                <a:cs typeface="Tahoma"/>
              </a:rPr>
              <a:t>see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documentation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complete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reference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help</a:t>
            </a:r>
            <a:r>
              <a:rPr sz="2325" spc="-39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06" dirty="0">
                <a:latin typeface="Tahoma"/>
                <a:cs typeface="Tahoma"/>
              </a:rPr>
              <a:t>command.</a:t>
            </a:r>
            <a:endParaRPr sz="2325">
              <a:latin typeface="Tahoma"/>
              <a:cs typeface="Tahom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17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1"/>
            <a:ext cx="3510867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59" dirty="0"/>
              <a:t>Information</a:t>
            </a:r>
            <a:r>
              <a:rPr sz="2959" spc="-74" dirty="0"/>
              <a:t> </a:t>
            </a:r>
            <a:r>
              <a:rPr sz="2959" spc="-190" dirty="0"/>
              <a:t>commands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736990" y="1539729"/>
            <a:ext cx="1950034" cy="41598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536" spc="-159" dirty="0">
                <a:solidFill>
                  <a:srgbClr val="3333B2"/>
                </a:solidFill>
                <a:latin typeface="Microsoft Sans Serif"/>
                <a:cs typeface="Microsoft Sans Serif"/>
              </a:rPr>
              <a:t>Version</a:t>
            </a:r>
            <a:r>
              <a:rPr sz="2536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2536" spc="-116" dirty="0">
                <a:solidFill>
                  <a:srgbClr val="3333B2"/>
                </a:solidFill>
                <a:latin typeface="Microsoft Sans Serif"/>
                <a:cs typeface="Microsoft Sans Serif"/>
              </a:rPr>
              <a:t>details</a:t>
            </a:r>
            <a:endParaRPr sz="2536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6463" y="1954302"/>
            <a:ext cx="10868118" cy="1123316"/>
            <a:chOff x="309193" y="924674"/>
            <a:chExt cx="5142230" cy="5314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4" y="924674"/>
              <a:ext cx="5141665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9193" y="968960"/>
              <a:ext cx="5142230" cy="487045"/>
            </a:xfrm>
            <a:custGeom>
              <a:avLst/>
              <a:gdLst/>
              <a:ahLst/>
              <a:cxnLst/>
              <a:rect l="l" t="t" r="r" b="b"/>
              <a:pathLst>
                <a:path w="5142230" h="487044">
                  <a:moveTo>
                    <a:pt x="5141666" y="0"/>
                  </a:moveTo>
                  <a:lnTo>
                    <a:pt x="0" y="0"/>
                  </a:lnTo>
                  <a:lnTo>
                    <a:pt x="0" y="436217"/>
                  </a:lnTo>
                  <a:lnTo>
                    <a:pt x="4008" y="455942"/>
                  </a:lnTo>
                  <a:lnTo>
                    <a:pt x="14922" y="472095"/>
                  </a:lnTo>
                  <a:lnTo>
                    <a:pt x="31075" y="483009"/>
                  </a:lnTo>
                  <a:lnTo>
                    <a:pt x="50800" y="487018"/>
                  </a:lnTo>
                  <a:lnTo>
                    <a:pt x="5090865" y="487018"/>
                  </a:lnTo>
                  <a:lnTo>
                    <a:pt x="5110590" y="483009"/>
                  </a:lnTo>
                  <a:lnTo>
                    <a:pt x="5126743" y="472095"/>
                  </a:lnTo>
                  <a:lnTo>
                    <a:pt x="5137657" y="455942"/>
                  </a:lnTo>
                  <a:lnTo>
                    <a:pt x="5141666" y="43621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36989" y="2019189"/>
            <a:ext cx="4306715" cy="9740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lnSpc>
                <a:spcPts val="1501"/>
              </a:lnSpc>
              <a:spcBef>
                <a:spcPts val="201"/>
              </a:spcBef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=&gt;</a:t>
            </a:r>
            <a:r>
              <a:rPr sz="1268" spc="-9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version</a:t>
            </a:r>
            <a:endParaRPr sz="1268">
              <a:latin typeface="SimSun"/>
              <a:cs typeface="SimSun"/>
            </a:endParaRPr>
          </a:p>
          <a:p>
            <a:pPr marL="26841">
              <a:lnSpc>
                <a:spcPts val="1501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U-Boot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2020.04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(May</a:t>
            </a:r>
            <a:r>
              <a:rPr sz="1268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26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2020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-</a:t>
            </a:r>
            <a:r>
              <a:rPr sz="1268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16:05:43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+0200)</a:t>
            </a:r>
            <a:endParaRPr sz="1268">
              <a:latin typeface="SimSun"/>
              <a:cs typeface="SimSun"/>
            </a:endParaRPr>
          </a:p>
          <a:p>
            <a:pPr>
              <a:spcBef>
                <a:spcPts val="21"/>
              </a:spcBef>
            </a:pPr>
            <a:endParaRPr sz="1162">
              <a:latin typeface="SimSun"/>
              <a:cs typeface="SimSun"/>
            </a:endParaRPr>
          </a:p>
          <a:p>
            <a:pPr marL="26841" marR="10737">
              <a:lnSpc>
                <a:spcPts val="1479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arm-linux-gcc</a:t>
            </a:r>
            <a:r>
              <a:rPr sz="1268" spc="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(crosstool-NG</a:t>
            </a:r>
            <a:r>
              <a:rPr sz="1268" spc="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1.24.0.105_5659366)</a:t>
            </a:r>
            <a:r>
              <a:rPr sz="1268" spc="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9.2.0 </a:t>
            </a:r>
            <a:r>
              <a:rPr sz="1268" spc="-60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GNU ld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(crosstool-NG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1.24.0.105_5659366)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2.34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6990" y="3303321"/>
            <a:ext cx="3227689" cy="41598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536" spc="-85" dirty="0">
                <a:solidFill>
                  <a:srgbClr val="3333B2"/>
                </a:solidFill>
                <a:latin typeface="Microsoft Sans Serif"/>
                <a:cs typeface="Microsoft Sans Serif"/>
              </a:rPr>
              <a:t>NAND</a:t>
            </a:r>
            <a:r>
              <a:rPr sz="2536" spc="116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2536" spc="-137" dirty="0">
                <a:solidFill>
                  <a:srgbClr val="3333B2"/>
                </a:solidFill>
                <a:latin typeface="Microsoft Sans Serif"/>
                <a:cs typeface="Microsoft Sans Serif"/>
              </a:rPr>
              <a:t>flash</a:t>
            </a:r>
            <a:r>
              <a:rPr sz="2536" spc="127" dirty="0">
                <a:solidFill>
                  <a:srgbClr val="3333B2"/>
                </a:solidFill>
                <a:latin typeface="Microsoft Sans Serif"/>
                <a:cs typeface="Microsoft Sans Serif"/>
              </a:rPr>
              <a:t> </a:t>
            </a:r>
            <a:r>
              <a:rPr sz="2536" spc="-85" dirty="0">
                <a:solidFill>
                  <a:srgbClr val="3333B2"/>
                </a:solidFill>
                <a:latin typeface="Microsoft Sans Serif"/>
                <a:cs typeface="Microsoft Sans Serif"/>
              </a:rPr>
              <a:t>information</a:t>
            </a:r>
            <a:endParaRPr sz="2536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6463" y="3717895"/>
            <a:ext cx="10868118" cy="1873536"/>
            <a:chOff x="309193" y="1759115"/>
            <a:chExt cx="5142230" cy="8864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194" y="1759115"/>
              <a:ext cx="5141665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193" y="1803393"/>
              <a:ext cx="5142230" cy="842010"/>
            </a:xfrm>
            <a:custGeom>
              <a:avLst/>
              <a:gdLst/>
              <a:ahLst/>
              <a:cxnLst/>
              <a:rect l="l" t="t" r="r" b="b"/>
              <a:pathLst>
                <a:path w="5142230" h="842010">
                  <a:moveTo>
                    <a:pt x="5141666" y="0"/>
                  </a:moveTo>
                  <a:lnTo>
                    <a:pt x="0" y="0"/>
                  </a:lnTo>
                  <a:lnTo>
                    <a:pt x="0" y="791025"/>
                  </a:lnTo>
                  <a:lnTo>
                    <a:pt x="4008" y="810750"/>
                  </a:lnTo>
                  <a:lnTo>
                    <a:pt x="14922" y="826903"/>
                  </a:lnTo>
                  <a:lnTo>
                    <a:pt x="31075" y="837817"/>
                  </a:lnTo>
                  <a:lnTo>
                    <a:pt x="50800" y="841825"/>
                  </a:lnTo>
                  <a:lnTo>
                    <a:pt x="5090865" y="841825"/>
                  </a:lnTo>
                  <a:lnTo>
                    <a:pt x="5110590" y="837817"/>
                  </a:lnTo>
                  <a:lnTo>
                    <a:pt x="5126743" y="826903"/>
                  </a:lnTo>
                  <a:lnTo>
                    <a:pt x="5137657" y="810750"/>
                  </a:lnTo>
                  <a:lnTo>
                    <a:pt x="5141666" y="79102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36989" y="3785197"/>
            <a:ext cx="2941827" cy="591480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=&gt;</a:t>
            </a:r>
            <a:r>
              <a:rPr sz="1268" spc="-6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nand</a:t>
            </a:r>
            <a:r>
              <a:rPr sz="1268" spc="-6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info</a:t>
            </a:r>
            <a:endParaRPr sz="1268">
              <a:latin typeface="SimSun"/>
              <a:cs typeface="SimSun"/>
            </a:endParaRPr>
          </a:p>
          <a:p>
            <a:pPr>
              <a:spcBef>
                <a:spcPts val="74"/>
              </a:spcBef>
            </a:pPr>
            <a:endParaRPr sz="1057">
              <a:latin typeface="SimSun"/>
              <a:cs typeface="SimSun"/>
            </a:endParaRPr>
          </a:p>
          <a:p>
            <a:pPr marL="26841"/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Device 0: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nand0, sector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size 128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KiB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7446" y="4346746"/>
            <a:ext cx="936768" cy="998392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 marR="10737">
              <a:lnSpc>
                <a:spcPts val="1479"/>
              </a:lnSpc>
              <a:spcBef>
                <a:spcPts val="285"/>
              </a:spcBef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Page size 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OOB size </a:t>
            </a:r>
            <a:r>
              <a:rPr sz="126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Erase size </a:t>
            </a:r>
            <a:r>
              <a:rPr sz="1268" spc="-60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subpagesize  options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0132" y="4346747"/>
            <a:ext cx="856243" cy="987550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R="10737" algn="r">
              <a:lnSpc>
                <a:spcPts val="1501"/>
              </a:lnSpc>
              <a:spcBef>
                <a:spcPts val="201"/>
              </a:spcBef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2048 b</a:t>
            </a:r>
            <a:endParaRPr sz="1268">
              <a:latin typeface="SimSun"/>
              <a:cs typeface="SimSun"/>
            </a:endParaRPr>
          </a:p>
          <a:p>
            <a:pPr marR="10737" algn="r">
              <a:lnSpc>
                <a:spcPts val="1469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64 b</a:t>
            </a:r>
            <a:endParaRPr sz="1268">
              <a:latin typeface="SimSun"/>
              <a:cs typeface="SimSun"/>
            </a:endParaRPr>
          </a:p>
          <a:p>
            <a:pPr marR="10737" algn="r">
              <a:lnSpc>
                <a:spcPts val="1469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131072 b</a:t>
            </a:r>
            <a:endParaRPr sz="1268">
              <a:latin typeface="SimSun"/>
              <a:cs typeface="SimSun"/>
            </a:endParaRPr>
          </a:p>
          <a:p>
            <a:pPr marR="10737" algn="r">
              <a:lnSpc>
                <a:spcPts val="1469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2048 b</a:t>
            </a:r>
            <a:endParaRPr sz="1268">
              <a:latin typeface="SimSun"/>
              <a:cs typeface="SimSun"/>
            </a:endParaRPr>
          </a:p>
          <a:p>
            <a:pPr marR="10737" algn="r">
              <a:lnSpc>
                <a:spcPts val="1501"/>
              </a:lnSpc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0x40004200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7446" y="5282709"/>
            <a:ext cx="1819853" cy="220866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bbt</a:t>
            </a:r>
            <a:r>
              <a:rPr sz="1268" spc="-3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options</a:t>
            </a:r>
            <a:r>
              <a:rPr sz="1268" spc="-3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68" spc="-11" dirty="0">
                <a:solidFill>
                  <a:srgbClr val="7F7F7F"/>
                </a:solidFill>
                <a:latin typeface="SimSun"/>
                <a:cs typeface="SimSun"/>
              </a:rPr>
              <a:t>0x00008000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18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3858464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48" dirty="0"/>
              <a:t>Important</a:t>
            </a:r>
            <a:r>
              <a:rPr sz="2959" spc="-42" dirty="0"/>
              <a:t> </a:t>
            </a:r>
            <a:r>
              <a:rPr sz="2959" spc="-190" dirty="0"/>
              <a:t>commands</a:t>
            </a:r>
            <a:r>
              <a:rPr sz="2959" spc="-32" dirty="0"/>
              <a:t> </a:t>
            </a:r>
            <a:r>
              <a:rPr sz="2959" spc="-85" dirty="0"/>
              <a:t>(1)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0" y="905062"/>
            <a:ext cx="10248080" cy="5463778"/>
          </a:xfrm>
          <a:prstGeom prst="rect">
            <a:avLst/>
          </a:prstGeom>
        </p:spPr>
        <p:txBody>
          <a:bodyPr vert="horz" wrap="square" lIns="0" tIns="115418" rIns="0" bIns="0" rtlCol="0">
            <a:spAutoFit/>
          </a:bodyPr>
          <a:lstStyle/>
          <a:p>
            <a:pPr marL="453618" indent="-374438">
              <a:spcBef>
                <a:spcPts val="909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exact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set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commands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depends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configuration</a:t>
            </a:r>
            <a:endParaRPr sz="2325">
              <a:latin typeface="Tahoma"/>
              <a:cs typeface="Tahoma"/>
            </a:endParaRPr>
          </a:p>
          <a:p>
            <a:pPr marL="453618" indent="-374438">
              <a:spcBef>
                <a:spcPts val="687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help</a:t>
            </a:r>
            <a:r>
              <a:rPr sz="2325" spc="-40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help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command</a:t>
            </a:r>
            <a:endParaRPr sz="2325">
              <a:latin typeface="SimSun"/>
              <a:cs typeface="SimSun"/>
            </a:endParaRPr>
          </a:p>
          <a:p>
            <a:pPr marL="453618" indent="-374438">
              <a:spcBef>
                <a:spcPts val="359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fatload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loads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file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21" dirty="0">
                <a:latin typeface="Tahoma"/>
                <a:cs typeface="Tahoma"/>
              </a:rPr>
              <a:t>FAT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filesystem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37" dirty="0">
                <a:latin typeface="Tahoma"/>
                <a:cs typeface="Tahoma"/>
              </a:rPr>
              <a:t>RAM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59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85" dirty="0">
                <a:latin typeface="Tahoma"/>
                <a:cs typeface="Tahoma"/>
              </a:rPr>
              <a:t>Example:</a:t>
            </a:r>
            <a:r>
              <a:rPr sz="2114" spc="264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fatload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usb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0:1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0x21000000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zImage</a:t>
            </a:r>
            <a:endParaRPr sz="2114">
              <a:latin typeface="SimSun"/>
              <a:cs typeface="SimSun"/>
            </a:endParaRPr>
          </a:p>
          <a:p>
            <a:pPr marL="1040106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21" dirty="0">
                <a:latin typeface="Tahoma"/>
                <a:cs typeface="Tahoma"/>
              </a:rPr>
              <a:t>And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also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fatinfo</a:t>
            </a:r>
            <a:r>
              <a:rPr sz="2114" spc="-11" dirty="0">
                <a:latin typeface="Tahoma"/>
                <a:cs typeface="Tahoma"/>
              </a:rPr>
              <a:t>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fatls</a:t>
            </a:r>
            <a:r>
              <a:rPr sz="2114" spc="-21" dirty="0">
                <a:latin typeface="Tahoma"/>
                <a:cs typeface="Tahoma"/>
              </a:rPr>
              <a:t>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fatsize</a:t>
            </a:r>
            <a:r>
              <a:rPr sz="2114" spc="-11" dirty="0">
                <a:latin typeface="Tahoma"/>
                <a:cs typeface="Tahoma"/>
              </a:rPr>
              <a:t>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fatwrite</a:t>
            </a:r>
            <a:r>
              <a:rPr sz="2114" spc="-21" dirty="0">
                <a:latin typeface="Tahoma"/>
                <a:cs typeface="Tahoma"/>
              </a:rPr>
              <a:t>...</a:t>
            </a:r>
            <a:endParaRPr sz="2114">
              <a:latin typeface="Tahoma"/>
              <a:cs typeface="Tahoma"/>
            </a:endParaRPr>
          </a:p>
          <a:p>
            <a:pPr marL="453618" marR="64419" indent="-374438">
              <a:lnSpc>
                <a:spcPct val="102600"/>
              </a:lnSpc>
              <a:spcBef>
                <a:spcPts val="66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53" dirty="0">
                <a:latin typeface="Tahoma"/>
                <a:cs typeface="Tahoma"/>
              </a:rPr>
              <a:t>Similar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commands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other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filesystems:</a:t>
            </a:r>
            <a:r>
              <a:rPr sz="2325" spc="317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ext2load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ext2ls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ext4load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ext4ls</a:t>
            </a:r>
            <a:r>
              <a:rPr sz="2325" spc="-21" dirty="0">
                <a:latin typeface="Tahoma"/>
                <a:cs typeface="Tahoma"/>
              </a:rPr>
              <a:t>,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sqfsload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solidFill>
                  <a:srgbClr val="7F7F7F"/>
                </a:solidFill>
                <a:latin typeface="SimSun"/>
                <a:cs typeface="SimSun"/>
              </a:rPr>
              <a:t>sqfsls</a:t>
            </a:r>
            <a:r>
              <a:rPr sz="2325" spc="-32" dirty="0">
                <a:latin typeface="Tahoma"/>
                <a:cs typeface="Tahoma"/>
              </a:rPr>
              <a:t>...</a:t>
            </a:r>
            <a:r>
              <a:rPr sz="2325" spc="285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(</a:t>
            </a:r>
            <a:r>
              <a:rPr sz="2325" spc="-63" dirty="0">
                <a:solidFill>
                  <a:srgbClr val="3F3FBF"/>
                </a:solidFill>
                <a:latin typeface="Tahoma"/>
                <a:cs typeface="Tahoma"/>
                <a:hlinkClick r:id="rId2"/>
              </a:rPr>
              <a:t>SquashFS</a:t>
            </a:r>
            <a:r>
              <a:rPr sz="2325" spc="32" dirty="0">
                <a:solidFill>
                  <a:srgbClr val="3F3FBF"/>
                </a:solidFill>
                <a:latin typeface="Tahoma"/>
                <a:cs typeface="Tahoma"/>
                <a:hlinkClick r:id="rId2"/>
              </a:rPr>
              <a:t> </a:t>
            </a:r>
            <a:r>
              <a:rPr sz="2325" spc="-85" dirty="0">
                <a:solidFill>
                  <a:srgbClr val="3F3FBF"/>
                </a:solidFill>
                <a:latin typeface="Tahoma"/>
                <a:cs typeface="Tahoma"/>
                <a:hlinkClick r:id="rId2"/>
              </a:rPr>
              <a:t>support</a:t>
            </a:r>
            <a:r>
              <a:rPr sz="2325" spc="32" dirty="0">
                <a:solidFill>
                  <a:srgbClr val="3F3FBF"/>
                </a:solidFill>
                <a:latin typeface="Tahoma"/>
                <a:cs typeface="Tahoma"/>
                <a:hlinkClick r:id="rId2"/>
              </a:rPr>
              <a:t> </a:t>
            </a:r>
            <a:r>
              <a:rPr sz="2325" spc="-63" dirty="0">
                <a:solidFill>
                  <a:srgbClr val="3F3FBF"/>
                </a:solidFill>
                <a:latin typeface="Tahoma"/>
                <a:cs typeface="Tahoma"/>
                <a:hlinkClick r:id="rId2"/>
              </a:rPr>
              <a:t>contributed</a:t>
            </a:r>
            <a:r>
              <a:rPr sz="2325" spc="32" dirty="0">
                <a:solidFill>
                  <a:srgbClr val="3F3FBF"/>
                </a:solidFill>
                <a:latin typeface="Tahoma"/>
                <a:cs typeface="Tahoma"/>
                <a:hlinkClick r:id="rId2"/>
              </a:rPr>
              <a:t> </a:t>
            </a:r>
            <a:r>
              <a:rPr sz="2325" spc="-127" dirty="0">
                <a:solidFill>
                  <a:srgbClr val="3F3FBF"/>
                </a:solidFill>
                <a:latin typeface="Tahoma"/>
                <a:cs typeface="Tahoma"/>
                <a:hlinkClick r:id="rId2"/>
              </a:rPr>
              <a:t>by</a:t>
            </a:r>
            <a:r>
              <a:rPr sz="2325" spc="32" dirty="0">
                <a:solidFill>
                  <a:srgbClr val="3F3FBF"/>
                </a:solidFill>
                <a:latin typeface="Tahoma"/>
                <a:cs typeface="Tahoma"/>
                <a:hlinkClick r:id="rId2"/>
              </a:rPr>
              <a:t> </a:t>
            </a:r>
            <a:r>
              <a:rPr sz="2325" dirty="0">
                <a:solidFill>
                  <a:srgbClr val="3F3FBF"/>
                </a:solidFill>
                <a:latin typeface="Tahoma"/>
                <a:cs typeface="Tahoma"/>
                <a:hlinkClick r:id="rId2"/>
              </a:rPr>
              <a:t>Bootlin</a:t>
            </a:r>
            <a:r>
              <a:rPr sz="2325" dirty="0">
                <a:latin typeface="Tahoma"/>
                <a:cs typeface="Tahoma"/>
              </a:rPr>
              <a:t>)</a:t>
            </a:r>
            <a:endParaRPr sz="2325">
              <a:latin typeface="Tahoma"/>
              <a:cs typeface="Tahoma"/>
            </a:endParaRPr>
          </a:p>
          <a:p>
            <a:pPr marL="453618" marR="143602" indent="-374438">
              <a:lnSpc>
                <a:spcPts val="2536"/>
              </a:lnSpc>
              <a:spcBef>
                <a:spcPts val="645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53" dirty="0">
                <a:latin typeface="Tahoma"/>
                <a:cs typeface="Tahoma"/>
              </a:rPr>
              <a:t>Note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that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filesystem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independent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commands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such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load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solidFill>
                  <a:srgbClr val="7F7F7F"/>
                </a:solidFill>
                <a:latin typeface="SimSun"/>
                <a:cs typeface="SimSun"/>
              </a:rPr>
              <a:t>ls</a:t>
            </a:r>
            <a:r>
              <a:rPr sz="2325" spc="-32" dirty="0">
                <a:latin typeface="Tahoma"/>
                <a:cs typeface="Tahoma"/>
              </a:rPr>
              <a:t>,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size</a:t>
            </a:r>
            <a:r>
              <a:rPr sz="2325" spc="-39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74" dirty="0">
                <a:latin typeface="Tahoma"/>
                <a:cs typeface="Tahoma"/>
              </a:rPr>
              <a:t>exist.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Examples: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17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load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usb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0:1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0x21000000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zImage</a:t>
            </a:r>
            <a:endParaRPr sz="2114">
              <a:latin typeface="SimSun"/>
              <a:cs typeface="SimSun"/>
            </a:endParaRPr>
          </a:p>
          <a:p>
            <a:pPr marL="1040106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ls</a:t>
            </a:r>
            <a:r>
              <a:rPr sz="2114" spc="-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mmc</a:t>
            </a:r>
            <a:r>
              <a:rPr sz="2114" spc="-4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0:2</a:t>
            </a:r>
            <a:r>
              <a:rPr sz="2114" spc="-4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boot/</a:t>
            </a:r>
            <a:endParaRPr sz="2114">
              <a:latin typeface="SimSun"/>
              <a:cs typeface="SimSun"/>
            </a:endParaRPr>
          </a:p>
          <a:p>
            <a:pPr marL="1040106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size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mmc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0:1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dtb</a:t>
            </a:r>
            <a:r>
              <a:rPr sz="2114" spc="-34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53" dirty="0">
                <a:latin typeface="Tahoma"/>
                <a:cs typeface="Tahoma"/>
              </a:rPr>
              <a:t>(result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stored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filesize</a:t>
            </a:r>
            <a:r>
              <a:rPr sz="2114" spc="-34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85" dirty="0">
                <a:latin typeface="Tahoma"/>
                <a:cs typeface="Tahoma"/>
              </a:rPr>
              <a:t>environment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variable)</a:t>
            </a:r>
            <a:endParaRPr sz="2114">
              <a:latin typeface="Tahoma"/>
              <a:cs typeface="Tahoma"/>
            </a:endParaRPr>
          </a:p>
          <a:p>
            <a:pPr marL="453618" indent="-374438">
              <a:spcBef>
                <a:spcPts val="729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loadb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loads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loady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load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file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serial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line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37" dirty="0">
                <a:latin typeface="Tahoma"/>
                <a:cs typeface="Tahoma"/>
              </a:rPr>
              <a:t>RAM</a:t>
            </a:r>
            <a:endParaRPr sz="2325">
              <a:latin typeface="Tahoma"/>
              <a:cs typeface="Tahoma"/>
            </a:endParaRPr>
          </a:p>
          <a:p>
            <a:pPr marL="453618" indent="-374438">
              <a:spcBef>
                <a:spcPts val="697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tftp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loads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file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network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37" dirty="0">
                <a:latin typeface="Tahoma"/>
                <a:cs typeface="Tahoma"/>
              </a:rPr>
              <a:t>RAM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(example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given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later)</a:t>
            </a:r>
            <a:endParaRPr sz="2325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19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3858464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48" dirty="0"/>
              <a:t>Important</a:t>
            </a:r>
            <a:r>
              <a:rPr sz="2959" spc="-42" dirty="0"/>
              <a:t> </a:t>
            </a:r>
            <a:r>
              <a:rPr sz="2959" spc="-190" dirty="0"/>
              <a:t>commands</a:t>
            </a:r>
            <a:r>
              <a:rPr sz="2959" spc="-32" dirty="0"/>
              <a:t> </a:t>
            </a:r>
            <a:r>
              <a:rPr sz="2959" spc="-85" dirty="0"/>
              <a:t>(2)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0" y="923450"/>
            <a:ext cx="10602387" cy="5409668"/>
          </a:xfrm>
          <a:prstGeom prst="rect">
            <a:avLst/>
          </a:prstGeom>
        </p:spPr>
        <p:txBody>
          <a:bodyPr vert="horz" wrap="square" lIns="0" tIns="116758" rIns="0" bIns="0" rtlCol="0">
            <a:spAutoFit/>
          </a:bodyPr>
          <a:lstStyle/>
          <a:p>
            <a:pPr marL="453618" indent="-374438">
              <a:spcBef>
                <a:spcPts val="917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ping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-1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test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-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network</a:t>
            </a:r>
            <a:endParaRPr sz="2325">
              <a:latin typeface="Tahoma"/>
              <a:cs typeface="Tahoma"/>
            </a:endParaRPr>
          </a:p>
          <a:p>
            <a:pPr marL="453618" marR="437516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bootd</a:t>
            </a:r>
            <a:r>
              <a:rPr sz="2325" spc="-40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74" dirty="0">
                <a:latin typeface="Tahoma"/>
                <a:cs typeface="Tahoma"/>
              </a:rPr>
              <a:t>(can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abbreviated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boot</a:t>
            </a:r>
            <a:r>
              <a:rPr sz="2325" spc="-21" dirty="0">
                <a:latin typeface="Tahoma"/>
                <a:cs typeface="Tahoma"/>
              </a:rPr>
              <a:t>),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runs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default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boot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command,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stored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bootcmd</a:t>
            </a:r>
            <a:r>
              <a:rPr sz="2325" spc="-40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95" dirty="0">
                <a:latin typeface="Tahoma"/>
                <a:cs typeface="Tahoma"/>
              </a:rPr>
              <a:t>environment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</a:t>
            </a:r>
            <a:r>
              <a:rPr sz="2325" spc="-180" dirty="0">
                <a:latin typeface="Tahoma"/>
                <a:cs typeface="Tahoma"/>
              </a:rPr>
              <a:t>a</a:t>
            </a:r>
            <a:r>
              <a:rPr sz="2325" spc="-74" dirty="0">
                <a:latin typeface="Tahoma"/>
                <a:cs typeface="Tahoma"/>
              </a:rPr>
              <a:t>riable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(explaine</a:t>
            </a:r>
            <a:r>
              <a:rPr sz="2325" spc="-95" dirty="0">
                <a:latin typeface="Tahoma"/>
                <a:cs typeface="Tahoma"/>
              </a:rPr>
              <a:t>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later)</a:t>
            </a:r>
            <a:endParaRPr sz="2325">
              <a:latin typeface="Tahoma"/>
              <a:cs typeface="Tahoma"/>
            </a:endParaRPr>
          </a:p>
          <a:p>
            <a:pPr marL="453618" marR="263046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bootz </a:t>
            </a:r>
            <a:r>
              <a:rPr sz="2325" dirty="0">
                <a:solidFill>
                  <a:srgbClr val="7F7F7F"/>
                </a:solidFill>
                <a:latin typeface="SimSun"/>
                <a:cs typeface="SimSun"/>
              </a:rPr>
              <a:t>&lt;address&gt;</a:t>
            </a:r>
            <a:r>
              <a:rPr sz="2325" dirty="0">
                <a:latin typeface="Tahoma"/>
                <a:cs typeface="Tahoma"/>
              </a:rPr>
              <a:t>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starts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compressed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image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loaded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given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address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137" dirty="0">
                <a:latin typeface="Tahoma"/>
                <a:cs typeface="Tahoma"/>
              </a:rPr>
              <a:t>RAM</a:t>
            </a:r>
            <a:endParaRPr sz="2325">
              <a:latin typeface="Tahoma"/>
              <a:cs typeface="Tahoma"/>
            </a:endParaRPr>
          </a:p>
          <a:p>
            <a:pPr marL="453618" marR="512672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solidFill>
                  <a:srgbClr val="7F7F7F"/>
                </a:solidFill>
                <a:latin typeface="SimSun"/>
                <a:cs typeface="SimSun"/>
              </a:rPr>
              <a:t>usb</a:t>
            </a:r>
            <a:r>
              <a:rPr sz="2325" spc="-32" dirty="0">
                <a:latin typeface="Tahoma"/>
                <a:cs typeface="Tahoma"/>
              </a:rPr>
              <a:t>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initialize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control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63" dirty="0">
                <a:latin typeface="Tahoma"/>
                <a:cs typeface="Tahoma"/>
              </a:rPr>
              <a:t>USB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subsystem,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mainly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used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63" dirty="0">
                <a:latin typeface="Tahoma"/>
                <a:cs typeface="Tahoma"/>
              </a:rPr>
              <a:t>USB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storage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devices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such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63" dirty="0">
                <a:latin typeface="Tahoma"/>
                <a:cs typeface="Tahoma"/>
              </a:rPr>
              <a:t>USB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keys</a:t>
            </a:r>
            <a:endParaRPr sz="2325">
              <a:latin typeface="Tahoma"/>
              <a:cs typeface="Tahoma"/>
            </a:endParaRPr>
          </a:p>
          <a:p>
            <a:pPr marL="453618" indent="-374438">
              <a:spcBef>
                <a:spcPts val="697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solidFill>
                  <a:srgbClr val="7F7F7F"/>
                </a:solidFill>
                <a:latin typeface="SimSun"/>
                <a:cs typeface="SimSun"/>
              </a:rPr>
              <a:t>mmc</a:t>
            </a:r>
            <a:r>
              <a:rPr sz="2325" spc="-32" dirty="0">
                <a:latin typeface="Tahoma"/>
                <a:cs typeface="Tahoma"/>
              </a:rPr>
              <a:t>,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initialize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control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169" dirty="0">
                <a:latin typeface="Tahoma"/>
                <a:cs typeface="Tahoma"/>
              </a:rPr>
              <a:t>MMC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subsystem,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used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32" dirty="0">
                <a:latin typeface="Tahoma"/>
                <a:cs typeface="Tahoma"/>
              </a:rPr>
              <a:t>SD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microSD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cards</a:t>
            </a:r>
            <a:endParaRPr sz="2325">
              <a:latin typeface="Tahoma"/>
              <a:cs typeface="Tahoma"/>
            </a:endParaRPr>
          </a:p>
          <a:p>
            <a:pPr marL="453618" indent="-374438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nand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erase,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read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write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contents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95" dirty="0">
                <a:latin typeface="Tahoma"/>
                <a:cs typeface="Tahoma"/>
              </a:rPr>
              <a:t>NAND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flash</a:t>
            </a:r>
            <a:endParaRPr sz="2325">
              <a:latin typeface="Tahoma"/>
              <a:cs typeface="Tahoma"/>
            </a:endParaRPr>
          </a:p>
          <a:p>
            <a:pPr marL="453618" marR="695194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solidFill>
                  <a:srgbClr val="7F7F7F"/>
                </a:solidFill>
                <a:latin typeface="SimSun"/>
                <a:cs typeface="SimSun"/>
              </a:rPr>
              <a:t>md</a:t>
            </a:r>
            <a:r>
              <a:rPr sz="2325" spc="-32" dirty="0">
                <a:latin typeface="Tahoma"/>
                <a:cs typeface="Tahoma"/>
              </a:rPr>
              <a:t>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displays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memory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contents.</a:t>
            </a:r>
            <a:r>
              <a:rPr sz="2325" spc="317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Can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useful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check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contents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loaded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memory,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look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hardware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registers.</a:t>
            </a:r>
            <a:endParaRPr sz="2325">
              <a:latin typeface="Tahoma"/>
              <a:cs typeface="Tahoma"/>
            </a:endParaRPr>
          </a:p>
          <a:p>
            <a:pPr marL="453618" marR="1117946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solidFill>
                  <a:srgbClr val="7F7F7F"/>
                </a:solidFill>
                <a:latin typeface="SimSun"/>
                <a:cs typeface="SimSun"/>
              </a:rPr>
              <a:t>mm</a:t>
            </a:r>
            <a:r>
              <a:rPr sz="2325" spc="-32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modifies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memory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contents.</a:t>
            </a:r>
            <a:r>
              <a:rPr sz="2325" spc="306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Can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useful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modify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directly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hardware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registers,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testing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purposes.</a:t>
            </a:r>
            <a:endParaRPr sz="2325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20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5" y="71650"/>
            <a:ext cx="3816857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42" dirty="0"/>
              <a:t>U-Boot</a:t>
            </a:r>
            <a:r>
              <a:rPr sz="2959" spc="-32" dirty="0"/>
              <a:t> </a:t>
            </a:r>
            <a:r>
              <a:rPr sz="2959" spc="-116" dirty="0"/>
              <a:t>bdinfo</a:t>
            </a:r>
            <a:r>
              <a:rPr sz="2959" spc="-21" dirty="0"/>
              <a:t> </a:t>
            </a:r>
            <a:r>
              <a:rPr sz="2959" spc="-190" dirty="0"/>
              <a:t>command</a:t>
            </a:r>
            <a:endParaRPr sz="2959"/>
          </a:p>
        </p:txBody>
      </p:sp>
      <p:sp>
        <p:nvSpPr>
          <p:cNvPr id="3" name="object 3"/>
          <p:cNvSpPr/>
          <p:nvPr/>
        </p:nvSpPr>
        <p:spPr>
          <a:xfrm>
            <a:off x="773392" y="892315"/>
            <a:ext cx="6031282" cy="5514584"/>
          </a:xfrm>
          <a:custGeom>
            <a:avLst/>
            <a:gdLst/>
            <a:ahLst/>
            <a:cxnLst/>
            <a:rect l="l" t="t" r="r" b="b"/>
            <a:pathLst>
              <a:path w="2853690" h="2609215">
                <a:moveTo>
                  <a:pt x="2725787" y="2608765"/>
                </a:moveTo>
                <a:lnTo>
                  <a:pt x="127568" y="2608765"/>
                </a:lnTo>
                <a:lnTo>
                  <a:pt x="77820" y="2598771"/>
                </a:lnTo>
                <a:lnTo>
                  <a:pt x="37281" y="2571483"/>
                </a:lnTo>
                <a:lnTo>
                  <a:pt x="9994" y="2530945"/>
                </a:lnTo>
                <a:lnTo>
                  <a:pt x="0" y="2481196"/>
                </a:lnTo>
                <a:lnTo>
                  <a:pt x="0" y="127568"/>
                </a:lnTo>
                <a:lnTo>
                  <a:pt x="9994" y="77820"/>
                </a:lnTo>
                <a:lnTo>
                  <a:pt x="37281" y="37281"/>
                </a:lnTo>
                <a:lnTo>
                  <a:pt x="77820" y="9994"/>
                </a:lnTo>
                <a:lnTo>
                  <a:pt x="127568" y="0"/>
                </a:lnTo>
                <a:lnTo>
                  <a:pt x="2725787" y="0"/>
                </a:lnTo>
                <a:lnTo>
                  <a:pt x="2775533" y="9994"/>
                </a:lnTo>
                <a:lnTo>
                  <a:pt x="2816072" y="37281"/>
                </a:lnTo>
                <a:lnTo>
                  <a:pt x="2843361" y="77820"/>
                </a:lnTo>
                <a:lnTo>
                  <a:pt x="2853355" y="127568"/>
                </a:lnTo>
                <a:lnTo>
                  <a:pt x="2853355" y="2481196"/>
                </a:lnTo>
                <a:lnTo>
                  <a:pt x="2843361" y="2530945"/>
                </a:lnTo>
                <a:lnTo>
                  <a:pt x="2816072" y="2571483"/>
                </a:lnTo>
                <a:lnTo>
                  <a:pt x="2775533" y="2598771"/>
                </a:lnTo>
                <a:lnTo>
                  <a:pt x="2725787" y="2608765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4" name="object 4"/>
          <p:cNvSpPr txBox="1"/>
          <p:nvPr/>
        </p:nvSpPr>
        <p:spPr>
          <a:xfrm>
            <a:off x="1152634" y="1004275"/>
            <a:ext cx="3494760" cy="1054268"/>
          </a:xfrm>
          <a:prstGeom prst="rect">
            <a:avLst/>
          </a:prstGeom>
        </p:spPr>
        <p:txBody>
          <a:bodyPr vert="horz" wrap="square" lIns="0" tIns="30866" rIns="0" bIns="0" rtlCol="0">
            <a:spAutoFit/>
          </a:bodyPr>
          <a:lstStyle/>
          <a:p>
            <a:pPr marL="26841">
              <a:spcBef>
                <a:spcPts val="241"/>
              </a:spcBef>
            </a:pPr>
            <a:r>
              <a:rPr sz="2219" spc="11" dirty="0">
                <a:latin typeface="SimSun"/>
                <a:cs typeface="SimSun"/>
              </a:rPr>
              <a:t>=&gt;</a:t>
            </a:r>
            <a:r>
              <a:rPr sz="2219" spc="-85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bdinfo</a:t>
            </a:r>
            <a:endParaRPr sz="2219">
              <a:latin typeface="SimSun"/>
              <a:cs typeface="SimSun"/>
            </a:endParaRPr>
          </a:p>
          <a:p>
            <a:pPr marL="26841" marR="10737">
              <a:lnSpc>
                <a:spcPct val="106000"/>
              </a:lnSpc>
            </a:pPr>
            <a:r>
              <a:rPr sz="2219" spc="11" dirty="0">
                <a:latin typeface="SimSun"/>
                <a:cs typeface="SimSun"/>
              </a:rPr>
              <a:t>arch_number</a:t>
            </a:r>
            <a:r>
              <a:rPr sz="2219" spc="-11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=</a:t>
            </a:r>
            <a:r>
              <a:rPr sz="2219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0x00000000 </a:t>
            </a:r>
            <a:r>
              <a:rPr sz="2219" spc="-107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boot_params</a:t>
            </a:r>
            <a:r>
              <a:rPr sz="2219" spc="-11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=</a:t>
            </a:r>
            <a:r>
              <a:rPr sz="2219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0x20000100</a:t>
            </a:r>
            <a:endParaRPr sz="2219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2633" y="2079398"/>
            <a:ext cx="1344759" cy="3279108"/>
          </a:xfrm>
          <a:prstGeom prst="rect">
            <a:avLst/>
          </a:prstGeom>
        </p:spPr>
        <p:txBody>
          <a:bodyPr vert="horz" wrap="square" lIns="0" tIns="30866" rIns="0" bIns="0" rtlCol="0">
            <a:spAutoFit/>
          </a:bodyPr>
          <a:lstStyle/>
          <a:p>
            <a:pPr marL="26841">
              <a:spcBef>
                <a:spcPts val="241"/>
              </a:spcBef>
            </a:pPr>
            <a:r>
              <a:rPr sz="2219" spc="11" dirty="0">
                <a:latin typeface="SimSun"/>
                <a:cs typeface="SimSun"/>
              </a:rPr>
              <a:t>DRAM</a:t>
            </a:r>
            <a:r>
              <a:rPr sz="2219" spc="-11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bank</a:t>
            </a:r>
            <a:endParaRPr sz="2219">
              <a:latin typeface="SimSun"/>
              <a:cs typeface="SimSun"/>
            </a:endParaRPr>
          </a:p>
          <a:p>
            <a:pPr marL="26841">
              <a:spcBef>
                <a:spcPts val="159"/>
              </a:spcBef>
            </a:pPr>
            <a:r>
              <a:rPr sz="2219" spc="11" dirty="0">
                <a:latin typeface="SimSun"/>
                <a:cs typeface="SimSun"/>
              </a:rPr>
              <a:t>-&gt;</a:t>
            </a:r>
            <a:r>
              <a:rPr sz="2219" spc="-85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start</a:t>
            </a:r>
            <a:endParaRPr sz="2219">
              <a:latin typeface="SimSun"/>
              <a:cs typeface="SimSun"/>
            </a:endParaRPr>
          </a:p>
          <a:p>
            <a:pPr marL="26841" marR="10737">
              <a:lnSpc>
                <a:spcPct val="106000"/>
              </a:lnSpc>
            </a:pPr>
            <a:r>
              <a:rPr sz="2219" spc="11" dirty="0">
                <a:latin typeface="SimSun"/>
                <a:cs typeface="SimSun"/>
              </a:rPr>
              <a:t>-&gt; size </a:t>
            </a:r>
            <a:r>
              <a:rPr sz="2219" spc="21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baudrate </a:t>
            </a:r>
            <a:r>
              <a:rPr sz="2219" spc="-107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TLB addr </a:t>
            </a:r>
            <a:r>
              <a:rPr sz="2219" spc="-107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relocaddr  reloc</a:t>
            </a:r>
            <a:r>
              <a:rPr sz="2219" spc="-137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off </a:t>
            </a:r>
            <a:r>
              <a:rPr sz="2219" spc="-107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irq_sp</a:t>
            </a:r>
            <a:endParaRPr sz="2219">
              <a:latin typeface="SimSun"/>
              <a:cs typeface="SimSun"/>
            </a:endParaRPr>
          </a:p>
          <a:p>
            <a:pPr marL="26841">
              <a:spcBef>
                <a:spcPts val="159"/>
              </a:spcBef>
            </a:pPr>
            <a:r>
              <a:rPr sz="2219" spc="11" dirty="0">
                <a:latin typeface="SimSun"/>
                <a:cs typeface="SimSun"/>
              </a:rPr>
              <a:t>sp</a:t>
            </a:r>
            <a:r>
              <a:rPr sz="2219" spc="-85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start</a:t>
            </a:r>
            <a:endParaRPr sz="2219">
              <a:latin typeface="SimSun"/>
              <a:cs typeface="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72829" y="2079397"/>
            <a:ext cx="1774220" cy="3309885"/>
          </a:xfrm>
          <a:prstGeom prst="rect">
            <a:avLst/>
          </a:prstGeom>
        </p:spPr>
        <p:txBody>
          <a:bodyPr vert="horz" wrap="square" lIns="0" tIns="30866" rIns="0" bIns="0" rtlCol="0">
            <a:spAutoFit/>
          </a:bodyPr>
          <a:lstStyle/>
          <a:p>
            <a:pPr marL="26841">
              <a:spcBef>
                <a:spcPts val="241"/>
              </a:spcBef>
            </a:pPr>
            <a:r>
              <a:rPr sz="2219" spc="11" dirty="0">
                <a:latin typeface="SimSun"/>
                <a:cs typeface="SimSun"/>
              </a:rPr>
              <a:t>=</a:t>
            </a:r>
            <a:r>
              <a:rPr sz="2219" spc="-11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0x00000000</a:t>
            </a:r>
            <a:endParaRPr sz="2219">
              <a:latin typeface="SimSun"/>
              <a:cs typeface="SimSun"/>
            </a:endParaRPr>
          </a:p>
          <a:p>
            <a:pPr marL="26841">
              <a:spcBef>
                <a:spcPts val="159"/>
              </a:spcBef>
            </a:pPr>
            <a:r>
              <a:rPr sz="2219" spc="11" dirty="0">
                <a:latin typeface="SimSun"/>
                <a:cs typeface="SimSun"/>
              </a:rPr>
              <a:t>=</a:t>
            </a:r>
            <a:r>
              <a:rPr sz="2219" spc="-11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0x20000000</a:t>
            </a:r>
            <a:endParaRPr sz="2219">
              <a:latin typeface="SimSun"/>
              <a:cs typeface="SimSun"/>
            </a:endParaRPr>
          </a:p>
          <a:p>
            <a:pPr marL="26841">
              <a:spcBef>
                <a:spcPts val="159"/>
              </a:spcBef>
            </a:pPr>
            <a:r>
              <a:rPr sz="2219" spc="11" dirty="0">
                <a:latin typeface="SimSun"/>
                <a:cs typeface="SimSun"/>
              </a:rPr>
              <a:t>=</a:t>
            </a:r>
            <a:r>
              <a:rPr sz="2219" spc="-11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0x10000000</a:t>
            </a:r>
            <a:endParaRPr sz="2219">
              <a:latin typeface="SimSun"/>
              <a:cs typeface="SimSun"/>
            </a:endParaRPr>
          </a:p>
          <a:p>
            <a:pPr marL="26841">
              <a:spcBef>
                <a:spcPts val="159"/>
              </a:spcBef>
            </a:pPr>
            <a:r>
              <a:rPr sz="2219" spc="11" dirty="0">
                <a:latin typeface="SimSun"/>
                <a:cs typeface="SimSun"/>
              </a:rPr>
              <a:t>=</a:t>
            </a:r>
            <a:r>
              <a:rPr sz="2219" spc="-53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115200</a:t>
            </a:r>
            <a:r>
              <a:rPr sz="2219" spc="-53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bps</a:t>
            </a:r>
            <a:endParaRPr sz="2219">
              <a:latin typeface="SimSun"/>
              <a:cs typeface="SimSun"/>
            </a:endParaRPr>
          </a:p>
          <a:p>
            <a:pPr marL="26841">
              <a:spcBef>
                <a:spcPts val="159"/>
              </a:spcBef>
            </a:pPr>
            <a:r>
              <a:rPr sz="2219" spc="11" dirty="0">
                <a:latin typeface="SimSun"/>
                <a:cs typeface="SimSun"/>
              </a:rPr>
              <a:t>=</a:t>
            </a:r>
            <a:r>
              <a:rPr sz="2219" spc="-11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0x2FFF0000</a:t>
            </a:r>
            <a:endParaRPr sz="2219">
              <a:latin typeface="SimSun"/>
              <a:cs typeface="SimSun"/>
            </a:endParaRPr>
          </a:p>
          <a:p>
            <a:pPr marL="26841">
              <a:spcBef>
                <a:spcPts val="159"/>
              </a:spcBef>
            </a:pPr>
            <a:r>
              <a:rPr sz="2219" spc="11" dirty="0">
                <a:latin typeface="SimSun"/>
                <a:cs typeface="SimSun"/>
              </a:rPr>
              <a:t>=</a:t>
            </a:r>
            <a:r>
              <a:rPr sz="2219" spc="-11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0x2FF27000</a:t>
            </a:r>
            <a:endParaRPr sz="2219">
              <a:latin typeface="SimSun"/>
              <a:cs typeface="SimSun"/>
            </a:endParaRPr>
          </a:p>
          <a:p>
            <a:pPr marL="26841">
              <a:spcBef>
                <a:spcPts val="169"/>
              </a:spcBef>
            </a:pPr>
            <a:r>
              <a:rPr sz="2219" spc="11" dirty="0">
                <a:latin typeface="SimSun"/>
                <a:cs typeface="SimSun"/>
              </a:rPr>
              <a:t>=</a:t>
            </a:r>
            <a:r>
              <a:rPr sz="2219" spc="-11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0x09027000</a:t>
            </a:r>
            <a:endParaRPr sz="2219">
              <a:latin typeface="SimSun"/>
              <a:cs typeface="SimSun"/>
            </a:endParaRPr>
          </a:p>
          <a:p>
            <a:pPr marL="26841">
              <a:spcBef>
                <a:spcPts val="159"/>
              </a:spcBef>
            </a:pPr>
            <a:r>
              <a:rPr sz="2219" spc="11" dirty="0">
                <a:latin typeface="SimSun"/>
                <a:cs typeface="SimSun"/>
              </a:rPr>
              <a:t>=</a:t>
            </a:r>
            <a:r>
              <a:rPr sz="2219" spc="-11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0x2FB1DC40</a:t>
            </a:r>
            <a:endParaRPr sz="2219">
              <a:latin typeface="SimSun"/>
              <a:cs typeface="SimSun"/>
            </a:endParaRPr>
          </a:p>
          <a:p>
            <a:pPr marL="26841">
              <a:spcBef>
                <a:spcPts val="159"/>
              </a:spcBef>
            </a:pPr>
            <a:r>
              <a:rPr sz="2219" spc="11" dirty="0">
                <a:latin typeface="SimSun"/>
                <a:cs typeface="SimSun"/>
              </a:rPr>
              <a:t>=</a:t>
            </a:r>
            <a:r>
              <a:rPr sz="2219" spc="-116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0x2FB1DC30</a:t>
            </a:r>
            <a:endParaRPr sz="2219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2633" y="5304763"/>
            <a:ext cx="4498633" cy="372671"/>
          </a:xfrm>
          <a:prstGeom prst="rect">
            <a:avLst/>
          </a:prstGeom>
        </p:spPr>
        <p:txBody>
          <a:bodyPr vert="horz" wrap="square" lIns="0" tIns="30866" rIns="0" bIns="0" rtlCol="0">
            <a:spAutoFit/>
          </a:bodyPr>
          <a:lstStyle/>
          <a:p>
            <a:pPr marL="26841">
              <a:spcBef>
                <a:spcPts val="241"/>
              </a:spcBef>
            </a:pPr>
            <a:r>
              <a:rPr sz="2219" spc="11" dirty="0">
                <a:latin typeface="SimSun"/>
                <a:cs typeface="SimSun"/>
              </a:rPr>
              <a:t>Early malloc usage: 135c /</a:t>
            </a:r>
            <a:r>
              <a:rPr sz="2219" spc="21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2000</a:t>
            </a:r>
            <a:endParaRPr sz="2219">
              <a:latin typeface="SimSun"/>
              <a:cs typeface="SimSu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2633" y="5730871"/>
            <a:ext cx="2778094" cy="372671"/>
          </a:xfrm>
          <a:prstGeom prst="rect">
            <a:avLst/>
          </a:prstGeom>
        </p:spPr>
        <p:txBody>
          <a:bodyPr vert="horz" wrap="square" lIns="0" tIns="30866" rIns="0" bIns="0" rtlCol="0">
            <a:spAutoFit/>
          </a:bodyPr>
          <a:lstStyle/>
          <a:p>
            <a:pPr marL="26841">
              <a:spcBef>
                <a:spcPts val="241"/>
              </a:spcBef>
            </a:pPr>
            <a:r>
              <a:rPr sz="2219" spc="11" dirty="0">
                <a:latin typeface="SimSun"/>
                <a:cs typeface="SimSun"/>
              </a:rPr>
              <a:t>fdt_blob</a:t>
            </a:r>
            <a:r>
              <a:rPr sz="2219" spc="-21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=</a:t>
            </a:r>
            <a:r>
              <a:rPr sz="2219" spc="-21" dirty="0">
                <a:latin typeface="SimSun"/>
                <a:cs typeface="SimSun"/>
              </a:rPr>
              <a:t> </a:t>
            </a:r>
            <a:r>
              <a:rPr sz="2219" spc="11" dirty="0">
                <a:latin typeface="SimSun"/>
                <a:cs typeface="SimSun"/>
              </a:rPr>
              <a:t>2fb1dc50</a:t>
            </a:r>
            <a:endParaRPr sz="2219">
              <a:latin typeface="SimSun"/>
              <a:cs typeface="SimSu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08574" y="2188865"/>
            <a:ext cx="3922883" cy="1512630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 marR="10737">
              <a:lnSpc>
                <a:spcPct val="111300"/>
              </a:lnSpc>
              <a:spcBef>
                <a:spcPts val="201"/>
              </a:spcBef>
            </a:pPr>
            <a:r>
              <a:rPr sz="2219" spc="95" dirty="0">
                <a:latin typeface="Trebuchet MS"/>
                <a:cs typeface="Trebuchet MS"/>
              </a:rPr>
              <a:t>Allow </a:t>
            </a:r>
            <a:r>
              <a:rPr sz="2219" spc="85" dirty="0">
                <a:latin typeface="Trebuchet MS"/>
                <a:cs typeface="Trebuchet MS"/>
              </a:rPr>
              <a:t>to </a:t>
            </a:r>
            <a:r>
              <a:rPr sz="2219" spc="159" dirty="0">
                <a:latin typeface="Courier New"/>
                <a:cs typeface="Courier New"/>
              </a:rPr>
              <a:t>ﬁ</a:t>
            </a:r>
            <a:r>
              <a:rPr sz="2219" spc="159" dirty="0">
                <a:latin typeface="Trebuchet MS"/>
                <a:cs typeface="Trebuchet MS"/>
              </a:rPr>
              <a:t>nd </a:t>
            </a:r>
            <a:r>
              <a:rPr sz="2219" spc="116" dirty="0">
                <a:latin typeface="Trebuchet MS"/>
                <a:cs typeface="Trebuchet MS"/>
              </a:rPr>
              <a:t>valid </a:t>
            </a:r>
            <a:r>
              <a:rPr sz="2219" spc="254" dirty="0">
                <a:latin typeface="Trebuchet MS"/>
                <a:cs typeface="Trebuchet MS"/>
              </a:rPr>
              <a:t>RAM </a:t>
            </a:r>
            <a:r>
              <a:rPr sz="2219" spc="264" dirty="0">
                <a:latin typeface="Trebuchet MS"/>
                <a:cs typeface="Trebuchet MS"/>
              </a:rPr>
              <a:t> </a:t>
            </a:r>
            <a:r>
              <a:rPr sz="2219" spc="190" dirty="0">
                <a:latin typeface="Trebuchet MS"/>
                <a:cs typeface="Trebuchet MS"/>
              </a:rPr>
              <a:t>addresses</a:t>
            </a:r>
            <a:r>
              <a:rPr sz="2219" dirty="0">
                <a:latin typeface="Trebuchet MS"/>
                <a:cs typeface="Trebuchet MS"/>
              </a:rPr>
              <a:t> </a:t>
            </a:r>
            <a:r>
              <a:rPr sz="2219" spc="106" dirty="0">
                <a:latin typeface="Trebuchet MS"/>
                <a:cs typeface="Trebuchet MS"/>
              </a:rPr>
              <a:t>without</a:t>
            </a:r>
            <a:r>
              <a:rPr sz="2219" dirty="0">
                <a:latin typeface="Trebuchet MS"/>
                <a:cs typeface="Trebuchet MS"/>
              </a:rPr>
              <a:t> </a:t>
            </a:r>
            <a:r>
              <a:rPr sz="2219" spc="169" dirty="0">
                <a:latin typeface="Trebuchet MS"/>
                <a:cs typeface="Trebuchet MS"/>
              </a:rPr>
              <a:t>needing </a:t>
            </a:r>
            <a:r>
              <a:rPr sz="2219" spc="-634" dirty="0">
                <a:latin typeface="Trebuchet MS"/>
                <a:cs typeface="Trebuchet MS"/>
              </a:rPr>
              <a:t> </a:t>
            </a:r>
            <a:r>
              <a:rPr sz="2219" spc="127" dirty="0">
                <a:latin typeface="Trebuchet MS"/>
                <a:cs typeface="Trebuchet MS"/>
              </a:rPr>
              <a:t>the </a:t>
            </a:r>
            <a:r>
              <a:rPr sz="2219" spc="254" dirty="0">
                <a:latin typeface="Trebuchet MS"/>
                <a:cs typeface="Trebuchet MS"/>
              </a:rPr>
              <a:t>SoC </a:t>
            </a:r>
            <a:r>
              <a:rPr sz="2219" spc="148" dirty="0">
                <a:latin typeface="Trebuchet MS"/>
                <a:cs typeface="Trebuchet MS"/>
              </a:rPr>
              <a:t>datasheet </a:t>
            </a:r>
            <a:r>
              <a:rPr sz="2219" spc="116" dirty="0">
                <a:latin typeface="Trebuchet MS"/>
                <a:cs typeface="Trebuchet MS"/>
              </a:rPr>
              <a:t>or </a:t>
            </a:r>
            <a:r>
              <a:rPr sz="2219" spc="127" dirty="0">
                <a:latin typeface="Trebuchet MS"/>
                <a:cs typeface="Trebuchet MS"/>
              </a:rPr>
              <a:t> </a:t>
            </a:r>
            <a:r>
              <a:rPr sz="2219" spc="159" dirty="0">
                <a:latin typeface="Trebuchet MS"/>
                <a:cs typeface="Trebuchet MS"/>
              </a:rPr>
              <a:t>board</a:t>
            </a:r>
            <a:r>
              <a:rPr sz="2219" spc="32" dirty="0">
                <a:latin typeface="Trebuchet MS"/>
                <a:cs typeface="Trebuchet MS"/>
              </a:rPr>
              <a:t> </a:t>
            </a:r>
            <a:r>
              <a:rPr sz="2219" spc="190" dirty="0">
                <a:latin typeface="Trebuchet MS"/>
                <a:cs typeface="Trebuchet MS"/>
              </a:rPr>
              <a:t>manual</a:t>
            </a:r>
            <a:endParaRPr sz="2219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33684" y="5939373"/>
            <a:ext cx="1884272" cy="304063"/>
          </a:xfrm>
          <a:prstGeom prst="rect">
            <a:avLst/>
          </a:prstGeom>
        </p:spPr>
        <p:txBody>
          <a:bodyPr vert="horz" wrap="square" lIns="0" tIns="30866" rIns="0" bIns="0" rtlCol="0">
            <a:spAutoFit/>
          </a:bodyPr>
          <a:lstStyle/>
          <a:p>
            <a:pPr marL="26841">
              <a:spcBef>
                <a:spcPts val="241"/>
              </a:spcBef>
            </a:pPr>
            <a:r>
              <a:rPr sz="845" spc="63" dirty="0">
                <a:latin typeface="Trebuchet MS"/>
                <a:cs typeface="Trebuchet MS"/>
              </a:rPr>
              <a:t>Source:</a:t>
            </a:r>
            <a:r>
              <a:rPr sz="845" spc="-32" dirty="0">
                <a:latin typeface="Trebuchet MS"/>
                <a:cs typeface="Trebuchet MS"/>
              </a:rPr>
              <a:t> </a:t>
            </a:r>
            <a:r>
              <a:rPr sz="845" spc="63" dirty="0">
                <a:latin typeface="Trebuchet MS"/>
                <a:cs typeface="Trebuchet MS"/>
              </a:rPr>
              <a:t>U-Boot</a:t>
            </a:r>
            <a:r>
              <a:rPr sz="845" spc="-32" dirty="0">
                <a:latin typeface="Trebuchet MS"/>
                <a:cs typeface="Trebuchet MS"/>
              </a:rPr>
              <a:t> </a:t>
            </a:r>
            <a:r>
              <a:rPr sz="845" spc="85" dirty="0">
                <a:latin typeface="Trebuchet MS"/>
                <a:cs typeface="Trebuchet MS"/>
              </a:rPr>
              <a:t>2018.01</a:t>
            </a:r>
            <a:endParaRPr sz="845">
              <a:latin typeface="Trebuchet MS"/>
              <a:cs typeface="Trebuchet MS"/>
            </a:endParaRPr>
          </a:p>
          <a:p>
            <a:pPr marL="26841">
              <a:spcBef>
                <a:spcPts val="95"/>
              </a:spcBef>
            </a:pPr>
            <a:r>
              <a:rPr sz="845" spc="85" dirty="0">
                <a:latin typeface="Trebuchet MS"/>
                <a:cs typeface="Trebuchet MS"/>
              </a:rPr>
              <a:t>on</a:t>
            </a:r>
            <a:r>
              <a:rPr sz="845" spc="-21" dirty="0">
                <a:latin typeface="Trebuchet MS"/>
                <a:cs typeface="Trebuchet MS"/>
              </a:rPr>
              <a:t> </a:t>
            </a:r>
            <a:r>
              <a:rPr sz="845" spc="53" dirty="0">
                <a:latin typeface="Trebuchet MS"/>
                <a:cs typeface="Trebuchet MS"/>
              </a:rPr>
              <a:t>Microchip</a:t>
            </a:r>
            <a:r>
              <a:rPr sz="845" spc="-11" dirty="0">
                <a:latin typeface="Trebuchet MS"/>
                <a:cs typeface="Trebuchet MS"/>
              </a:rPr>
              <a:t> </a:t>
            </a:r>
            <a:r>
              <a:rPr sz="845" spc="127" dirty="0">
                <a:latin typeface="Trebuchet MS"/>
                <a:cs typeface="Trebuchet MS"/>
              </a:rPr>
              <a:t>SAMA5D3</a:t>
            </a:r>
            <a:r>
              <a:rPr sz="845" spc="-11" dirty="0">
                <a:latin typeface="Trebuchet MS"/>
                <a:cs typeface="Trebuchet MS"/>
              </a:rPr>
              <a:t> </a:t>
            </a:r>
            <a:r>
              <a:rPr sz="845" spc="74" dirty="0">
                <a:latin typeface="Trebuchet MS"/>
                <a:cs typeface="Trebuchet MS"/>
              </a:rPr>
              <a:t>Xplained</a:t>
            </a:r>
            <a:endParaRPr sz="845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21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4883809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37" dirty="0"/>
              <a:t>Environment</a:t>
            </a:r>
            <a:r>
              <a:rPr sz="2959" dirty="0"/>
              <a:t> </a:t>
            </a:r>
            <a:r>
              <a:rPr sz="2959" spc="-169" dirty="0"/>
              <a:t>variables:</a:t>
            </a:r>
            <a:r>
              <a:rPr sz="2959" spc="317" dirty="0"/>
              <a:t> </a:t>
            </a:r>
            <a:r>
              <a:rPr sz="2959" spc="-127" dirty="0"/>
              <a:t>principle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1" y="2162406"/>
            <a:ext cx="10485627" cy="2291954"/>
          </a:xfrm>
          <a:prstGeom prst="rect">
            <a:avLst/>
          </a:prstGeom>
        </p:spPr>
        <p:txBody>
          <a:bodyPr vert="horz" wrap="square" lIns="0" tIns="76498" rIns="0" bIns="0" rtlCol="0">
            <a:spAutoFit/>
          </a:bodyPr>
          <a:lstStyle/>
          <a:p>
            <a:pPr marL="453618" indent="-374438">
              <a:spcBef>
                <a:spcPts val="60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dirty="0">
                <a:latin typeface="Tahoma"/>
                <a:cs typeface="Tahoma"/>
              </a:rPr>
              <a:t>U-Boot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can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configured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through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environment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variables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106" dirty="0">
                <a:latin typeface="Tahoma"/>
                <a:cs typeface="Tahoma"/>
              </a:rPr>
              <a:t>Some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specific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environment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variables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impact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behavior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different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commands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Custom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environment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variables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can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be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added,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used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scripts</a:t>
            </a:r>
            <a:endParaRPr sz="2114">
              <a:latin typeface="Tahoma"/>
              <a:cs typeface="Tahoma"/>
            </a:endParaRPr>
          </a:p>
          <a:p>
            <a:pPr marL="453618" marR="636142" indent="-374438">
              <a:lnSpc>
                <a:spcPct val="102600"/>
              </a:lnSpc>
              <a:spcBef>
                <a:spcPts val="67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74" dirty="0">
                <a:latin typeface="Tahoma"/>
                <a:cs typeface="Tahoma"/>
              </a:rPr>
              <a:t>Environment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variables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loaded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persistent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storage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137" dirty="0">
                <a:latin typeface="Tahoma"/>
                <a:cs typeface="Tahoma"/>
              </a:rPr>
              <a:t>RAM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 </a:t>
            </a:r>
            <a:r>
              <a:rPr sz="2325" spc="-687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startup.</a:t>
            </a:r>
            <a:r>
              <a:rPr sz="2325" spc="285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They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can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defined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modified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saved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back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storage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 </a:t>
            </a:r>
            <a:r>
              <a:rPr sz="2325" spc="-85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persistence.</a:t>
            </a:r>
            <a:endParaRPr sz="2325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22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5" y="71650"/>
            <a:ext cx="5960152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37" dirty="0"/>
              <a:t>Environment</a:t>
            </a:r>
            <a:r>
              <a:rPr sz="2959" spc="11" dirty="0"/>
              <a:t> </a:t>
            </a:r>
            <a:r>
              <a:rPr sz="2959" spc="-169" dirty="0"/>
              <a:t>variables:</a:t>
            </a:r>
            <a:r>
              <a:rPr sz="2959" spc="317" dirty="0"/>
              <a:t> </a:t>
            </a:r>
            <a:r>
              <a:rPr sz="2959" spc="-137" dirty="0"/>
              <a:t>implementation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429708" y="1629920"/>
            <a:ext cx="5487742" cy="3644295"/>
          </a:xfrm>
          <a:prstGeom prst="rect">
            <a:avLst/>
          </a:prstGeom>
        </p:spPr>
        <p:txBody>
          <a:bodyPr vert="horz" wrap="square" lIns="0" tIns="24157" rIns="0" bIns="0" rtlCol="0">
            <a:spAutoFit/>
          </a:bodyPr>
          <a:lstStyle/>
          <a:p>
            <a:pPr marL="80524">
              <a:spcBef>
                <a:spcPts val="190"/>
              </a:spcBef>
            </a:pPr>
            <a:r>
              <a:rPr sz="2325" spc="-95" dirty="0">
                <a:latin typeface="Tahoma"/>
                <a:cs typeface="Tahoma"/>
              </a:rPr>
              <a:t>Depending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configuration,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endParaRPr sz="2325">
              <a:latin typeface="Tahoma"/>
              <a:cs typeface="Tahoma"/>
            </a:endParaRPr>
          </a:p>
          <a:p>
            <a:pPr marL="80524">
              <a:spcBef>
                <a:spcPts val="74"/>
              </a:spcBef>
            </a:pPr>
            <a:r>
              <a:rPr sz="2325" dirty="0">
                <a:latin typeface="Tahoma"/>
                <a:cs typeface="Tahoma"/>
              </a:rPr>
              <a:t>U-Boot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environment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typically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stored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in: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706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53" dirty="0">
                <a:latin typeface="Tahoma"/>
                <a:cs typeface="Tahoma"/>
              </a:rPr>
              <a:t>At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fixed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offset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95" dirty="0">
                <a:latin typeface="Tahoma"/>
                <a:cs typeface="Tahoma"/>
              </a:rPr>
              <a:t>NAND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flash</a:t>
            </a:r>
            <a:endParaRPr sz="2325">
              <a:latin typeface="Tahoma"/>
              <a:cs typeface="Tahoma"/>
            </a:endParaRPr>
          </a:p>
          <a:p>
            <a:pPr marL="665668" marR="42677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53" dirty="0">
                <a:latin typeface="Tahoma"/>
                <a:cs typeface="Tahoma"/>
              </a:rPr>
              <a:t>At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fixed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offset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69" dirty="0">
                <a:latin typeface="Tahoma"/>
                <a:cs typeface="Tahoma"/>
              </a:rPr>
              <a:t>MMC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63" dirty="0">
                <a:latin typeface="Tahoma"/>
                <a:cs typeface="Tahoma"/>
              </a:rPr>
              <a:t>USB </a:t>
            </a:r>
            <a:r>
              <a:rPr sz="2325" spc="74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storage,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before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beginning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first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partition.</a:t>
            </a:r>
            <a:endParaRPr sz="2325">
              <a:latin typeface="Tahoma"/>
              <a:cs typeface="Tahoma"/>
            </a:endParaRPr>
          </a:p>
          <a:p>
            <a:pPr marL="665668" marR="64419" indent="-374438">
              <a:lnSpc>
                <a:spcPct val="102600"/>
              </a:lnSpc>
              <a:spcBef>
                <a:spcPts val="623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69" dirty="0">
                <a:latin typeface="Tahoma"/>
                <a:cs typeface="Tahoma"/>
              </a:rPr>
              <a:t>In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file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(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uboot.env</a:t>
            </a:r>
            <a:r>
              <a:rPr sz="2325" spc="-11" dirty="0">
                <a:latin typeface="Tahoma"/>
                <a:cs typeface="Tahoma"/>
              </a:rPr>
              <a:t>)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21" dirty="0">
                <a:latin typeface="Tahoma"/>
                <a:cs typeface="Tahoma"/>
              </a:rPr>
              <a:t>FAT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ext4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partition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69" dirty="0">
                <a:latin typeface="Tahoma"/>
                <a:cs typeface="Tahoma"/>
              </a:rPr>
              <a:t>In</a:t>
            </a:r>
            <a:r>
              <a:rPr sz="2325" spc="-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-11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UBI</a:t>
            </a:r>
            <a:r>
              <a:rPr sz="2325" spc="-1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volume</a:t>
            </a:r>
            <a:endParaRPr sz="2325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3879" y="1686645"/>
            <a:ext cx="5225638" cy="31745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16638" y="5089398"/>
            <a:ext cx="2940485" cy="220866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268" spc="21" dirty="0">
                <a:latin typeface="Microsoft Sans Serif"/>
                <a:cs typeface="Microsoft Sans Serif"/>
              </a:rPr>
              <a:t>U-Boot</a:t>
            </a:r>
            <a:r>
              <a:rPr sz="1268" spc="74" dirty="0">
                <a:latin typeface="Microsoft Sans Serif"/>
                <a:cs typeface="Microsoft Sans Serif"/>
              </a:rPr>
              <a:t> </a:t>
            </a:r>
            <a:r>
              <a:rPr sz="1268" spc="-11" dirty="0">
                <a:latin typeface="Microsoft Sans Serif"/>
                <a:cs typeface="Microsoft Sans Serif"/>
              </a:rPr>
              <a:t>environment</a:t>
            </a:r>
            <a:r>
              <a:rPr sz="1268" spc="74" dirty="0">
                <a:latin typeface="Microsoft Sans Serif"/>
                <a:cs typeface="Microsoft Sans Serif"/>
              </a:rPr>
              <a:t> </a:t>
            </a:r>
            <a:r>
              <a:rPr sz="1268" dirty="0">
                <a:latin typeface="Microsoft Sans Serif"/>
                <a:cs typeface="Microsoft Sans Serif"/>
              </a:rPr>
              <a:t>configuration</a:t>
            </a:r>
            <a:r>
              <a:rPr sz="1268" spc="85" dirty="0">
                <a:latin typeface="Microsoft Sans Serif"/>
                <a:cs typeface="Microsoft Sans Serif"/>
              </a:rPr>
              <a:t> </a:t>
            </a:r>
            <a:r>
              <a:rPr sz="1268" spc="-32" dirty="0">
                <a:latin typeface="Microsoft Sans Serif"/>
                <a:cs typeface="Microsoft Sans Serif"/>
              </a:rPr>
              <a:t>menu</a:t>
            </a:r>
            <a:endParaRPr sz="1268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23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5090488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37" dirty="0"/>
              <a:t>Environment</a:t>
            </a:r>
            <a:r>
              <a:rPr sz="2959" spc="-21" dirty="0"/>
              <a:t> </a:t>
            </a:r>
            <a:r>
              <a:rPr sz="2959" spc="-159" dirty="0"/>
              <a:t>variables</a:t>
            </a:r>
            <a:r>
              <a:rPr sz="2959" spc="-11" dirty="0"/>
              <a:t> </a:t>
            </a:r>
            <a:r>
              <a:rPr sz="2959" spc="-190" dirty="0"/>
              <a:t>commands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83306" y="1214384"/>
            <a:ext cx="9246892" cy="4566552"/>
          </a:xfrm>
          <a:prstGeom prst="rect">
            <a:avLst/>
          </a:prstGeom>
        </p:spPr>
        <p:txBody>
          <a:bodyPr vert="horz" wrap="square" lIns="0" tIns="116758" rIns="0" bIns="0" rtlCol="0">
            <a:spAutoFit/>
          </a:bodyPr>
          <a:lstStyle/>
          <a:p>
            <a:pPr marL="80524">
              <a:spcBef>
                <a:spcPts val="917"/>
              </a:spcBef>
            </a:pPr>
            <a:r>
              <a:rPr sz="2325" spc="-95" dirty="0">
                <a:latin typeface="Tahoma"/>
                <a:cs typeface="Tahoma"/>
              </a:rPr>
              <a:t>Commands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manipulate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environment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variables: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706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printenv</a:t>
            </a:r>
            <a:endParaRPr sz="2325">
              <a:latin typeface="SimSun"/>
              <a:cs typeface="SimSun"/>
            </a:endParaRPr>
          </a:p>
          <a:p>
            <a:pPr marL="665668">
              <a:spcBef>
                <a:spcPts val="74"/>
              </a:spcBef>
            </a:pPr>
            <a:r>
              <a:rPr sz="2325" spc="-127" dirty="0">
                <a:latin typeface="Tahoma"/>
                <a:cs typeface="Tahoma"/>
              </a:rPr>
              <a:t>Shows</a:t>
            </a:r>
            <a:r>
              <a:rPr sz="2325" spc="-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all</a:t>
            </a:r>
            <a:r>
              <a:rPr sz="2325" spc="-1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variables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697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printenv</a:t>
            </a:r>
            <a:r>
              <a:rPr sz="2325" spc="-106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dirty="0">
                <a:solidFill>
                  <a:srgbClr val="7F7F7F"/>
                </a:solidFill>
                <a:latin typeface="SimSun"/>
                <a:cs typeface="SimSun"/>
              </a:rPr>
              <a:t>&lt;variable-name&gt;</a:t>
            </a:r>
            <a:endParaRPr sz="2325">
              <a:latin typeface="SimSun"/>
              <a:cs typeface="SimSun"/>
            </a:endParaRPr>
          </a:p>
          <a:p>
            <a:pPr marL="665668">
              <a:spcBef>
                <a:spcPts val="74"/>
              </a:spcBef>
            </a:pPr>
            <a:r>
              <a:rPr sz="2325" spc="-127" dirty="0">
                <a:latin typeface="Tahoma"/>
                <a:cs typeface="Tahoma"/>
              </a:rPr>
              <a:t>Shows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value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variable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setenv</a:t>
            </a:r>
            <a:r>
              <a:rPr sz="2325" spc="-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dirty="0">
                <a:solidFill>
                  <a:srgbClr val="7F7F7F"/>
                </a:solidFill>
                <a:latin typeface="SimSun"/>
                <a:cs typeface="SimSun"/>
              </a:rPr>
              <a:t>&lt;variable-name&gt;</a:t>
            </a:r>
            <a:r>
              <a:rPr sz="2325" spc="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dirty="0">
                <a:solidFill>
                  <a:srgbClr val="7F7F7F"/>
                </a:solidFill>
                <a:latin typeface="SimSun"/>
                <a:cs typeface="SimSun"/>
              </a:rPr>
              <a:t>&lt;variable-value&gt;</a:t>
            </a:r>
            <a:endParaRPr sz="2325">
              <a:latin typeface="SimSun"/>
              <a:cs typeface="SimSun"/>
            </a:endParaRPr>
          </a:p>
          <a:p>
            <a:pPr marL="665668">
              <a:spcBef>
                <a:spcPts val="74"/>
              </a:spcBef>
            </a:pPr>
            <a:r>
              <a:rPr sz="2325" spc="-106" dirty="0">
                <a:latin typeface="Tahoma"/>
                <a:cs typeface="Tahoma"/>
              </a:rPr>
              <a:t>Changes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value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variable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defines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new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one,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only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37" dirty="0">
                <a:latin typeface="Tahoma"/>
                <a:cs typeface="Tahoma"/>
              </a:rPr>
              <a:t>RAM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editenv</a:t>
            </a:r>
            <a:r>
              <a:rPr sz="2325" spc="-106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dirty="0">
                <a:solidFill>
                  <a:srgbClr val="7F7F7F"/>
                </a:solidFill>
                <a:latin typeface="SimSun"/>
                <a:cs typeface="SimSun"/>
              </a:rPr>
              <a:t>&lt;variable-name&gt;</a:t>
            </a:r>
            <a:endParaRPr sz="2325">
              <a:latin typeface="SimSun"/>
              <a:cs typeface="SimSun"/>
            </a:endParaRPr>
          </a:p>
          <a:p>
            <a:pPr marL="665668">
              <a:spcBef>
                <a:spcPts val="74"/>
              </a:spcBef>
            </a:pPr>
            <a:r>
              <a:rPr sz="2325" spc="-21" dirty="0">
                <a:latin typeface="Tahoma"/>
                <a:cs typeface="Tahoma"/>
              </a:rPr>
              <a:t>Edits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value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variable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in-place,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only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137" dirty="0">
                <a:latin typeface="Tahoma"/>
                <a:cs typeface="Tahoma"/>
              </a:rPr>
              <a:t>RAM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706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saveenv</a:t>
            </a:r>
            <a:endParaRPr sz="2325">
              <a:latin typeface="SimSun"/>
              <a:cs typeface="SimSun"/>
            </a:endParaRPr>
          </a:p>
          <a:p>
            <a:pPr marL="665668">
              <a:spcBef>
                <a:spcPts val="74"/>
              </a:spcBef>
            </a:pPr>
            <a:r>
              <a:rPr sz="2325" spc="-116" dirty="0">
                <a:latin typeface="Tahoma"/>
                <a:cs typeface="Tahoma"/>
              </a:rPr>
              <a:t>Saves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current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state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environment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storage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persistence.</a:t>
            </a:r>
            <a:endParaRPr sz="2325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24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1"/>
            <a:ext cx="6729161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37" dirty="0"/>
              <a:t>Environment</a:t>
            </a:r>
            <a:r>
              <a:rPr sz="2959" spc="11" dirty="0"/>
              <a:t> </a:t>
            </a:r>
            <a:r>
              <a:rPr sz="2959" spc="-159" dirty="0"/>
              <a:t>variables</a:t>
            </a:r>
            <a:r>
              <a:rPr sz="2959" spc="21" dirty="0"/>
              <a:t> </a:t>
            </a:r>
            <a:r>
              <a:rPr sz="2959" spc="-190" dirty="0"/>
              <a:t>commands</a:t>
            </a:r>
            <a:r>
              <a:rPr sz="2959" spc="11" dirty="0"/>
              <a:t> </a:t>
            </a:r>
            <a:r>
              <a:rPr sz="2959" spc="-127" dirty="0"/>
              <a:t>-</a:t>
            </a:r>
            <a:r>
              <a:rPr sz="2959" spc="21" dirty="0"/>
              <a:t> </a:t>
            </a:r>
            <a:r>
              <a:rPr sz="2959" spc="-148" dirty="0"/>
              <a:t>Example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736989" y="1500636"/>
            <a:ext cx="3932278" cy="4207790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 marR="544881">
              <a:spcBef>
                <a:spcPts val="201"/>
              </a:spcBef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=&gt;</a:t>
            </a:r>
            <a:r>
              <a:rPr sz="2114" spc="9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printenv 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baudrate=19200 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ethaddr=00:40:95:36:35:33</a:t>
            </a:r>
            <a:endParaRPr sz="2114">
              <a:latin typeface="SimSun"/>
              <a:cs typeface="SimSun"/>
            </a:endParaRPr>
          </a:p>
          <a:p>
            <a:pPr marL="26841" marR="1080368">
              <a:lnSpc>
                <a:spcPts val="2536"/>
              </a:lnSpc>
              <a:spcBef>
                <a:spcPts val="53"/>
              </a:spcBef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netmask=255.255.255.0  ipaddr=10.0.0.11 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serverip=10.0.0.1 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stdin=serial 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stdout=serial 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stderr=serial</a:t>
            </a:r>
            <a:endParaRPr sz="2114">
              <a:latin typeface="SimSun"/>
              <a:cs typeface="SimSun"/>
            </a:endParaRPr>
          </a:p>
          <a:p>
            <a:pPr marL="26841">
              <a:lnSpc>
                <a:spcPts val="2388"/>
              </a:lnSpc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=&gt;</a:t>
            </a:r>
            <a:r>
              <a:rPr sz="2114" spc="-3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setenv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serverip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10.0.0.100</a:t>
            </a:r>
            <a:endParaRPr sz="2114">
              <a:latin typeface="SimSun"/>
              <a:cs typeface="SimSun"/>
            </a:endParaRPr>
          </a:p>
          <a:p>
            <a:pPr marL="26841" marR="1213234">
              <a:lnSpc>
                <a:spcPts val="2536"/>
              </a:lnSpc>
              <a:spcBef>
                <a:spcPts val="85"/>
              </a:spcBef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=&gt;</a:t>
            </a:r>
            <a:r>
              <a:rPr sz="2114" spc="-6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printenv</a:t>
            </a:r>
            <a:r>
              <a:rPr sz="2114" spc="-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serverip </a:t>
            </a:r>
            <a:r>
              <a:rPr sz="2114" spc="-102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serverip=10.0.0.100</a:t>
            </a:r>
            <a:endParaRPr sz="2114">
              <a:latin typeface="SimSun"/>
              <a:cs typeface="SimSun"/>
            </a:endParaRPr>
          </a:p>
          <a:p>
            <a:pPr marL="26841">
              <a:lnSpc>
                <a:spcPts val="2431"/>
              </a:lnSpc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=&gt;</a:t>
            </a:r>
            <a:r>
              <a:rPr sz="2114" spc="-106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saveenv</a:t>
            </a:r>
            <a:endParaRPr sz="2114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4826099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48" dirty="0"/>
              <a:t>Important</a:t>
            </a:r>
            <a:r>
              <a:rPr sz="2959" dirty="0"/>
              <a:t> </a:t>
            </a:r>
            <a:r>
              <a:rPr sz="2959" spc="-42" dirty="0"/>
              <a:t>U-Boot</a:t>
            </a:r>
            <a:r>
              <a:rPr sz="2959" dirty="0"/>
              <a:t> </a:t>
            </a:r>
            <a:r>
              <a:rPr sz="2959" spc="-222" dirty="0"/>
              <a:t>env</a:t>
            </a:r>
            <a:r>
              <a:rPr sz="2959" dirty="0"/>
              <a:t> </a:t>
            </a:r>
            <a:r>
              <a:rPr sz="2959" spc="-159" dirty="0"/>
              <a:t>variables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0" y="1333830"/>
            <a:ext cx="10570178" cy="4505880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453618" marR="64419" indent="-374438">
              <a:lnSpc>
                <a:spcPct val="102600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bootcmd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specifies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commands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that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will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automatically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execute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boot </a:t>
            </a:r>
            <a:r>
              <a:rPr sz="2325" spc="-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time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after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configurable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delay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21" dirty="0">
                <a:latin typeface="Tahoma"/>
                <a:cs typeface="Tahoma"/>
              </a:rPr>
              <a:t>(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bootdelay</a:t>
            </a:r>
            <a:r>
              <a:rPr sz="2325" spc="-21" dirty="0">
                <a:latin typeface="Tahoma"/>
                <a:cs typeface="Tahoma"/>
              </a:rPr>
              <a:t>),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if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process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not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interrupted.</a:t>
            </a:r>
            <a:r>
              <a:rPr sz="2325" spc="317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See </a:t>
            </a:r>
            <a:r>
              <a:rPr sz="2325" spc="-687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next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page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example.</a:t>
            </a:r>
            <a:endParaRPr sz="2325">
              <a:latin typeface="Tahoma"/>
              <a:cs typeface="Tahoma"/>
            </a:endParaRPr>
          </a:p>
          <a:p>
            <a:pPr marL="453618" indent="-374438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bootargs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contains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arguments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passed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covered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later</a:t>
            </a:r>
            <a:endParaRPr sz="2325">
              <a:latin typeface="Tahoma"/>
              <a:cs typeface="Tahoma"/>
            </a:endParaRPr>
          </a:p>
          <a:p>
            <a:pPr marL="453618" marR="786454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serverip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21" dirty="0">
                <a:latin typeface="Tahoma"/>
                <a:cs typeface="Tahoma"/>
              </a:rPr>
              <a:t>IP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address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server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that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will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contact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network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related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commands</a:t>
            </a:r>
            <a:endParaRPr sz="2325">
              <a:latin typeface="Tahoma"/>
              <a:cs typeface="Tahoma"/>
            </a:endParaRPr>
          </a:p>
          <a:p>
            <a:pPr marL="453618" indent="-374438">
              <a:spcBef>
                <a:spcPts val="697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ipaddr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21" dirty="0">
                <a:latin typeface="Tahoma"/>
                <a:cs typeface="Tahoma"/>
              </a:rPr>
              <a:t>IP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address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that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will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use</a:t>
            </a:r>
            <a:endParaRPr sz="2325">
              <a:latin typeface="Tahoma"/>
              <a:cs typeface="Tahoma"/>
            </a:endParaRPr>
          </a:p>
          <a:p>
            <a:pPr marL="453618" indent="-374438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netmask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network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mask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contact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server</a:t>
            </a:r>
            <a:endParaRPr sz="2325">
              <a:latin typeface="Tahoma"/>
              <a:cs typeface="Tahoma"/>
            </a:endParaRPr>
          </a:p>
          <a:p>
            <a:pPr marL="453618" indent="-374438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ethaddr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127" dirty="0">
                <a:latin typeface="Tahoma"/>
                <a:cs typeface="Tahoma"/>
              </a:rPr>
              <a:t>MAC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address,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can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only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set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once</a:t>
            </a:r>
            <a:endParaRPr sz="2325">
              <a:latin typeface="Tahoma"/>
              <a:cs typeface="Tahoma"/>
            </a:endParaRPr>
          </a:p>
          <a:p>
            <a:pPr marL="453618" marR="1427965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filesize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size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latest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copy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memory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(from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tftp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fatload</a:t>
            </a:r>
            <a:r>
              <a:rPr sz="2325" spc="-21" dirty="0">
                <a:latin typeface="Tahoma"/>
                <a:cs typeface="Tahoma"/>
              </a:rPr>
              <a:t>,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nand</a:t>
            </a:r>
            <a:r>
              <a:rPr sz="2325" spc="-32" dirty="0">
                <a:solidFill>
                  <a:srgbClr val="7F7F7F"/>
                </a:solidFill>
                <a:latin typeface="SimSun"/>
                <a:cs typeface="SimSun"/>
              </a:rPr>
              <a:t> read</a:t>
            </a:r>
            <a:r>
              <a:rPr sz="2325" spc="-32" dirty="0">
                <a:latin typeface="Tahoma"/>
                <a:cs typeface="Tahoma"/>
              </a:rPr>
              <a:t>...)</a:t>
            </a:r>
            <a:endParaRPr sz="2325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26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0"/>
            <a:ext cx="4855625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95" dirty="0"/>
              <a:t>Scripts</a:t>
            </a:r>
            <a:r>
              <a:rPr sz="2959" spc="11" dirty="0"/>
              <a:t> </a:t>
            </a:r>
            <a:r>
              <a:rPr sz="2959" spc="-95" dirty="0"/>
              <a:t>in</a:t>
            </a:r>
            <a:r>
              <a:rPr sz="2959" spc="11" dirty="0"/>
              <a:t> </a:t>
            </a:r>
            <a:r>
              <a:rPr sz="2959" spc="-169" dirty="0"/>
              <a:t>environment</a:t>
            </a:r>
            <a:r>
              <a:rPr sz="2959" spc="21" dirty="0"/>
              <a:t> </a:t>
            </a:r>
            <a:r>
              <a:rPr sz="2959" spc="-159" dirty="0"/>
              <a:t>variables</a:t>
            </a:r>
            <a:endParaRPr sz="2959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44945" y="1237814"/>
            <a:ext cx="10050784" cy="4932808"/>
          </a:xfrm>
          <a:prstGeom prst="rect">
            <a:avLst/>
          </a:prstGeom>
        </p:spPr>
        <p:txBody>
          <a:bodyPr vert="horz" wrap="square" lIns="0" tIns="304974" rIns="0" bIns="0" rtlCol="0">
            <a:spAutoFit/>
          </a:bodyPr>
          <a:lstStyle/>
          <a:p>
            <a:pPr marL="652247" marR="64419" indent="-374438">
              <a:lnSpc>
                <a:spcPts val="2536"/>
              </a:lnSpc>
              <a:spcBef>
                <a:spcPts val="484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74" dirty="0"/>
              <a:t>Environment</a:t>
            </a:r>
            <a:r>
              <a:rPr sz="2325" spc="21" dirty="0"/>
              <a:t> </a:t>
            </a:r>
            <a:r>
              <a:rPr sz="2325" spc="-95" dirty="0"/>
              <a:t>variables</a:t>
            </a:r>
            <a:r>
              <a:rPr sz="2325" spc="21" dirty="0"/>
              <a:t> </a:t>
            </a:r>
            <a:r>
              <a:rPr sz="2325" spc="-95" dirty="0"/>
              <a:t>can</a:t>
            </a:r>
            <a:r>
              <a:rPr sz="2325" spc="21" dirty="0"/>
              <a:t> </a:t>
            </a:r>
            <a:r>
              <a:rPr sz="2325" spc="-63" dirty="0"/>
              <a:t>contain</a:t>
            </a:r>
            <a:r>
              <a:rPr sz="2325" spc="21" dirty="0"/>
              <a:t> </a:t>
            </a:r>
            <a:r>
              <a:rPr sz="2325" spc="-74" dirty="0"/>
              <a:t>small</a:t>
            </a:r>
            <a:r>
              <a:rPr sz="2325" spc="21" dirty="0"/>
              <a:t> </a:t>
            </a:r>
            <a:r>
              <a:rPr sz="2325" spc="-63" dirty="0"/>
              <a:t>scripts,</a:t>
            </a:r>
            <a:r>
              <a:rPr sz="2325" spc="32" dirty="0"/>
              <a:t> </a:t>
            </a:r>
            <a:r>
              <a:rPr sz="2325" spc="-32" dirty="0"/>
              <a:t>to</a:t>
            </a:r>
            <a:r>
              <a:rPr sz="2325" spc="21" dirty="0"/>
              <a:t> </a:t>
            </a:r>
            <a:r>
              <a:rPr sz="2325" spc="-116" dirty="0"/>
              <a:t>execute</a:t>
            </a:r>
            <a:r>
              <a:rPr sz="2325" spc="21" dirty="0"/>
              <a:t> </a:t>
            </a:r>
            <a:r>
              <a:rPr sz="2325" spc="-116" dirty="0"/>
              <a:t>several</a:t>
            </a:r>
            <a:r>
              <a:rPr sz="2325" spc="21" dirty="0"/>
              <a:t> </a:t>
            </a:r>
            <a:r>
              <a:rPr sz="2325" spc="-116" dirty="0"/>
              <a:t>commands</a:t>
            </a:r>
            <a:r>
              <a:rPr sz="2325" spc="21" dirty="0"/>
              <a:t> </a:t>
            </a:r>
            <a:r>
              <a:rPr sz="2325" spc="-106" dirty="0"/>
              <a:t>and </a:t>
            </a:r>
            <a:r>
              <a:rPr sz="2325" spc="-697" dirty="0"/>
              <a:t> </a:t>
            </a:r>
            <a:r>
              <a:rPr sz="2325" spc="-63" dirty="0"/>
              <a:t>test</a:t>
            </a:r>
            <a:r>
              <a:rPr sz="2325" spc="21" dirty="0"/>
              <a:t> </a:t>
            </a:r>
            <a:r>
              <a:rPr sz="2325" spc="-85" dirty="0"/>
              <a:t>the</a:t>
            </a:r>
            <a:r>
              <a:rPr sz="2325" spc="32" dirty="0"/>
              <a:t> </a:t>
            </a:r>
            <a:r>
              <a:rPr sz="2325" spc="-85" dirty="0"/>
              <a:t>results</a:t>
            </a:r>
            <a:r>
              <a:rPr sz="2325" spc="32" dirty="0"/>
              <a:t> </a:t>
            </a:r>
            <a:r>
              <a:rPr sz="2325" spc="-74" dirty="0"/>
              <a:t>of</a:t>
            </a:r>
            <a:r>
              <a:rPr sz="2325" spc="32" dirty="0"/>
              <a:t> </a:t>
            </a:r>
            <a:r>
              <a:rPr sz="2325" spc="-106" dirty="0"/>
              <a:t>commands.</a:t>
            </a:r>
            <a:endParaRPr sz="2325" dirty="0"/>
          </a:p>
          <a:p>
            <a:pPr marL="1238733" lvl="1" indent="-355649">
              <a:lnSpc>
                <a:spcPts val="2536"/>
              </a:lnSpc>
              <a:spcBef>
                <a:spcPts val="317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63" dirty="0">
                <a:latin typeface="Tahoma"/>
                <a:cs typeface="Tahoma"/>
              </a:rPr>
              <a:t>Useful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automate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booting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or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upgrade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processes</a:t>
            </a:r>
            <a:endParaRPr sz="2114" dirty="0">
              <a:latin typeface="Tahoma"/>
              <a:cs typeface="Tahoma"/>
            </a:endParaRPr>
          </a:p>
          <a:p>
            <a:pPr marL="1238733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85" dirty="0">
                <a:latin typeface="Tahoma"/>
                <a:cs typeface="Tahoma"/>
              </a:rPr>
              <a:t>Several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commands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can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32" dirty="0">
                <a:latin typeface="Tahoma"/>
                <a:cs typeface="Tahoma"/>
              </a:rPr>
              <a:t>b</a:t>
            </a:r>
            <a:r>
              <a:rPr sz="2114" spc="-180" dirty="0">
                <a:latin typeface="Tahoma"/>
                <a:cs typeface="Tahoma"/>
              </a:rPr>
              <a:t>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c</a:t>
            </a:r>
            <a:r>
              <a:rPr sz="2114" spc="-95" dirty="0">
                <a:latin typeface="Tahoma"/>
                <a:cs typeface="Tahoma"/>
              </a:rPr>
              <a:t>hained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using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;</a:t>
            </a:r>
            <a:r>
              <a:rPr sz="2114" spc="-35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95" dirty="0">
                <a:latin typeface="Tahoma"/>
                <a:cs typeface="Tahoma"/>
              </a:rPr>
              <a:t>o</a:t>
            </a:r>
            <a:r>
              <a:rPr sz="2114" spc="-42" dirty="0">
                <a:latin typeface="Tahoma"/>
                <a:cs typeface="Tahoma"/>
              </a:rPr>
              <a:t>p</a:t>
            </a:r>
            <a:r>
              <a:rPr sz="2114" spc="-74" dirty="0">
                <a:latin typeface="Tahoma"/>
                <a:cs typeface="Tahoma"/>
              </a:rPr>
              <a:t>erat</a:t>
            </a:r>
            <a:r>
              <a:rPr sz="2114" spc="-159" dirty="0">
                <a:latin typeface="Tahoma"/>
                <a:cs typeface="Tahoma"/>
              </a:rPr>
              <a:t>o</a:t>
            </a:r>
            <a:r>
              <a:rPr sz="2114" spc="-42" dirty="0">
                <a:latin typeface="Tahoma"/>
                <a:cs typeface="Tahoma"/>
              </a:rPr>
              <a:t>r</a:t>
            </a:r>
            <a:endParaRPr sz="2114" dirty="0">
              <a:latin typeface="Tahoma"/>
              <a:cs typeface="Tahoma"/>
            </a:endParaRPr>
          </a:p>
          <a:p>
            <a:pPr marL="1238733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85" dirty="0">
                <a:latin typeface="Tahoma"/>
                <a:cs typeface="Tahoma"/>
              </a:rPr>
              <a:t>Tests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can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be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done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using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if command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; then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...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; else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...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; fi</a:t>
            </a:r>
            <a:endParaRPr sz="2114" dirty="0">
              <a:latin typeface="SimSun"/>
              <a:cs typeface="SimSun"/>
            </a:endParaRPr>
          </a:p>
          <a:p>
            <a:pPr marL="1238733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42" dirty="0">
                <a:latin typeface="Tahoma"/>
                <a:cs typeface="Tahoma"/>
              </a:rPr>
              <a:t>Scripts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are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executed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using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run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&lt;variable-name&gt;</a:t>
            </a:r>
            <a:endParaRPr sz="2114" dirty="0">
              <a:latin typeface="SimSun"/>
              <a:cs typeface="SimSun"/>
            </a:endParaRPr>
          </a:p>
          <a:p>
            <a:pPr marL="1238733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63" dirty="0">
                <a:latin typeface="Tahoma"/>
                <a:cs typeface="Tahoma"/>
              </a:rPr>
              <a:t>You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can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reference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other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variables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using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${variable-name}</a:t>
            </a:r>
            <a:endParaRPr sz="2114" dirty="0">
              <a:latin typeface="SimSun"/>
              <a:cs typeface="SimSun"/>
            </a:endParaRPr>
          </a:p>
          <a:p>
            <a:pPr marL="652247" indent="-374438">
              <a:lnSpc>
                <a:spcPct val="100000"/>
              </a:lnSpc>
              <a:spcBef>
                <a:spcPts val="412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85" dirty="0"/>
              <a:t>Examples</a:t>
            </a:r>
            <a:endParaRPr sz="2325" dirty="0"/>
          </a:p>
          <a:p>
            <a:pPr marL="1238733" marR="707272" lvl="1" indent="-355649">
              <a:lnSpc>
                <a:spcPct val="100000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setenv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bootcmd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'tftp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0x21000000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zImage;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tftp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0x22000000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dtb;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bootz </a:t>
            </a:r>
            <a:r>
              <a:rPr sz="2114" spc="-102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0x21000000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-</a:t>
            </a:r>
            <a:r>
              <a:rPr sz="2114" spc="9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0x22000000'</a:t>
            </a:r>
            <a:endParaRPr sz="2114" dirty="0">
              <a:latin typeface="SimSun"/>
              <a:cs typeface="SimSun"/>
            </a:endParaRPr>
          </a:p>
          <a:p>
            <a:pPr marL="1238733" marR="158365" lvl="1" indent="-355649">
              <a:lnSpc>
                <a:spcPts val="2536"/>
              </a:lnSpc>
              <a:spcBef>
                <a:spcPts val="63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setenv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mmc-boot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21" dirty="0">
                <a:solidFill>
                  <a:srgbClr val="7F7F7F"/>
                </a:solidFill>
                <a:latin typeface="SimSun"/>
                <a:cs typeface="SimSun"/>
              </a:rPr>
              <a:t>'if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fatload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mmc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80000000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boot.ini;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then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source;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else </a:t>
            </a:r>
            <a:r>
              <a:rPr sz="2114" spc="-102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if fatload mmc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0 80000000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zImage; then run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mmc-do-boot;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 fi;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fi'</a:t>
            </a:r>
            <a:endParaRPr sz="2114" dirty="0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5" y="71650"/>
            <a:ext cx="4607341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48" dirty="0"/>
              <a:t>Transferring</a:t>
            </a:r>
            <a:r>
              <a:rPr sz="2959" spc="11" dirty="0"/>
              <a:t> </a:t>
            </a:r>
            <a:r>
              <a:rPr sz="2959" spc="-127" dirty="0"/>
              <a:t>files</a:t>
            </a:r>
            <a:r>
              <a:rPr sz="2959" spc="21" dirty="0"/>
              <a:t> </a:t>
            </a:r>
            <a:r>
              <a:rPr sz="2959" spc="-74" dirty="0"/>
              <a:t>to</a:t>
            </a:r>
            <a:r>
              <a:rPr sz="2959" spc="11" dirty="0"/>
              <a:t> </a:t>
            </a:r>
            <a:r>
              <a:rPr sz="2959" spc="-148" dirty="0"/>
              <a:t>the</a:t>
            </a:r>
            <a:r>
              <a:rPr sz="2959" spc="21" dirty="0"/>
              <a:t> </a:t>
            </a:r>
            <a:r>
              <a:rPr sz="2959" spc="-137" dirty="0"/>
              <a:t>target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1" y="1629463"/>
            <a:ext cx="10219896" cy="3779784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453618" marR="389201" indent="-374438">
              <a:lnSpc>
                <a:spcPct val="102600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dirty="0">
                <a:latin typeface="Tahoma"/>
                <a:cs typeface="Tahoma"/>
              </a:rPr>
              <a:t>U-Boot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mostly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used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load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image,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but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32" dirty="0">
                <a:latin typeface="Tahoma"/>
                <a:cs typeface="Tahoma"/>
              </a:rPr>
              <a:t>it </a:t>
            </a:r>
            <a:r>
              <a:rPr sz="2325" spc="-95" dirty="0">
                <a:latin typeface="Tahoma"/>
                <a:cs typeface="Tahoma"/>
              </a:rPr>
              <a:t>also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allows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 </a:t>
            </a:r>
            <a:r>
              <a:rPr sz="2325" spc="-687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change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image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root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filesystem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stored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flash.</a:t>
            </a:r>
            <a:endParaRPr sz="2325">
              <a:latin typeface="Tahoma"/>
              <a:cs typeface="Tahoma"/>
            </a:endParaRPr>
          </a:p>
          <a:p>
            <a:pPr marL="453618" marR="116758" indent="-374438">
              <a:lnSpc>
                <a:spcPts val="2536"/>
              </a:lnSpc>
              <a:spcBef>
                <a:spcPts val="66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53" dirty="0">
                <a:latin typeface="Tahoma"/>
                <a:cs typeface="Tahoma"/>
              </a:rPr>
              <a:t>Files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must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exchanged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between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target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development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workstation.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This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possible:</a:t>
            </a:r>
            <a:endParaRPr sz="2325">
              <a:latin typeface="Tahoma"/>
              <a:cs typeface="Tahoma"/>
            </a:endParaRPr>
          </a:p>
          <a:p>
            <a:pPr marL="1040106" marR="64419" lvl="1" indent="-355649" algn="just">
              <a:spcBef>
                <a:spcPts val="317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Through </a:t>
            </a:r>
            <a:r>
              <a:rPr sz="2114" spc="-74" dirty="0">
                <a:latin typeface="Tahoma"/>
                <a:cs typeface="Tahoma"/>
              </a:rPr>
              <a:t>the </a:t>
            </a:r>
            <a:r>
              <a:rPr sz="2114" spc="-106" dirty="0">
                <a:latin typeface="Tahoma"/>
                <a:cs typeface="Tahoma"/>
              </a:rPr>
              <a:t>network </a:t>
            </a:r>
            <a:r>
              <a:rPr sz="2114" spc="-53" dirty="0">
                <a:latin typeface="Tahoma"/>
                <a:cs typeface="Tahoma"/>
              </a:rPr>
              <a:t>(Ethernet </a:t>
            </a:r>
            <a:r>
              <a:rPr sz="2114" spc="-11" dirty="0">
                <a:latin typeface="Tahoma"/>
                <a:cs typeface="Tahoma"/>
              </a:rPr>
              <a:t>if </a:t>
            </a:r>
            <a:r>
              <a:rPr sz="2114" spc="-106" dirty="0">
                <a:latin typeface="Tahoma"/>
                <a:cs typeface="Tahoma"/>
              </a:rPr>
              <a:t>a network </a:t>
            </a:r>
            <a:r>
              <a:rPr sz="2114" spc="-53" dirty="0">
                <a:latin typeface="Tahoma"/>
                <a:cs typeface="Tahoma"/>
              </a:rPr>
              <a:t>port </a:t>
            </a:r>
            <a:r>
              <a:rPr sz="2114" spc="-63" dirty="0">
                <a:latin typeface="Tahoma"/>
                <a:cs typeface="Tahoma"/>
              </a:rPr>
              <a:t>is available, </a:t>
            </a:r>
            <a:r>
              <a:rPr sz="2114" spc="-53" dirty="0">
                <a:latin typeface="Tahoma"/>
                <a:cs typeface="Tahoma"/>
              </a:rPr>
              <a:t>Ethernet </a:t>
            </a:r>
            <a:r>
              <a:rPr sz="2114" spc="-106" dirty="0">
                <a:latin typeface="Tahoma"/>
                <a:cs typeface="Tahoma"/>
              </a:rPr>
              <a:t>over </a:t>
            </a:r>
            <a:r>
              <a:rPr sz="2114" spc="63" dirty="0">
                <a:latin typeface="Tahoma"/>
                <a:cs typeface="Tahoma"/>
              </a:rPr>
              <a:t>USB </a:t>
            </a:r>
            <a:r>
              <a:rPr sz="2114" spc="74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device...), </a:t>
            </a:r>
            <a:r>
              <a:rPr sz="2114" spc="-11" dirty="0">
                <a:latin typeface="Tahoma"/>
                <a:cs typeface="Tahoma"/>
              </a:rPr>
              <a:t>if </a:t>
            </a:r>
            <a:r>
              <a:rPr sz="2114" spc="11" dirty="0">
                <a:latin typeface="Tahoma"/>
                <a:cs typeface="Tahoma"/>
              </a:rPr>
              <a:t>U-Boot </a:t>
            </a:r>
            <a:r>
              <a:rPr sz="2114" spc="-116" dirty="0">
                <a:latin typeface="Tahoma"/>
                <a:cs typeface="Tahoma"/>
              </a:rPr>
              <a:t>has </a:t>
            </a:r>
            <a:r>
              <a:rPr sz="2114" spc="-85" dirty="0">
                <a:latin typeface="Tahoma"/>
                <a:cs typeface="Tahoma"/>
              </a:rPr>
              <a:t>drivers for </a:t>
            </a:r>
            <a:r>
              <a:rPr sz="2114" spc="-95" dirty="0">
                <a:latin typeface="Tahoma"/>
                <a:cs typeface="Tahoma"/>
              </a:rPr>
              <a:t>such networking. </a:t>
            </a:r>
            <a:r>
              <a:rPr sz="2114" spc="-11" dirty="0">
                <a:latin typeface="Tahoma"/>
                <a:cs typeface="Tahoma"/>
              </a:rPr>
              <a:t>This </a:t>
            </a:r>
            <a:r>
              <a:rPr sz="2114" spc="-63" dirty="0">
                <a:latin typeface="Tahoma"/>
                <a:cs typeface="Tahoma"/>
              </a:rPr>
              <a:t>is </a:t>
            </a:r>
            <a:r>
              <a:rPr sz="2114" spc="-74" dirty="0">
                <a:latin typeface="Tahoma"/>
                <a:cs typeface="Tahoma"/>
              </a:rPr>
              <a:t>the fastest </a:t>
            </a:r>
            <a:r>
              <a:rPr sz="2114" spc="-95" dirty="0">
                <a:latin typeface="Tahoma"/>
                <a:cs typeface="Tahoma"/>
              </a:rPr>
              <a:t>and </a:t>
            </a:r>
            <a:r>
              <a:rPr sz="2114" spc="-74" dirty="0">
                <a:latin typeface="Tahoma"/>
                <a:cs typeface="Tahoma"/>
              </a:rPr>
              <a:t>most </a:t>
            </a:r>
            <a:r>
              <a:rPr sz="2114" spc="-63" dirty="0">
                <a:latin typeface="Tahoma"/>
                <a:cs typeface="Tahoma"/>
              </a:rPr>
              <a:t> efficient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solution.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04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Through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63" dirty="0">
                <a:latin typeface="Tahoma"/>
                <a:cs typeface="Tahoma"/>
              </a:rPr>
              <a:t>USB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48" dirty="0">
                <a:latin typeface="Tahoma"/>
                <a:cs typeface="Tahoma"/>
              </a:rPr>
              <a:t>key,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latin typeface="Tahoma"/>
                <a:cs typeface="Tahoma"/>
              </a:rPr>
              <a:t>if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11" dirty="0">
                <a:latin typeface="Tahoma"/>
                <a:cs typeface="Tahoma"/>
              </a:rPr>
              <a:t>U-Boot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supports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63" dirty="0">
                <a:latin typeface="Tahoma"/>
                <a:cs typeface="Tahoma"/>
              </a:rPr>
              <a:t>USB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controller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your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platform</a:t>
            </a:r>
            <a:endParaRPr sz="2114">
              <a:latin typeface="Tahoma"/>
              <a:cs typeface="Tahoma"/>
            </a:endParaRPr>
          </a:p>
          <a:p>
            <a:pPr marL="1040106" marR="209363" lvl="1" indent="-355649">
              <a:lnSpc>
                <a:spcPts val="2536"/>
              </a:lnSpc>
              <a:spcBef>
                <a:spcPts val="85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Through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32" dirty="0">
                <a:latin typeface="Tahoma"/>
                <a:cs typeface="Tahoma"/>
              </a:rPr>
              <a:t>SD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or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32" dirty="0">
                <a:latin typeface="Tahoma"/>
                <a:cs typeface="Tahoma"/>
              </a:rPr>
              <a:t>microSD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card,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latin typeface="Tahoma"/>
                <a:cs typeface="Tahoma"/>
              </a:rPr>
              <a:t>if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11" dirty="0">
                <a:latin typeface="Tahoma"/>
                <a:cs typeface="Tahoma"/>
              </a:rPr>
              <a:t>U-Boot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supports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159" dirty="0">
                <a:latin typeface="Tahoma"/>
                <a:cs typeface="Tahoma"/>
              </a:rPr>
              <a:t>MMC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controller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your </a:t>
            </a:r>
            <a:r>
              <a:rPr sz="2114" spc="-623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platform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431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Through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serial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port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(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loadb</a:t>
            </a:r>
            <a:r>
              <a:rPr sz="2114" spc="-21" dirty="0">
                <a:latin typeface="Tahoma"/>
                <a:cs typeface="Tahoma"/>
              </a:rPr>
              <a:t>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loadx</a:t>
            </a:r>
            <a:r>
              <a:rPr sz="2114" spc="-33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06" dirty="0">
                <a:latin typeface="Tahoma"/>
                <a:cs typeface="Tahoma"/>
              </a:rPr>
              <a:t>or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loady</a:t>
            </a:r>
            <a:r>
              <a:rPr sz="2114" spc="-33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85" dirty="0">
                <a:latin typeface="Tahoma"/>
                <a:cs typeface="Tahoma"/>
              </a:rPr>
              <a:t>command)</a:t>
            </a:r>
            <a:endParaRPr sz="2114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28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1"/>
            <a:ext cx="985083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169" dirty="0"/>
              <a:t>TFTP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0" y="1166956"/>
            <a:ext cx="10602387" cy="4868780"/>
          </a:xfrm>
          <a:prstGeom prst="rect">
            <a:avLst/>
          </a:prstGeom>
        </p:spPr>
        <p:txBody>
          <a:bodyPr vert="horz" wrap="square" lIns="0" tIns="61733" rIns="0" bIns="0" rtlCol="0">
            <a:spAutoFit/>
          </a:bodyPr>
          <a:lstStyle/>
          <a:p>
            <a:pPr marL="453618" marR="64419" indent="-374438">
              <a:lnSpc>
                <a:spcPts val="2536"/>
              </a:lnSpc>
              <a:spcBef>
                <a:spcPts val="48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95" dirty="0">
                <a:latin typeface="Tahoma"/>
                <a:cs typeface="Tahoma"/>
              </a:rPr>
              <a:t>Network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transfer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development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workstation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target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takes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place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through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69" dirty="0">
                <a:latin typeface="Tahoma"/>
                <a:cs typeface="Tahoma"/>
              </a:rPr>
              <a:t>TFTP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17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i="1" spc="-32" dirty="0">
                <a:latin typeface="Arial"/>
                <a:cs typeface="Arial"/>
              </a:rPr>
              <a:t>Trivial</a:t>
            </a:r>
            <a:r>
              <a:rPr sz="2114" i="1" spc="106" dirty="0">
                <a:latin typeface="Arial"/>
                <a:cs typeface="Arial"/>
              </a:rPr>
              <a:t> </a:t>
            </a:r>
            <a:r>
              <a:rPr sz="2114" i="1" spc="-74" dirty="0">
                <a:latin typeface="Arial"/>
                <a:cs typeface="Arial"/>
              </a:rPr>
              <a:t>File</a:t>
            </a:r>
            <a:r>
              <a:rPr sz="2114" i="1" spc="106" dirty="0">
                <a:latin typeface="Arial"/>
                <a:cs typeface="Arial"/>
              </a:rPr>
              <a:t> </a:t>
            </a:r>
            <a:r>
              <a:rPr sz="2114" i="1" spc="-95" dirty="0">
                <a:latin typeface="Arial"/>
                <a:cs typeface="Arial"/>
              </a:rPr>
              <a:t>Transfer</a:t>
            </a:r>
            <a:r>
              <a:rPr sz="2114" i="1" spc="106" dirty="0">
                <a:latin typeface="Arial"/>
                <a:cs typeface="Arial"/>
              </a:rPr>
              <a:t> </a:t>
            </a:r>
            <a:r>
              <a:rPr sz="2114" i="1" spc="-42" dirty="0">
                <a:latin typeface="Arial"/>
                <a:cs typeface="Arial"/>
              </a:rPr>
              <a:t>Protocol</a:t>
            </a:r>
            <a:endParaRPr sz="2114">
              <a:latin typeface="Arial"/>
              <a:cs typeface="Arial"/>
            </a:endParaRPr>
          </a:p>
          <a:p>
            <a:pPr marL="1040106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85" dirty="0">
                <a:latin typeface="Tahoma"/>
                <a:cs typeface="Tahoma"/>
              </a:rPr>
              <a:t>Somewhat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similar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53" dirty="0">
                <a:latin typeface="Tahoma"/>
                <a:cs typeface="Tahoma"/>
              </a:rPr>
              <a:t>FTP,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but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without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authentication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over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106" dirty="0">
                <a:latin typeface="Tahoma"/>
                <a:cs typeface="Tahoma"/>
              </a:rPr>
              <a:t>UDP</a:t>
            </a:r>
            <a:endParaRPr sz="2114">
              <a:latin typeface="Tahoma"/>
              <a:cs typeface="Tahoma"/>
            </a:endParaRPr>
          </a:p>
          <a:p>
            <a:pPr marL="453618" indent="-374438">
              <a:spcBef>
                <a:spcPts val="41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137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69" dirty="0">
                <a:latin typeface="Tahoma"/>
                <a:cs typeface="Tahoma"/>
              </a:rPr>
              <a:t>TFTP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server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needed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development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workstation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sudo</a:t>
            </a:r>
            <a:r>
              <a:rPr sz="2114" spc="-3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apt</a:t>
            </a:r>
            <a:r>
              <a:rPr sz="2114" spc="-3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install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tftpd-hpa</a:t>
            </a:r>
            <a:endParaRPr sz="2114">
              <a:latin typeface="SimSun"/>
              <a:cs typeface="SimSun"/>
            </a:endParaRPr>
          </a:p>
          <a:p>
            <a:pPr marL="1040106" marR="649563" lvl="1" indent="-355649">
              <a:lnSpc>
                <a:spcPts val="2536"/>
              </a:lnSpc>
              <a:spcBef>
                <a:spcPts val="74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53" dirty="0">
                <a:latin typeface="Tahoma"/>
                <a:cs typeface="Tahoma"/>
              </a:rPr>
              <a:t>All </a:t>
            </a:r>
            <a:r>
              <a:rPr sz="2114" spc="-74" dirty="0">
                <a:latin typeface="Tahoma"/>
                <a:cs typeface="Tahoma"/>
              </a:rPr>
              <a:t>files </a:t>
            </a:r>
            <a:r>
              <a:rPr sz="2114" spc="-42" dirty="0">
                <a:latin typeface="Tahoma"/>
                <a:cs typeface="Tahoma"/>
              </a:rPr>
              <a:t>in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/var/lib/tftpboot </a:t>
            </a:r>
            <a:r>
              <a:rPr sz="2114" spc="-106" dirty="0">
                <a:latin typeface="Tahoma"/>
                <a:cs typeface="Tahoma"/>
              </a:rPr>
              <a:t>or </a:t>
            </a:r>
            <a:r>
              <a:rPr sz="2114" spc="-42" dirty="0">
                <a:latin typeface="Tahoma"/>
                <a:cs typeface="Tahoma"/>
              </a:rPr>
              <a:t>in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/srv/tftp </a:t>
            </a:r>
            <a:r>
              <a:rPr sz="2114" dirty="0">
                <a:latin typeface="Tahoma"/>
                <a:cs typeface="Tahoma"/>
              </a:rPr>
              <a:t>(if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/srv </a:t>
            </a:r>
            <a:r>
              <a:rPr sz="2114" spc="-63" dirty="0">
                <a:latin typeface="Tahoma"/>
                <a:cs typeface="Tahoma"/>
              </a:rPr>
              <a:t>exists) </a:t>
            </a:r>
            <a:r>
              <a:rPr sz="2114" spc="-127" dirty="0">
                <a:latin typeface="Tahoma"/>
                <a:cs typeface="Tahoma"/>
              </a:rPr>
              <a:t>are </a:t>
            </a:r>
            <a:r>
              <a:rPr sz="2114" spc="-85" dirty="0">
                <a:latin typeface="Tahoma"/>
                <a:cs typeface="Tahoma"/>
              </a:rPr>
              <a:t>then </a:t>
            </a:r>
            <a:r>
              <a:rPr sz="2114" spc="-63" dirty="0">
                <a:latin typeface="Tahoma"/>
                <a:cs typeface="Tahoma"/>
              </a:rPr>
              <a:t>visible </a:t>
            </a:r>
            <a:r>
              <a:rPr sz="2114" spc="-645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through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159" dirty="0">
                <a:latin typeface="Tahoma"/>
                <a:cs typeface="Tahoma"/>
              </a:rPr>
              <a:t>TFTP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431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127" dirty="0">
                <a:latin typeface="Tahoma"/>
                <a:cs typeface="Tahoma"/>
              </a:rPr>
              <a:t>A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159" dirty="0">
                <a:latin typeface="Tahoma"/>
                <a:cs typeface="Tahoma"/>
              </a:rPr>
              <a:t>TFTP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client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is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available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tftp-hpa</a:t>
            </a:r>
            <a:r>
              <a:rPr sz="2114" spc="-338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95" dirty="0">
                <a:latin typeface="Tahoma"/>
                <a:cs typeface="Tahoma"/>
              </a:rPr>
              <a:t>package,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for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testing</a:t>
            </a:r>
            <a:endParaRPr sz="2114">
              <a:latin typeface="Tahoma"/>
              <a:cs typeface="Tahoma"/>
            </a:endParaRPr>
          </a:p>
          <a:p>
            <a:pPr marL="453618" indent="-374438">
              <a:spcBef>
                <a:spcPts val="41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137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69" dirty="0">
                <a:latin typeface="Tahoma"/>
                <a:cs typeface="Tahoma"/>
              </a:rPr>
              <a:t>TFTP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client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integrated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U-Boot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63" dirty="0">
                <a:latin typeface="Tahoma"/>
                <a:cs typeface="Tahoma"/>
              </a:rPr>
              <a:t>Configure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ipaddr</a:t>
            </a:r>
            <a:r>
              <a:rPr sz="2114" spc="-21" dirty="0">
                <a:latin typeface="Tahoma"/>
                <a:cs typeface="Tahoma"/>
              </a:rPr>
              <a:t>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serverip</a:t>
            </a:r>
            <a:r>
              <a:rPr sz="2114" spc="-11" dirty="0">
                <a:latin typeface="Tahoma"/>
                <a:cs typeface="Tahoma"/>
              </a:rPr>
              <a:t>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ethaddr</a:t>
            </a:r>
            <a:r>
              <a:rPr sz="2114" spc="-35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85" dirty="0">
                <a:latin typeface="Tahoma"/>
                <a:cs typeface="Tahoma"/>
              </a:rPr>
              <a:t>environment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variables</a:t>
            </a:r>
            <a:endParaRPr sz="2114">
              <a:latin typeface="Tahoma"/>
              <a:cs typeface="Tahoma"/>
            </a:endParaRPr>
          </a:p>
          <a:p>
            <a:pPr marL="1040106" marR="858926" lvl="1" indent="-355649">
              <a:lnSpc>
                <a:spcPts val="2536"/>
              </a:lnSpc>
              <a:spcBef>
                <a:spcPts val="85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85" dirty="0">
                <a:latin typeface="Tahoma"/>
                <a:cs typeface="Tahoma"/>
              </a:rPr>
              <a:t>Use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tftp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&lt;address&gt;</a:t>
            </a:r>
            <a:r>
              <a:rPr sz="2114" spc="106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&lt;filename&gt;</a:t>
            </a:r>
            <a:r>
              <a:rPr sz="2114" spc="-24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load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file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contents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specified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127" dirty="0">
                <a:latin typeface="Tahoma"/>
                <a:cs typeface="Tahoma"/>
              </a:rPr>
              <a:t>RAM </a:t>
            </a:r>
            <a:r>
              <a:rPr sz="2114" spc="-634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address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431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85" dirty="0">
                <a:latin typeface="Tahoma"/>
                <a:cs typeface="Tahoma"/>
              </a:rPr>
              <a:t>Example:</a:t>
            </a:r>
            <a:r>
              <a:rPr sz="2114" spc="254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tftp 0x21000000 zImage</a:t>
            </a:r>
            <a:endParaRPr sz="2114">
              <a:latin typeface="SimSun"/>
              <a:cs typeface="SimSu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400" b="0" i="0" kern="120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60"/>
              </a:spcBef>
            </a:pPr>
            <a:fld id="{81D60167-4931-47E6-BA6A-407CBD079E47}" type="slidenum">
              <a:rPr lang="en-IN" spc="5" smtClean="0"/>
              <a:pPr marL="38100">
                <a:spcBef>
                  <a:spcPts val="160"/>
                </a:spcBef>
              </a:pPr>
              <a:t>29</a:t>
            </a:fld>
            <a:r>
              <a:rPr lang="en-IN" spc="5"/>
              <a:t>/532</a:t>
            </a:r>
            <a:endParaRPr spc="11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3092</Words>
  <Application>Microsoft Office PowerPoint</Application>
  <PresentationFormat>Widescreen</PresentationFormat>
  <Paragraphs>282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SimSun</vt:lpstr>
      <vt:lpstr>Arial</vt:lpstr>
      <vt:lpstr>Calibri</vt:lpstr>
      <vt:lpstr>Calibri Light</vt:lpstr>
      <vt:lpstr>Cambria</vt:lpstr>
      <vt:lpstr>Courier New</vt:lpstr>
      <vt:lpstr>Microsoft Sans Serif</vt:lpstr>
      <vt:lpstr>Tahoma</vt:lpstr>
      <vt:lpstr>Times New Roman</vt:lpstr>
      <vt:lpstr>Trebuchet MS</vt:lpstr>
      <vt:lpstr>Office Theme</vt:lpstr>
      <vt:lpstr>Source : These slides are taken from bootlin.com</vt:lpstr>
      <vt:lpstr>Boot Sequence</vt:lpstr>
      <vt:lpstr>What is bootloader</vt:lpstr>
      <vt:lpstr>Bootloaders on BIOS-based x86 (1)</vt:lpstr>
      <vt:lpstr>Bootloaders on x86 (2)</vt:lpstr>
      <vt:lpstr>Booting on embedded CPUs: case 1</vt:lpstr>
      <vt:lpstr>Booting on embedded CPUs: case 2</vt:lpstr>
      <vt:lpstr>Booting on Microchip ARM SAMA5D3</vt:lpstr>
      <vt:lpstr>Booting on Marvell SoCs</vt:lpstr>
      <vt:lpstr>Generic bootloaders for embedded CPUs</vt:lpstr>
      <vt:lpstr>The U-boot bootloader</vt:lpstr>
      <vt:lpstr>U-Boot</vt:lpstr>
      <vt:lpstr>U-Boot configuration</vt:lpstr>
      <vt:lpstr>U-Boot configuration file</vt:lpstr>
      <vt:lpstr>Configuring and compiling U-Boot</vt:lpstr>
      <vt:lpstr>Installing U-Boot</vt:lpstr>
      <vt:lpstr>U-boot prompt</vt:lpstr>
      <vt:lpstr>Information commands</vt:lpstr>
      <vt:lpstr>Important commands (1)</vt:lpstr>
      <vt:lpstr>Important commands (2)</vt:lpstr>
      <vt:lpstr>U-Boot bdinfo command</vt:lpstr>
      <vt:lpstr>Environment variables: principle</vt:lpstr>
      <vt:lpstr>Environment variables: implementation</vt:lpstr>
      <vt:lpstr>Environment variables commands</vt:lpstr>
      <vt:lpstr>Environment variables commands - Example</vt:lpstr>
      <vt:lpstr>Important U-Boot env variables</vt:lpstr>
      <vt:lpstr>Scripts in environment variables</vt:lpstr>
      <vt:lpstr>Transferring files to the target</vt:lpstr>
      <vt:lpstr>TFTP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Shripad Deshpande</dc:creator>
  <cp:lastModifiedBy>Shripad Deshpande</cp:lastModifiedBy>
  <cp:revision>2</cp:revision>
  <dcterms:created xsi:type="dcterms:W3CDTF">2022-02-08T04:43:36Z</dcterms:created>
  <dcterms:modified xsi:type="dcterms:W3CDTF">2022-02-09T04:41:38Z</dcterms:modified>
</cp:coreProperties>
</file>